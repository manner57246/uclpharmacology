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handoutMasterIdLst>
    <p:handoutMasterId r:id="rId29"/>
  </p:handoutMasterIdLst>
  <p:sldIdLst>
    <p:sldId id="406" r:id="rId2"/>
    <p:sldId id="428" r:id="rId3"/>
    <p:sldId id="430" r:id="rId4"/>
    <p:sldId id="431" r:id="rId5"/>
    <p:sldId id="435" r:id="rId6"/>
    <p:sldId id="432" r:id="rId7"/>
    <p:sldId id="625" r:id="rId8"/>
    <p:sldId id="434" r:id="rId9"/>
    <p:sldId id="459" r:id="rId10"/>
    <p:sldId id="463" r:id="rId11"/>
    <p:sldId id="464" r:id="rId12"/>
    <p:sldId id="474" r:id="rId13"/>
    <p:sldId id="436" r:id="rId14"/>
    <p:sldId id="467" r:id="rId15"/>
    <p:sldId id="438" r:id="rId16"/>
    <p:sldId id="471" r:id="rId17"/>
    <p:sldId id="442" r:id="rId18"/>
    <p:sldId id="654" r:id="rId19"/>
    <p:sldId id="440" r:id="rId20"/>
    <p:sldId id="443" r:id="rId21"/>
    <p:sldId id="444" r:id="rId22"/>
    <p:sldId id="445" r:id="rId23"/>
    <p:sldId id="446" r:id="rId24"/>
    <p:sldId id="470" r:id="rId25"/>
    <p:sldId id="656" r:id="rId26"/>
    <p:sldId id="657" r:id="rId27"/>
  </p:sldIdLst>
  <p:sldSz cx="9144000" cy="6858000" type="screen4x3"/>
  <p:notesSz cx="6735763" cy="9869488"/>
  <p:defaultTextStyle>
    <a:defPPr>
      <a:defRPr lang="en-GB"/>
    </a:defPPr>
    <a:lvl1pPr algn="l" rtl="0" eaLnBrk="0" fontAlgn="base" hangingPunct="0">
      <a:spcBef>
        <a:spcPct val="0"/>
      </a:spcBef>
      <a:spcAft>
        <a:spcPct val="0"/>
      </a:spcAft>
      <a:defRPr sz="2400" kern="1200">
        <a:solidFill>
          <a:srgbClr val="FFFFFF"/>
        </a:solidFill>
        <a:latin typeface="Times New Roman" panose="02020603050405020304" pitchFamily="18"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rgbClr val="FFFFFF"/>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rgbClr val="FFFFFF"/>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rgbClr val="FFFFFF"/>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rgbClr val="FFFFFF"/>
        </a:solidFill>
        <a:latin typeface="Times New Roman" panose="02020603050405020304" pitchFamily="18" charset="0"/>
        <a:ea typeface="MS PGothic" panose="020B0600070205080204" pitchFamily="34" charset="-128"/>
        <a:cs typeface="+mn-cs"/>
      </a:defRPr>
    </a:lvl5pPr>
    <a:lvl6pPr marL="2286000" algn="l" defTabSz="914400" rtl="0" eaLnBrk="1" latinLnBrk="0" hangingPunct="1">
      <a:defRPr sz="2400" kern="1200">
        <a:solidFill>
          <a:srgbClr val="FFFFFF"/>
        </a:solidFill>
        <a:latin typeface="Times New Roman" panose="02020603050405020304" pitchFamily="18" charset="0"/>
        <a:ea typeface="MS PGothic" panose="020B0600070205080204" pitchFamily="34" charset="-128"/>
        <a:cs typeface="+mn-cs"/>
      </a:defRPr>
    </a:lvl6pPr>
    <a:lvl7pPr marL="2743200" algn="l" defTabSz="914400" rtl="0" eaLnBrk="1" latinLnBrk="0" hangingPunct="1">
      <a:defRPr sz="2400" kern="1200">
        <a:solidFill>
          <a:srgbClr val="FFFFFF"/>
        </a:solidFill>
        <a:latin typeface="Times New Roman" panose="02020603050405020304" pitchFamily="18" charset="0"/>
        <a:ea typeface="MS PGothic" panose="020B0600070205080204" pitchFamily="34" charset="-128"/>
        <a:cs typeface="+mn-cs"/>
      </a:defRPr>
    </a:lvl7pPr>
    <a:lvl8pPr marL="3200400" algn="l" defTabSz="914400" rtl="0" eaLnBrk="1" latinLnBrk="0" hangingPunct="1">
      <a:defRPr sz="2400" kern="1200">
        <a:solidFill>
          <a:srgbClr val="FFFFFF"/>
        </a:solidFill>
        <a:latin typeface="Times New Roman" panose="02020603050405020304" pitchFamily="18" charset="0"/>
        <a:ea typeface="MS PGothic" panose="020B0600070205080204" pitchFamily="34" charset="-128"/>
        <a:cs typeface="+mn-cs"/>
      </a:defRPr>
    </a:lvl8pPr>
    <a:lvl9pPr marL="3657600" algn="l" defTabSz="914400" rtl="0" eaLnBrk="1" latinLnBrk="0" hangingPunct="1">
      <a:defRPr sz="2400" kern="1200">
        <a:solidFill>
          <a:srgbClr val="FFFFFF"/>
        </a:solidFill>
        <a:latin typeface="Times New Roman" panose="02020603050405020304" pitchFamily="18"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08">
          <p15:clr>
            <a:srgbClr val="A4A3A4"/>
          </p15:clr>
        </p15:guide>
        <p15:guide id="2" pos="212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284"/>
    <p:restoredTop sz="83875"/>
  </p:normalViewPr>
  <p:slideViewPr>
    <p:cSldViewPr>
      <p:cViewPr varScale="1">
        <p:scale>
          <a:sx n="98" d="100"/>
          <a:sy n="98" d="100"/>
        </p:scale>
        <p:origin x="224" y="20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p:cViewPr varScale="1">
        <p:scale>
          <a:sx n="52" d="100"/>
          <a:sy n="52" d="100"/>
        </p:scale>
        <p:origin x="-1302" y="-96"/>
      </p:cViewPr>
      <p:guideLst>
        <p:guide orient="horz" pos="3108"/>
        <p:guide pos="212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2.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1B11A4B7-CB34-F54A-A59C-E07953ACF4D9}"/>
              </a:ext>
            </a:extLst>
          </p:cNvPr>
          <p:cNvSpPr>
            <a:spLocks noGrp="1" noChangeArrowheads="1"/>
          </p:cNvSpPr>
          <p:nvPr>
            <p:ph type="body" sz="quarter" idx="3"/>
          </p:nvPr>
        </p:nvSpPr>
        <p:spPr bwMode="auto">
          <a:xfrm>
            <a:off x="898525" y="4691063"/>
            <a:ext cx="4938713" cy="415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2051" name="Rectangle 3">
            <a:extLst>
              <a:ext uri="{FF2B5EF4-FFF2-40B4-BE49-F238E27FC236}">
                <a16:creationId xmlns:a16="http://schemas.microsoft.com/office/drawing/2014/main" id="{F54EA7B6-AB61-1088-5BB1-026469AD6811}"/>
              </a:ext>
            </a:extLst>
          </p:cNvPr>
          <p:cNvSpPr>
            <a:spLocks noGrp="1" noRot="1" noChangeAspect="1" noChangeArrowheads="1" noTextEdit="1"/>
          </p:cNvSpPr>
          <p:nvPr>
            <p:ph type="sldImg" idx="2"/>
          </p:nvPr>
        </p:nvSpPr>
        <p:spPr bwMode="auto">
          <a:xfrm>
            <a:off x="1058863" y="857250"/>
            <a:ext cx="4618037" cy="346392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S PGothic" panose="020B0600070205080204" pitchFamily="34" charset="-128"/>
        <a:cs typeface="Arial" charset="0"/>
      </a:defRPr>
    </a:lvl1pPr>
    <a:lvl2pPr marL="457200" algn="l" rtl="0" eaLnBrk="0" fontAlgn="base" hangingPunct="0">
      <a:spcBef>
        <a:spcPct val="30000"/>
      </a:spcBef>
      <a:spcAft>
        <a:spcPct val="0"/>
      </a:spcAft>
      <a:defRPr sz="1200" kern="1200">
        <a:solidFill>
          <a:schemeClr val="tx1"/>
        </a:solidFill>
        <a:latin typeface="Times New Roman" pitchFamily="18" charset="0"/>
        <a:ea typeface="Arial" charset="0"/>
        <a:cs typeface="Arial" charset="0"/>
      </a:defRPr>
    </a:lvl2pPr>
    <a:lvl3pPr marL="914400" algn="l" rtl="0" eaLnBrk="0" fontAlgn="base" hangingPunct="0">
      <a:spcBef>
        <a:spcPct val="30000"/>
      </a:spcBef>
      <a:spcAft>
        <a:spcPct val="0"/>
      </a:spcAft>
      <a:defRPr sz="1200" kern="1200">
        <a:solidFill>
          <a:schemeClr val="tx1"/>
        </a:solidFill>
        <a:latin typeface="Times New Roman" pitchFamily="18" charset="0"/>
        <a:ea typeface="Arial" charset="0"/>
        <a:cs typeface="Arial" charset="0"/>
      </a:defRPr>
    </a:lvl3pPr>
    <a:lvl4pPr marL="1371600" algn="l" rtl="0" eaLnBrk="0" fontAlgn="base" hangingPunct="0">
      <a:spcBef>
        <a:spcPct val="30000"/>
      </a:spcBef>
      <a:spcAft>
        <a:spcPct val="0"/>
      </a:spcAft>
      <a:defRPr sz="1200" kern="1200">
        <a:solidFill>
          <a:schemeClr val="tx1"/>
        </a:solidFill>
        <a:latin typeface="Times New Roman" pitchFamily="18" charset="0"/>
        <a:ea typeface="Arial" charset="0"/>
        <a:cs typeface="Arial" charset="0"/>
      </a:defRPr>
    </a:lvl4pPr>
    <a:lvl5pPr marL="1828800" algn="l" rtl="0" eaLnBrk="0" fontAlgn="base" hangingPunct="0">
      <a:spcBef>
        <a:spcPct val="30000"/>
      </a:spcBef>
      <a:spcAft>
        <a:spcPct val="0"/>
      </a:spcAft>
      <a:defRPr sz="1200" kern="1200">
        <a:solidFill>
          <a:schemeClr val="tx1"/>
        </a:solidFill>
        <a:latin typeface="Times New Roman" pitchFamily="18" charset="0"/>
        <a:ea typeface="Arial" charset="0"/>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Slide Image Placeholder 1">
            <a:extLst>
              <a:ext uri="{FF2B5EF4-FFF2-40B4-BE49-F238E27FC236}">
                <a16:creationId xmlns:a16="http://schemas.microsoft.com/office/drawing/2014/main" id="{548E3D73-14E7-38DB-35F6-E797FAA8C056}"/>
              </a:ext>
            </a:extLst>
          </p:cNvPr>
          <p:cNvSpPr>
            <a:spLocks noGrp="1" noRot="1" noChangeAspect="1" noChangeArrowheads="1" noTextEdit="1"/>
          </p:cNvSpPr>
          <p:nvPr>
            <p:ph type="sldImg"/>
          </p:nvPr>
        </p:nvSpPr>
        <p:spPr>
          <a:ln/>
        </p:spPr>
      </p:sp>
      <p:sp>
        <p:nvSpPr>
          <p:cNvPr id="6147" name="Notes Placeholder 2">
            <a:extLst>
              <a:ext uri="{FF2B5EF4-FFF2-40B4-BE49-F238E27FC236}">
                <a16:creationId xmlns:a16="http://schemas.microsoft.com/office/drawing/2014/main" id="{83D694EF-E1A7-FF4F-ABA1-16F22C71DD83}"/>
              </a:ext>
            </a:extLst>
          </p:cNvPr>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r>
              <a:rPr lang="en-GB" altLang="en-US" b="1">
                <a:solidFill>
                  <a:srgbClr val="000099"/>
                </a:solidFill>
                <a:latin typeface="Arial" panose="020B0604020202020204" pitchFamily="34" charset="0"/>
                <a:cs typeface="Arial" panose="020B0604020202020204" pitchFamily="34" charset="0"/>
              </a:rPr>
              <a:t>Cardiac muscle cells are 10-20 µm in diameter, 50-100 µm in length, connected end to end at </a:t>
            </a:r>
            <a:r>
              <a:rPr lang="en-GB" altLang="en-US" b="1" i="1">
                <a:solidFill>
                  <a:srgbClr val="000099"/>
                </a:solidFill>
                <a:latin typeface="Arial" panose="020B0604020202020204" pitchFamily="34" charset="0"/>
                <a:cs typeface="Arial" panose="020B0604020202020204" pitchFamily="34" charset="0"/>
              </a:rPr>
              <a:t>intercalated discs </a:t>
            </a:r>
            <a:r>
              <a:rPr lang="en-GB" altLang="en-US" b="1">
                <a:solidFill>
                  <a:srgbClr val="000099"/>
                </a:solidFill>
                <a:latin typeface="Arial" panose="020B0604020202020204" pitchFamily="34" charset="0"/>
                <a:cs typeface="Arial" panose="020B0604020202020204" pitchFamily="34" charset="0"/>
              </a:rPr>
              <a:t>for mechanical and electrical continuity, at desmosomes (fascia adherens) and gap junctions, respectively; myocardium, functional syncytium.</a:t>
            </a:r>
          </a:p>
          <a:p>
            <a:pPr>
              <a:defRPr/>
            </a:pPr>
            <a:endParaRPr lang="en-GB" altLang="en-US" b="1">
              <a:solidFill>
                <a:srgbClr val="000099"/>
              </a:solidFill>
              <a:latin typeface="Arial" panose="020B0604020202020204" pitchFamily="34" charset="0"/>
              <a:cs typeface="Arial" panose="020B0604020202020204" pitchFamily="34" charset="0"/>
            </a:endParaRPr>
          </a:p>
          <a:p>
            <a:pPr>
              <a:defRPr/>
            </a:pPr>
            <a:r>
              <a:rPr lang="en-GB" altLang="en-US" b="1">
                <a:solidFill>
                  <a:srgbClr val="000099"/>
                </a:solidFill>
                <a:latin typeface="Arial" panose="020B0604020202020204" pitchFamily="34" charset="0"/>
                <a:cs typeface="Arial" panose="020B0604020202020204" pitchFamily="34" charset="0"/>
              </a:rPr>
              <a:t>Smooth muscle cells are about 2-10 µm wide and 100-400 µm long. They are joined together both mechanically (at intermediate junctions) and electrically (at gap junctions), to form functional units in bundles or sheets.</a:t>
            </a:r>
          </a:p>
          <a:p>
            <a:pPr>
              <a:defRPr/>
            </a:pPr>
            <a:endParaRPr lang="en-GB" altLang="en-US" b="1">
              <a:solidFill>
                <a:srgbClr val="000099"/>
              </a:solidFill>
              <a:latin typeface="Arial" panose="020B0604020202020204" pitchFamily="34" charset="0"/>
              <a:cs typeface="Arial" panose="020B0604020202020204" pitchFamily="34" charset="0"/>
            </a:endParaRPr>
          </a:p>
          <a:p>
            <a:pPr>
              <a:defRPr/>
            </a:pPr>
            <a:endParaRPr lang="en-US" altLang="en-US">
              <a:cs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a:extLst>
              <a:ext uri="{FF2B5EF4-FFF2-40B4-BE49-F238E27FC236}">
                <a16:creationId xmlns:a16="http://schemas.microsoft.com/office/drawing/2014/main" id="{65739850-81D5-1A10-C919-452F297BF6D3}"/>
              </a:ext>
            </a:extLst>
          </p:cNvPr>
          <p:cNvSpPr>
            <a:spLocks noGrp="1" noRot="1" noChangeAspect="1" noChangeArrowheads="1" noTextEdit="1"/>
          </p:cNvSpPr>
          <p:nvPr>
            <p:ph type="sldImg"/>
          </p:nvPr>
        </p:nvSpPr>
        <p:spPr>
          <a:ln/>
        </p:spPr>
      </p:sp>
      <p:sp>
        <p:nvSpPr>
          <p:cNvPr id="45059" name="Rectangle 3">
            <a:extLst>
              <a:ext uri="{FF2B5EF4-FFF2-40B4-BE49-F238E27FC236}">
                <a16:creationId xmlns:a16="http://schemas.microsoft.com/office/drawing/2014/main" id="{DC8D9A7E-12AB-B646-A6B7-17957E00A311}"/>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r>
              <a:rPr lang="en-GB" altLang="en-US">
                <a:cs typeface="Arial" panose="020B0604020202020204" pitchFamily="34" charset="0"/>
              </a:rPr>
              <a:t>Excitation–Activation–Contraction Coupling</a:t>
            </a:r>
          </a:p>
          <a:p>
            <a:pPr eaLnBrk="1" hangingPunct="1">
              <a:defRPr/>
            </a:pPr>
            <a:r>
              <a:rPr lang="en-GB" altLang="en-US">
                <a:cs typeface="Arial" panose="020B0604020202020204" pitchFamily="34" charset="0"/>
              </a:rPr>
              <a:t>The processes of excitation–activation–contraction coupling link electrical</a:t>
            </a:r>
          </a:p>
          <a:p>
            <a:pPr eaLnBrk="1" hangingPunct="1">
              <a:defRPr/>
            </a:pPr>
            <a:r>
              <a:rPr lang="en-GB" altLang="en-US">
                <a:cs typeface="Arial" panose="020B0604020202020204" pitchFamily="34" charset="0"/>
              </a:rPr>
              <a:t>events of an action potential to the mechanical events of tension development</a:t>
            </a:r>
          </a:p>
          <a:p>
            <a:pPr eaLnBrk="1" hangingPunct="1">
              <a:defRPr/>
            </a:pPr>
            <a:r>
              <a:rPr lang="en-GB" altLang="en-US">
                <a:cs typeface="Arial" panose="020B0604020202020204" pitchFamily="34" charset="0"/>
              </a:rPr>
              <a:t>and subsequent muscle relaxation. Ca++ plays a crucial role in these</a:t>
            </a:r>
          </a:p>
          <a:p>
            <a:pPr eaLnBrk="1" hangingPunct="1">
              <a:defRPr/>
            </a:pPr>
            <a:r>
              <a:rPr lang="en-GB" altLang="en-US">
                <a:cs typeface="Arial" panose="020B0604020202020204" pitchFamily="34" charset="0"/>
              </a:rPr>
              <a:t>processes, rising from a resting cytosolic concentration near 100 nmol to a</a:t>
            </a:r>
          </a:p>
          <a:p>
            <a:pPr eaLnBrk="1" hangingPunct="1">
              <a:defRPr/>
            </a:pPr>
            <a:r>
              <a:rPr lang="en-GB" altLang="en-US">
                <a:cs typeface="Arial" panose="020B0604020202020204" pitchFamily="34" charset="0"/>
              </a:rPr>
              <a:t>peak of 0.1 to 1 µmol during a normal contraction. The source of this Ca++</a:t>
            </a:r>
          </a:p>
          <a:p>
            <a:pPr eaLnBrk="1" hangingPunct="1">
              <a:defRPr/>
            </a:pPr>
            <a:r>
              <a:rPr lang="en-GB" altLang="en-US">
                <a:cs typeface="Arial" panose="020B0604020202020204" pitchFamily="34" charset="0"/>
              </a:rPr>
              <a:t>is the SR.</a:t>
            </a:r>
          </a:p>
          <a:p>
            <a:pPr eaLnBrk="1" hangingPunct="1">
              <a:defRPr/>
            </a:pPr>
            <a:endParaRPr lang="en-GB" altLang="en-US">
              <a:cs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26199FF-3816-459F-BB6C-2973DB73ADC7}" type="slidenum">
              <a:rPr lang="en-US"/>
              <a:pPr/>
              <a:t>7</a:t>
            </a:fld>
            <a:endParaRPr lang="en-US"/>
          </a:p>
        </p:txBody>
      </p:sp>
      <p:sp>
        <p:nvSpPr>
          <p:cNvPr id="134146" name="Rectangle 2"/>
          <p:cNvSpPr>
            <a:spLocks noGrp="1" noRot="1" noChangeAspect="1" noChangeArrowheads="1" noTextEdit="1"/>
          </p:cNvSpPr>
          <p:nvPr>
            <p:ph type="sldImg"/>
          </p:nvPr>
        </p:nvSpPr>
        <p:spPr>
          <a:ln/>
        </p:spPr>
      </p:sp>
      <p:sp>
        <p:nvSpPr>
          <p:cNvPr id="1341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A209A2B9-024E-0A54-26E2-A136AF49DDA7}"/>
              </a:ext>
            </a:extLst>
          </p:cNvPr>
          <p:cNvSpPr>
            <a:spLocks noGrp="1" noRot="1" noChangeAspect="1" noChangeArrowheads="1" noTextEdit="1"/>
          </p:cNvSpPr>
          <p:nvPr>
            <p:ph type="sldImg"/>
          </p:nvPr>
        </p:nvSpPr>
        <p:spPr>
          <a:ln/>
        </p:spPr>
      </p:sp>
      <p:sp>
        <p:nvSpPr>
          <p:cNvPr id="36867" name="Rectangle 3">
            <a:extLst>
              <a:ext uri="{FF2B5EF4-FFF2-40B4-BE49-F238E27FC236}">
                <a16:creationId xmlns:a16="http://schemas.microsoft.com/office/drawing/2014/main" id="{4281ADAD-3633-D14C-A1BA-DDC5B4581E7B}"/>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r>
              <a:rPr lang="en-GB" altLang="en-US">
                <a:cs typeface="Arial" panose="020B0604020202020204" pitchFamily="34" charset="0"/>
              </a:rPr>
              <a:t>Sarcoplasmic Reticulum</a:t>
            </a:r>
          </a:p>
          <a:p>
            <a:pPr eaLnBrk="1" hangingPunct="1">
              <a:defRPr/>
            </a:pPr>
            <a:r>
              <a:rPr lang="en-GB" altLang="en-US">
                <a:cs typeface="Arial" panose="020B0604020202020204" pitchFamily="34" charset="0"/>
              </a:rPr>
              <a:t>This membrane-lined structure has evolved as a region specialized for</a:t>
            </a:r>
          </a:p>
          <a:p>
            <a:pPr eaLnBrk="1" hangingPunct="1">
              <a:defRPr/>
            </a:pPr>
            <a:r>
              <a:rPr lang="en-GB" altLang="en-US">
                <a:cs typeface="Arial" panose="020B0604020202020204" pitchFamily="34" charset="0"/>
              </a:rPr>
              <a:t>uptake, storage, and triggered release of Ca++. Its longitudinal elements are</a:t>
            </a:r>
          </a:p>
          <a:p>
            <a:pPr eaLnBrk="1" hangingPunct="1">
              <a:defRPr/>
            </a:pPr>
            <a:r>
              <a:rPr lang="en-GB" altLang="en-US">
                <a:cs typeface="Arial" panose="020B0604020202020204" pitchFamily="34" charset="0"/>
              </a:rPr>
              <a:t>aligned with the long axis of muscle fibers and are rich in proteins that</a:t>
            </a:r>
          </a:p>
          <a:p>
            <a:pPr eaLnBrk="1" hangingPunct="1">
              <a:defRPr/>
            </a:pPr>
            <a:r>
              <a:rPr lang="en-GB" altLang="en-US">
                <a:cs typeface="Arial" panose="020B0604020202020204" pitchFamily="34" charset="0"/>
              </a:rPr>
              <a:t>pump or store Ca++. Near the T-tubules, the slender longitudinal channels</a:t>
            </a:r>
          </a:p>
          <a:p>
            <a:pPr eaLnBrk="1" hangingPunct="1">
              <a:defRPr/>
            </a:pPr>
            <a:r>
              <a:rPr lang="en-GB" altLang="en-US">
                <a:cs typeface="Arial" panose="020B0604020202020204" pitchFamily="34" charset="0"/>
              </a:rPr>
              <a:t>broaden to form the cisternae that surround the T-tubules. These regions</a:t>
            </a:r>
          </a:p>
          <a:p>
            <a:pPr eaLnBrk="1" hangingPunct="1">
              <a:defRPr/>
            </a:pPr>
            <a:r>
              <a:rPr lang="en-GB" altLang="en-US">
                <a:cs typeface="Arial" panose="020B0604020202020204" pitchFamily="34" charset="0"/>
              </a:rPr>
              <a:t>are rich in proteins that act as Ca++ release channels.</a:t>
            </a:r>
          </a:p>
          <a:p>
            <a:pPr eaLnBrk="1" hangingPunct="1">
              <a:defRPr/>
            </a:pPr>
            <a:r>
              <a:rPr lang="en-GB" altLang="en-US">
                <a:cs typeface="Arial" panose="020B0604020202020204" pitchFamily="34" charset="0"/>
              </a:rPr>
              <a:t>Sarcomere</a:t>
            </a:r>
          </a:p>
          <a:p>
            <a:pPr eaLnBrk="1" hangingPunct="1">
              <a:defRPr/>
            </a:pPr>
            <a:r>
              <a:rPr lang="en-GB" altLang="en-US">
                <a:cs typeface="Arial" panose="020B0604020202020204" pitchFamily="34" charset="0"/>
              </a:rPr>
              <a:t>The sarcomere is the contractile unit. It is bounded by two neighboring Zlines</a:t>
            </a:r>
          </a:p>
          <a:p>
            <a:pPr eaLnBrk="1" hangingPunct="1">
              <a:defRPr/>
            </a:pPr>
            <a:r>
              <a:rPr lang="en-GB" altLang="en-US">
                <a:cs typeface="Arial" panose="020B0604020202020204" pitchFamily="34" charset="0"/>
              </a:rPr>
              <a:t>(see Figure 2–2) and contains three types of proteins that are specialized,</a:t>
            </a:r>
          </a:p>
          <a:p>
            <a:pPr eaLnBrk="1" hangingPunct="1">
              <a:defRPr/>
            </a:pPr>
            <a:r>
              <a:rPr lang="en-GB" altLang="en-US">
                <a:cs typeface="Arial" panose="020B0604020202020204" pitchFamily="34" charset="0"/>
              </a:rPr>
              <a:t>respectively, for structure, contraction, and regulation of contraction.</a:t>
            </a:r>
          </a:p>
          <a:p>
            <a:pPr eaLnBrk="1" hangingPunct="1">
              <a:defRPr/>
            </a:pPr>
            <a:endParaRPr lang="en-GB" altLang="en-US">
              <a:cs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a:extLst>
              <a:ext uri="{FF2B5EF4-FFF2-40B4-BE49-F238E27FC236}">
                <a16:creationId xmlns:a16="http://schemas.microsoft.com/office/drawing/2014/main" id="{139D5853-1DBF-9060-86D6-558568B0C8F7}"/>
              </a:ext>
            </a:extLst>
          </p:cNvPr>
          <p:cNvSpPr>
            <a:spLocks noGrp="1" noRot="1" noChangeAspect="1" noChangeArrowheads="1" noTextEdit="1"/>
          </p:cNvSpPr>
          <p:nvPr>
            <p:ph type="sldImg"/>
          </p:nvPr>
        </p:nvSpPr>
        <p:spPr>
          <a:ln/>
        </p:spPr>
      </p:sp>
      <p:sp>
        <p:nvSpPr>
          <p:cNvPr id="35843" name="Rectangle 3">
            <a:extLst>
              <a:ext uri="{FF2B5EF4-FFF2-40B4-BE49-F238E27FC236}">
                <a16:creationId xmlns:a16="http://schemas.microsoft.com/office/drawing/2014/main" id="{58F03676-446C-6948-BE45-385BFD0ACE0A}"/>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r>
              <a:rPr lang="en-GB" altLang="en-US" sz="1000" dirty="0">
                <a:cs typeface="Arial" panose="020B0604020202020204" pitchFamily="34" charset="0"/>
              </a:rPr>
              <a:t>It is classified, on the</a:t>
            </a:r>
          </a:p>
          <a:p>
            <a:pPr eaLnBrk="1" hangingPunct="1">
              <a:defRPr/>
            </a:pPr>
            <a:r>
              <a:rPr lang="en-GB" altLang="en-US" sz="1000" dirty="0">
                <a:cs typeface="Arial" panose="020B0604020202020204" pitchFamily="34" charset="0"/>
              </a:rPr>
              <a:t>basis of its microscopic appearance, as </a:t>
            </a:r>
            <a:r>
              <a:rPr lang="en-GB" altLang="en-US" sz="1000" b="1" dirty="0">
                <a:cs typeface="Arial" panose="020B0604020202020204" pitchFamily="34" charset="0"/>
              </a:rPr>
              <a:t>striated muscle </a:t>
            </a:r>
            <a:r>
              <a:rPr lang="en-GB" altLang="en-US" sz="1000" dirty="0">
                <a:cs typeface="Arial" panose="020B0604020202020204" pitchFamily="34" charset="0"/>
              </a:rPr>
              <a:t>or </a:t>
            </a:r>
            <a:r>
              <a:rPr lang="en-GB" altLang="en-US" sz="1000" b="1" dirty="0">
                <a:cs typeface="Arial" panose="020B0604020202020204" pitchFamily="34" charset="0"/>
              </a:rPr>
              <a:t>smooth muscle</a:t>
            </a:r>
            <a:r>
              <a:rPr lang="en-GB" altLang="en-US" sz="1000" dirty="0">
                <a:cs typeface="Arial" panose="020B0604020202020204" pitchFamily="34" charset="0"/>
              </a:rPr>
              <a:t>.</a:t>
            </a:r>
          </a:p>
          <a:p>
            <a:pPr eaLnBrk="1" hangingPunct="1">
              <a:defRPr/>
            </a:pPr>
            <a:r>
              <a:rPr lang="en-GB" altLang="en-US" sz="1000" dirty="0">
                <a:cs typeface="Arial" panose="020B0604020202020204" pitchFamily="34" charset="0"/>
              </a:rPr>
              <a:t>This difference arises from the different physical arrangements of the contractile</a:t>
            </a:r>
          </a:p>
          <a:p>
            <a:pPr eaLnBrk="1" hangingPunct="1">
              <a:defRPr/>
            </a:pPr>
            <a:r>
              <a:rPr lang="en-GB" altLang="en-US" sz="1000" dirty="0">
                <a:cs typeface="Arial" panose="020B0604020202020204" pitchFamily="34" charset="0"/>
              </a:rPr>
              <a:t>proteins.</a:t>
            </a:r>
          </a:p>
          <a:p>
            <a:pPr eaLnBrk="1" hangingPunct="1">
              <a:defRPr/>
            </a:pPr>
            <a:r>
              <a:rPr lang="en-GB" altLang="en-US" sz="1000" b="1" dirty="0">
                <a:cs typeface="Arial" panose="020B0604020202020204" pitchFamily="34" charset="0"/>
              </a:rPr>
              <a:t>STRIATED MUSCLE</a:t>
            </a:r>
            <a:endParaRPr lang="en-GB" altLang="en-US" sz="1000" dirty="0">
              <a:cs typeface="Arial" panose="020B0604020202020204" pitchFamily="34" charset="0"/>
            </a:endParaRPr>
          </a:p>
          <a:p>
            <a:pPr eaLnBrk="1" hangingPunct="1">
              <a:defRPr/>
            </a:pPr>
            <a:r>
              <a:rPr lang="en-GB" altLang="en-US" sz="1000" dirty="0">
                <a:cs typeface="Arial" panose="020B0604020202020204" pitchFamily="34" charset="0"/>
              </a:rPr>
              <a:t>Striated muscle is further divided into </a:t>
            </a:r>
            <a:r>
              <a:rPr lang="en-GB" altLang="en-US" sz="1000" b="1" dirty="0">
                <a:cs typeface="Arial" panose="020B0604020202020204" pitchFamily="34" charset="0"/>
              </a:rPr>
              <a:t>skeletal muscle </a:t>
            </a:r>
            <a:r>
              <a:rPr lang="en-GB" altLang="en-US" sz="1000" dirty="0">
                <a:cs typeface="Arial" panose="020B0604020202020204" pitchFamily="34" charset="0"/>
              </a:rPr>
              <a:t>and </a:t>
            </a:r>
            <a:r>
              <a:rPr lang="en-GB" altLang="en-US" sz="1000" b="1" dirty="0">
                <a:cs typeface="Arial" panose="020B0604020202020204" pitchFamily="34" charset="0"/>
              </a:rPr>
              <a:t>cardiac muscle</a:t>
            </a:r>
            <a:r>
              <a:rPr lang="en-GB" altLang="en-US" sz="1000" dirty="0">
                <a:cs typeface="Arial" panose="020B0604020202020204" pitchFamily="34" charset="0"/>
              </a:rPr>
              <a:t>.</a:t>
            </a:r>
          </a:p>
          <a:p>
            <a:pPr eaLnBrk="1" hangingPunct="1">
              <a:defRPr/>
            </a:pPr>
            <a:r>
              <a:rPr lang="en-GB" altLang="en-US" sz="1000" dirty="0">
                <a:cs typeface="Arial" panose="020B0604020202020204" pitchFamily="34" charset="0"/>
              </a:rPr>
              <a:t>• Skeletal muscle typically bridges two attachment points on the skeleton</a:t>
            </a:r>
          </a:p>
          <a:p>
            <a:pPr eaLnBrk="1" hangingPunct="1">
              <a:defRPr/>
            </a:pPr>
            <a:r>
              <a:rPr lang="en-GB" altLang="en-US" sz="1000" dirty="0">
                <a:cs typeface="Arial" panose="020B0604020202020204" pitchFamily="34" charset="0"/>
              </a:rPr>
              <a:t>and is in a relaxed state, unless there is a need for motion of one attachment</a:t>
            </a:r>
          </a:p>
          <a:p>
            <a:pPr eaLnBrk="1" hangingPunct="1">
              <a:defRPr/>
            </a:pPr>
            <a:r>
              <a:rPr lang="en-GB" altLang="en-US" sz="1000" dirty="0">
                <a:cs typeface="Arial" panose="020B0604020202020204" pitchFamily="34" charset="0"/>
              </a:rPr>
              <a:t>point relative to the other.</a:t>
            </a:r>
          </a:p>
          <a:p>
            <a:pPr eaLnBrk="1" hangingPunct="1">
              <a:defRPr/>
            </a:pPr>
            <a:r>
              <a:rPr lang="en-GB" altLang="en-US" sz="1000" dirty="0">
                <a:cs typeface="Arial" panose="020B0604020202020204" pitchFamily="34" charset="0"/>
              </a:rPr>
              <a:t>• Cardiac muscle is arranged so as to form a hollow bag, suspended from</a:t>
            </a:r>
          </a:p>
          <a:p>
            <a:pPr eaLnBrk="1" hangingPunct="1">
              <a:defRPr/>
            </a:pPr>
            <a:r>
              <a:rPr lang="en-GB" altLang="en-US" sz="1000" dirty="0">
                <a:cs typeface="Arial" panose="020B0604020202020204" pitchFamily="34" charset="0"/>
              </a:rPr>
              <a:t>a fibrous ring. It contracts and relaxes throughout life and at a rate</a:t>
            </a:r>
          </a:p>
          <a:p>
            <a:pPr eaLnBrk="1" hangingPunct="1">
              <a:defRPr/>
            </a:pPr>
            <a:r>
              <a:rPr lang="en-GB" altLang="en-US" sz="1000" dirty="0">
                <a:cs typeface="Arial" panose="020B0604020202020204" pitchFamily="34" charset="0"/>
              </a:rPr>
              <a:t>between 35 and 200 beats per minute.</a:t>
            </a:r>
          </a:p>
          <a:p>
            <a:pPr eaLnBrk="1" hangingPunct="1">
              <a:defRPr/>
            </a:pPr>
            <a:r>
              <a:rPr lang="en-GB" altLang="en-US" sz="1000" b="1" dirty="0">
                <a:cs typeface="Arial" panose="020B0604020202020204" pitchFamily="34" charset="0"/>
              </a:rPr>
              <a:t>Morphology of Striated Muscle</a:t>
            </a:r>
          </a:p>
          <a:p>
            <a:pPr eaLnBrk="1" hangingPunct="1">
              <a:defRPr/>
            </a:pPr>
            <a:r>
              <a:rPr lang="en-GB" altLang="en-US" sz="1000" dirty="0">
                <a:cs typeface="Arial" panose="020B0604020202020204" pitchFamily="34" charset="0"/>
              </a:rPr>
              <a:t>A muscle consists of several muscle </a:t>
            </a:r>
            <a:r>
              <a:rPr lang="en-GB" altLang="en-US" sz="1000" b="1" dirty="0">
                <a:cs typeface="Arial" panose="020B0604020202020204" pitchFamily="34" charset="0"/>
              </a:rPr>
              <a:t>columns</a:t>
            </a:r>
            <a:r>
              <a:rPr lang="en-GB" altLang="en-US" sz="1000" dirty="0">
                <a:cs typeface="Arial" panose="020B0604020202020204" pitchFamily="34" charset="0"/>
              </a:rPr>
              <a:t>.* Each column consists of several</a:t>
            </a:r>
          </a:p>
          <a:p>
            <a:pPr eaLnBrk="1" hangingPunct="1">
              <a:defRPr/>
            </a:pPr>
            <a:r>
              <a:rPr lang="en-GB" altLang="en-US" sz="1000" dirty="0">
                <a:cs typeface="Arial" panose="020B0604020202020204" pitchFamily="34" charset="0"/>
              </a:rPr>
              <a:t>muscle </a:t>
            </a:r>
            <a:r>
              <a:rPr lang="en-GB" altLang="en-US" sz="1000" dirty="0" err="1">
                <a:cs typeface="Arial" panose="020B0604020202020204" pitchFamily="34" charset="0"/>
              </a:rPr>
              <a:t>fibers</a:t>
            </a:r>
            <a:r>
              <a:rPr lang="en-GB" altLang="en-US" sz="1000" dirty="0">
                <a:cs typeface="Arial" panose="020B0604020202020204" pitchFamily="34" charset="0"/>
              </a:rPr>
              <a:t> (Figure 2–1), and each </a:t>
            </a:r>
            <a:r>
              <a:rPr lang="en-GB" altLang="en-US" sz="1000" dirty="0" err="1">
                <a:cs typeface="Arial" panose="020B0604020202020204" pitchFamily="34" charset="0"/>
              </a:rPr>
              <a:t>fiber</a:t>
            </a:r>
            <a:r>
              <a:rPr lang="en-GB" altLang="en-US" sz="1000" dirty="0">
                <a:cs typeface="Arial" panose="020B0604020202020204" pitchFamily="34" charset="0"/>
              </a:rPr>
              <a:t> consists of several </a:t>
            </a:r>
            <a:r>
              <a:rPr lang="en-GB" altLang="en-US" sz="1000" b="1" dirty="0">
                <a:cs typeface="Arial" panose="020B0604020202020204" pitchFamily="34" charset="0"/>
              </a:rPr>
              <a:t>myofibrils</a:t>
            </a:r>
            <a:r>
              <a:rPr lang="en-GB" altLang="en-US" sz="1000" dirty="0">
                <a:cs typeface="Arial" panose="020B0604020202020204" pitchFamily="34" charset="0"/>
              </a:rPr>
              <a:t>,</a:t>
            </a:r>
          </a:p>
          <a:p>
            <a:pPr eaLnBrk="1" hangingPunct="1">
              <a:defRPr/>
            </a:pPr>
            <a:r>
              <a:rPr lang="en-GB" altLang="en-US" sz="1000" dirty="0">
                <a:cs typeface="Arial" panose="020B0604020202020204" pitchFamily="34" charset="0"/>
              </a:rPr>
              <a:t>each 1 to 2 µm in </a:t>
            </a:r>
            <a:r>
              <a:rPr lang="en-GB" altLang="en-US" sz="1000" dirty="0" err="1">
                <a:cs typeface="Arial" panose="020B0604020202020204" pitchFamily="34" charset="0"/>
              </a:rPr>
              <a:t>diameter.Myofibrils</a:t>
            </a:r>
            <a:r>
              <a:rPr lang="en-GB" altLang="en-US" sz="1000" dirty="0">
                <a:cs typeface="Arial" panose="020B0604020202020204" pitchFamily="34" charset="0"/>
              </a:rPr>
              <a:t> clearly show repeating motifs of light</a:t>
            </a:r>
          </a:p>
          <a:p>
            <a:pPr eaLnBrk="1" hangingPunct="1">
              <a:defRPr/>
            </a:pPr>
            <a:r>
              <a:rPr lang="en-GB" altLang="en-US" sz="1000" dirty="0">
                <a:cs typeface="Arial" panose="020B0604020202020204" pitchFamily="34" charset="0"/>
              </a:rPr>
              <a:t>and dark bands, bounded at intervals of about 2 µm by narrow, dark bands</a:t>
            </a:r>
          </a:p>
          <a:p>
            <a:pPr eaLnBrk="1" hangingPunct="1">
              <a:defRPr/>
            </a:pPr>
            <a:r>
              <a:rPr lang="en-GB" altLang="en-US" sz="1000" dirty="0">
                <a:cs typeface="Arial" panose="020B0604020202020204" pitchFamily="34" charset="0"/>
              </a:rPr>
              <a:t>called the </a:t>
            </a:r>
            <a:r>
              <a:rPr lang="en-GB" altLang="en-US" sz="1000" b="1" dirty="0">
                <a:cs typeface="Arial" panose="020B0604020202020204" pitchFamily="34" charset="0"/>
              </a:rPr>
              <a:t>Z-</a:t>
            </a:r>
            <a:r>
              <a:rPr lang="en-GB" altLang="en-US" sz="1000" b="1" dirty="0" err="1">
                <a:cs typeface="Arial" panose="020B0604020202020204" pitchFamily="34" charset="0"/>
              </a:rPr>
              <a:t>lines</a:t>
            </a:r>
            <a:r>
              <a:rPr lang="en-GB" altLang="en-US" sz="1000" dirty="0" err="1">
                <a:cs typeface="Arial" panose="020B0604020202020204" pitchFamily="34" charset="0"/>
              </a:rPr>
              <a:t>.A</a:t>
            </a:r>
            <a:r>
              <a:rPr lang="en-GB" altLang="en-US" sz="1000" dirty="0">
                <a:cs typeface="Arial" panose="020B0604020202020204" pitchFamily="34" charset="0"/>
              </a:rPr>
              <a:t> typical cell incorporates several myofibrils, Z-lines, and</a:t>
            </a:r>
          </a:p>
          <a:p>
            <a:pPr eaLnBrk="1" hangingPunct="1">
              <a:defRPr/>
            </a:pPr>
            <a:r>
              <a:rPr lang="en-GB" altLang="en-US" sz="1000" dirty="0">
                <a:cs typeface="Arial" panose="020B0604020202020204" pitchFamily="34" charset="0"/>
              </a:rPr>
              <a:t>nuclei and is bounded by an external membrane, called the </a:t>
            </a:r>
            <a:r>
              <a:rPr lang="en-GB" altLang="en-US" sz="1000" b="1" dirty="0">
                <a:cs typeface="Arial" panose="020B0604020202020204" pitchFamily="34" charset="0"/>
              </a:rPr>
              <a:t>sarcolemma</a:t>
            </a:r>
            <a:r>
              <a:rPr lang="en-GB" altLang="en-US" sz="1000" dirty="0">
                <a:cs typeface="Arial" panose="020B0604020202020204" pitchFamily="34" charset="0"/>
              </a:rPr>
              <a:t>.</a:t>
            </a:r>
          </a:p>
          <a:p>
            <a:pPr eaLnBrk="1" hangingPunct="1">
              <a:defRPr/>
            </a:pPr>
            <a:endParaRPr lang="en-GB" altLang="en-US" sz="1000" dirty="0">
              <a:cs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a:extLst>
              <a:ext uri="{FF2B5EF4-FFF2-40B4-BE49-F238E27FC236}">
                <a16:creationId xmlns:a16="http://schemas.microsoft.com/office/drawing/2014/main" id="{84AC6595-EA29-CDD5-E61F-EE6042850931}"/>
              </a:ext>
            </a:extLst>
          </p:cNvPr>
          <p:cNvSpPr>
            <a:spLocks noGrp="1" noRot="1" noChangeAspect="1" noChangeArrowheads="1" noTextEdit="1"/>
          </p:cNvSpPr>
          <p:nvPr>
            <p:ph type="sldImg"/>
          </p:nvPr>
        </p:nvSpPr>
        <p:spPr>
          <a:xfrm>
            <a:off x="900113" y="739775"/>
            <a:ext cx="4935537" cy="3702050"/>
          </a:xfrm>
          <a:ln/>
        </p:spPr>
      </p:sp>
      <p:sp>
        <p:nvSpPr>
          <p:cNvPr id="40963" name="Rectangle 3">
            <a:extLst>
              <a:ext uri="{FF2B5EF4-FFF2-40B4-BE49-F238E27FC236}">
                <a16:creationId xmlns:a16="http://schemas.microsoft.com/office/drawing/2014/main" id="{C6E927C8-1081-9047-B1F2-55C42F7A9362}"/>
              </a:ext>
            </a:extLst>
          </p:cNvPr>
          <p:cNvSpPr>
            <a:spLocks noGrp="1" noChangeArrowheads="1"/>
          </p:cNvSpPr>
          <p:nvPr>
            <p:ph type="body" idx="1"/>
          </p:nvPr>
        </p:nvSpPr>
        <p:spPr>
          <a:xfrm>
            <a:off x="898525" y="4687888"/>
            <a:ext cx="4938713" cy="4441825"/>
          </a:xfrm>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marL="457200" indent="-457200">
              <a:lnSpc>
                <a:spcPct val="90000"/>
              </a:lnSpc>
            </a:pPr>
            <a:r>
              <a:rPr lang="en-US" sz="1600" dirty="0">
                <a:solidFill>
                  <a:schemeClr val="tx1"/>
                </a:solidFill>
                <a:cs typeface="Times New Roman" pitchFamily="18" charset="0"/>
              </a:rPr>
              <a:t>Thin Filament: composed of 3 major proteins</a:t>
            </a:r>
          </a:p>
          <a:p>
            <a:pPr marL="838200" lvl="1" indent="-381000">
              <a:lnSpc>
                <a:spcPct val="90000"/>
              </a:lnSpc>
              <a:buFont typeface="Times" pitchFamily="1" charset="0"/>
              <a:buAutoNum type="arabicPeriod"/>
            </a:pPr>
            <a:r>
              <a:rPr lang="en-US" sz="1600" dirty="0">
                <a:solidFill>
                  <a:schemeClr val="tx1"/>
                </a:solidFill>
                <a:cs typeface="Times New Roman" pitchFamily="18" charset="0"/>
              </a:rPr>
              <a:t>F (fibrous) actin</a:t>
            </a:r>
          </a:p>
          <a:p>
            <a:pPr marL="838200" lvl="1" indent="-381000">
              <a:lnSpc>
                <a:spcPct val="90000"/>
              </a:lnSpc>
              <a:buFont typeface="Times" pitchFamily="1" charset="0"/>
              <a:buAutoNum type="arabicPeriod"/>
            </a:pPr>
            <a:r>
              <a:rPr lang="en-US" sz="1600" dirty="0">
                <a:solidFill>
                  <a:schemeClr val="tx1"/>
                </a:solidFill>
                <a:cs typeface="Times New Roman" pitchFamily="18" charset="0"/>
              </a:rPr>
              <a:t>Tropomyosin</a:t>
            </a:r>
          </a:p>
          <a:p>
            <a:pPr marL="838200" lvl="1" indent="-381000">
              <a:lnSpc>
                <a:spcPct val="90000"/>
              </a:lnSpc>
              <a:buFont typeface="Times" pitchFamily="1" charset="0"/>
              <a:buAutoNum type="arabicPeriod"/>
            </a:pPr>
            <a:r>
              <a:rPr lang="en-US" sz="1600" dirty="0">
                <a:solidFill>
                  <a:schemeClr val="tx1"/>
                </a:solidFill>
                <a:cs typeface="Times New Roman" pitchFamily="18" charset="0"/>
              </a:rPr>
              <a:t>Troponin</a:t>
            </a:r>
            <a:endParaRPr lang="en-US" sz="1400" dirty="0">
              <a:solidFill>
                <a:schemeClr val="tx1"/>
              </a:solidFill>
              <a:cs typeface="Times New Roman" pitchFamily="18" charset="0"/>
            </a:endParaRPr>
          </a:p>
          <a:p>
            <a:pPr marL="457200" indent="-457200">
              <a:lnSpc>
                <a:spcPct val="90000"/>
              </a:lnSpc>
            </a:pPr>
            <a:r>
              <a:rPr lang="en-US" sz="1600" dirty="0">
                <a:solidFill>
                  <a:schemeClr val="tx1"/>
                </a:solidFill>
                <a:cs typeface="Times New Roman" pitchFamily="18" charset="0"/>
              </a:rPr>
              <a:t>Two strands of fibrous (F) actin form a double helix extending the length of the myofilament; attached at either end at sarcomere.</a:t>
            </a:r>
          </a:p>
          <a:p>
            <a:pPr marL="838200" lvl="1" indent="-381000">
              <a:lnSpc>
                <a:spcPct val="90000"/>
              </a:lnSpc>
              <a:buClr>
                <a:schemeClr val="tx1"/>
              </a:buClr>
            </a:pPr>
            <a:r>
              <a:rPr lang="en-US" sz="1600" dirty="0">
                <a:solidFill>
                  <a:schemeClr val="tx1"/>
                </a:solidFill>
                <a:cs typeface="Times New Roman" pitchFamily="18" charset="0"/>
              </a:rPr>
              <a:t>Composed of G actin monomers each of which has a </a:t>
            </a:r>
            <a:r>
              <a:rPr lang="en-US" sz="1600" i="1" dirty="0">
                <a:solidFill>
                  <a:schemeClr val="tx1"/>
                </a:solidFill>
                <a:cs typeface="Times New Roman" pitchFamily="18" charset="0"/>
              </a:rPr>
              <a:t>myosin-binding site</a:t>
            </a:r>
            <a:r>
              <a:rPr lang="en-US" sz="1600" dirty="0">
                <a:solidFill>
                  <a:schemeClr val="tx1"/>
                </a:solidFill>
                <a:cs typeface="Times New Roman" pitchFamily="18" charset="0"/>
              </a:rPr>
              <a:t> </a:t>
            </a:r>
          </a:p>
          <a:p>
            <a:pPr marL="838200" lvl="1" indent="-381000">
              <a:lnSpc>
                <a:spcPct val="90000"/>
              </a:lnSpc>
              <a:buClr>
                <a:schemeClr val="tx1"/>
              </a:buClr>
            </a:pPr>
            <a:r>
              <a:rPr lang="en-US" sz="1600" dirty="0">
                <a:solidFill>
                  <a:schemeClr val="tx1"/>
                </a:solidFill>
                <a:cs typeface="Times New Roman" pitchFamily="18" charset="0"/>
              </a:rPr>
              <a:t>Actin site can bind myosin during muscle contraction. </a:t>
            </a:r>
          </a:p>
          <a:p>
            <a:pPr marL="457200" indent="-457200">
              <a:lnSpc>
                <a:spcPct val="90000"/>
              </a:lnSpc>
            </a:pPr>
            <a:r>
              <a:rPr lang="en-US" sz="1600" dirty="0">
                <a:solidFill>
                  <a:schemeClr val="tx1"/>
                </a:solidFill>
                <a:cs typeface="Times New Roman" pitchFamily="18" charset="0"/>
              </a:rPr>
              <a:t>Tropomyosin: an elongated protein winds along the groove of the F actin double helix. </a:t>
            </a:r>
          </a:p>
          <a:p>
            <a:pPr marL="457200" indent="-457200">
              <a:lnSpc>
                <a:spcPct val="90000"/>
              </a:lnSpc>
            </a:pPr>
            <a:r>
              <a:rPr lang="en-US" sz="1600" dirty="0">
                <a:solidFill>
                  <a:schemeClr val="tx1"/>
                </a:solidFill>
                <a:cs typeface="Times New Roman" pitchFamily="18" charset="0"/>
              </a:rPr>
              <a:t>Troponin is composed of three subunits: </a:t>
            </a:r>
          </a:p>
          <a:p>
            <a:pPr marL="838200" lvl="1" indent="-381000">
              <a:lnSpc>
                <a:spcPct val="90000"/>
              </a:lnSpc>
            </a:pPr>
            <a:r>
              <a:rPr lang="en-US" sz="1600" dirty="0">
                <a:solidFill>
                  <a:schemeClr val="tx1"/>
                </a:solidFill>
                <a:cs typeface="Times New Roman" pitchFamily="18" charset="0"/>
              </a:rPr>
              <a:t>Tn-I : binds to actin</a:t>
            </a:r>
          </a:p>
          <a:p>
            <a:pPr marL="838200" lvl="1" indent="-381000">
              <a:lnSpc>
                <a:spcPct val="90000"/>
              </a:lnSpc>
            </a:pPr>
            <a:r>
              <a:rPr lang="en-US" sz="1600" dirty="0">
                <a:solidFill>
                  <a:schemeClr val="tx1"/>
                </a:solidFill>
                <a:cs typeface="Times New Roman" pitchFamily="18" charset="0"/>
              </a:rPr>
              <a:t>Tn-T :binds to tropomyosin,</a:t>
            </a:r>
          </a:p>
          <a:p>
            <a:pPr marL="838200" lvl="1" indent="-381000">
              <a:lnSpc>
                <a:spcPct val="90000"/>
              </a:lnSpc>
            </a:pPr>
            <a:r>
              <a:rPr lang="en-US" sz="1600" dirty="0">
                <a:solidFill>
                  <a:schemeClr val="tx1"/>
                </a:solidFill>
                <a:cs typeface="Times New Roman" pitchFamily="18" charset="0"/>
              </a:rPr>
              <a:t>Tn-C :binds to calcium ions.</a:t>
            </a:r>
            <a:r>
              <a:rPr lang="en-US" sz="1400" dirty="0">
                <a:solidFill>
                  <a:schemeClr val="tx1"/>
                </a:solidFill>
                <a:cs typeface="Times New Roman" pitchFamily="18" charset="0"/>
              </a:rPr>
              <a:t> </a:t>
            </a:r>
            <a:endParaRPr lang="en-US" sz="1400" dirty="0">
              <a:solidFill>
                <a:schemeClr val="tx1"/>
              </a:solidFill>
            </a:endParaRPr>
          </a:p>
          <a:p>
            <a:pPr eaLnBrk="1" hangingPunct="1">
              <a:defRPr/>
            </a:pPr>
            <a:r>
              <a:rPr lang="en-US" dirty="0">
                <a:latin typeface="Times New Roman" charset="0"/>
                <a:ea typeface="ＭＳ Ｐゴシック" charset="0"/>
              </a:rPr>
              <a:t>Myosin</a:t>
            </a:r>
          </a:p>
          <a:p>
            <a:pPr marL="457200" indent="-457200">
              <a:lnSpc>
                <a:spcPct val="90000"/>
              </a:lnSpc>
            </a:pPr>
            <a:r>
              <a:rPr lang="en-US" sz="1600" dirty="0">
                <a:solidFill>
                  <a:schemeClr val="tx1"/>
                </a:solidFill>
                <a:cs typeface="Times New Roman" pitchFamily="18" charset="0"/>
              </a:rPr>
              <a:t>Many elongated myosin molecules shaped like golf clubs. </a:t>
            </a:r>
          </a:p>
          <a:p>
            <a:pPr marL="457200" indent="-457200">
              <a:lnSpc>
                <a:spcPct val="90000"/>
              </a:lnSpc>
            </a:pPr>
            <a:r>
              <a:rPr lang="en-US" sz="1600" dirty="0">
                <a:solidFill>
                  <a:schemeClr val="tx1"/>
                </a:solidFill>
                <a:cs typeface="Times New Roman" pitchFamily="18" charset="0"/>
              </a:rPr>
              <a:t>Single filament contains roughly 300 myosin molecules</a:t>
            </a:r>
          </a:p>
          <a:p>
            <a:pPr marL="457200" indent="-457200">
              <a:lnSpc>
                <a:spcPct val="90000"/>
              </a:lnSpc>
            </a:pPr>
            <a:r>
              <a:rPr lang="en-US" sz="1600" dirty="0">
                <a:solidFill>
                  <a:schemeClr val="tx1"/>
                </a:solidFill>
                <a:cs typeface="Times New Roman" pitchFamily="18" charset="0"/>
              </a:rPr>
              <a:t>Molecule consists of two heavy myosin molecules wound together to form a rod portion lying parallel to the myosin myofilament and two heads that extend laterally. </a:t>
            </a:r>
          </a:p>
          <a:p>
            <a:pPr marL="457200" indent="-457200">
              <a:lnSpc>
                <a:spcPct val="90000"/>
              </a:lnSpc>
            </a:pPr>
            <a:r>
              <a:rPr lang="en-US" sz="1600" dirty="0">
                <a:solidFill>
                  <a:schemeClr val="tx1"/>
                </a:solidFill>
                <a:cs typeface="Times New Roman" pitchFamily="18" charset="0"/>
              </a:rPr>
              <a:t>Myosin heads</a:t>
            </a:r>
          </a:p>
          <a:p>
            <a:pPr marL="838200" lvl="1" indent="-381000">
              <a:lnSpc>
                <a:spcPct val="90000"/>
              </a:lnSpc>
              <a:buFontTx/>
              <a:buAutoNum type="arabicPeriod"/>
            </a:pPr>
            <a:r>
              <a:rPr lang="en-US" sz="1600" dirty="0">
                <a:solidFill>
                  <a:schemeClr val="tx1"/>
                </a:solidFill>
                <a:cs typeface="Times New Roman" pitchFamily="18" charset="0"/>
              </a:rPr>
              <a:t>Can bind to active sites on the actin molecules to form cross-bridges. (Actin binding site)</a:t>
            </a:r>
          </a:p>
          <a:p>
            <a:pPr marL="838200" lvl="1" indent="-381000">
              <a:lnSpc>
                <a:spcPct val="90000"/>
              </a:lnSpc>
              <a:buFontTx/>
              <a:buAutoNum type="arabicPeriod"/>
            </a:pPr>
            <a:r>
              <a:rPr lang="en-US" sz="1600" dirty="0">
                <a:solidFill>
                  <a:schemeClr val="tx1"/>
                </a:solidFill>
                <a:cs typeface="Times New Roman" pitchFamily="18" charset="0"/>
              </a:rPr>
              <a:t>Attached to the rod portion by a hinge region that can bend and straighten during contraction. </a:t>
            </a:r>
          </a:p>
          <a:p>
            <a:pPr marL="838200" lvl="1" indent="-381000">
              <a:lnSpc>
                <a:spcPct val="90000"/>
              </a:lnSpc>
              <a:buFontTx/>
              <a:buAutoNum type="arabicPeriod"/>
            </a:pPr>
            <a:r>
              <a:rPr lang="en-US" sz="1600" dirty="0">
                <a:solidFill>
                  <a:schemeClr val="tx1"/>
                </a:solidFill>
                <a:cs typeface="Times New Roman" pitchFamily="18" charset="0"/>
              </a:rPr>
              <a:t>Have ATPase activity: activity that breaks down adenosine triphosphate (ATP), releasing energy. Part of the energy is used to bend the hinge region of the myosin molecule during contraction</a:t>
            </a:r>
          </a:p>
          <a:p>
            <a:pPr eaLnBrk="1" hangingPunct="1">
              <a:defRPr/>
            </a:pPr>
            <a:endParaRPr lang="en-US" dirty="0">
              <a:latin typeface="Times New Roman" charset="0"/>
              <a:ea typeface="ＭＳ Ｐゴシック"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0873F04D-4B30-8150-4FC1-EDCE42A3C970}"/>
              </a:ext>
            </a:extLst>
          </p:cNvPr>
          <p:cNvSpPr>
            <a:spLocks noGrp="1" noRot="1" noChangeAspect="1" noChangeArrowheads="1" noTextEdit="1"/>
          </p:cNvSpPr>
          <p:nvPr>
            <p:ph type="sldImg"/>
          </p:nvPr>
        </p:nvSpPr>
        <p:spPr>
          <a:xfrm>
            <a:off x="900113" y="739775"/>
            <a:ext cx="4935537" cy="3702050"/>
          </a:xfrm>
          <a:ln/>
        </p:spPr>
      </p:sp>
      <p:sp>
        <p:nvSpPr>
          <p:cNvPr id="41987" name="Rectangle 3">
            <a:extLst>
              <a:ext uri="{FF2B5EF4-FFF2-40B4-BE49-F238E27FC236}">
                <a16:creationId xmlns:a16="http://schemas.microsoft.com/office/drawing/2014/main" id="{E27F7C25-49D1-1046-9B24-C19C362F0ED9}"/>
              </a:ext>
            </a:extLst>
          </p:cNvPr>
          <p:cNvSpPr>
            <a:spLocks noGrp="1" noChangeArrowheads="1"/>
          </p:cNvSpPr>
          <p:nvPr>
            <p:ph type="body" idx="1"/>
          </p:nvPr>
        </p:nvSpPr>
        <p:spPr>
          <a:xfrm>
            <a:off x="898525" y="4687888"/>
            <a:ext cx="4938713" cy="4441825"/>
          </a:xfrm>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en-US" dirty="0">
              <a:latin typeface="Times New Roman" charset="0"/>
              <a:ea typeface="ＭＳ Ｐゴシック"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D212EF99-AB1E-7B37-27B3-2D52EDD9B4D0}"/>
              </a:ext>
            </a:extLst>
          </p:cNvPr>
          <p:cNvSpPr>
            <a:spLocks noGrp="1" noRot="1" noChangeAspect="1" noChangeArrowheads="1" noTextEdit="1"/>
          </p:cNvSpPr>
          <p:nvPr>
            <p:ph type="sldImg"/>
          </p:nvPr>
        </p:nvSpPr>
        <p:spPr>
          <a:xfrm>
            <a:off x="900113" y="739775"/>
            <a:ext cx="4935537" cy="3702050"/>
          </a:xfrm>
          <a:ln/>
        </p:spPr>
      </p:sp>
      <p:sp>
        <p:nvSpPr>
          <p:cNvPr id="44035" name="Rectangle 3">
            <a:extLst>
              <a:ext uri="{FF2B5EF4-FFF2-40B4-BE49-F238E27FC236}">
                <a16:creationId xmlns:a16="http://schemas.microsoft.com/office/drawing/2014/main" id="{42ADAD28-7B11-2547-A909-3CF99EF905E1}"/>
              </a:ext>
            </a:extLst>
          </p:cNvPr>
          <p:cNvSpPr>
            <a:spLocks noGrp="1" noChangeArrowheads="1"/>
          </p:cNvSpPr>
          <p:nvPr>
            <p:ph type="body" idx="1"/>
          </p:nvPr>
        </p:nvSpPr>
        <p:spPr>
          <a:xfrm>
            <a:off x="898525" y="4687888"/>
            <a:ext cx="4938713" cy="4441825"/>
          </a:xfrm>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r>
              <a:rPr lang="en-US" altLang="en-US" dirty="0">
                <a:cs typeface="Arial" panose="020B0604020202020204" pitchFamily="34" charset="0"/>
              </a:rPr>
              <a:t>Before skeletal muscle can undergo contraction, an electrical signal must be created in the form of an action potential by the brain and then sent to the motor neuron of the somatic nervous system that innervates that particular muscle. It travels along the axon of the motor neuron and eventually reaches the motor end plate (neuromuscular junction), which is the synapse between the axon terminal of the motor neuron and the muscle cell's membrane. The </a:t>
            </a:r>
            <a:r>
              <a:rPr lang="en-US" altLang="en-US" dirty="0" err="1">
                <a:cs typeface="Arial" panose="020B0604020202020204" pitchFamily="34" charset="0"/>
              </a:rPr>
              <a:t>neurotrasmitter</a:t>
            </a:r>
            <a:r>
              <a:rPr lang="en-US" altLang="en-US" dirty="0">
                <a:cs typeface="Arial" panose="020B0604020202020204" pitchFamily="34" charset="0"/>
              </a:rPr>
              <a:t> acetylcholine depolarizes the membrane and the action potential travels through the transverse tubules (t-tubules) and into the sarcoplasmic reticulum. </a:t>
            </a:r>
            <a:r>
              <a:rPr lang="en-US" altLang="en-US" dirty="0" err="1">
                <a:cs typeface="Arial" panose="020B0604020202020204" pitchFamily="34" charset="0"/>
              </a:rPr>
              <a:t>TThe</a:t>
            </a:r>
            <a:r>
              <a:rPr lang="en-US" altLang="en-US" dirty="0">
                <a:cs typeface="Arial" panose="020B0604020202020204" pitchFamily="34" charset="0"/>
              </a:rPr>
              <a:t> sarcoplasmic reticulum then releases calcium ions into the cytosol of the cell, which go on to bind to the troponin found on the thin filament. Once calcium binds to troponin, it shifts the tropomyosin and exposes the myosin binding sites. At the same time, the myosin head of the thick filament hydrolyzes ATP into ADP and Pi, which remain attached to the myosin head. The myosin head then orients itself at a ninety degree angle with respect to the thick filament and binds onto the exposed myosin binding site on the thin filament. As soon as the ADP and P are released by the myosin head, the myosin head once more shifts itself and this creates the power stroke that moves the thin filament. This causes the muscle to contract. In order for the myosin to detach itself from the thin filament, ATP must bind to the myosin head. Once ATP binds, calcium detaches from the troponin and the calcium ions are then pumped right back into the sarcoplasmic reticulum. This process can now be repeated.</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F2507857-E21F-A704-F9B4-16AA9A1301D4}"/>
              </a:ext>
            </a:extLst>
          </p:cNvPr>
          <p:cNvSpPr>
            <a:spLocks noGrp="1" noRot="1" noChangeAspect="1" noChangeArrowheads="1" noTextEdit="1"/>
          </p:cNvSpPr>
          <p:nvPr>
            <p:ph type="sldImg"/>
          </p:nvPr>
        </p:nvSpPr>
        <p:spPr>
          <a:ln/>
        </p:spPr>
      </p:sp>
      <p:sp>
        <p:nvSpPr>
          <p:cNvPr id="46083" name="Rectangle 3">
            <a:extLst>
              <a:ext uri="{FF2B5EF4-FFF2-40B4-BE49-F238E27FC236}">
                <a16:creationId xmlns:a16="http://schemas.microsoft.com/office/drawing/2014/main" id="{669CACBD-6E2F-7346-AB67-EC4678832C7E}"/>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r>
              <a:rPr lang="en-GB" altLang="en-US" b="1">
                <a:cs typeface="Arial" panose="020B0604020202020204" pitchFamily="34" charset="0"/>
              </a:rPr>
              <a:t>Mechanics of Muscle Contraction</a:t>
            </a:r>
          </a:p>
          <a:p>
            <a:pPr eaLnBrk="1" hangingPunct="1">
              <a:defRPr/>
            </a:pPr>
            <a:r>
              <a:rPr lang="en-GB" altLang="en-US">
                <a:cs typeface="Arial" panose="020B0604020202020204" pitchFamily="34" charset="0"/>
              </a:rPr>
              <a:t>When muscle is stimulated adequately, it generates an action potential, and</a:t>
            </a:r>
          </a:p>
          <a:p>
            <a:pPr eaLnBrk="1" hangingPunct="1">
              <a:defRPr/>
            </a:pPr>
            <a:r>
              <a:rPr lang="en-GB" altLang="en-US">
                <a:cs typeface="Arial" panose="020B0604020202020204" pitchFamily="34" charset="0"/>
              </a:rPr>
              <a:t>the associated change in membrane potential is translated into Ca++ release</a:t>
            </a:r>
          </a:p>
          <a:p>
            <a:pPr eaLnBrk="1" hangingPunct="1">
              <a:defRPr/>
            </a:pPr>
            <a:r>
              <a:rPr lang="en-GB" altLang="en-US">
                <a:cs typeface="Arial" panose="020B0604020202020204" pitchFamily="34" charset="0"/>
              </a:rPr>
              <a:t>from the sarcoplasmic reticulum. As described by the sliding filament</a:t>
            </a:r>
          </a:p>
          <a:p>
            <a:pPr eaLnBrk="1" hangingPunct="1">
              <a:defRPr/>
            </a:pPr>
            <a:r>
              <a:rPr lang="en-GB" altLang="en-US">
                <a:cs typeface="Arial" panose="020B0604020202020204" pitchFamily="34" charset="0"/>
              </a:rPr>
              <a:t>model, this increased cytosolic [Ca++] results in muscle shortening and force</a:t>
            </a:r>
          </a:p>
          <a:p>
            <a:pPr eaLnBrk="1" hangingPunct="1">
              <a:defRPr/>
            </a:pPr>
            <a:r>
              <a:rPr lang="en-GB" altLang="en-US">
                <a:cs typeface="Arial" panose="020B0604020202020204" pitchFamily="34" charset="0"/>
              </a:rPr>
              <a:t>generation. The magnitudes and rates of these two and other indices of</a:t>
            </a:r>
          </a:p>
          <a:p>
            <a:pPr eaLnBrk="1" hangingPunct="1">
              <a:defRPr/>
            </a:pPr>
            <a:r>
              <a:rPr lang="en-GB" altLang="en-US">
                <a:cs typeface="Arial" panose="020B0604020202020204" pitchFamily="34" charset="0"/>
              </a:rPr>
              <a:t>muscle function are related in complex ways to the load against which the</a:t>
            </a:r>
          </a:p>
          <a:p>
            <a:pPr eaLnBrk="1" hangingPunct="1">
              <a:defRPr/>
            </a:pPr>
            <a:r>
              <a:rPr lang="en-GB" altLang="en-US">
                <a:cs typeface="Arial" panose="020B0604020202020204" pitchFamily="34" charset="0"/>
              </a:rPr>
              <a:t>muscle must work.When a muscle, such as the biceps, is in typical use, it</a:t>
            </a:r>
          </a:p>
          <a:p>
            <a:pPr eaLnBrk="1" hangingPunct="1">
              <a:defRPr/>
            </a:pPr>
            <a:r>
              <a:rPr lang="en-GB" altLang="en-US">
                <a:cs typeface="Arial" panose="020B0604020202020204" pitchFamily="34" charset="0"/>
              </a:rPr>
              <a:t>develops tension with a change in elbow angle while a weight is being lifted.</a:t>
            </a:r>
          </a:p>
          <a:p>
            <a:pPr eaLnBrk="1" hangingPunct="1">
              <a:defRPr/>
            </a:pPr>
            <a:r>
              <a:rPr lang="en-GB" altLang="en-US">
                <a:cs typeface="Arial" panose="020B0604020202020204" pitchFamily="34" charset="0"/>
              </a:rPr>
              <a:t>Although the weight being lifted does not change, the load against which</a:t>
            </a:r>
          </a:p>
          <a:p>
            <a:pPr eaLnBrk="1" hangingPunct="1">
              <a:defRPr/>
            </a:pPr>
            <a:r>
              <a:rPr lang="en-GB" altLang="en-US">
                <a:cs typeface="Arial" panose="020B0604020202020204" pitchFamily="34" charset="0"/>
              </a:rPr>
              <a:t>the muscle works changes as the elbow angle changes. Three experimental</a:t>
            </a:r>
          </a:p>
          <a:p>
            <a:pPr eaLnBrk="1" hangingPunct="1">
              <a:defRPr/>
            </a:pPr>
            <a:r>
              <a:rPr lang="en-GB" altLang="en-US">
                <a:cs typeface="Arial" panose="020B0604020202020204" pitchFamily="34" charset="0"/>
              </a:rPr>
              <a:t>set-ups are frequently used to study this apparently simple physiologic phenomenon:</a:t>
            </a:r>
          </a:p>
          <a:p>
            <a:pPr eaLnBrk="1" hangingPunct="1">
              <a:defRPr/>
            </a:pPr>
            <a:r>
              <a:rPr lang="en-GB" altLang="en-US" b="1">
                <a:cs typeface="Arial" panose="020B0604020202020204" pitchFamily="34" charset="0"/>
              </a:rPr>
              <a:t>isometric</a:t>
            </a:r>
            <a:r>
              <a:rPr lang="en-GB" altLang="en-US">
                <a:cs typeface="Arial" panose="020B0604020202020204" pitchFamily="34" charset="0"/>
              </a:rPr>
              <a:t>, </a:t>
            </a:r>
            <a:r>
              <a:rPr lang="en-GB" altLang="en-US" b="1">
                <a:cs typeface="Arial" panose="020B0604020202020204" pitchFamily="34" charset="0"/>
              </a:rPr>
              <a:t>isotonic</a:t>
            </a:r>
            <a:r>
              <a:rPr lang="en-GB" altLang="en-US">
                <a:cs typeface="Arial" panose="020B0604020202020204" pitchFamily="34" charset="0"/>
              </a:rPr>
              <a:t>, or </a:t>
            </a:r>
            <a:r>
              <a:rPr lang="en-GB" altLang="en-US" b="1">
                <a:cs typeface="Arial" panose="020B0604020202020204" pitchFamily="34" charset="0"/>
              </a:rPr>
              <a:t>isokinetic </a:t>
            </a:r>
            <a:r>
              <a:rPr lang="en-GB" altLang="en-US">
                <a:cs typeface="Arial" panose="020B0604020202020204" pitchFamily="34" charset="0"/>
              </a:rPr>
              <a:t>contractions.</a:t>
            </a:r>
          </a:p>
          <a:p>
            <a:pPr eaLnBrk="1" hangingPunct="1">
              <a:defRPr/>
            </a:pPr>
            <a:endParaRPr lang="en-GB" altLang="en-US">
              <a:cs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D1A7BEAE-7D58-7574-B491-E9518E174E5D}"/>
              </a:ext>
            </a:extLst>
          </p:cNvPr>
          <p:cNvSpPr>
            <a:spLocks noGrp="1" noRot="1" noChangeAspect="1" noChangeArrowheads="1" noTextEdit="1"/>
          </p:cNvSpPr>
          <p:nvPr>
            <p:ph type="sldImg"/>
          </p:nvPr>
        </p:nvSpPr>
        <p:spPr>
          <a:xfrm>
            <a:off x="900113" y="739775"/>
            <a:ext cx="4935537" cy="3702050"/>
          </a:xfrm>
          <a:ln/>
        </p:spPr>
      </p:sp>
      <p:sp>
        <p:nvSpPr>
          <p:cNvPr id="48131" name="Rectangle 3">
            <a:extLst>
              <a:ext uri="{FF2B5EF4-FFF2-40B4-BE49-F238E27FC236}">
                <a16:creationId xmlns:a16="http://schemas.microsoft.com/office/drawing/2014/main" id="{6159FC86-DC73-394A-9C12-3A0AED1314A3}"/>
              </a:ext>
            </a:extLst>
          </p:cNvPr>
          <p:cNvSpPr>
            <a:spLocks noGrp="1" noChangeArrowheads="1"/>
          </p:cNvSpPr>
          <p:nvPr>
            <p:ph type="body" idx="1"/>
          </p:nvPr>
        </p:nvSpPr>
        <p:spPr>
          <a:xfrm>
            <a:off x="898525" y="4687888"/>
            <a:ext cx="4938713" cy="4441825"/>
          </a:xfrm>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r>
              <a:rPr lang="en-US" altLang="en-US" b="1" i="1" dirty="0">
                <a:solidFill>
                  <a:srgbClr val="C00000"/>
                </a:solidFill>
              </a:rPr>
              <a:t>Twitch-</a:t>
            </a:r>
          </a:p>
          <a:p>
            <a:pPr lvl="1"/>
            <a:r>
              <a:rPr lang="en-US" altLang="en-US" dirty="0">
                <a:solidFill>
                  <a:schemeClr val="tx1"/>
                </a:solidFill>
              </a:rPr>
              <a:t>A single brief contraction</a:t>
            </a:r>
          </a:p>
          <a:p>
            <a:pPr lvl="1"/>
            <a:r>
              <a:rPr lang="en-US" altLang="en-US" dirty="0">
                <a:solidFill>
                  <a:schemeClr val="tx1"/>
                </a:solidFill>
              </a:rPr>
              <a:t>Not a normal muscle function</a:t>
            </a:r>
          </a:p>
          <a:p>
            <a:r>
              <a:rPr lang="en-US" altLang="en-US" b="1" i="1" dirty="0">
                <a:solidFill>
                  <a:srgbClr val="C00000"/>
                </a:solidFill>
              </a:rPr>
              <a:t>Tetanus</a:t>
            </a:r>
          </a:p>
          <a:p>
            <a:pPr lvl="1"/>
            <a:r>
              <a:rPr lang="en-US" altLang="en-US" dirty="0">
                <a:solidFill>
                  <a:schemeClr val="tx1"/>
                </a:solidFill>
              </a:rPr>
              <a:t>One contraction immediately followed by another</a:t>
            </a:r>
          </a:p>
          <a:p>
            <a:pPr lvl="1"/>
            <a:r>
              <a:rPr lang="en-US" altLang="en-US" dirty="0">
                <a:solidFill>
                  <a:schemeClr val="tx1"/>
                </a:solidFill>
              </a:rPr>
              <a:t>Muscle never completely returns to a relaxed state</a:t>
            </a:r>
          </a:p>
          <a:p>
            <a:pPr lvl="1"/>
            <a:r>
              <a:rPr lang="en-US" altLang="en-US" dirty="0">
                <a:solidFill>
                  <a:schemeClr val="tx1"/>
                </a:solidFill>
              </a:rPr>
              <a:t>Effects are compounded</a:t>
            </a:r>
          </a:p>
          <a:p>
            <a:pPr eaLnBrk="1" hangingPunct="1">
              <a:defRPr/>
            </a:pPr>
            <a:endParaRPr lang="en-US" altLang="en-US" dirty="0">
              <a:cs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Slide Image Placeholder 1">
            <a:extLst>
              <a:ext uri="{FF2B5EF4-FFF2-40B4-BE49-F238E27FC236}">
                <a16:creationId xmlns:a16="http://schemas.microsoft.com/office/drawing/2014/main" id="{231864AA-5010-B788-1573-D104FAB17095}"/>
              </a:ext>
            </a:extLst>
          </p:cNvPr>
          <p:cNvSpPr>
            <a:spLocks noGrp="1" noRot="1" noChangeAspect="1" noChangeArrowheads="1" noTextEdit="1"/>
          </p:cNvSpPr>
          <p:nvPr>
            <p:ph type="sldImg"/>
          </p:nvPr>
        </p:nvSpPr>
        <p:spPr>
          <a:ln/>
        </p:spPr>
      </p:sp>
      <p:sp>
        <p:nvSpPr>
          <p:cNvPr id="30723" name="Notes Placeholder 2">
            <a:extLst>
              <a:ext uri="{FF2B5EF4-FFF2-40B4-BE49-F238E27FC236}">
                <a16:creationId xmlns:a16="http://schemas.microsoft.com/office/drawing/2014/main" id="{8E3BA222-8845-AB4B-9515-58274E389CF0}"/>
              </a:ext>
            </a:extLst>
          </p:cNvPr>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r>
              <a:rPr lang="en-US" altLang="en-US">
                <a:latin typeface="Times New Roman" charset="0"/>
                <a:ea typeface="MS PGothic" charset="-128"/>
              </a:rPr>
              <a:t>Thus the initial tone/tension on the muscle affect the activity of the muscle.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8757E54C-2F01-B709-F0C8-0B2D8D4D60D1}"/>
              </a:ext>
            </a:extLst>
          </p:cNvPr>
          <p:cNvSpPr>
            <a:spLocks noGrp="1" noRot="1" noChangeAspect="1" noChangeArrowheads="1" noTextEdit="1"/>
          </p:cNvSpPr>
          <p:nvPr>
            <p:ph type="sldImg"/>
          </p:nvPr>
        </p:nvSpPr>
        <p:spPr>
          <a:ln/>
        </p:spPr>
      </p:sp>
      <p:sp>
        <p:nvSpPr>
          <p:cNvPr id="27651" name="Notes Placeholder 2">
            <a:extLst>
              <a:ext uri="{FF2B5EF4-FFF2-40B4-BE49-F238E27FC236}">
                <a16:creationId xmlns:a16="http://schemas.microsoft.com/office/drawing/2014/main" id="{7282B0A3-A780-B149-9953-0E79D27CA4FC}"/>
              </a:ext>
            </a:extLst>
          </p:cNvPr>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r>
              <a:rPr lang="en-US" altLang="en-US">
                <a:cs typeface="Arial" panose="020B0604020202020204" pitchFamily="34" charset="0"/>
              </a:rPr>
              <a:t>the muscle lengthens due to the resistance being greater than the force the muscle is producing.</a:t>
            </a:r>
          </a:p>
          <a:p>
            <a:pPr>
              <a:defRPr/>
            </a:pPr>
            <a:endParaRPr lang="en-US" altLang="en-US">
              <a:cs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2DC03502-B23B-F0B5-0695-5424E63A3FEB}"/>
              </a:ext>
            </a:extLst>
          </p:cNvPr>
          <p:cNvSpPr>
            <a:spLocks noGrp="1" noRot="1" noChangeAspect="1" noChangeArrowheads="1" noTextEdit="1"/>
          </p:cNvSpPr>
          <p:nvPr>
            <p:ph type="sldImg"/>
          </p:nvPr>
        </p:nvSpPr>
        <p:spPr>
          <a:ln/>
        </p:spPr>
      </p:sp>
      <p:sp>
        <p:nvSpPr>
          <p:cNvPr id="49155" name="Notes Placeholder 2">
            <a:extLst>
              <a:ext uri="{FF2B5EF4-FFF2-40B4-BE49-F238E27FC236}">
                <a16:creationId xmlns:a16="http://schemas.microsoft.com/office/drawing/2014/main" id="{943C8443-B4E1-A448-8B6E-C05090467929}"/>
              </a:ext>
            </a:extLst>
          </p:cNvPr>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r>
              <a:rPr lang="en-GB" altLang="en-US">
                <a:cs typeface="Arial" panose="020B0604020202020204" pitchFamily="34" charset="0"/>
              </a:rPr>
              <a:t>Most muscles contain a mix of fast and slow types.</a:t>
            </a:r>
          </a:p>
          <a:p>
            <a:pPr>
              <a:defRPr/>
            </a:pPr>
            <a:endParaRPr lang="en-GB" altLang="en-US">
              <a:cs typeface="Arial" panose="020B0604020202020204" pitchFamily="34" charset="0"/>
            </a:endParaRPr>
          </a:p>
          <a:p>
            <a:pPr>
              <a:defRPr/>
            </a:pPr>
            <a:r>
              <a:rPr lang="en-GB" altLang="en-US">
                <a:cs typeface="Arial" panose="020B0604020202020204" pitchFamily="34" charset="0"/>
              </a:rPr>
              <a:t>Slow are more postural muscle they contact more slowly but also relax more slowly so good at keeping tone. Operate around 15mm s-1.</a:t>
            </a:r>
          </a:p>
          <a:p>
            <a:pPr>
              <a:defRPr/>
            </a:pPr>
            <a:endParaRPr lang="en-GB" altLang="en-US">
              <a:cs typeface="Arial" panose="020B0604020202020204" pitchFamily="34" charset="0"/>
            </a:endParaRPr>
          </a:p>
          <a:p>
            <a:pPr>
              <a:defRPr/>
            </a:pPr>
            <a:r>
              <a:rPr lang="en-GB" altLang="en-US">
                <a:cs typeface="Arial" panose="020B0604020202020204" pitchFamily="34" charset="0"/>
              </a:rPr>
              <a:t>Fast fibres operate around 45 mm s-1 simlar to type 1. Type 2B are more anaerobic, fast fibres but they fatigue easily.</a:t>
            </a:r>
          </a:p>
          <a:p>
            <a:pPr>
              <a:defRPr/>
            </a:pPr>
            <a:endParaRPr lang="en-GB" altLang="en-US">
              <a:cs typeface="Arial" panose="020B0604020202020204" pitchFamily="34" charset="0"/>
            </a:endParaRPr>
          </a:p>
          <a:p>
            <a:pPr>
              <a:defRPr/>
            </a:pPr>
            <a:r>
              <a:rPr lang="en-GB" altLang="en-US">
                <a:cs typeface="Arial" panose="020B0604020202020204" pitchFamily="34" charset="0"/>
              </a:rPr>
              <a:t>Text source: http://muscle.ucsd.edu/musintro/histochem.shtml</a:t>
            </a:r>
          </a:p>
          <a:p>
            <a:pPr>
              <a:defRPr/>
            </a:pPr>
            <a:endParaRPr lang="en-GB" altLang="en-US">
              <a:cs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Slide Image Placeholder 1">
            <a:extLst>
              <a:ext uri="{FF2B5EF4-FFF2-40B4-BE49-F238E27FC236}">
                <a16:creationId xmlns:a16="http://schemas.microsoft.com/office/drawing/2014/main" id="{6A56EF5B-9784-D7AB-71CD-2A64AFCE5CC7}"/>
              </a:ext>
            </a:extLst>
          </p:cNvPr>
          <p:cNvSpPr>
            <a:spLocks noGrp="1" noRot="1" noChangeAspect="1" noChangeArrowheads="1" noTextEdit="1"/>
          </p:cNvSpPr>
          <p:nvPr>
            <p:ph type="sldImg"/>
          </p:nvPr>
        </p:nvSpPr>
        <p:spPr>
          <a:ln/>
        </p:spPr>
      </p:sp>
      <p:sp>
        <p:nvSpPr>
          <p:cNvPr id="50179" name="Notes Placeholder 2">
            <a:extLst>
              <a:ext uri="{FF2B5EF4-FFF2-40B4-BE49-F238E27FC236}">
                <a16:creationId xmlns:a16="http://schemas.microsoft.com/office/drawing/2014/main" id="{5E8A1A73-C863-494F-B949-65D5A63281F1}"/>
              </a:ext>
            </a:extLst>
          </p:cNvPr>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en-US" altLang="en-US">
              <a:cs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574308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36596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GB"/>
          </a:p>
        </p:txBody>
      </p:sp>
    </p:spTree>
    <p:extLst>
      <p:ext uri="{BB962C8B-B14F-4D97-AF65-F5344CB8AC3E}">
        <p14:creationId xmlns:p14="http://schemas.microsoft.com/office/powerpoint/2010/main" val="6010439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6614068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2921852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1117600" y="1981200"/>
            <a:ext cx="33782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981200"/>
            <a:ext cx="33782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740889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0165870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3160739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83488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973803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1821236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9306501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9200" y="609600"/>
            <a:ext cx="1727200" cy="548640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1117600" y="609600"/>
            <a:ext cx="50292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6458530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D9BC7511-A332-ECFE-9545-2484304742EF}"/>
              </a:ext>
            </a:extLst>
          </p:cNvPr>
          <p:cNvSpPr>
            <a:spLocks noGrp="1" noChangeArrowheads="1"/>
          </p:cNvSpPr>
          <p:nvPr>
            <p:ph type="title"/>
          </p:nvPr>
        </p:nvSpPr>
        <p:spPr bwMode="auto">
          <a:xfrm>
            <a:off x="1117600" y="609600"/>
            <a:ext cx="6908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488" tIns="44450" rIns="90488" bIns="44450" numCol="1" anchor="ctr" anchorCtr="0" compatLnSpc="1">
            <a:prstTxWarp prst="textNoShape">
              <a:avLst/>
            </a:prstTxWarp>
          </a:bodyPr>
          <a:lstStyle/>
          <a:p>
            <a:pPr lvl="0"/>
            <a:r>
              <a:rPr lang="en-GB" altLang="en-US"/>
              <a:t>Click to edit Master title style</a:t>
            </a:r>
          </a:p>
        </p:txBody>
      </p:sp>
      <p:sp>
        <p:nvSpPr>
          <p:cNvPr id="1027" name="Rectangle 3">
            <a:extLst>
              <a:ext uri="{FF2B5EF4-FFF2-40B4-BE49-F238E27FC236}">
                <a16:creationId xmlns:a16="http://schemas.microsoft.com/office/drawing/2014/main" id="{17978E18-C0B0-850E-CB73-2FFDEE8F7475}"/>
              </a:ext>
            </a:extLst>
          </p:cNvPr>
          <p:cNvSpPr>
            <a:spLocks noGrp="1" noChangeArrowheads="1"/>
          </p:cNvSpPr>
          <p:nvPr>
            <p:ph type="body" idx="1"/>
          </p:nvPr>
        </p:nvSpPr>
        <p:spPr bwMode="auto">
          <a:xfrm>
            <a:off x="1117600" y="1981200"/>
            <a:ext cx="69088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488" tIns="44450" rIns="90488" bIns="4445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pic>
        <p:nvPicPr>
          <p:cNvPr id="1028" name="Picture 4" descr="MidBlue1024">
            <a:extLst>
              <a:ext uri="{FF2B5EF4-FFF2-40B4-BE49-F238E27FC236}">
                <a16:creationId xmlns:a16="http://schemas.microsoft.com/office/drawing/2014/main" id="{BD2BBCE5-3CDD-662D-1E43-4BE4215C8CB0}"/>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565150"/>
            <a:ext cx="91440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Lst>
        </p:spPr>
      </p:pic>
      <p:sp>
        <p:nvSpPr>
          <p:cNvPr id="1029" name="Rectangle 6">
            <a:extLst>
              <a:ext uri="{FF2B5EF4-FFF2-40B4-BE49-F238E27FC236}">
                <a16:creationId xmlns:a16="http://schemas.microsoft.com/office/drawing/2014/main" id="{33524037-D32E-D943-935D-78935EB4BFF4}"/>
              </a:ext>
            </a:extLst>
          </p:cNvPr>
          <p:cNvSpPr>
            <a:spLocks noChangeArrowheads="1"/>
          </p:cNvSpPr>
          <p:nvPr userDrawn="1"/>
        </p:nvSpPr>
        <p:spPr bwMode="auto">
          <a:xfrm>
            <a:off x="0" y="676275"/>
            <a:ext cx="9144000" cy="73025"/>
          </a:xfrm>
          <a:prstGeom prst="rect">
            <a:avLst/>
          </a:prstGeom>
          <a:gradFill rotWithShape="1">
            <a:gsLst>
              <a:gs pos="0">
                <a:schemeClr val="hlink"/>
              </a:gs>
              <a:gs pos="74000">
                <a:srgbClr val="FFFFFF"/>
              </a:gs>
            </a:gsLst>
            <a:lin ang="0" scaled="1"/>
          </a:gradFill>
          <a:ln>
            <a:noFill/>
          </a:ln>
          <a:effectLst/>
        </p:spPr>
        <p:txBody>
          <a:bodyPr wrap="none" anchor="ct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pPr>
              <a:defRPr/>
            </a:pPr>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rgbClr val="FFFF00"/>
          </a:solidFill>
          <a:latin typeface="+mj-lt"/>
          <a:ea typeface="MS PGothic" panose="020B0600070205080204" pitchFamily="34" charset="-128"/>
          <a:cs typeface="+mj-cs"/>
        </a:defRPr>
      </a:lvl1pPr>
      <a:lvl2pPr algn="ctr" rtl="0" eaLnBrk="0" fontAlgn="base" hangingPunct="0">
        <a:spcBef>
          <a:spcPct val="0"/>
        </a:spcBef>
        <a:spcAft>
          <a:spcPct val="0"/>
        </a:spcAft>
        <a:defRPr sz="4400">
          <a:solidFill>
            <a:srgbClr val="FFFF00"/>
          </a:solidFill>
          <a:latin typeface="Arial" charset="0"/>
          <a:ea typeface="MS PGothic" panose="020B0600070205080204" pitchFamily="34" charset="-128"/>
          <a:cs typeface="Arial" charset="0"/>
        </a:defRPr>
      </a:lvl2pPr>
      <a:lvl3pPr algn="ctr" rtl="0" eaLnBrk="0" fontAlgn="base" hangingPunct="0">
        <a:spcBef>
          <a:spcPct val="0"/>
        </a:spcBef>
        <a:spcAft>
          <a:spcPct val="0"/>
        </a:spcAft>
        <a:defRPr sz="4400">
          <a:solidFill>
            <a:srgbClr val="FFFF00"/>
          </a:solidFill>
          <a:latin typeface="Arial" charset="0"/>
          <a:ea typeface="MS PGothic" panose="020B0600070205080204" pitchFamily="34" charset="-128"/>
          <a:cs typeface="Arial" charset="0"/>
        </a:defRPr>
      </a:lvl3pPr>
      <a:lvl4pPr algn="ctr" rtl="0" eaLnBrk="0" fontAlgn="base" hangingPunct="0">
        <a:spcBef>
          <a:spcPct val="0"/>
        </a:spcBef>
        <a:spcAft>
          <a:spcPct val="0"/>
        </a:spcAft>
        <a:defRPr sz="4400">
          <a:solidFill>
            <a:srgbClr val="FFFF00"/>
          </a:solidFill>
          <a:latin typeface="Arial" charset="0"/>
          <a:ea typeface="MS PGothic" panose="020B0600070205080204" pitchFamily="34" charset="-128"/>
          <a:cs typeface="Arial" charset="0"/>
        </a:defRPr>
      </a:lvl4pPr>
      <a:lvl5pPr algn="ctr" rtl="0" eaLnBrk="0" fontAlgn="base" hangingPunct="0">
        <a:spcBef>
          <a:spcPct val="0"/>
        </a:spcBef>
        <a:spcAft>
          <a:spcPct val="0"/>
        </a:spcAft>
        <a:defRPr sz="4400">
          <a:solidFill>
            <a:srgbClr val="FFFF00"/>
          </a:solidFill>
          <a:latin typeface="Arial" charset="0"/>
          <a:ea typeface="MS PGothic" panose="020B0600070205080204" pitchFamily="34" charset="-128"/>
          <a:cs typeface="Arial" charset="0"/>
        </a:defRPr>
      </a:lvl5pPr>
      <a:lvl6pPr marL="457200" algn="ctr" rtl="0" eaLnBrk="0" fontAlgn="base" hangingPunct="0">
        <a:spcBef>
          <a:spcPct val="0"/>
        </a:spcBef>
        <a:spcAft>
          <a:spcPct val="0"/>
        </a:spcAft>
        <a:defRPr sz="4400">
          <a:solidFill>
            <a:srgbClr val="FFFF00"/>
          </a:solidFill>
          <a:latin typeface="Arial" charset="0"/>
          <a:cs typeface="Arial" charset="0"/>
        </a:defRPr>
      </a:lvl6pPr>
      <a:lvl7pPr marL="914400" algn="ctr" rtl="0" eaLnBrk="0" fontAlgn="base" hangingPunct="0">
        <a:spcBef>
          <a:spcPct val="0"/>
        </a:spcBef>
        <a:spcAft>
          <a:spcPct val="0"/>
        </a:spcAft>
        <a:defRPr sz="4400">
          <a:solidFill>
            <a:srgbClr val="FFFF00"/>
          </a:solidFill>
          <a:latin typeface="Arial" charset="0"/>
          <a:cs typeface="Arial" charset="0"/>
        </a:defRPr>
      </a:lvl7pPr>
      <a:lvl8pPr marL="1371600" algn="ctr" rtl="0" eaLnBrk="0" fontAlgn="base" hangingPunct="0">
        <a:spcBef>
          <a:spcPct val="0"/>
        </a:spcBef>
        <a:spcAft>
          <a:spcPct val="0"/>
        </a:spcAft>
        <a:defRPr sz="4400">
          <a:solidFill>
            <a:srgbClr val="FFFF00"/>
          </a:solidFill>
          <a:latin typeface="Arial" charset="0"/>
          <a:cs typeface="Arial" charset="0"/>
        </a:defRPr>
      </a:lvl8pPr>
      <a:lvl9pPr marL="1828800" algn="ctr" rtl="0" eaLnBrk="0" fontAlgn="base" hangingPunct="0">
        <a:spcBef>
          <a:spcPct val="0"/>
        </a:spcBef>
        <a:spcAft>
          <a:spcPct val="0"/>
        </a:spcAft>
        <a:defRPr sz="4400">
          <a:solidFill>
            <a:srgbClr val="FFFF00"/>
          </a:solidFill>
          <a:latin typeface="Arial" charset="0"/>
          <a:cs typeface="Arial" charset="0"/>
        </a:defRPr>
      </a:lvl9pPr>
    </p:titleStyle>
    <p:bodyStyle>
      <a:lvl1pPr marL="342900" indent="-342900" algn="l" rtl="0" eaLnBrk="0" fontAlgn="base" hangingPunct="0">
        <a:spcBef>
          <a:spcPct val="20000"/>
        </a:spcBef>
        <a:spcAft>
          <a:spcPct val="0"/>
        </a:spcAft>
        <a:buSzPct val="100000"/>
        <a:buChar char="•"/>
        <a:defRPr sz="3200">
          <a:solidFill>
            <a:srgbClr val="FFFFFF"/>
          </a:solidFill>
          <a:latin typeface="+mn-lt"/>
          <a:ea typeface="MS PGothic" panose="020B0600070205080204" pitchFamily="34" charset="-128"/>
          <a:cs typeface="+mn-cs"/>
        </a:defRPr>
      </a:lvl1pPr>
      <a:lvl2pPr marL="742950" indent="-285750" algn="l" rtl="0" eaLnBrk="0" fontAlgn="base" hangingPunct="0">
        <a:spcBef>
          <a:spcPct val="20000"/>
        </a:spcBef>
        <a:spcAft>
          <a:spcPct val="0"/>
        </a:spcAft>
        <a:buSzPct val="100000"/>
        <a:buChar char="–"/>
        <a:defRPr sz="2800">
          <a:solidFill>
            <a:srgbClr val="FFFFFF"/>
          </a:solidFill>
          <a:latin typeface="+mn-lt"/>
          <a:ea typeface="Arial" charset="0"/>
          <a:cs typeface="+mn-cs"/>
        </a:defRPr>
      </a:lvl2pPr>
      <a:lvl3pPr marL="1143000" indent="-228600" algn="l" rtl="0" eaLnBrk="0" fontAlgn="base" hangingPunct="0">
        <a:spcBef>
          <a:spcPct val="20000"/>
        </a:spcBef>
        <a:spcAft>
          <a:spcPct val="0"/>
        </a:spcAft>
        <a:buSzPct val="100000"/>
        <a:buChar char="•"/>
        <a:defRPr sz="2400">
          <a:solidFill>
            <a:srgbClr val="FFFFFF"/>
          </a:solidFill>
          <a:latin typeface="+mn-lt"/>
          <a:ea typeface="Arial" charset="0"/>
          <a:cs typeface="+mn-cs"/>
        </a:defRPr>
      </a:lvl3pPr>
      <a:lvl4pPr marL="1600200" indent="-228600" algn="l" rtl="0" eaLnBrk="0" fontAlgn="base" hangingPunct="0">
        <a:spcBef>
          <a:spcPct val="20000"/>
        </a:spcBef>
        <a:spcAft>
          <a:spcPct val="0"/>
        </a:spcAft>
        <a:buSzPct val="100000"/>
        <a:buChar char="–"/>
        <a:defRPr sz="2000">
          <a:solidFill>
            <a:srgbClr val="FFFFFF"/>
          </a:solidFill>
          <a:latin typeface="+mn-lt"/>
          <a:ea typeface="Arial" charset="0"/>
          <a:cs typeface="+mn-cs"/>
        </a:defRPr>
      </a:lvl4pPr>
      <a:lvl5pPr marL="2057400" indent="-228600" algn="l" rtl="0" eaLnBrk="0" fontAlgn="base" hangingPunct="0">
        <a:spcBef>
          <a:spcPct val="20000"/>
        </a:spcBef>
        <a:spcAft>
          <a:spcPct val="0"/>
        </a:spcAft>
        <a:buSzPct val="100000"/>
        <a:buChar char="•"/>
        <a:defRPr sz="2000">
          <a:solidFill>
            <a:srgbClr val="FFFFFF"/>
          </a:solidFill>
          <a:latin typeface="+mn-lt"/>
          <a:ea typeface="Arial" charset="0"/>
          <a:cs typeface="+mn-cs"/>
        </a:defRPr>
      </a:lvl5pPr>
      <a:lvl6pPr marL="2514600" indent="-228600" algn="l" rtl="0" eaLnBrk="0" fontAlgn="base" hangingPunct="0">
        <a:spcBef>
          <a:spcPct val="20000"/>
        </a:spcBef>
        <a:spcAft>
          <a:spcPct val="0"/>
        </a:spcAft>
        <a:buSzPct val="100000"/>
        <a:buChar char="•"/>
        <a:defRPr sz="2000">
          <a:solidFill>
            <a:srgbClr val="FFFFFF"/>
          </a:solidFill>
          <a:latin typeface="+mn-lt"/>
          <a:cs typeface="+mn-cs"/>
        </a:defRPr>
      </a:lvl6pPr>
      <a:lvl7pPr marL="2971800" indent="-228600" algn="l" rtl="0" eaLnBrk="0" fontAlgn="base" hangingPunct="0">
        <a:spcBef>
          <a:spcPct val="20000"/>
        </a:spcBef>
        <a:spcAft>
          <a:spcPct val="0"/>
        </a:spcAft>
        <a:buSzPct val="100000"/>
        <a:buChar char="•"/>
        <a:defRPr sz="2000">
          <a:solidFill>
            <a:srgbClr val="FFFFFF"/>
          </a:solidFill>
          <a:latin typeface="+mn-lt"/>
          <a:cs typeface="+mn-cs"/>
        </a:defRPr>
      </a:lvl7pPr>
      <a:lvl8pPr marL="3429000" indent="-228600" algn="l" rtl="0" eaLnBrk="0" fontAlgn="base" hangingPunct="0">
        <a:spcBef>
          <a:spcPct val="20000"/>
        </a:spcBef>
        <a:spcAft>
          <a:spcPct val="0"/>
        </a:spcAft>
        <a:buSzPct val="100000"/>
        <a:buChar char="•"/>
        <a:defRPr sz="2000">
          <a:solidFill>
            <a:srgbClr val="FFFFFF"/>
          </a:solidFill>
          <a:latin typeface="+mn-lt"/>
          <a:cs typeface="+mn-cs"/>
        </a:defRPr>
      </a:lvl8pPr>
      <a:lvl9pPr marL="3886200" indent="-228600" algn="l" rtl="0" eaLnBrk="0" fontAlgn="base" hangingPunct="0">
        <a:spcBef>
          <a:spcPct val="20000"/>
        </a:spcBef>
        <a:spcAft>
          <a:spcPct val="0"/>
        </a:spcAft>
        <a:buSzPct val="100000"/>
        <a:buChar char="•"/>
        <a:defRPr sz="2000">
          <a:solidFill>
            <a:srgbClr val="FFFFFF"/>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14.jpe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1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24.wmf"/></Relationships>
</file>

<file path=ppt/slides/_rels/slide1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7.xml"/><Relationship Id="rId4" Type="http://schemas.openxmlformats.org/officeDocument/2006/relationships/image" Target="../media/image30.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https://images.openai.com/static-rsc-4/PSxFxDak8i1U6esYeck_2XQyId8Xbo0eIj6OoXzfhBQRBewjmwjUqjIIrWq2VTGC8oj1K_wpa36OfipRwwhro3jJ3PSAqKzScscA0LB9yG5XX4w-a_WKkOEVCpm-AL9nQ4Jft3QscGKW_PJ8JiTjRPKuDakBvm8AieeHuTXUhL0K0fHTMZOnNgFu9CXjrG0A?purpose=inline" TargetMode="External"/></Relationships>
</file>

<file path=ppt/slides/_rels/slide24.xml.rels><?xml version="1.0" encoding="UTF-8" standalone="yes"?>
<Relationships xmlns="http://schemas.openxmlformats.org/package/2006/relationships"><Relationship Id="rId3" Type="http://schemas.openxmlformats.org/officeDocument/2006/relationships/hyperlink" Target="https://www.youtube.com/watch?v=DfKKf89-dFI" TargetMode="External"/><Relationship Id="rId2" Type="http://schemas.openxmlformats.org/officeDocument/2006/relationships/hyperlink" Target="https://www.youtube.com/watch?v=sIH8uOg8ddw" TargetMode="External"/><Relationship Id="rId1" Type="http://schemas.openxmlformats.org/officeDocument/2006/relationships/slideLayout" Target="../slideLayouts/slideLayout2.xml"/><Relationship Id="rId4" Type="http://schemas.openxmlformats.org/officeDocument/2006/relationships/hyperlink" Target="https://www.youtube.com/watch?v=UhSSqToeMsI"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702" name="Rectangle 6">
            <a:extLst>
              <a:ext uri="{FF2B5EF4-FFF2-40B4-BE49-F238E27FC236}">
                <a16:creationId xmlns:a16="http://schemas.microsoft.com/office/drawing/2014/main" id="{587315A9-DC59-E34E-BFDE-617549445709}"/>
              </a:ext>
            </a:extLst>
          </p:cNvPr>
          <p:cNvSpPr>
            <a:spLocks noChangeArrowheads="1"/>
          </p:cNvSpPr>
          <p:nvPr/>
        </p:nvSpPr>
        <p:spPr bwMode="auto">
          <a:xfrm>
            <a:off x="627063" y="1268760"/>
            <a:ext cx="7888287" cy="1439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pPr algn="ctr">
              <a:defRPr/>
            </a:pPr>
            <a:r>
              <a:rPr lang="en-GB" altLang="en-US" sz="7200" b="1" dirty="0">
                <a:solidFill>
                  <a:srgbClr val="000099"/>
                </a:solidFill>
                <a:effectLst>
                  <a:outerShdw blurRad="38100" dist="38100" dir="2700000" algn="tl">
                    <a:srgbClr val="C0C0C0"/>
                  </a:outerShdw>
                </a:effectLst>
                <a:latin typeface="Arial" panose="020B0604020202020204" pitchFamily="34" charset="0"/>
              </a:rPr>
              <a:t>Skeletal Muscle</a:t>
            </a:r>
            <a:endParaRPr lang="en-GB" altLang="en-US" sz="3600" b="1" i="1" dirty="0">
              <a:solidFill>
                <a:schemeClr val="hlink"/>
              </a:solidFill>
              <a:latin typeface="Arial" panose="020B0604020202020204" pitchFamily="34" charset="0"/>
            </a:endParaRPr>
          </a:p>
        </p:txBody>
      </p:sp>
      <p:sp>
        <p:nvSpPr>
          <p:cNvPr id="4098" name="Rectangle 7">
            <a:extLst>
              <a:ext uri="{FF2B5EF4-FFF2-40B4-BE49-F238E27FC236}">
                <a16:creationId xmlns:a16="http://schemas.microsoft.com/office/drawing/2014/main" id="{FEB36BAA-10BA-3FED-7D5F-211093349D49}"/>
              </a:ext>
            </a:extLst>
          </p:cNvPr>
          <p:cNvSpPr>
            <a:spLocks noChangeArrowheads="1"/>
          </p:cNvSpPr>
          <p:nvPr/>
        </p:nvSpPr>
        <p:spPr bwMode="auto">
          <a:xfrm>
            <a:off x="1354138" y="4191000"/>
            <a:ext cx="6435725"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lvl1pPr>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lgn="ctr">
              <a:buFontTx/>
              <a:buNone/>
            </a:pPr>
            <a:r>
              <a:rPr lang="en-GB" altLang="en-US"/>
              <a:t> </a:t>
            </a:r>
          </a:p>
        </p:txBody>
      </p:sp>
      <p:sp>
        <p:nvSpPr>
          <p:cNvPr id="4099" name="Rectangle 48">
            <a:extLst>
              <a:ext uri="{FF2B5EF4-FFF2-40B4-BE49-F238E27FC236}">
                <a16:creationId xmlns:a16="http://schemas.microsoft.com/office/drawing/2014/main" id="{F01B2237-B245-A4EC-8CCF-714F785D4E73}"/>
              </a:ext>
            </a:extLst>
          </p:cNvPr>
          <p:cNvSpPr>
            <a:spLocks noChangeArrowheads="1"/>
          </p:cNvSpPr>
          <p:nvPr/>
        </p:nvSpPr>
        <p:spPr bwMode="auto">
          <a:xfrm>
            <a:off x="2521503" y="5589657"/>
            <a:ext cx="410099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SzTx/>
              <a:buFontTx/>
              <a:buNone/>
            </a:pPr>
            <a:r>
              <a:rPr lang="en-GB" altLang="en-US" sz="4000" dirty="0" err="1">
                <a:solidFill>
                  <a:schemeClr val="tx1"/>
                </a:solidFill>
              </a:rPr>
              <a:t>Dr.</a:t>
            </a:r>
            <a:r>
              <a:rPr lang="en-GB" altLang="en-US" sz="4000" dirty="0">
                <a:solidFill>
                  <a:schemeClr val="tx1"/>
                </a:solidFill>
              </a:rPr>
              <a:t> Pam Houston</a:t>
            </a:r>
            <a:endParaRPr lang="en-GB" altLang="en-US" dirty="0">
              <a:solidFill>
                <a:schemeClr val="hlink"/>
              </a:solidFill>
            </a:endParaRPr>
          </a:p>
        </p:txBody>
      </p:sp>
      <p:sp>
        <p:nvSpPr>
          <p:cNvPr id="4100" name="TextBox 5">
            <a:extLst>
              <a:ext uri="{FF2B5EF4-FFF2-40B4-BE49-F238E27FC236}">
                <a16:creationId xmlns:a16="http://schemas.microsoft.com/office/drawing/2014/main" id="{E782B69D-84AE-DEE4-A062-067E3B279F21}"/>
              </a:ext>
            </a:extLst>
          </p:cNvPr>
          <p:cNvSpPr txBox="1">
            <a:spLocks noChangeArrowheads="1"/>
          </p:cNvSpPr>
          <p:nvPr/>
        </p:nvSpPr>
        <p:spPr bwMode="auto">
          <a:xfrm>
            <a:off x="8575" y="44624"/>
            <a:ext cx="274947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SzTx/>
              <a:buFontTx/>
              <a:buNone/>
            </a:pPr>
            <a:r>
              <a:rPr lang="en-GB" altLang="en-US" sz="4000" b="1" dirty="0">
                <a:solidFill>
                  <a:srgbClr val="FFFF00"/>
                </a:solidFill>
              </a:rPr>
              <a:t>PHOL0001</a:t>
            </a:r>
          </a:p>
        </p:txBody>
      </p:sp>
      <p:pic>
        <p:nvPicPr>
          <p:cNvPr id="4101" name="Picture 6">
            <a:extLst>
              <a:ext uri="{FF2B5EF4-FFF2-40B4-BE49-F238E27FC236}">
                <a16:creationId xmlns:a16="http://schemas.microsoft.com/office/drawing/2014/main" id="{AC15E302-7306-0DE2-58C1-D3450513822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987824" y="2875384"/>
            <a:ext cx="298450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1" name="Text Box 4">
            <a:extLst>
              <a:ext uri="{FF2B5EF4-FFF2-40B4-BE49-F238E27FC236}">
                <a16:creationId xmlns:a16="http://schemas.microsoft.com/office/drawing/2014/main" id="{E8C7A68A-BF27-BCBD-3349-46830B4D3AFC}"/>
              </a:ext>
            </a:extLst>
          </p:cNvPr>
          <p:cNvSpPr txBox="1">
            <a:spLocks noChangeArrowheads="1"/>
          </p:cNvSpPr>
          <p:nvPr/>
        </p:nvSpPr>
        <p:spPr bwMode="auto">
          <a:xfrm>
            <a:off x="701675" y="908050"/>
            <a:ext cx="57419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spcBef>
                <a:spcPct val="50000"/>
              </a:spcBef>
              <a:buSzTx/>
              <a:buFontTx/>
              <a:buNone/>
            </a:pPr>
            <a:r>
              <a:rPr lang="en-GB" altLang="en-US" sz="2800" b="1" dirty="0">
                <a:solidFill>
                  <a:schemeClr val="tx1"/>
                </a:solidFill>
              </a:rPr>
              <a:t>This lecture will cover:</a:t>
            </a:r>
          </a:p>
        </p:txBody>
      </p:sp>
      <p:sp>
        <p:nvSpPr>
          <p:cNvPr id="5122" name="Rectangle 5">
            <a:extLst>
              <a:ext uri="{FF2B5EF4-FFF2-40B4-BE49-F238E27FC236}">
                <a16:creationId xmlns:a16="http://schemas.microsoft.com/office/drawing/2014/main" id="{6D522386-A5A9-067D-C3F4-992DE277BA01}"/>
              </a:ext>
            </a:extLst>
          </p:cNvPr>
          <p:cNvSpPr>
            <a:spLocks noChangeArrowheads="1"/>
          </p:cNvSpPr>
          <p:nvPr/>
        </p:nvSpPr>
        <p:spPr bwMode="auto">
          <a:xfrm>
            <a:off x="179388" y="79375"/>
            <a:ext cx="7345362"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chor="ctr"/>
          <a:lstStyle>
            <a:lvl1pPr>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SzTx/>
              <a:buFontTx/>
              <a:buNone/>
            </a:pPr>
            <a:r>
              <a:rPr lang="en-GB" altLang="en-US" sz="4000" b="1">
                <a:solidFill>
                  <a:srgbClr val="FFFF00"/>
                </a:solidFill>
              </a:rPr>
              <a:t>Skeletal Muscle</a:t>
            </a:r>
          </a:p>
        </p:txBody>
      </p:sp>
      <p:sp>
        <p:nvSpPr>
          <p:cNvPr id="5123" name="Text Box 6">
            <a:extLst>
              <a:ext uri="{FF2B5EF4-FFF2-40B4-BE49-F238E27FC236}">
                <a16:creationId xmlns:a16="http://schemas.microsoft.com/office/drawing/2014/main" id="{ADE7ED43-3D95-3D9A-339E-838C46B525CF}"/>
              </a:ext>
            </a:extLst>
          </p:cNvPr>
          <p:cNvSpPr txBox="1">
            <a:spLocks noChangeArrowheads="1"/>
          </p:cNvSpPr>
          <p:nvPr/>
        </p:nvSpPr>
        <p:spPr bwMode="auto">
          <a:xfrm>
            <a:off x="533400" y="1441450"/>
            <a:ext cx="807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SzTx/>
              <a:buFontTx/>
              <a:buNone/>
            </a:pPr>
            <a:endParaRPr lang="en-US" altLang="en-US" sz="2400">
              <a:solidFill>
                <a:srgbClr val="000099"/>
              </a:solidFill>
            </a:endParaRPr>
          </a:p>
        </p:txBody>
      </p:sp>
      <p:sp>
        <p:nvSpPr>
          <p:cNvPr id="5124" name="Rectangle 9">
            <a:extLst>
              <a:ext uri="{FF2B5EF4-FFF2-40B4-BE49-F238E27FC236}">
                <a16:creationId xmlns:a16="http://schemas.microsoft.com/office/drawing/2014/main" id="{83EC2554-8926-F58D-2619-F808F1D85A3A}"/>
              </a:ext>
            </a:extLst>
          </p:cNvPr>
          <p:cNvSpPr>
            <a:spLocks noGrp="1" noChangeArrowheads="1"/>
          </p:cNvSpPr>
          <p:nvPr>
            <p:ph type="body" idx="1"/>
          </p:nvPr>
        </p:nvSpPr>
        <p:spPr>
          <a:xfrm>
            <a:off x="539750" y="1700213"/>
            <a:ext cx="7772400" cy="3352800"/>
          </a:xfrm>
        </p:spPr>
        <p:txBody>
          <a:bodyPr/>
          <a:lstStyle/>
          <a:p>
            <a:pPr>
              <a:lnSpc>
                <a:spcPct val="120000"/>
              </a:lnSpc>
            </a:pPr>
            <a:r>
              <a:rPr lang="en-GB" altLang="en-US" sz="2800" dirty="0">
                <a:solidFill>
                  <a:schemeClr val="tx1"/>
                </a:solidFill>
              </a:rPr>
              <a:t>The principal morphological characteristics of the three main types of muscle</a:t>
            </a:r>
          </a:p>
          <a:p>
            <a:pPr>
              <a:lnSpc>
                <a:spcPct val="120000"/>
              </a:lnSpc>
            </a:pPr>
            <a:r>
              <a:rPr lang="en-GB" altLang="en-US" sz="2800" dirty="0">
                <a:solidFill>
                  <a:schemeClr val="tx1"/>
                </a:solidFill>
              </a:rPr>
              <a:t>The detailed structure of skeletal muscle</a:t>
            </a:r>
          </a:p>
          <a:p>
            <a:pPr>
              <a:lnSpc>
                <a:spcPct val="120000"/>
              </a:lnSpc>
            </a:pPr>
            <a:r>
              <a:rPr lang="en-GB" altLang="en-US" sz="2800" dirty="0">
                <a:solidFill>
                  <a:schemeClr val="tx1"/>
                </a:solidFill>
              </a:rPr>
              <a:t>Excitation-contraction coupling in skeletal muscle</a:t>
            </a:r>
          </a:p>
          <a:p>
            <a:pPr>
              <a:lnSpc>
                <a:spcPct val="120000"/>
              </a:lnSpc>
            </a:pPr>
            <a:r>
              <a:rPr lang="en-GB" altLang="en-US" sz="2800" dirty="0">
                <a:solidFill>
                  <a:schemeClr val="tx1"/>
                </a:solidFill>
              </a:rPr>
              <a:t>The mechanism of contraction in skeletal muscle </a:t>
            </a:r>
          </a:p>
          <a:p>
            <a:pPr>
              <a:lnSpc>
                <a:spcPct val="120000"/>
              </a:lnSpc>
            </a:pPr>
            <a:r>
              <a:rPr lang="en-GB" altLang="en-US" sz="2800" dirty="0">
                <a:solidFill>
                  <a:schemeClr val="tx1"/>
                </a:solidFill>
              </a:rPr>
              <a:t>The mechanical properties of skeletal muscle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3" descr="0701">
            <a:extLst>
              <a:ext uri="{FF2B5EF4-FFF2-40B4-BE49-F238E27FC236}">
                <a16:creationId xmlns:a16="http://schemas.microsoft.com/office/drawing/2014/main" id="{FF96B58A-AB3C-0808-46CF-B6162D8074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70459"/>
          <a:stretch>
            <a:fillRect/>
          </a:stretch>
        </p:blipFill>
        <p:spPr bwMode="auto">
          <a:xfrm>
            <a:off x="288033" y="837717"/>
            <a:ext cx="2699791" cy="1344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7" name="Rectangle 6">
            <a:extLst>
              <a:ext uri="{FF2B5EF4-FFF2-40B4-BE49-F238E27FC236}">
                <a16:creationId xmlns:a16="http://schemas.microsoft.com/office/drawing/2014/main" id="{A4745698-72E5-EF91-62DA-ED2FC5C22230}"/>
              </a:ext>
            </a:extLst>
          </p:cNvPr>
          <p:cNvSpPr>
            <a:spLocks noChangeArrowheads="1"/>
          </p:cNvSpPr>
          <p:nvPr/>
        </p:nvSpPr>
        <p:spPr bwMode="auto">
          <a:xfrm>
            <a:off x="0" y="6896"/>
            <a:ext cx="7345362"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chor="ctr"/>
          <a:lstStyle>
            <a:lvl1pPr>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SzTx/>
              <a:buFontTx/>
              <a:buNone/>
            </a:pPr>
            <a:r>
              <a:rPr lang="en-GB" altLang="en-US" sz="4000" b="1" dirty="0">
                <a:solidFill>
                  <a:srgbClr val="FFFF00"/>
                </a:solidFill>
              </a:rPr>
              <a:t>Muscle Types</a:t>
            </a:r>
          </a:p>
        </p:txBody>
      </p:sp>
      <p:pic>
        <p:nvPicPr>
          <p:cNvPr id="6148" name="Picture 5" descr="0701">
            <a:extLst>
              <a:ext uri="{FF2B5EF4-FFF2-40B4-BE49-F238E27FC236}">
                <a16:creationId xmlns:a16="http://schemas.microsoft.com/office/drawing/2014/main" id="{7BAAF235-3433-C19E-4ECD-5CDCCBC58E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30594" b="34593"/>
          <a:stretch>
            <a:fillRect/>
          </a:stretch>
        </p:blipFill>
        <p:spPr bwMode="auto">
          <a:xfrm>
            <a:off x="3275856" y="849853"/>
            <a:ext cx="2448272" cy="1353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9" name="Picture 4" descr="0701">
            <a:extLst>
              <a:ext uri="{FF2B5EF4-FFF2-40B4-BE49-F238E27FC236}">
                <a16:creationId xmlns:a16="http://schemas.microsoft.com/office/drawing/2014/main" id="{AF6A7F1B-5B5A-A992-CACC-84209880A3C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65474"/>
          <a:stretch>
            <a:fillRect/>
          </a:stretch>
        </p:blipFill>
        <p:spPr bwMode="auto">
          <a:xfrm>
            <a:off x="5973763" y="827840"/>
            <a:ext cx="2486669" cy="1447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6" descr="skeletal_muscle">
            <a:extLst>
              <a:ext uri="{FF2B5EF4-FFF2-40B4-BE49-F238E27FC236}">
                <a16:creationId xmlns:a16="http://schemas.microsoft.com/office/drawing/2014/main" id="{BCC9E308-AD3F-F355-BA89-2136204E8858}"/>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38816" t="30043" r="40919" b="43762"/>
          <a:stretch>
            <a:fillRect/>
          </a:stretch>
        </p:blipFill>
        <p:spPr bwMode="auto">
          <a:xfrm>
            <a:off x="567029" y="2203161"/>
            <a:ext cx="2060755" cy="14550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83AC3A59-9844-83BD-E0ED-B65F50C660DB}"/>
              </a:ext>
            </a:extLst>
          </p:cNvPr>
          <p:cNvPicPr>
            <a:picLocks noChangeAspect="1"/>
          </p:cNvPicPr>
          <p:nvPr/>
        </p:nvPicPr>
        <p:blipFill>
          <a:blip r:embed="rId7"/>
          <a:stretch>
            <a:fillRect/>
          </a:stretch>
        </p:blipFill>
        <p:spPr>
          <a:xfrm>
            <a:off x="3430253" y="2250122"/>
            <a:ext cx="2077851" cy="1385234"/>
          </a:xfrm>
          <a:prstGeom prst="rect">
            <a:avLst/>
          </a:prstGeom>
        </p:spPr>
      </p:pic>
      <p:graphicFrame>
        <p:nvGraphicFramePr>
          <p:cNvPr id="30" name="Group 22">
            <a:extLst>
              <a:ext uri="{FF2B5EF4-FFF2-40B4-BE49-F238E27FC236}">
                <a16:creationId xmlns:a16="http://schemas.microsoft.com/office/drawing/2014/main" id="{D714A850-19C5-D74A-2454-312804DBE85A}"/>
              </a:ext>
            </a:extLst>
          </p:cNvPr>
          <p:cNvGraphicFramePr>
            <a:graphicFrameLocks noGrp="1"/>
          </p:cNvGraphicFramePr>
          <p:nvPr>
            <p:extLst>
              <p:ext uri="{D42A27DB-BD31-4B8C-83A1-F6EECF244321}">
                <p14:modId xmlns:p14="http://schemas.microsoft.com/office/powerpoint/2010/main" val="196388897"/>
              </p:ext>
            </p:extLst>
          </p:nvPr>
        </p:nvGraphicFramePr>
        <p:xfrm>
          <a:off x="721650" y="3861048"/>
          <a:ext cx="7306734" cy="2739009"/>
        </p:xfrm>
        <a:graphic>
          <a:graphicData uri="http://schemas.openxmlformats.org/drawingml/2006/table">
            <a:tbl>
              <a:tblPr/>
              <a:tblGrid>
                <a:gridCol w="2435578">
                  <a:extLst>
                    <a:ext uri="{9D8B030D-6E8A-4147-A177-3AD203B41FA5}">
                      <a16:colId xmlns:a16="http://schemas.microsoft.com/office/drawing/2014/main" val="20000"/>
                    </a:ext>
                  </a:extLst>
                </a:gridCol>
                <a:gridCol w="2435578">
                  <a:extLst>
                    <a:ext uri="{9D8B030D-6E8A-4147-A177-3AD203B41FA5}">
                      <a16:colId xmlns:a16="http://schemas.microsoft.com/office/drawing/2014/main" val="20001"/>
                    </a:ext>
                  </a:extLst>
                </a:gridCol>
                <a:gridCol w="2435578">
                  <a:extLst>
                    <a:ext uri="{9D8B030D-6E8A-4147-A177-3AD203B41FA5}">
                      <a16:colId xmlns:a16="http://schemas.microsoft.com/office/drawing/2014/main" val="20002"/>
                    </a:ext>
                  </a:extLst>
                </a:gridCol>
              </a:tblGrid>
              <a:tr h="432048">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Tx/>
                        <a:buNone/>
                        <a:tabLst/>
                        <a:defRPr/>
                      </a:pPr>
                      <a:r>
                        <a:rPr kumimoji="0" lang="en-US" sz="1800" b="1" i="0" u="none" strike="noStrike" cap="none" normalizeH="0" baseline="0" dirty="0">
                          <a:ln>
                            <a:noFill/>
                          </a:ln>
                          <a:solidFill>
                            <a:schemeClr val="tx1"/>
                          </a:solidFill>
                          <a:effectLst/>
                          <a:latin typeface="+mn-lt"/>
                        </a:rPr>
                        <a:t>Skeletal</a:t>
                      </a:r>
                      <a:endParaRPr kumimoji="0" lang="en-US" sz="1800" b="0" i="0" u="none" strike="noStrike" cap="none" normalizeH="0" baseline="0" dirty="0">
                        <a:ln>
                          <a:noFill/>
                        </a:ln>
                        <a:solidFill>
                          <a:schemeClr val="tx1"/>
                        </a:solidFill>
                        <a:effectLst/>
                        <a:latin typeface="+mn-lt"/>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Tx/>
                        <a:buNone/>
                        <a:tabLst/>
                        <a:defRPr/>
                      </a:pPr>
                      <a:r>
                        <a:rPr kumimoji="0" lang="en-US" sz="1800" b="1" i="0" u="none" strike="noStrike" cap="none" normalizeH="0" baseline="0" dirty="0">
                          <a:ln>
                            <a:noFill/>
                          </a:ln>
                          <a:solidFill>
                            <a:schemeClr val="tx1"/>
                          </a:solidFill>
                          <a:effectLst/>
                          <a:latin typeface="+mn-lt"/>
                        </a:rPr>
                        <a:t>Cardiac</a:t>
                      </a:r>
                      <a:endParaRPr kumimoji="0" lang="en-US" sz="1800" b="0"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Tx/>
                        <a:buNone/>
                        <a:tabLst/>
                        <a:defRPr/>
                      </a:pPr>
                      <a:r>
                        <a:rPr kumimoji="0" lang="en-US" sz="1800" b="1" i="0" u="none" strike="noStrike" cap="none" normalizeH="0" baseline="0" dirty="0">
                          <a:ln>
                            <a:noFill/>
                          </a:ln>
                          <a:solidFill>
                            <a:schemeClr val="tx1"/>
                          </a:solidFill>
                          <a:effectLst/>
                          <a:latin typeface="+mn-lt"/>
                        </a:rPr>
                        <a:t>Smooth</a:t>
                      </a:r>
                      <a:endParaRPr kumimoji="0" lang="en-US" sz="1800" b="0"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lumMod val="20000"/>
                        <a:lumOff val="80000"/>
                      </a:schemeClr>
                    </a:solidFill>
                  </a:tcPr>
                </a:tc>
                <a:extLst>
                  <a:ext uri="{0D108BD9-81ED-4DB2-BD59-A6C34878D82A}">
                    <a16:rowId xmlns:a16="http://schemas.microsoft.com/office/drawing/2014/main" val="2462169580"/>
                  </a:ext>
                </a:extLst>
              </a:tr>
              <a:tr h="661041">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Tx/>
                        <a:buNone/>
                        <a:tabLst/>
                      </a:pPr>
                      <a:r>
                        <a:rPr kumimoji="0" lang="en-GB" sz="1800" b="0" i="0" u="none" strike="noStrike" cap="none" normalizeH="0" baseline="0" dirty="0">
                          <a:ln>
                            <a:noFill/>
                          </a:ln>
                          <a:solidFill>
                            <a:schemeClr val="tx1"/>
                          </a:solidFill>
                          <a:effectLst/>
                          <a:latin typeface="+mn-lt"/>
                        </a:rPr>
                        <a:t>Begins and ends in a tendon</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Tx/>
                        <a:buNone/>
                        <a:tabLst/>
                      </a:pPr>
                      <a:r>
                        <a:rPr kumimoji="0" lang="en-US" sz="1800" b="0" i="0" u="none" strike="noStrike" cap="none" normalizeH="0" baseline="0" dirty="0">
                          <a:ln>
                            <a:noFill/>
                          </a:ln>
                          <a:solidFill>
                            <a:schemeClr val="tx1"/>
                          </a:solidFill>
                          <a:effectLst/>
                          <a:latin typeface="+mn-lt"/>
                        </a:rPr>
                        <a:t>Heart</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Tx/>
                        <a:buNone/>
                        <a:tabLst/>
                      </a:pPr>
                      <a:r>
                        <a:rPr kumimoji="0" lang="en-US" sz="1800" b="0" i="0" u="none" strike="noStrike" cap="none" normalizeH="0" baseline="0" dirty="0">
                          <a:ln>
                            <a:noFill/>
                          </a:ln>
                          <a:solidFill>
                            <a:schemeClr val="tx1"/>
                          </a:solidFill>
                          <a:effectLst/>
                          <a:latin typeface="+mn-lt"/>
                        </a:rPr>
                        <a:t>Viscera, hollow organs/blood vessels</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609617">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Tx/>
                        <a:buNone/>
                        <a:tabLst/>
                      </a:pPr>
                      <a:r>
                        <a:rPr kumimoji="0" lang="en-US" sz="1800" b="0" i="0" u="none" strike="noStrike" cap="none" normalizeH="0" baseline="0" dirty="0">
                          <a:ln>
                            <a:noFill/>
                          </a:ln>
                          <a:solidFill>
                            <a:schemeClr val="tx1"/>
                          </a:solidFill>
                          <a:effectLst/>
                          <a:latin typeface="+mn-lt"/>
                        </a:rPr>
                        <a:t>Prominent striation, multi- nucleated</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Tx/>
                        <a:buNone/>
                        <a:tabLst/>
                      </a:pPr>
                      <a:r>
                        <a:rPr kumimoji="0" lang="en-US" sz="1800" b="0" i="0" u="none" strike="noStrike" cap="none" normalizeH="0" baseline="0" dirty="0">
                          <a:ln>
                            <a:noFill/>
                          </a:ln>
                          <a:solidFill>
                            <a:schemeClr val="tx1"/>
                          </a:solidFill>
                          <a:effectLst/>
                          <a:latin typeface="+mn-lt"/>
                        </a:rPr>
                        <a:t> Less prominent striation, </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Tx/>
                        <a:buNone/>
                        <a:tabLst/>
                      </a:pPr>
                      <a:r>
                        <a:rPr kumimoji="0" lang="en-US" sz="1800" b="0" i="0" u="none" strike="noStrike" cap="none" normalizeH="0" baseline="0" dirty="0">
                          <a:ln>
                            <a:noFill/>
                          </a:ln>
                          <a:solidFill>
                            <a:schemeClr val="tx1"/>
                          </a:solidFill>
                          <a:effectLst/>
                          <a:latin typeface="+mn-lt"/>
                        </a:rPr>
                        <a:t>Not striated, 1 nucleus</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348353">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Tx/>
                        <a:buNone/>
                        <a:tabLst/>
                      </a:pPr>
                      <a:r>
                        <a:rPr kumimoji="0" lang="en-US" sz="1800" b="0" i="0" u="none" strike="noStrike" cap="none" normalizeH="0" baseline="0" dirty="0">
                          <a:ln>
                            <a:noFill/>
                          </a:ln>
                          <a:solidFill>
                            <a:schemeClr val="tx1"/>
                          </a:solidFill>
                          <a:effectLst/>
                          <a:latin typeface="+mn-lt"/>
                        </a:rPr>
                        <a:t>voluntary</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Tx/>
                        <a:buNone/>
                        <a:tabLst/>
                      </a:pPr>
                      <a:r>
                        <a:rPr kumimoji="0" lang="en-US" sz="1800" b="0" i="0" u="none" strike="noStrike" cap="none" normalizeH="0" baseline="0" dirty="0">
                          <a:ln>
                            <a:noFill/>
                          </a:ln>
                          <a:solidFill>
                            <a:schemeClr val="tx1"/>
                          </a:solidFill>
                          <a:effectLst/>
                          <a:latin typeface="+mn-lt"/>
                        </a:rPr>
                        <a:t>involuntary</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Tx/>
                        <a:buNone/>
                        <a:tabLst/>
                      </a:pPr>
                      <a:r>
                        <a:rPr kumimoji="0" lang="en-US" sz="1800" b="0" i="0" u="none" strike="noStrike" cap="none" normalizeH="0" baseline="0" dirty="0">
                          <a:ln>
                            <a:noFill/>
                          </a:ln>
                          <a:solidFill>
                            <a:schemeClr val="tx1"/>
                          </a:solidFill>
                          <a:effectLst/>
                          <a:latin typeface="+mn-lt"/>
                        </a:rPr>
                        <a:t>involuntary</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637375">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Tx/>
                        <a:buNone/>
                        <a:tabLst/>
                        <a:defRPr/>
                      </a:pPr>
                      <a:r>
                        <a:rPr lang="en-US" altLang="en-US" sz="1800" dirty="0">
                          <a:latin typeface="+mn-lt"/>
                        </a:rPr>
                        <a:t>long, cylindrical multinucleated</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Tx/>
                        <a:buNone/>
                        <a:tabLst/>
                      </a:pPr>
                      <a:r>
                        <a:rPr kumimoji="0" lang="en-US" sz="1800" b="0" i="0" u="none" strike="noStrike" cap="none" normalizeH="0" baseline="0" dirty="0">
                          <a:ln>
                            <a:noFill/>
                          </a:ln>
                          <a:solidFill>
                            <a:schemeClr val="tx1"/>
                          </a:solidFill>
                          <a:effectLst/>
                          <a:latin typeface="+mn-lt"/>
                        </a:rPr>
                        <a:t>cylindrical branched mono/binucleated</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Tx/>
                        <a:buNone/>
                        <a:tabLst/>
                      </a:pPr>
                      <a:r>
                        <a:rPr kumimoji="0" lang="en-US" sz="1800" b="0" i="0" u="none" strike="noStrike" cap="none" normalizeH="0" baseline="0" dirty="0">
                          <a:ln>
                            <a:noFill/>
                          </a:ln>
                          <a:solidFill>
                            <a:schemeClr val="tx1"/>
                          </a:solidFill>
                          <a:effectLst/>
                          <a:latin typeface="+mn-lt"/>
                        </a:rPr>
                        <a:t>spindle-shaped mononucleated</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610391048"/>
                  </a:ext>
                </a:extLst>
              </a:tr>
            </a:tbl>
          </a:graphicData>
        </a:graphic>
      </p:graphicFrame>
      <p:pic>
        <p:nvPicPr>
          <p:cNvPr id="18" name="Picture 17">
            <a:extLst>
              <a:ext uri="{FF2B5EF4-FFF2-40B4-BE49-F238E27FC236}">
                <a16:creationId xmlns:a16="http://schemas.microsoft.com/office/drawing/2014/main" id="{04697D7B-B200-7C42-B2FE-F22F1FD6FC2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156176" y="2250122"/>
            <a:ext cx="2084991" cy="138523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3" name="Rectangle 3">
            <a:extLst>
              <a:ext uri="{FF2B5EF4-FFF2-40B4-BE49-F238E27FC236}">
                <a16:creationId xmlns:a16="http://schemas.microsoft.com/office/drawing/2014/main" id="{6356F3FB-BFE2-D94D-1F70-EBE70D967C05}"/>
              </a:ext>
            </a:extLst>
          </p:cNvPr>
          <p:cNvSpPr>
            <a:spLocks noGrp="1" noChangeArrowheads="1"/>
          </p:cNvSpPr>
          <p:nvPr>
            <p:ph type="body" idx="1"/>
          </p:nvPr>
        </p:nvSpPr>
        <p:spPr>
          <a:xfrm>
            <a:off x="611188" y="1341438"/>
            <a:ext cx="8135937" cy="4114800"/>
          </a:xfrm>
        </p:spPr>
        <p:txBody>
          <a:bodyPr/>
          <a:lstStyle/>
          <a:p>
            <a:pPr>
              <a:lnSpc>
                <a:spcPct val="120000"/>
              </a:lnSpc>
            </a:pPr>
            <a:r>
              <a:rPr lang="en-GB" altLang="en-US" sz="2800" dirty="0">
                <a:solidFill>
                  <a:schemeClr val="tx1"/>
                </a:solidFill>
              </a:rPr>
              <a:t>Skeletal muscles are activated by action potentials in the motor nerves</a:t>
            </a:r>
          </a:p>
          <a:p>
            <a:pPr lvl="1">
              <a:lnSpc>
                <a:spcPct val="120000"/>
              </a:lnSpc>
            </a:pPr>
            <a:r>
              <a:rPr lang="en-GB" altLang="en-US" dirty="0">
                <a:solidFill>
                  <a:schemeClr val="tx1"/>
                </a:solidFill>
                <a:ea typeface="Arial" panose="020B0604020202020204" pitchFamily="34" charset="0"/>
              </a:rPr>
              <a:t>neurogenic contractions</a:t>
            </a:r>
          </a:p>
          <a:p>
            <a:pPr lvl="1">
              <a:lnSpc>
                <a:spcPct val="120000"/>
              </a:lnSpc>
              <a:buFontTx/>
              <a:buNone/>
            </a:pPr>
            <a:endParaRPr lang="en-GB" altLang="en-US" dirty="0">
              <a:solidFill>
                <a:schemeClr val="tx1"/>
              </a:solidFill>
              <a:ea typeface="Arial" panose="020B0604020202020204" pitchFamily="34" charset="0"/>
            </a:endParaRPr>
          </a:p>
          <a:p>
            <a:pPr>
              <a:lnSpc>
                <a:spcPct val="120000"/>
              </a:lnSpc>
            </a:pPr>
            <a:r>
              <a:rPr lang="en-GB" altLang="en-US" sz="2800" dirty="0">
                <a:solidFill>
                  <a:schemeClr val="tx1"/>
                </a:solidFill>
              </a:rPr>
              <a:t>Cardiac and most smooth muscle have an intrinsic rhythm that is modulated by action potentials in autonomic nerves</a:t>
            </a:r>
          </a:p>
          <a:p>
            <a:pPr lvl="1">
              <a:lnSpc>
                <a:spcPct val="120000"/>
              </a:lnSpc>
            </a:pPr>
            <a:r>
              <a:rPr lang="en-GB" altLang="en-US" dirty="0">
                <a:solidFill>
                  <a:schemeClr val="tx1"/>
                </a:solidFill>
                <a:ea typeface="Arial" panose="020B0604020202020204" pitchFamily="34" charset="0"/>
              </a:rPr>
              <a:t>myogenic contractions</a:t>
            </a:r>
          </a:p>
        </p:txBody>
      </p:sp>
      <p:sp>
        <p:nvSpPr>
          <p:cNvPr id="8194" name="Rectangle 4">
            <a:extLst>
              <a:ext uri="{FF2B5EF4-FFF2-40B4-BE49-F238E27FC236}">
                <a16:creationId xmlns:a16="http://schemas.microsoft.com/office/drawing/2014/main" id="{DF93DB4D-BFF3-625C-3D41-062AA3B1CD8C}"/>
              </a:ext>
            </a:extLst>
          </p:cNvPr>
          <p:cNvSpPr>
            <a:spLocks noChangeArrowheads="1"/>
          </p:cNvSpPr>
          <p:nvPr/>
        </p:nvSpPr>
        <p:spPr bwMode="auto">
          <a:xfrm>
            <a:off x="179388" y="79375"/>
            <a:ext cx="7345362"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chor="ctr"/>
          <a:lstStyle>
            <a:lvl1pPr>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SzTx/>
              <a:buFontTx/>
              <a:buNone/>
            </a:pPr>
            <a:r>
              <a:rPr lang="en-GB" altLang="en-US" sz="4000" b="1" dirty="0">
                <a:solidFill>
                  <a:srgbClr val="FFFF00"/>
                </a:solidFill>
              </a:rPr>
              <a:t>Activation of Muscle</a:t>
            </a:r>
          </a:p>
        </p:txBody>
      </p:sp>
      <p:pic>
        <p:nvPicPr>
          <p:cNvPr id="7172" name="Picture 4">
            <a:extLst>
              <a:ext uri="{FF2B5EF4-FFF2-40B4-BE49-F238E27FC236}">
                <a16:creationId xmlns:a16="http://schemas.microsoft.com/office/drawing/2014/main" id="{1A1F487B-BD3E-7F92-82A7-6EC45EF5BC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35663" y="1957388"/>
            <a:ext cx="3208337" cy="143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3" name="Picture 5">
            <a:extLst>
              <a:ext uri="{FF2B5EF4-FFF2-40B4-BE49-F238E27FC236}">
                <a16:creationId xmlns:a16="http://schemas.microsoft.com/office/drawing/2014/main" id="{EF0584BE-16C2-7266-4828-ECC5B838FE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81688" y="4724400"/>
            <a:ext cx="2938462" cy="172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a:extLst>
              <a:ext uri="{FF2B5EF4-FFF2-40B4-BE49-F238E27FC236}">
                <a16:creationId xmlns:a16="http://schemas.microsoft.com/office/drawing/2014/main" id="{42F7F710-41A1-0219-A695-D3D3940BA9F8}"/>
              </a:ext>
            </a:extLst>
          </p:cNvPr>
          <p:cNvSpPr>
            <a:spLocks noGrp="1" noChangeArrowheads="1"/>
          </p:cNvSpPr>
          <p:nvPr>
            <p:ph type="title"/>
          </p:nvPr>
        </p:nvSpPr>
        <p:spPr>
          <a:xfrm>
            <a:off x="323850" y="693738"/>
            <a:ext cx="8496300" cy="874712"/>
          </a:xfrm>
        </p:spPr>
        <p:txBody>
          <a:bodyPr/>
          <a:lstStyle/>
          <a:p>
            <a:r>
              <a:rPr lang="en-GB" altLang="en-US" sz="2400" b="1" dirty="0">
                <a:solidFill>
                  <a:srgbClr val="7030A0"/>
                </a:solidFill>
              </a:rPr>
              <a:t>How a skeletal muscle contraction is initiated:</a:t>
            </a:r>
          </a:p>
        </p:txBody>
      </p:sp>
      <p:pic>
        <p:nvPicPr>
          <p:cNvPr id="9218" name="Picture 3" descr="0705">
            <a:extLst>
              <a:ext uri="{FF2B5EF4-FFF2-40B4-BE49-F238E27FC236}">
                <a16:creationId xmlns:a16="http://schemas.microsoft.com/office/drawing/2014/main" id="{3C355678-FE47-B129-A496-33E8C02130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45454"/>
          <a:stretch>
            <a:fillRect/>
          </a:stretch>
        </p:blipFill>
        <p:spPr bwMode="auto">
          <a:xfrm>
            <a:off x="609600" y="1905000"/>
            <a:ext cx="3332163"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19" name="Picture 4" descr="0705">
            <a:extLst>
              <a:ext uri="{FF2B5EF4-FFF2-40B4-BE49-F238E27FC236}">
                <a16:creationId xmlns:a16="http://schemas.microsoft.com/office/drawing/2014/main" id="{F4AFDD4C-72F7-C883-B0B1-0EDC07D766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59679"/>
          <a:stretch>
            <a:fillRect/>
          </a:stretch>
        </p:blipFill>
        <p:spPr bwMode="auto">
          <a:xfrm>
            <a:off x="5410200" y="2286000"/>
            <a:ext cx="3332163" cy="298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0" name="Line 5">
            <a:extLst>
              <a:ext uri="{FF2B5EF4-FFF2-40B4-BE49-F238E27FC236}">
                <a16:creationId xmlns:a16="http://schemas.microsoft.com/office/drawing/2014/main" id="{4879D355-FFCE-6ECB-360E-C6656905AFA8}"/>
              </a:ext>
            </a:extLst>
          </p:cNvPr>
          <p:cNvSpPr>
            <a:spLocks noChangeShapeType="1"/>
          </p:cNvSpPr>
          <p:nvPr/>
        </p:nvSpPr>
        <p:spPr bwMode="auto">
          <a:xfrm>
            <a:off x="3962400" y="5638800"/>
            <a:ext cx="685800" cy="0"/>
          </a:xfrm>
          <a:prstGeom prst="line">
            <a:avLst/>
          </a:prstGeom>
          <a:noFill/>
          <a:ln w="2857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9221" name="Line 6">
            <a:extLst>
              <a:ext uri="{FF2B5EF4-FFF2-40B4-BE49-F238E27FC236}">
                <a16:creationId xmlns:a16="http://schemas.microsoft.com/office/drawing/2014/main" id="{F4381EFC-DB61-3553-642A-1727012FBE1B}"/>
              </a:ext>
            </a:extLst>
          </p:cNvPr>
          <p:cNvSpPr>
            <a:spLocks noChangeShapeType="1"/>
          </p:cNvSpPr>
          <p:nvPr/>
        </p:nvSpPr>
        <p:spPr bwMode="auto">
          <a:xfrm flipV="1">
            <a:off x="4648200" y="2514600"/>
            <a:ext cx="0" cy="3124200"/>
          </a:xfrm>
          <a:prstGeom prst="line">
            <a:avLst/>
          </a:prstGeom>
          <a:noFill/>
          <a:ln w="2857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9222" name="Line 7">
            <a:extLst>
              <a:ext uri="{FF2B5EF4-FFF2-40B4-BE49-F238E27FC236}">
                <a16:creationId xmlns:a16="http://schemas.microsoft.com/office/drawing/2014/main" id="{3CDF556D-063D-6758-F2CA-FB4111305BBC}"/>
              </a:ext>
            </a:extLst>
          </p:cNvPr>
          <p:cNvSpPr>
            <a:spLocks noChangeShapeType="1"/>
          </p:cNvSpPr>
          <p:nvPr/>
        </p:nvSpPr>
        <p:spPr bwMode="auto">
          <a:xfrm>
            <a:off x="4648200" y="2514600"/>
            <a:ext cx="685800" cy="0"/>
          </a:xfrm>
          <a:prstGeom prst="line">
            <a:avLst/>
          </a:prstGeom>
          <a:noFill/>
          <a:ln w="28575">
            <a:solidFill>
              <a:srgbClr val="FFFF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GB"/>
          </a:p>
        </p:txBody>
      </p:sp>
      <p:sp>
        <p:nvSpPr>
          <p:cNvPr id="9223" name="Rectangle 9">
            <a:extLst>
              <a:ext uri="{FF2B5EF4-FFF2-40B4-BE49-F238E27FC236}">
                <a16:creationId xmlns:a16="http://schemas.microsoft.com/office/drawing/2014/main" id="{546BF126-5FA0-F585-44AE-AC1E2534B164}"/>
              </a:ext>
            </a:extLst>
          </p:cNvPr>
          <p:cNvSpPr>
            <a:spLocks noChangeArrowheads="1"/>
          </p:cNvSpPr>
          <p:nvPr/>
        </p:nvSpPr>
        <p:spPr bwMode="auto">
          <a:xfrm>
            <a:off x="34925" y="44624"/>
            <a:ext cx="734536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chor="ctr"/>
          <a:lstStyle>
            <a:lvl1pPr>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SzTx/>
              <a:buFontTx/>
              <a:buNone/>
            </a:pPr>
            <a:r>
              <a:rPr lang="en-GB" altLang="en-US" sz="4000" b="1" dirty="0">
                <a:solidFill>
                  <a:srgbClr val="FFFF00"/>
                </a:solidFill>
              </a:rPr>
              <a:t>Excitation-Contraction</a:t>
            </a:r>
          </a:p>
        </p:txBody>
      </p:sp>
      <p:sp>
        <p:nvSpPr>
          <p:cNvPr id="9224" name="Rectangle 11">
            <a:extLst>
              <a:ext uri="{FF2B5EF4-FFF2-40B4-BE49-F238E27FC236}">
                <a16:creationId xmlns:a16="http://schemas.microsoft.com/office/drawing/2014/main" id="{2C0BB6BE-B13A-6B7C-C6CE-D9B12054629F}"/>
              </a:ext>
            </a:extLst>
          </p:cNvPr>
          <p:cNvSpPr>
            <a:spLocks noChangeArrowheads="1"/>
          </p:cNvSpPr>
          <p:nvPr/>
        </p:nvSpPr>
        <p:spPr bwMode="auto">
          <a:xfrm>
            <a:off x="900113" y="5989638"/>
            <a:ext cx="76327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SzTx/>
              <a:buFontTx/>
              <a:buNone/>
            </a:pPr>
            <a:r>
              <a:rPr lang="en-GB" altLang="en-US" sz="2400">
                <a:solidFill>
                  <a:schemeClr val="tx1"/>
                </a:solidFill>
              </a:rPr>
              <a:t>resting cytosolic concentration ~100 nmol to a peak of 0.1 to 1 µmol during a normal contraction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9363" name="Rectangle 3">
            <a:extLst>
              <a:ext uri="{FF2B5EF4-FFF2-40B4-BE49-F238E27FC236}">
                <a16:creationId xmlns:a16="http://schemas.microsoft.com/office/drawing/2014/main" id="{83EE1A9C-442F-21BE-2AE8-E72842C713A5}"/>
              </a:ext>
            </a:extLst>
          </p:cNvPr>
          <p:cNvSpPr>
            <a:spLocks noGrp="1" noChangeArrowheads="1"/>
          </p:cNvSpPr>
          <p:nvPr>
            <p:ph type="body" idx="1"/>
          </p:nvPr>
        </p:nvSpPr>
        <p:spPr>
          <a:xfrm>
            <a:off x="539552" y="809625"/>
            <a:ext cx="7772400" cy="4648200"/>
          </a:xfrm>
        </p:spPr>
        <p:txBody>
          <a:bodyPr/>
          <a:lstStyle/>
          <a:p>
            <a:pPr algn="just">
              <a:spcBef>
                <a:spcPct val="0"/>
              </a:spcBef>
            </a:pPr>
            <a:r>
              <a:rPr lang="en-GB" altLang="en-US" sz="2800" dirty="0">
                <a:solidFill>
                  <a:schemeClr val="tx1"/>
                </a:solidFill>
              </a:rPr>
              <a:t>Skeletal muscles are supplied by nerve fibres that are myelinated and have their origin in the CNS.</a:t>
            </a:r>
          </a:p>
          <a:p>
            <a:pPr algn="just">
              <a:spcBef>
                <a:spcPct val="0"/>
              </a:spcBef>
            </a:pPr>
            <a:r>
              <a:rPr lang="en-GB" altLang="en-US" sz="2800" dirty="0">
                <a:solidFill>
                  <a:schemeClr val="tx1"/>
                </a:solidFill>
              </a:rPr>
              <a:t>Such nerves are called motor nerves. </a:t>
            </a:r>
          </a:p>
          <a:p>
            <a:pPr algn="just">
              <a:spcBef>
                <a:spcPct val="0"/>
              </a:spcBef>
            </a:pPr>
            <a:r>
              <a:rPr lang="en-GB" altLang="en-US" sz="2800" dirty="0">
                <a:solidFill>
                  <a:schemeClr val="tx1"/>
                </a:solidFill>
              </a:rPr>
              <a:t>When a motor nerve fibre enters a muscle, it branches so that one motor axon makes synaptic contact with a number of muscle fibres.</a:t>
            </a:r>
          </a:p>
        </p:txBody>
      </p:sp>
      <p:sp>
        <p:nvSpPr>
          <p:cNvPr id="11266" name="Rectangle 5">
            <a:extLst>
              <a:ext uri="{FF2B5EF4-FFF2-40B4-BE49-F238E27FC236}">
                <a16:creationId xmlns:a16="http://schemas.microsoft.com/office/drawing/2014/main" id="{DB875F35-970D-3B7C-90CC-28FDA1CA5D95}"/>
              </a:ext>
            </a:extLst>
          </p:cNvPr>
          <p:cNvSpPr>
            <a:spLocks noChangeArrowheads="1"/>
          </p:cNvSpPr>
          <p:nvPr/>
        </p:nvSpPr>
        <p:spPr bwMode="auto">
          <a:xfrm>
            <a:off x="179388" y="79375"/>
            <a:ext cx="7345362"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chor="ctr"/>
          <a:lstStyle>
            <a:lvl1pPr>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SzTx/>
              <a:buFontTx/>
              <a:buNone/>
            </a:pPr>
            <a:r>
              <a:rPr lang="en-GB" altLang="en-US" sz="4000" b="1">
                <a:solidFill>
                  <a:srgbClr val="FFFF00"/>
                </a:solidFill>
              </a:rPr>
              <a:t>Innervation</a:t>
            </a:r>
          </a:p>
        </p:txBody>
      </p:sp>
      <p:graphicFrame>
        <p:nvGraphicFramePr>
          <p:cNvPr id="11267" name="Object 6">
            <a:extLst>
              <a:ext uri="{FF2B5EF4-FFF2-40B4-BE49-F238E27FC236}">
                <a16:creationId xmlns:a16="http://schemas.microsoft.com/office/drawing/2014/main" id="{AA7DF4FE-0CF3-7B77-FB3E-DDE90A2BC477}"/>
              </a:ext>
            </a:extLst>
          </p:cNvPr>
          <p:cNvGraphicFramePr>
            <a:graphicFrameLocks noChangeAspect="1"/>
          </p:cNvGraphicFramePr>
          <p:nvPr/>
        </p:nvGraphicFramePr>
        <p:xfrm>
          <a:off x="5295900" y="4494213"/>
          <a:ext cx="3381375" cy="1927225"/>
        </p:xfrm>
        <a:graphic>
          <a:graphicData uri="http://schemas.openxmlformats.org/presentationml/2006/ole">
            <mc:AlternateContent xmlns:mc="http://schemas.openxmlformats.org/markup-compatibility/2006">
              <mc:Choice xmlns:v="urn:schemas-microsoft-com:vml" Requires="v">
                <p:oleObj spid="_x0000_s1037" name="Photo Editor Photo" r:id="rId3" imgW="4277322" imgH="2247619" progId="MSPhotoEd.3">
                  <p:embed/>
                </p:oleObj>
              </mc:Choice>
              <mc:Fallback>
                <p:oleObj name="Photo Editor Photo" r:id="rId3" imgW="4277322" imgH="2247619" progId="MSPhotoEd.3">
                  <p:embed/>
                  <p:pic>
                    <p:nvPicPr>
                      <p:cNvPr id="11267" name="Object 6">
                        <a:extLst>
                          <a:ext uri="{FF2B5EF4-FFF2-40B4-BE49-F238E27FC236}">
                            <a16:creationId xmlns:a16="http://schemas.microsoft.com/office/drawing/2014/main" id="{AA7DF4FE-0CF3-7B77-FB3E-DDE90A2BC4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95900" y="4494213"/>
                        <a:ext cx="3381375" cy="192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99368" name="Rectangle 8">
            <a:extLst>
              <a:ext uri="{FF2B5EF4-FFF2-40B4-BE49-F238E27FC236}">
                <a16:creationId xmlns:a16="http://schemas.microsoft.com/office/drawing/2014/main" id="{2A12A90D-8BFB-E5A1-7E2C-D17965633664}"/>
              </a:ext>
            </a:extLst>
          </p:cNvPr>
          <p:cNvSpPr>
            <a:spLocks noChangeArrowheads="1"/>
          </p:cNvSpPr>
          <p:nvPr/>
        </p:nvSpPr>
        <p:spPr bwMode="auto">
          <a:xfrm>
            <a:off x="466725" y="4508500"/>
            <a:ext cx="4681538" cy="224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lgn="just">
              <a:spcBef>
                <a:spcPct val="50000"/>
              </a:spcBef>
            </a:pPr>
            <a:r>
              <a:rPr lang="en-GB" altLang="en-US" sz="2800" dirty="0">
                <a:solidFill>
                  <a:schemeClr val="tx1"/>
                </a:solidFill>
              </a:rPr>
              <a:t>The motor neuron, its axon and all the muscle fibres supplied by the axon and its branches form a </a:t>
            </a:r>
            <a:r>
              <a:rPr lang="en-GB" altLang="en-US" sz="2800" b="1" dirty="0">
                <a:solidFill>
                  <a:schemeClr val="tx1"/>
                </a:solidFill>
              </a:rPr>
              <a:t>motor unit</a:t>
            </a:r>
            <a:r>
              <a:rPr lang="en-GB" altLang="en-US" sz="2800" dirty="0">
                <a:solidFill>
                  <a:schemeClr val="tx1"/>
                </a:solidFill>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0" y="83096"/>
            <a:ext cx="8458200" cy="609600"/>
          </a:xfrm>
        </p:spPr>
        <p:txBody>
          <a:bodyPr>
            <a:noAutofit/>
          </a:bodyPr>
          <a:lstStyle/>
          <a:p>
            <a:pPr algn="l"/>
            <a:r>
              <a:rPr lang="en-US" sz="4000" b="1" cap="none" dirty="0">
                <a:latin typeface="Arial" pitchFamily="34" charset="0"/>
                <a:cs typeface="Arial" pitchFamily="34" charset="0"/>
              </a:rPr>
              <a:t>Muscle </a:t>
            </a:r>
            <a:r>
              <a:rPr lang="en-US" sz="4000" b="1" dirty="0" err="1">
                <a:latin typeface="Arial" pitchFamily="34" charset="0"/>
                <a:cs typeface="Arial" pitchFamily="34" charset="0"/>
              </a:rPr>
              <a:t>F</a:t>
            </a:r>
            <a:r>
              <a:rPr lang="en-US" sz="4000" b="1" cap="none" dirty="0" err="1">
                <a:latin typeface="Arial" pitchFamily="34" charset="0"/>
                <a:cs typeface="Arial" pitchFamily="34" charset="0"/>
              </a:rPr>
              <a:t>ibre</a:t>
            </a:r>
            <a:r>
              <a:rPr lang="en-US" sz="4000" b="1" cap="none" dirty="0">
                <a:latin typeface="Arial" pitchFamily="34" charset="0"/>
                <a:cs typeface="Arial" pitchFamily="34" charset="0"/>
              </a:rPr>
              <a:t> </a:t>
            </a:r>
            <a:r>
              <a:rPr lang="en-US" sz="4000" b="1" dirty="0">
                <a:latin typeface="Arial" pitchFamily="34" charset="0"/>
                <a:cs typeface="Arial" pitchFamily="34" charset="0"/>
              </a:rPr>
              <a:t>A</a:t>
            </a:r>
            <a:r>
              <a:rPr lang="en-US" sz="4000" b="1" cap="none" dirty="0">
                <a:latin typeface="Arial" pitchFamily="34" charset="0"/>
                <a:cs typeface="Arial" pitchFamily="34" charset="0"/>
              </a:rPr>
              <a:t>natomy</a:t>
            </a:r>
          </a:p>
        </p:txBody>
      </p:sp>
      <p:sp>
        <p:nvSpPr>
          <p:cNvPr id="18435" name="Rectangle 3"/>
          <p:cNvSpPr>
            <a:spLocks noGrp="1" noChangeArrowheads="1"/>
          </p:cNvSpPr>
          <p:nvPr>
            <p:ph idx="1"/>
          </p:nvPr>
        </p:nvSpPr>
        <p:spPr>
          <a:xfrm>
            <a:off x="304800" y="1143000"/>
            <a:ext cx="8534400" cy="5562600"/>
          </a:xfrm>
        </p:spPr>
        <p:txBody>
          <a:bodyPr/>
          <a:lstStyle/>
          <a:p>
            <a:pPr marL="0" indent="0">
              <a:lnSpc>
                <a:spcPct val="90000"/>
              </a:lnSpc>
              <a:buNone/>
            </a:pPr>
            <a:r>
              <a:rPr lang="en-US" sz="2400" b="1" dirty="0">
                <a:solidFill>
                  <a:schemeClr val="tx1"/>
                </a:solidFill>
              </a:rPr>
              <a:t>Sarcolemma</a:t>
            </a:r>
            <a:r>
              <a:rPr lang="en-US" sz="2400" dirty="0">
                <a:solidFill>
                  <a:schemeClr val="tx1"/>
                </a:solidFill>
              </a:rPr>
              <a:t> is the muscle cell plasma membrane</a:t>
            </a:r>
          </a:p>
          <a:p>
            <a:pPr>
              <a:lnSpc>
                <a:spcPct val="90000"/>
              </a:lnSpc>
            </a:pPr>
            <a:r>
              <a:rPr lang="en-US" sz="2400" dirty="0">
                <a:solidFill>
                  <a:schemeClr val="tx1"/>
                </a:solidFill>
              </a:rPr>
              <a:t>Surrounds the </a:t>
            </a:r>
            <a:r>
              <a:rPr lang="en-US" sz="2400" b="1" i="1" dirty="0">
                <a:solidFill>
                  <a:schemeClr val="tx1"/>
                </a:solidFill>
              </a:rPr>
              <a:t>sarcoplasm</a:t>
            </a:r>
            <a:r>
              <a:rPr lang="en-US" sz="2400" i="1" dirty="0">
                <a:solidFill>
                  <a:schemeClr val="tx1"/>
                </a:solidFill>
              </a:rPr>
              <a:t> </a:t>
            </a:r>
            <a:r>
              <a:rPr lang="en-US" sz="2400" dirty="0">
                <a:solidFill>
                  <a:schemeClr val="tx1"/>
                </a:solidFill>
              </a:rPr>
              <a:t>(cytoplasm of </a:t>
            </a:r>
            <a:r>
              <a:rPr lang="en-US" sz="2400" dirty="0" err="1">
                <a:solidFill>
                  <a:schemeClr val="tx1"/>
                </a:solidFill>
              </a:rPr>
              <a:t>fibre</a:t>
            </a:r>
            <a:r>
              <a:rPr lang="en-US" sz="2400" dirty="0">
                <a:solidFill>
                  <a:schemeClr val="tx1"/>
                </a:solidFill>
              </a:rPr>
              <a:t>)</a:t>
            </a:r>
          </a:p>
          <a:p>
            <a:pPr lvl="1">
              <a:lnSpc>
                <a:spcPct val="90000"/>
              </a:lnSpc>
            </a:pPr>
            <a:r>
              <a:rPr lang="en-US" sz="2000" dirty="0">
                <a:solidFill>
                  <a:schemeClr val="tx1"/>
                </a:solidFill>
              </a:rPr>
              <a:t>Contains many of the same organelles seen in other cells</a:t>
            </a:r>
          </a:p>
          <a:p>
            <a:pPr lvl="1">
              <a:lnSpc>
                <a:spcPct val="90000"/>
              </a:lnSpc>
            </a:pPr>
            <a:r>
              <a:rPr lang="en-US" sz="2000" dirty="0">
                <a:solidFill>
                  <a:schemeClr val="tx1"/>
                </a:solidFill>
              </a:rPr>
              <a:t>An abundance of the oxygen-binding protein </a:t>
            </a:r>
            <a:r>
              <a:rPr lang="en-US" sz="2000" b="1" dirty="0">
                <a:solidFill>
                  <a:schemeClr val="tx1"/>
                </a:solidFill>
              </a:rPr>
              <a:t>myoglobin</a:t>
            </a:r>
            <a:endParaRPr lang="en-US" sz="2000" dirty="0">
              <a:solidFill>
                <a:schemeClr val="tx1"/>
              </a:solidFill>
            </a:endParaRPr>
          </a:p>
          <a:p>
            <a:pPr lvl="1">
              <a:lnSpc>
                <a:spcPct val="90000"/>
              </a:lnSpc>
            </a:pPr>
            <a:r>
              <a:rPr lang="en-US" sz="2000" dirty="0">
                <a:solidFill>
                  <a:schemeClr val="tx1"/>
                </a:solidFill>
              </a:rPr>
              <a:t>Punctuated by openings called the </a:t>
            </a:r>
            <a:r>
              <a:rPr lang="en-US" sz="2000" b="1" dirty="0">
                <a:solidFill>
                  <a:schemeClr val="tx1"/>
                </a:solidFill>
              </a:rPr>
              <a:t>transverse tubules (T-tubules)</a:t>
            </a:r>
            <a:r>
              <a:rPr lang="en-US" sz="2000" dirty="0">
                <a:solidFill>
                  <a:schemeClr val="tx1"/>
                </a:solidFill>
              </a:rPr>
              <a:t>. Narrow tubes that extend into the sarcoplasm at right angles to the surface, filled with extracellular fluid.</a:t>
            </a:r>
          </a:p>
          <a:p>
            <a:pPr marL="0" indent="0">
              <a:lnSpc>
                <a:spcPct val="90000"/>
              </a:lnSpc>
              <a:buNone/>
            </a:pPr>
            <a:r>
              <a:rPr lang="en-US" sz="2400" b="1" dirty="0">
                <a:solidFill>
                  <a:schemeClr val="tx1"/>
                </a:solidFill>
              </a:rPr>
              <a:t>Myofibrils</a:t>
            </a:r>
            <a:r>
              <a:rPr lang="en-US" sz="2400" dirty="0">
                <a:solidFill>
                  <a:schemeClr val="tx1"/>
                </a:solidFill>
              </a:rPr>
              <a:t> are cylindrical structures within muscle fiber</a:t>
            </a:r>
          </a:p>
          <a:p>
            <a:pPr>
              <a:lnSpc>
                <a:spcPct val="90000"/>
              </a:lnSpc>
            </a:pPr>
            <a:r>
              <a:rPr lang="en-US" sz="2400" dirty="0">
                <a:solidFill>
                  <a:schemeClr val="tx1"/>
                </a:solidFill>
              </a:rPr>
              <a:t>Are bundles of protein filaments (</a:t>
            </a:r>
            <a:r>
              <a:rPr lang="en-US" sz="2400" b="1" dirty="0">
                <a:solidFill>
                  <a:schemeClr val="tx1"/>
                </a:solidFill>
              </a:rPr>
              <a:t>myofilaments</a:t>
            </a:r>
            <a:r>
              <a:rPr lang="en-US" sz="2400" dirty="0">
                <a:solidFill>
                  <a:schemeClr val="tx1"/>
                </a:solidFill>
              </a:rPr>
              <a:t>)</a:t>
            </a:r>
          </a:p>
          <a:p>
            <a:pPr>
              <a:lnSpc>
                <a:spcPct val="90000"/>
              </a:lnSpc>
            </a:pPr>
            <a:r>
              <a:rPr lang="en-US" sz="2400" dirty="0">
                <a:solidFill>
                  <a:schemeClr val="tx1"/>
                </a:solidFill>
              </a:rPr>
              <a:t>Two types of myofilaments:</a:t>
            </a:r>
          </a:p>
          <a:p>
            <a:pPr lvl="1">
              <a:lnSpc>
                <a:spcPct val="90000"/>
              </a:lnSpc>
            </a:pPr>
            <a:r>
              <a:rPr lang="en-US" sz="2000" dirty="0">
                <a:solidFill>
                  <a:schemeClr val="tx1"/>
                </a:solidFill>
              </a:rPr>
              <a:t>Actin filaments (thin filaments)</a:t>
            </a:r>
          </a:p>
          <a:p>
            <a:pPr lvl="1">
              <a:lnSpc>
                <a:spcPct val="90000"/>
              </a:lnSpc>
            </a:pPr>
            <a:r>
              <a:rPr lang="en-US" sz="2000" dirty="0">
                <a:solidFill>
                  <a:schemeClr val="tx1"/>
                </a:solidFill>
              </a:rPr>
              <a:t>Myosin filaments (thick filaments)</a:t>
            </a:r>
          </a:p>
          <a:p>
            <a:pPr>
              <a:lnSpc>
                <a:spcPct val="90000"/>
              </a:lnSpc>
            </a:pPr>
            <a:r>
              <a:rPr lang="en-US" sz="2400" dirty="0">
                <a:solidFill>
                  <a:schemeClr val="tx1"/>
                </a:solidFill>
              </a:rPr>
              <a:t>At each end of a </a:t>
            </a:r>
            <a:r>
              <a:rPr lang="en-US" sz="2400" dirty="0" err="1">
                <a:solidFill>
                  <a:schemeClr val="tx1"/>
                </a:solidFill>
              </a:rPr>
              <a:t>fibre</a:t>
            </a:r>
            <a:r>
              <a:rPr lang="en-US" sz="2400" dirty="0">
                <a:solidFill>
                  <a:schemeClr val="tx1"/>
                </a:solidFill>
              </a:rPr>
              <a:t>, myofibrils are anchored to the inner surface of the sarcolemma, therefore when myofibrils shorten, muscle shortens (i.e. contracts).</a:t>
            </a:r>
          </a:p>
          <a:p>
            <a:pPr marL="914400" lvl="1" indent="-457200">
              <a:lnSpc>
                <a:spcPct val="90000"/>
              </a:lnSpc>
              <a:buFont typeface="Times" pitchFamily="1" charset="0"/>
              <a:buChar char="–"/>
            </a:pPr>
            <a:endParaRPr lang="en-US" sz="2400" dirty="0">
              <a:solidFill>
                <a:schemeClr val="tx1"/>
              </a:solidFill>
            </a:endParaRPr>
          </a:p>
          <a:p>
            <a:pPr marL="1295400" lvl="2" indent="-381000">
              <a:lnSpc>
                <a:spcPct val="90000"/>
              </a:lnSpc>
            </a:pPr>
            <a:endParaRPr lang="en-US" sz="2000" dirty="0">
              <a:solidFill>
                <a:schemeClr val="tx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7" name="Picture 3" descr="0703 (revised)">
            <a:extLst>
              <a:ext uri="{FF2B5EF4-FFF2-40B4-BE49-F238E27FC236}">
                <a16:creationId xmlns:a16="http://schemas.microsoft.com/office/drawing/2014/main" id="{ABA54071-F76F-7AB5-9A0C-8D39033D09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504" y="980728"/>
            <a:ext cx="4452937" cy="5329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38" name="Rectangle 5">
            <a:extLst>
              <a:ext uri="{FF2B5EF4-FFF2-40B4-BE49-F238E27FC236}">
                <a16:creationId xmlns:a16="http://schemas.microsoft.com/office/drawing/2014/main" id="{C153F1FD-974C-1DDE-A1E3-2C19D3339B4A}"/>
              </a:ext>
            </a:extLst>
          </p:cNvPr>
          <p:cNvSpPr>
            <a:spLocks noChangeArrowheads="1"/>
          </p:cNvSpPr>
          <p:nvPr/>
        </p:nvSpPr>
        <p:spPr bwMode="auto">
          <a:xfrm>
            <a:off x="79375" y="79375"/>
            <a:ext cx="734536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chor="ctr"/>
          <a:lstStyle>
            <a:lvl1pPr>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SzTx/>
              <a:buFontTx/>
              <a:buNone/>
            </a:pPr>
            <a:r>
              <a:rPr lang="en-GB" altLang="en-US" sz="4000" b="1">
                <a:solidFill>
                  <a:srgbClr val="FFFF00"/>
                </a:solidFill>
              </a:rPr>
              <a:t>Muscle Membranes</a:t>
            </a:r>
          </a:p>
        </p:txBody>
      </p:sp>
      <p:pic>
        <p:nvPicPr>
          <p:cNvPr id="14339" name="Picture 3" descr="10_02d">
            <a:extLst>
              <a:ext uri="{FF2B5EF4-FFF2-40B4-BE49-F238E27FC236}">
                <a16:creationId xmlns:a16="http://schemas.microsoft.com/office/drawing/2014/main" id="{E9F41C9D-E3C3-6913-B0BE-B7206B2FFBD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322" y="1484840"/>
            <a:ext cx="4320158" cy="5040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a:extLst>
              <a:ext uri="{FF2B5EF4-FFF2-40B4-BE49-F238E27FC236}">
                <a16:creationId xmlns:a16="http://schemas.microsoft.com/office/drawing/2014/main" id="{86388FB4-7CA4-3902-766B-6194B124C15C}"/>
              </a:ext>
            </a:extLst>
          </p:cNvPr>
          <p:cNvSpPr>
            <a:spLocks noChangeArrowheads="1"/>
          </p:cNvSpPr>
          <p:nvPr/>
        </p:nvSpPr>
        <p:spPr bwMode="auto">
          <a:xfrm>
            <a:off x="179388" y="79375"/>
            <a:ext cx="7345362"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chor="ctr"/>
          <a:lstStyle>
            <a:lvl1pPr>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SzTx/>
              <a:buFontTx/>
              <a:buNone/>
            </a:pPr>
            <a:r>
              <a:rPr lang="en-GB" altLang="en-US" sz="4000" b="1">
                <a:solidFill>
                  <a:srgbClr val="FFFF00"/>
                </a:solidFill>
              </a:rPr>
              <a:t>Muscle Fibre</a:t>
            </a:r>
          </a:p>
        </p:txBody>
      </p:sp>
      <p:sp>
        <p:nvSpPr>
          <p:cNvPr id="12290" name="Text Box 11">
            <a:extLst>
              <a:ext uri="{FF2B5EF4-FFF2-40B4-BE49-F238E27FC236}">
                <a16:creationId xmlns:a16="http://schemas.microsoft.com/office/drawing/2014/main" id="{EB268331-B448-A34D-BFDE-1B69321B04B3}"/>
              </a:ext>
            </a:extLst>
          </p:cNvPr>
          <p:cNvSpPr txBox="1">
            <a:spLocks noChangeArrowheads="1"/>
          </p:cNvSpPr>
          <p:nvPr/>
        </p:nvSpPr>
        <p:spPr bwMode="auto">
          <a:xfrm>
            <a:off x="5304359" y="6581001"/>
            <a:ext cx="383964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SzTx/>
              <a:buFontTx/>
              <a:buNone/>
            </a:pPr>
            <a:r>
              <a:rPr lang="en-GB" altLang="en-US" sz="1200" i="1" dirty="0">
                <a:solidFill>
                  <a:schemeClr val="tx1"/>
                </a:solidFill>
              </a:rPr>
              <a:t>Tortora </a:t>
            </a:r>
            <a:r>
              <a:rPr lang="ja-JP" altLang="en-GB" sz="1200" i="1" dirty="0">
                <a:solidFill>
                  <a:schemeClr val="tx1"/>
                </a:solidFill>
              </a:rPr>
              <a:t>“</a:t>
            </a:r>
            <a:r>
              <a:rPr lang="en-GB" altLang="ja-JP" sz="1200" i="1" dirty="0">
                <a:solidFill>
                  <a:schemeClr val="tx1"/>
                </a:solidFill>
              </a:rPr>
              <a:t>Principles of Anatomy &amp; Physiology</a:t>
            </a:r>
            <a:r>
              <a:rPr lang="ja-JP" altLang="en-GB" sz="1200" i="1" dirty="0">
                <a:solidFill>
                  <a:schemeClr val="tx1"/>
                </a:solidFill>
              </a:rPr>
              <a:t>”</a:t>
            </a:r>
            <a:r>
              <a:rPr lang="en-GB" altLang="ja-JP" sz="1200" i="1" dirty="0">
                <a:solidFill>
                  <a:schemeClr val="tx1"/>
                </a:solidFill>
              </a:rPr>
              <a:t>  12</a:t>
            </a:r>
            <a:r>
              <a:rPr lang="en-GB" altLang="ja-JP" sz="1200" i="1" baseline="30000" dirty="0">
                <a:solidFill>
                  <a:schemeClr val="tx1"/>
                </a:solidFill>
              </a:rPr>
              <a:t>th</a:t>
            </a:r>
            <a:r>
              <a:rPr lang="en-GB" altLang="ja-JP" sz="1200" i="1" dirty="0">
                <a:solidFill>
                  <a:schemeClr val="tx1"/>
                </a:solidFill>
              </a:rPr>
              <a:t> Ed</a:t>
            </a:r>
            <a:endParaRPr lang="en-US" altLang="en-US" sz="1200" i="1" dirty="0">
              <a:solidFill>
                <a:schemeClr val="tx1"/>
              </a:solidFill>
            </a:endParaRPr>
          </a:p>
        </p:txBody>
      </p:sp>
      <p:sp>
        <p:nvSpPr>
          <p:cNvPr id="12291" name="Oval 12">
            <a:extLst>
              <a:ext uri="{FF2B5EF4-FFF2-40B4-BE49-F238E27FC236}">
                <a16:creationId xmlns:a16="http://schemas.microsoft.com/office/drawing/2014/main" id="{E917CB8A-0BC6-5ED4-5B1C-A426469AF6AF}"/>
              </a:ext>
            </a:extLst>
          </p:cNvPr>
          <p:cNvSpPr>
            <a:spLocks noChangeArrowheads="1"/>
          </p:cNvSpPr>
          <p:nvPr/>
        </p:nvSpPr>
        <p:spPr bwMode="auto">
          <a:xfrm>
            <a:off x="3419475" y="1484313"/>
            <a:ext cx="504825" cy="433387"/>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SzTx/>
              <a:buFontTx/>
              <a:buNone/>
            </a:pPr>
            <a:endParaRPr lang="en-US" altLang="en-US" sz="2400">
              <a:latin typeface="Times New Roman" panose="02020603050405020304" pitchFamily="18" charset="0"/>
            </a:endParaRPr>
          </a:p>
        </p:txBody>
      </p:sp>
      <p:sp>
        <p:nvSpPr>
          <p:cNvPr id="12292" name="Rectangle 13">
            <a:extLst>
              <a:ext uri="{FF2B5EF4-FFF2-40B4-BE49-F238E27FC236}">
                <a16:creationId xmlns:a16="http://schemas.microsoft.com/office/drawing/2014/main" id="{E2621592-C0D3-C4B7-1C82-D842C1832F09}"/>
              </a:ext>
            </a:extLst>
          </p:cNvPr>
          <p:cNvSpPr>
            <a:spLocks noChangeArrowheads="1"/>
          </p:cNvSpPr>
          <p:nvPr/>
        </p:nvSpPr>
        <p:spPr bwMode="auto">
          <a:xfrm>
            <a:off x="3276600" y="5732463"/>
            <a:ext cx="1800225" cy="36036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SzTx/>
              <a:buFontTx/>
              <a:buNone/>
            </a:pPr>
            <a:endParaRPr lang="en-US" altLang="en-US" sz="2400">
              <a:latin typeface="Times New Roman" panose="02020603050405020304" pitchFamily="18" charset="0"/>
            </a:endParaRPr>
          </a:p>
        </p:txBody>
      </p:sp>
      <p:pic>
        <p:nvPicPr>
          <p:cNvPr id="2" name="Picture 10">
            <a:extLst>
              <a:ext uri="{FF2B5EF4-FFF2-40B4-BE49-F238E27FC236}">
                <a16:creationId xmlns:a16="http://schemas.microsoft.com/office/drawing/2014/main" id="{9F22C32E-0679-15D4-33E8-E20C16ED88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3" y="841375"/>
            <a:ext cx="2560539" cy="1648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263CD99E-B0A7-8D1A-FD70-8A1BB385D96D}"/>
              </a:ext>
            </a:extLst>
          </p:cNvPr>
          <p:cNvPicPr>
            <a:picLocks noChangeArrowheads="1"/>
          </p:cNvPicPr>
          <p:nvPr/>
        </p:nvPicPr>
        <p:blipFill>
          <a:blip r:embed="rId4" cstate="print"/>
          <a:srcRect l="1178"/>
          <a:stretch>
            <a:fillRect/>
          </a:stretch>
        </p:blipFill>
        <p:spPr bwMode="auto">
          <a:xfrm>
            <a:off x="2987824" y="908720"/>
            <a:ext cx="6093737" cy="5324988"/>
          </a:xfrm>
          <a:prstGeom prst="rect">
            <a:avLst/>
          </a:prstGeom>
          <a:noFill/>
          <a:ln w="12700">
            <a:noFill/>
            <a:miter lim="800000"/>
            <a:headEnd/>
            <a:tailEnd/>
          </a:ln>
          <a:effectLst/>
        </p:spPr>
      </p:pic>
      <p:cxnSp>
        <p:nvCxnSpPr>
          <p:cNvPr id="6" name="Connector: Elbow 5">
            <a:extLst>
              <a:ext uri="{FF2B5EF4-FFF2-40B4-BE49-F238E27FC236}">
                <a16:creationId xmlns:a16="http://schemas.microsoft.com/office/drawing/2014/main" id="{53B8F39D-7FC6-536F-25D6-AA5DA4853447}"/>
              </a:ext>
            </a:extLst>
          </p:cNvPr>
          <p:cNvCxnSpPr>
            <a:cxnSpLocks/>
          </p:cNvCxnSpPr>
          <p:nvPr/>
        </p:nvCxnSpPr>
        <p:spPr bwMode="auto">
          <a:xfrm>
            <a:off x="2531475" y="2204436"/>
            <a:ext cx="504825" cy="358702"/>
          </a:xfrm>
          <a:prstGeom prst="bentConnector3">
            <a:avLst>
              <a:gd name="adj1" fmla="val 57174"/>
            </a:avLst>
          </a:prstGeom>
          <a:solidFill>
            <a:schemeClr val="accent1"/>
          </a:solidFill>
          <a:ln w="28575" cap="flat" cmpd="sng" algn="ctr">
            <a:solidFill>
              <a:schemeClr val="tx1"/>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12" name="Rectangle 3">
            <a:extLst>
              <a:ext uri="{FF2B5EF4-FFF2-40B4-BE49-F238E27FC236}">
                <a16:creationId xmlns:a16="http://schemas.microsoft.com/office/drawing/2014/main" id="{8A3EBECD-5EA1-DD50-3520-6C56070B92A0}"/>
              </a:ext>
            </a:extLst>
          </p:cNvPr>
          <p:cNvSpPr txBox="1">
            <a:spLocks noChangeArrowheads="1"/>
          </p:cNvSpPr>
          <p:nvPr/>
        </p:nvSpPr>
        <p:spPr>
          <a:xfrm>
            <a:off x="132361" y="3290897"/>
            <a:ext cx="4897437" cy="3234447"/>
          </a:xfrm>
          <a:prstGeom prst="rect">
            <a:avLst/>
          </a:prstGeom>
        </p:spPr>
        <p:txBody>
          <a:bodyPr vert="horz">
            <a:noAutofit/>
          </a:bodyPr>
          <a:lst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marL="0" indent="0" fontAlgn="auto">
              <a:spcAft>
                <a:spcPts val="0"/>
              </a:spcAft>
              <a:buClr>
                <a:srgbClr val="0BD0D9"/>
              </a:buClr>
              <a:buNone/>
              <a:defRPr/>
            </a:pPr>
            <a:r>
              <a:rPr kumimoji="0" lang="en-US" sz="2400" b="1" i="0" u="none" strike="noStrike" kern="1200" cap="none" spc="0" normalizeH="0" baseline="0" noProof="0" dirty="0">
                <a:ln>
                  <a:noFill/>
                </a:ln>
                <a:solidFill>
                  <a:sysClr val="windowText" lastClr="000000"/>
                </a:solidFill>
                <a:effectLst/>
                <a:uLnTx/>
                <a:uFillTx/>
                <a:ea typeface="+mn-ea"/>
                <a:cs typeface="+mn-cs"/>
              </a:rPr>
              <a:t>Contractile proteins </a:t>
            </a:r>
          </a:p>
          <a:p>
            <a:pPr marR="0" lvl="0" algn="l" defTabSz="914400" rtl="0" eaLnBrk="1" fontAlgn="auto" latinLnBrk="0" hangingPunct="1">
              <a:lnSpc>
                <a:spcPct val="100000"/>
              </a:lnSpc>
              <a:spcBef>
                <a:spcPct val="20000"/>
              </a:spcBef>
              <a:spcAft>
                <a:spcPts val="0"/>
              </a:spcAft>
              <a:buClr>
                <a:schemeClr val="tx1"/>
              </a:buClr>
              <a:buSzPct val="95000"/>
              <a:buFont typeface="Arial" panose="020B0604020202020204" pitchFamily="34" charset="0"/>
              <a:buChar char="•"/>
              <a:tabLst/>
              <a:defRPr/>
            </a:pPr>
            <a:r>
              <a:rPr kumimoji="0" lang="en-US" sz="2000" b="0" i="0" u="none" strike="noStrike" kern="1200" cap="none" spc="0" normalizeH="0" baseline="0" noProof="0" dirty="0">
                <a:ln>
                  <a:noFill/>
                </a:ln>
                <a:solidFill>
                  <a:sysClr val="windowText" lastClr="000000"/>
                </a:solidFill>
                <a:effectLst/>
                <a:uLnTx/>
                <a:uFillTx/>
                <a:ea typeface="+mn-ea"/>
                <a:cs typeface="+mn-cs"/>
              </a:rPr>
              <a:t>Actin- thin myofilament</a:t>
            </a:r>
          </a:p>
          <a:p>
            <a:pPr marR="0" lvl="0" algn="l" defTabSz="914400" rtl="0" eaLnBrk="1" fontAlgn="auto" latinLnBrk="0" hangingPunct="1">
              <a:lnSpc>
                <a:spcPct val="100000"/>
              </a:lnSpc>
              <a:spcBef>
                <a:spcPct val="20000"/>
              </a:spcBef>
              <a:spcAft>
                <a:spcPts val="0"/>
              </a:spcAft>
              <a:buClr>
                <a:schemeClr val="tx1"/>
              </a:buClr>
              <a:buSzPct val="95000"/>
              <a:buFont typeface="Arial" panose="020B0604020202020204" pitchFamily="34" charset="0"/>
              <a:buChar char="•"/>
              <a:tabLst/>
              <a:defRPr/>
            </a:pPr>
            <a:r>
              <a:rPr kumimoji="0" lang="en-US" sz="2000" b="0" i="0" u="none" strike="noStrike" kern="1200" cap="none" spc="0" normalizeH="0" baseline="0" noProof="0" dirty="0">
                <a:ln>
                  <a:noFill/>
                </a:ln>
                <a:solidFill>
                  <a:sysClr val="windowText" lastClr="000000"/>
                </a:solidFill>
                <a:effectLst/>
                <a:uLnTx/>
                <a:uFillTx/>
                <a:ea typeface="+mn-ea"/>
                <a:cs typeface="+mn-cs"/>
              </a:rPr>
              <a:t>Myosin- thick filament</a:t>
            </a:r>
          </a:p>
          <a:p>
            <a:pPr marL="0" indent="0" fontAlgn="auto">
              <a:spcAft>
                <a:spcPts val="0"/>
              </a:spcAft>
              <a:buClr>
                <a:srgbClr val="0BD0D9"/>
              </a:buClr>
              <a:buNone/>
              <a:defRPr/>
            </a:pPr>
            <a:r>
              <a:rPr kumimoji="0" lang="en-US" sz="2400" b="1" i="0" u="none" strike="noStrike" kern="1200" cap="none" spc="0" normalizeH="0" baseline="0" noProof="0" dirty="0">
                <a:ln>
                  <a:noFill/>
                </a:ln>
                <a:solidFill>
                  <a:sysClr val="windowText" lastClr="000000"/>
                </a:solidFill>
                <a:effectLst/>
                <a:uLnTx/>
                <a:uFillTx/>
                <a:ea typeface="+mn-ea"/>
                <a:cs typeface="+mn-cs"/>
              </a:rPr>
              <a:t>Regulatory proteins</a:t>
            </a:r>
          </a:p>
          <a:p>
            <a:pPr fontAlgn="auto">
              <a:spcAft>
                <a:spcPts val="0"/>
              </a:spcAft>
              <a:buClr>
                <a:schemeClr val="tx1"/>
              </a:buClr>
              <a:buFont typeface="Arial" panose="020B0604020202020204" pitchFamily="34" charset="0"/>
              <a:buChar char="•"/>
              <a:defRPr/>
            </a:pPr>
            <a:r>
              <a:rPr kumimoji="0" lang="en-US" sz="2000" b="0" i="0" u="none" strike="noStrike" kern="1200" cap="none" spc="0" normalizeH="0" baseline="0" noProof="0" dirty="0">
                <a:ln>
                  <a:noFill/>
                </a:ln>
                <a:solidFill>
                  <a:sysClr val="windowText" lastClr="000000"/>
                </a:solidFill>
                <a:effectLst/>
                <a:uLnTx/>
                <a:uFillTx/>
                <a:ea typeface="+mn-ea"/>
                <a:cs typeface="+mn-cs"/>
              </a:rPr>
              <a:t>Tropomyosin</a:t>
            </a:r>
          </a:p>
          <a:p>
            <a:pPr fontAlgn="auto">
              <a:spcAft>
                <a:spcPts val="0"/>
              </a:spcAft>
              <a:buClr>
                <a:schemeClr val="tx1"/>
              </a:buClr>
              <a:buFont typeface="Arial" panose="020B0604020202020204" pitchFamily="34" charset="0"/>
              <a:buChar char="•"/>
              <a:defRPr/>
            </a:pPr>
            <a:r>
              <a:rPr kumimoji="0" lang="en-US" sz="2000" b="0" i="0" u="none" strike="noStrike" kern="1200" cap="none" spc="0" normalizeH="0" baseline="0" noProof="0" dirty="0">
                <a:ln>
                  <a:noFill/>
                </a:ln>
                <a:solidFill>
                  <a:sysClr val="windowText" lastClr="000000"/>
                </a:solidFill>
                <a:effectLst/>
                <a:uLnTx/>
                <a:uFillTx/>
                <a:ea typeface="+mn-ea"/>
                <a:cs typeface="+mn-cs"/>
              </a:rPr>
              <a:t>Troponin</a:t>
            </a:r>
          </a:p>
          <a:p>
            <a:pPr marL="0" indent="0" fontAlgn="auto">
              <a:spcAft>
                <a:spcPts val="0"/>
              </a:spcAft>
              <a:buClr>
                <a:srgbClr val="0BD0D9"/>
              </a:buClr>
              <a:buNone/>
              <a:defRPr/>
            </a:pPr>
            <a:r>
              <a:rPr kumimoji="0" lang="en-US" sz="2400" b="1" i="0" u="none" strike="noStrike" kern="1200" cap="none" spc="0" normalizeH="0" baseline="0" noProof="0" dirty="0">
                <a:ln>
                  <a:noFill/>
                </a:ln>
                <a:solidFill>
                  <a:sysClr val="windowText" lastClr="000000"/>
                </a:solidFill>
                <a:effectLst/>
                <a:uLnTx/>
                <a:uFillTx/>
                <a:ea typeface="+mn-ea"/>
                <a:cs typeface="+mn-cs"/>
              </a:rPr>
              <a:t>Attachment proteins </a:t>
            </a:r>
          </a:p>
          <a:p>
            <a:pPr fontAlgn="auto">
              <a:spcAft>
                <a:spcPts val="0"/>
              </a:spcAft>
              <a:buClr>
                <a:schemeClr val="tx1"/>
              </a:buClr>
              <a:buFont typeface="Arial" panose="020B0604020202020204" pitchFamily="34" charset="0"/>
              <a:buChar char="•"/>
              <a:defRPr/>
            </a:pPr>
            <a:r>
              <a:rPr kumimoji="0" lang="en-US" sz="2000" b="0" i="0" u="none" strike="noStrike" kern="1200" cap="none" spc="0" normalizeH="0" baseline="0" noProof="0" dirty="0">
                <a:ln>
                  <a:noFill/>
                </a:ln>
                <a:solidFill>
                  <a:sysClr val="windowText" lastClr="000000"/>
                </a:solidFill>
                <a:effectLst/>
                <a:uLnTx/>
                <a:uFillTx/>
                <a:ea typeface="+mn-ea"/>
                <a:cs typeface="+mn-cs"/>
              </a:rPr>
              <a:t>Titin, nebulin, alpha actinin, dystrophin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a:extLst>
              <a:ext uri="{FF2B5EF4-FFF2-40B4-BE49-F238E27FC236}">
                <a16:creationId xmlns:a16="http://schemas.microsoft.com/office/drawing/2014/main" id="{78C143D3-36C5-683A-4FD8-4005FF0123DF}"/>
              </a:ext>
            </a:extLst>
          </p:cNvPr>
          <p:cNvSpPr>
            <a:spLocks noGrp="1" noChangeArrowheads="1"/>
          </p:cNvSpPr>
          <p:nvPr>
            <p:ph type="title"/>
          </p:nvPr>
        </p:nvSpPr>
        <p:spPr/>
        <p:txBody>
          <a:bodyPr/>
          <a:lstStyle/>
          <a:p>
            <a:r>
              <a:rPr lang="en-US" altLang="en-US"/>
              <a:t>10_05</a:t>
            </a:r>
          </a:p>
        </p:txBody>
      </p:sp>
      <p:pic>
        <p:nvPicPr>
          <p:cNvPr id="16386" name="Picture 3" descr="10_05">
            <a:extLst>
              <a:ext uri="{FF2B5EF4-FFF2-40B4-BE49-F238E27FC236}">
                <a16:creationId xmlns:a16="http://schemas.microsoft.com/office/drawing/2014/main" id="{EF2A8E39-FB6B-A26A-A6B2-C5E25FFAFC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0650" y="842963"/>
            <a:ext cx="6362700" cy="601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7" name="Rectangle 4">
            <a:extLst>
              <a:ext uri="{FF2B5EF4-FFF2-40B4-BE49-F238E27FC236}">
                <a16:creationId xmlns:a16="http://schemas.microsoft.com/office/drawing/2014/main" id="{D01CFA90-0914-4C74-2BED-1756EC68ADEF}"/>
              </a:ext>
            </a:extLst>
          </p:cNvPr>
          <p:cNvSpPr>
            <a:spLocks noChangeArrowheads="1"/>
          </p:cNvSpPr>
          <p:nvPr/>
        </p:nvSpPr>
        <p:spPr bwMode="auto">
          <a:xfrm>
            <a:off x="79375" y="79375"/>
            <a:ext cx="734536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chor="ctr"/>
          <a:lstStyle>
            <a:lvl1pPr>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SzTx/>
              <a:buFontTx/>
              <a:buNone/>
            </a:pPr>
            <a:r>
              <a:rPr lang="en-GB" altLang="en-US" sz="4000" b="1">
                <a:solidFill>
                  <a:srgbClr val="FFFF00"/>
                </a:solidFill>
              </a:rPr>
              <a:t>Filaments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3" descr="10_06">
            <a:extLst>
              <a:ext uri="{FF2B5EF4-FFF2-40B4-BE49-F238E27FC236}">
                <a16:creationId xmlns:a16="http://schemas.microsoft.com/office/drawing/2014/main" id="{570D2EF2-3BF0-4167-49CF-22702C8ECE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72" y="2996952"/>
            <a:ext cx="4791460" cy="3528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5" name="Rectangle 4">
            <a:extLst>
              <a:ext uri="{FF2B5EF4-FFF2-40B4-BE49-F238E27FC236}">
                <a16:creationId xmlns:a16="http://schemas.microsoft.com/office/drawing/2014/main" id="{06B2AEFA-0715-2FEE-5F22-1940F38076C2}"/>
              </a:ext>
            </a:extLst>
          </p:cNvPr>
          <p:cNvSpPr>
            <a:spLocks noChangeArrowheads="1"/>
          </p:cNvSpPr>
          <p:nvPr/>
        </p:nvSpPr>
        <p:spPr bwMode="auto">
          <a:xfrm>
            <a:off x="79375" y="79375"/>
            <a:ext cx="734536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chor="ctr"/>
          <a:lstStyle>
            <a:lvl1pPr>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SzTx/>
              <a:buFontTx/>
              <a:buNone/>
            </a:pPr>
            <a:r>
              <a:rPr lang="en-GB" altLang="en-US" sz="4000" b="1" dirty="0">
                <a:solidFill>
                  <a:srgbClr val="FFFF00"/>
                </a:solidFill>
              </a:rPr>
              <a:t>Sarcomere</a:t>
            </a:r>
          </a:p>
        </p:txBody>
      </p:sp>
      <p:sp>
        <p:nvSpPr>
          <p:cNvPr id="2" name="Rectangle 3">
            <a:extLst>
              <a:ext uri="{FF2B5EF4-FFF2-40B4-BE49-F238E27FC236}">
                <a16:creationId xmlns:a16="http://schemas.microsoft.com/office/drawing/2014/main" id="{6A6F6E1F-C1D5-5BD3-8D89-7FE45C0DF563}"/>
              </a:ext>
            </a:extLst>
          </p:cNvPr>
          <p:cNvSpPr txBox="1">
            <a:spLocks noChangeArrowheads="1"/>
          </p:cNvSpPr>
          <p:nvPr/>
        </p:nvSpPr>
        <p:spPr>
          <a:xfrm>
            <a:off x="4427984" y="2492896"/>
            <a:ext cx="4603562" cy="3744416"/>
          </a:xfrm>
          <a:prstGeom prst="rect">
            <a:avLst/>
          </a:prstGeom>
        </p:spPr>
        <p:txBody>
          <a:bodyPr/>
          <a:lstStyle>
            <a:lvl1pPr marL="342900" indent="-342900" algn="l" rtl="0" eaLnBrk="0" fontAlgn="base" hangingPunct="0">
              <a:spcBef>
                <a:spcPct val="20000"/>
              </a:spcBef>
              <a:spcAft>
                <a:spcPct val="0"/>
              </a:spcAft>
              <a:buSzPct val="100000"/>
              <a:buChar char="•"/>
              <a:defRPr sz="3200">
                <a:solidFill>
                  <a:srgbClr val="FFFFFF"/>
                </a:solidFill>
                <a:latin typeface="+mn-lt"/>
                <a:ea typeface="MS PGothic" panose="020B0600070205080204" pitchFamily="34" charset="-128"/>
                <a:cs typeface="+mn-cs"/>
              </a:defRPr>
            </a:lvl1pPr>
            <a:lvl2pPr marL="742950" indent="-285750" algn="l" rtl="0" eaLnBrk="0" fontAlgn="base" hangingPunct="0">
              <a:spcBef>
                <a:spcPct val="20000"/>
              </a:spcBef>
              <a:spcAft>
                <a:spcPct val="0"/>
              </a:spcAft>
              <a:buSzPct val="100000"/>
              <a:buChar char="–"/>
              <a:defRPr sz="2800">
                <a:solidFill>
                  <a:srgbClr val="FFFFFF"/>
                </a:solidFill>
                <a:latin typeface="+mn-lt"/>
                <a:ea typeface="Arial" charset="0"/>
                <a:cs typeface="+mn-cs"/>
              </a:defRPr>
            </a:lvl2pPr>
            <a:lvl3pPr marL="1143000" indent="-228600" algn="l" rtl="0" eaLnBrk="0" fontAlgn="base" hangingPunct="0">
              <a:spcBef>
                <a:spcPct val="20000"/>
              </a:spcBef>
              <a:spcAft>
                <a:spcPct val="0"/>
              </a:spcAft>
              <a:buSzPct val="100000"/>
              <a:buChar char="•"/>
              <a:defRPr sz="2400">
                <a:solidFill>
                  <a:srgbClr val="FFFFFF"/>
                </a:solidFill>
                <a:latin typeface="+mn-lt"/>
                <a:ea typeface="Arial" charset="0"/>
                <a:cs typeface="+mn-cs"/>
              </a:defRPr>
            </a:lvl3pPr>
            <a:lvl4pPr marL="1600200" indent="-228600" algn="l" rtl="0" eaLnBrk="0" fontAlgn="base" hangingPunct="0">
              <a:spcBef>
                <a:spcPct val="20000"/>
              </a:spcBef>
              <a:spcAft>
                <a:spcPct val="0"/>
              </a:spcAft>
              <a:buSzPct val="100000"/>
              <a:buChar char="–"/>
              <a:defRPr sz="2000">
                <a:solidFill>
                  <a:srgbClr val="FFFFFF"/>
                </a:solidFill>
                <a:latin typeface="+mn-lt"/>
                <a:ea typeface="Arial" charset="0"/>
                <a:cs typeface="+mn-cs"/>
              </a:defRPr>
            </a:lvl4pPr>
            <a:lvl5pPr marL="2057400" indent="-228600" algn="l" rtl="0" eaLnBrk="0" fontAlgn="base" hangingPunct="0">
              <a:spcBef>
                <a:spcPct val="20000"/>
              </a:spcBef>
              <a:spcAft>
                <a:spcPct val="0"/>
              </a:spcAft>
              <a:buSzPct val="100000"/>
              <a:buChar char="•"/>
              <a:defRPr sz="2000">
                <a:solidFill>
                  <a:srgbClr val="FFFFFF"/>
                </a:solidFill>
                <a:latin typeface="+mn-lt"/>
                <a:ea typeface="Arial" charset="0"/>
                <a:cs typeface="+mn-cs"/>
              </a:defRPr>
            </a:lvl5pPr>
            <a:lvl6pPr marL="2514600" indent="-228600" algn="l" rtl="0" eaLnBrk="0" fontAlgn="base" hangingPunct="0">
              <a:spcBef>
                <a:spcPct val="20000"/>
              </a:spcBef>
              <a:spcAft>
                <a:spcPct val="0"/>
              </a:spcAft>
              <a:buSzPct val="100000"/>
              <a:buChar char="•"/>
              <a:defRPr sz="2000">
                <a:solidFill>
                  <a:srgbClr val="FFFFFF"/>
                </a:solidFill>
                <a:latin typeface="+mn-lt"/>
                <a:cs typeface="+mn-cs"/>
              </a:defRPr>
            </a:lvl6pPr>
            <a:lvl7pPr marL="2971800" indent="-228600" algn="l" rtl="0" eaLnBrk="0" fontAlgn="base" hangingPunct="0">
              <a:spcBef>
                <a:spcPct val="20000"/>
              </a:spcBef>
              <a:spcAft>
                <a:spcPct val="0"/>
              </a:spcAft>
              <a:buSzPct val="100000"/>
              <a:buChar char="•"/>
              <a:defRPr sz="2000">
                <a:solidFill>
                  <a:srgbClr val="FFFFFF"/>
                </a:solidFill>
                <a:latin typeface="+mn-lt"/>
                <a:cs typeface="+mn-cs"/>
              </a:defRPr>
            </a:lvl7pPr>
            <a:lvl8pPr marL="3429000" indent="-228600" algn="l" rtl="0" eaLnBrk="0" fontAlgn="base" hangingPunct="0">
              <a:spcBef>
                <a:spcPct val="20000"/>
              </a:spcBef>
              <a:spcAft>
                <a:spcPct val="0"/>
              </a:spcAft>
              <a:buSzPct val="100000"/>
              <a:buChar char="•"/>
              <a:defRPr sz="2000">
                <a:solidFill>
                  <a:srgbClr val="FFFFFF"/>
                </a:solidFill>
                <a:latin typeface="+mn-lt"/>
                <a:cs typeface="+mn-cs"/>
              </a:defRPr>
            </a:lvl8pPr>
            <a:lvl9pPr marL="3886200" indent="-228600" algn="l" rtl="0" eaLnBrk="0" fontAlgn="base" hangingPunct="0">
              <a:spcBef>
                <a:spcPct val="20000"/>
              </a:spcBef>
              <a:spcAft>
                <a:spcPct val="0"/>
              </a:spcAft>
              <a:buSzPct val="100000"/>
              <a:buChar char="•"/>
              <a:defRPr sz="2000">
                <a:solidFill>
                  <a:srgbClr val="FFFFFF"/>
                </a:solidFill>
                <a:latin typeface="+mn-lt"/>
                <a:cs typeface="+mn-cs"/>
              </a:defRPr>
            </a:lvl9pPr>
          </a:lstStyle>
          <a:p>
            <a:pPr lvl="1">
              <a:lnSpc>
                <a:spcPct val="90000"/>
              </a:lnSpc>
              <a:buClr>
                <a:schemeClr val="tx1"/>
              </a:buClr>
            </a:pPr>
            <a:r>
              <a:rPr lang="en-US" sz="2000" b="1" kern="0" dirty="0">
                <a:solidFill>
                  <a:schemeClr val="tx1"/>
                </a:solidFill>
                <a:ea typeface="Calibri" panose="020F0502020204030204" pitchFamily="34" charset="0"/>
                <a:cs typeface="Calibri" panose="020F0502020204030204" pitchFamily="34" charset="0"/>
              </a:rPr>
              <a:t>A bands</a:t>
            </a:r>
            <a:r>
              <a:rPr lang="en-US" sz="2000" kern="0" dirty="0">
                <a:solidFill>
                  <a:schemeClr val="tx1"/>
                </a:solidFill>
                <a:ea typeface="Calibri" panose="020F0502020204030204" pitchFamily="34" charset="0"/>
                <a:cs typeface="Calibri" panose="020F0502020204030204" pitchFamily="34" charset="0"/>
              </a:rPr>
              <a:t>: a dark band; full length of thick  (myosin) filament</a:t>
            </a:r>
          </a:p>
          <a:p>
            <a:pPr lvl="1">
              <a:lnSpc>
                <a:spcPct val="90000"/>
              </a:lnSpc>
              <a:buClr>
                <a:schemeClr val="tx1"/>
              </a:buClr>
            </a:pPr>
            <a:r>
              <a:rPr lang="en-US" sz="2000" b="1" kern="0" dirty="0">
                <a:solidFill>
                  <a:schemeClr val="tx1"/>
                </a:solidFill>
                <a:ea typeface="Calibri" panose="020F0502020204030204" pitchFamily="34" charset="0"/>
                <a:cs typeface="Calibri" panose="020F0502020204030204" pitchFamily="34" charset="0"/>
              </a:rPr>
              <a:t>M line </a:t>
            </a:r>
            <a:r>
              <a:rPr lang="en-US" sz="2000" kern="0" dirty="0">
                <a:solidFill>
                  <a:schemeClr val="tx1"/>
                </a:solidFill>
                <a:ea typeface="Calibri" panose="020F0502020204030204" pitchFamily="34" charset="0"/>
                <a:cs typeface="Calibri" panose="020F0502020204030204" pitchFamily="34" charset="0"/>
              </a:rPr>
              <a:t>- protein to which </a:t>
            </a:r>
            <a:r>
              <a:rPr lang="en-US" sz="2000" kern="0" dirty="0" err="1">
                <a:solidFill>
                  <a:schemeClr val="tx1"/>
                </a:solidFill>
                <a:ea typeface="Calibri" panose="020F0502020204030204" pitchFamily="34" charset="0"/>
                <a:cs typeface="Calibri" panose="020F0502020204030204" pitchFamily="34" charset="0"/>
              </a:rPr>
              <a:t>myosins</a:t>
            </a:r>
            <a:r>
              <a:rPr lang="en-US" sz="2000" kern="0" dirty="0">
                <a:solidFill>
                  <a:schemeClr val="tx1"/>
                </a:solidFill>
                <a:ea typeface="Calibri" panose="020F0502020204030204" pitchFamily="34" charset="0"/>
                <a:cs typeface="Calibri" panose="020F0502020204030204" pitchFamily="34" charset="0"/>
              </a:rPr>
              <a:t> attach</a:t>
            </a:r>
          </a:p>
          <a:p>
            <a:pPr lvl="1">
              <a:lnSpc>
                <a:spcPct val="90000"/>
              </a:lnSpc>
              <a:buClr>
                <a:schemeClr val="tx1"/>
              </a:buClr>
            </a:pPr>
            <a:r>
              <a:rPr lang="en-US" sz="2000" b="1" kern="0" dirty="0">
                <a:solidFill>
                  <a:schemeClr val="tx1"/>
                </a:solidFill>
                <a:ea typeface="Calibri" panose="020F0502020204030204" pitchFamily="34" charset="0"/>
                <a:cs typeface="Calibri" panose="020F0502020204030204" pitchFamily="34" charset="0"/>
              </a:rPr>
              <a:t>H zone </a:t>
            </a:r>
            <a:r>
              <a:rPr lang="en-US" sz="2000" kern="0" dirty="0">
                <a:solidFill>
                  <a:schemeClr val="tx1"/>
                </a:solidFill>
                <a:ea typeface="Calibri" panose="020F0502020204030204" pitchFamily="34" charset="0"/>
                <a:cs typeface="Calibri" panose="020F0502020204030204" pitchFamily="34" charset="0"/>
              </a:rPr>
              <a:t>- thick but NO thin filaments</a:t>
            </a:r>
            <a:endParaRPr lang="en-US" sz="2000" b="1" kern="0" dirty="0">
              <a:solidFill>
                <a:schemeClr val="tx1"/>
              </a:solidFill>
              <a:ea typeface="Calibri" panose="020F0502020204030204" pitchFamily="34" charset="0"/>
              <a:cs typeface="Calibri" panose="020F0502020204030204" pitchFamily="34" charset="0"/>
            </a:endParaRPr>
          </a:p>
          <a:p>
            <a:pPr lvl="1">
              <a:lnSpc>
                <a:spcPct val="90000"/>
              </a:lnSpc>
              <a:buClr>
                <a:schemeClr val="tx1"/>
              </a:buClr>
            </a:pPr>
            <a:r>
              <a:rPr lang="en-US" sz="2000" b="1" kern="0" dirty="0">
                <a:solidFill>
                  <a:schemeClr val="tx1"/>
                </a:solidFill>
                <a:ea typeface="Calibri" panose="020F0502020204030204" pitchFamily="34" charset="0"/>
                <a:cs typeface="Calibri" panose="020F0502020204030204" pitchFamily="34" charset="0"/>
              </a:rPr>
              <a:t>I bands</a:t>
            </a:r>
            <a:r>
              <a:rPr lang="en-US" sz="2000" kern="0" dirty="0">
                <a:solidFill>
                  <a:schemeClr val="tx1"/>
                </a:solidFill>
                <a:ea typeface="Calibri" panose="020F0502020204030204" pitchFamily="34" charset="0"/>
                <a:cs typeface="Calibri" panose="020F0502020204030204" pitchFamily="34" charset="0"/>
              </a:rPr>
              <a:t>: a light band; from Z disks to ends of thick filaments</a:t>
            </a:r>
          </a:p>
          <a:p>
            <a:pPr lvl="1">
              <a:lnSpc>
                <a:spcPct val="90000"/>
              </a:lnSpc>
            </a:pPr>
            <a:r>
              <a:rPr lang="en-US" sz="2000" b="1" kern="0" dirty="0">
                <a:solidFill>
                  <a:schemeClr val="tx1"/>
                </a:solidFill>
                <a:ea typeface="Calibri" panose="020F0502020204030204" pitchFamily="34" charset="0"/>
                <a:cs typeface="Calibri" panose="020F0502020204030204" pitchFamily="34" charset="0"/>
              </a:rPr>
              <a:t>Z disk</a:t>
            </a:r>
            <a:r>
              <a:rPr lang="en-US" sz="2000" kern="0" dirty="0">
                <a:solidFill>
                  <a:schemeClr val="tx1"/>
                </a:solidFill>
                <a:ea typeface="Calibri" panose="020F0502020204030204" pitchFamily="34" charset="0"/>
                <a:cs typeface="Calibri" panose="020F0502020204030204" pitchFamily="34" charset="0"/>
              </a:rPr>
              <a:t>: filamentous network of protein. Serves as attachment for actin myofilaments</a:t>
            </a:r>
          </a:p>
          <a:p>
            <a:pPr lvl="1">
              <a:lnSpc>
                <a:spcPct val="90000"/>
              </a:lnSpc>
              <a:buClr>
                <a:schemeClr val="tx1"/>
              </a:buClr>
            </a:pPr>
            <a:r>
              <a:rPr lang="en-US" sz="2000" b="1" kern="0" dirty="0">
                <a:solidFill>
                  <a:schemeClr val="tx1"/>
                </a:solidFill>
                <a:ea typeface="Calibri" panose="020F0502020204030204" pitchFamily="34" charset="0"/>
                <a:cs typeface="Calibri" panose="020F0502020204030204" pitchFamily="34" charset="0"/>
              </a:rPr>
              <a:t>Titin filaments</a:t>
            </a:r>
            <a:r>
              <a:rPr lang="en-US" sz="2000" kern="0" dirty="0">
                <a:solidFill>
                  <a:schemeClr val="tx1"/>
                </a:solidFill>
                <a:ea typeface="Calibri" panose="020F0502020204030204" pitchFamily="34" charset="0"/>
                <a:cs typeface="Calibri" panose="020F0502020204030204" pitchFamily="34" charset="0"/>
              </a:rPr>
              <a:t>: elastic chains of amino acids; keep thick and thin filaments in proper alignment</a:t>
            </a:r>
          </a:p>
          <a:p>
            <a:pPr>
              <a:lnSpc>
                <a:spcPct val="90000"/>
              </a:lnSpc>
            </a:pPr>
            <a:endParaRPr lang="en-US" sz="2000" kern="0" dirty="0">
              <a:solidFill>
                <a:schemeClr val="tx1"/>
              </a:solidFill>
              <a:ea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1E5EA44E-FC2D-5574-4E6C-DB020B5F3775}"/>
              </a:ext>
            </a:extLst>
          </p:cNvPr>
          <p:cNvSpPr txBox="1"/>
          <p:nvPr/>
        </p:nvSpPr>
        <p:spPr>
          <a:xfrm>
            <a:off x="0" y="975936"/>
            <a:ext cx="8892479" cy="2086725"/>
          </a:xfrm>
          <a:prstGeom prst="rect">
            <a:avLst/>
          </a:prstGeom>
          <a:noFill/>
        </p:spPr>
        <p:txBody>
          <a:bodyPr wrap="square">
            <a:spAutoFit/>
          </a:bodyPr>
          <a:lstStyle/>
          <a:p>
            <a:pPr lvl="1">
              <a:lnSpc>
                <a:spcPct val="90000"/>
              </a:lnSpc>
              <a:buClr>
                <a:schemeClr val="tx1"/>
              </a:buClr>
            </a:pPr>
            <a:r>
              <a:rPr lang="en-US" b="1" kern="0" dirty="0">
                <a:solidFill>
                  <a:schemeClr val="tx1"/>
                </a:solidFill>
                <a:latin typeface="+mn-lt"/>
                <a:ea typeface="Calibri" panose="020F0502020204030204" pitchFamily="34" charset="0"/>
                <a:cs typeface="Calibri" panose="020F0502020204030204" pitchFamily="34" charset="0"/>
              </a:rPr>
              <a:t>Sarcomeres</a:t>
            </a:r>
            <a:r>
              <a:rPr lang="en-US" kern="0" dirty="0">
                <a:solidFill>
                  <a:schemeClr val="tx1"/>
                </a:solidFill>
                <a:latin typeface="+mn-lt"/>
                <a:ea typeface="Calibri" panose="020F0502020204030204" pitchFamily="34" charset="0"/>
                <a:cs typeface="Calibri" panose="020F0502020204030204" pitchFamily="34" charset="0"/>
              </a:rPr>
              <a:t> are the repeating functional units of a myofibril. They differ in size, density, and distribution of thick and thin filaments that can give the muscle </a:t>
            </a:r>
            <a:r>
              <a:rPr lang="en-US" kern="0" dirty="0" err="1">
                <a:solidFill>
                  <a:schemeClr val="tx1"/>
                </a:solidFill>
                <a:latin typeface="+mn-lt"/>
                <a:ea typeface="Calibri" panose="020F0502020204030204" pitchFamily="34" charset="0"/>
                <a:cs typeface="Calibri" panose="020F0502020204030204" pitchFamily="34" charset="0"/>
              </a:rPr>
              <a:t>fibre</a:t>
            </a:r>
            <a:r>
              <a:rPr lang="en-US" kern="0" dirty="0">
                <a:solidFill>
                  <a:schemeClr val="tx1"/>
                </a:solidFill>
                <a:latin typeface="+mn-lt"/>
                <a:ea typeface="Calibri" panose="020F0502020204030204" pitchFamily="34" charset="0"/>
                <a:cs typeface="Calibri" panose="020F0502020204030204" pitchFamily="34" charset="0"/>
              </a:rPr>
              <a:t> a banded or striated appearance. </a:t>
            </a:r>
            <a:r>
              <a:rPr lang="en-US" b="1" kern="0" dirty="0">
                <a:solidFill>
                  <a:schemeClr val="tx1"/>
                </a:solidFill>
                <a:latin typeface="+mn-lt"/>
                <a:ea typeface="Calibri" panose="020F0502020204030204" pitchFamily="34" charset="0"/>
                <a:cs typeface="Calibri" panose="020F0502020204030204" pitchFamily="34" charset="0"/>
              </a:rPr>
              <a:t>About 10,000 sarcomeres per myofibril, end to end, each ~2 µm long.</a:t>
            </a:r>
          </a:p>
          <a:p>
            <a:pPr>
              <a:lnSpc>
                <a:spcPct val="90000"/>
              </a:lnSpc>
              <a:buClr>
                <a:schemeClr val="tx1"/>
              </a:buClr>
            </a:pPr>
            <a:endParaRPr lang="en-US" kern="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fade">
                                      <p:cBhvr>
                                        <p:cTn id="12" dur="500"/>
                                        <p:tgtEl>
                                          <p:spTgt spid="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fade">
                                      <p:cBhvr>
                                        <p:cTn id="17" dur="500"/>
                                        <p:tgtEl>
                                          <p:spTgt spid="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2" end="2"/>
                                            </p:txEl>
                                          </p:spTgt>
                                        </p:tgtEl>
                                        <p:attrNameLst>
                                          <p:attrName>style.visibility</p:attrName>
                                        </p:attrNameLst>
                                      </p:cBhvr>
                                      <p:to>
                                        <p:strVal val="visible"/>
                                      </p:to>
                                    </p:set>
                                    <p:animEffect transition="in" filter="fade">
                                      <p:cBhvr>
                                        <p:cTn id="22" dur="500"/>
                                        <p:tgtEl>
                                          <p:spTgt spid="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xEl>
                                              <p:pRg st="3" end="3"/>
                                            </p:txEl>
                                          </p:spTgt>
                                        </p:tgtEl>
                                        <p:attrNameLst>
                                          <p:attrName>style.visibility</p:attrName>
                                        </p:attrNameLst>
                                      </p:cBhvr>
                                      <p:to>
                                        <p:strVal val="visible"/>
                                      </p:to>
                                    </p:set>
                                    <p:animEffect transition="in" filter="fade">
                                      <p:cBhvr>
                                        <p:cTn id="27" dur="500"/>
                                        <p:tgtEl>
                                          <p:spTgt spid="2">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
                                            <p:txEl>
                                              <p:pRg st="4" end="4"/>
                                            </p:txEl>
                                          </p:spTgt>
                                        </p:tgtEl>
                                        <p:attrNameLst>
                                          <p:attrName>style.visibility</p:attrName>
                                        </p:attrNameLst>
                                      </p:cBhvr>
                                      <p:to>
                                        <p:strVal val="visible"/>
                                      </p:to>
                                    </p:set>
                                    <p:animEffect transition="in" filter="fade">
                                      <p:cBhvr>
                                        <p:cTn id="32" dur="500"/>
                                        <p:tgtEl>
                                          <p:spTgt spid="2">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Effect transition="in" filter="fade">
                                      <p:cBhvr>
                                        <p:cTn id="37"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1" name="Picture 3" descr="10_07">
            <a:extLst>
              <a:ext uri="{FF2B5EF4-FFF2-40B4-BE49-F238E27FC236}">
                <a16:creationId xmlns:a16="http://schemas.microsoft.com/office/drawing/2014/main" id="{1A5956AB-41C9-38B4-0C3E-B336D0ACA7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38" y="1303338"/>
            <a:ext cx="9129713" cy="536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2" name="Rectangle 4">
            <a:extLst>
              <a:ext uri="{FF2B5EF4-FFF2-40B4-BE49-F238E27FC236}">
                <a16:creationId xmlns:a16="http://schemas.microsoft.com/office/drawing/2014/main" id="{19B86261-C6BA-A404-1BFF-2E97EB6C86FD}"/>
              </a:ext>
            </a:extLst>
          </p:cNvPr>
          <p:cNvSpPr>
            <a:spLocks noChangeArrowheads="1"/>
          </p:cNvSpPr>
          <p:nvPr/>
        </p:nvSpPr>
        <p:spPr bwMode="auto">
          <a:xfrm>
            <a:off x="79375" y="79375"/>
            <a:ext cx="734536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chor="ctr"/>
          <a:lstStyle>
            <a:lvl1pPr>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SzTx/>
              <a:buFontTx/>
              <a:buNone/>
            </a:pPr>
            <a:r>
              <a:rPr lang="en-GB" altLang="en-US" sz="4000" b="1" dirty="0">
                <a:solidFill>
                  <a:srgbClr val="FFFF00"/>
                </a:solidFill>
              </a:rPr>
              <a:t>Contraction Cycle</a:t>
            </a:r>
          </a:p>
        </p:txBody>
      </p:sp>
      <p:sp>
        <p:nvSpPr>
          <p:cNvPr id="20483" name="TextBox 1">
            <a:extLst>
              <a:ext uri="{FF2B5EF4-FFF2-40B4-BE49-F238E27FC236}">
                <a16:creationId xmlns:a16="http://schemas.microsoft.com/office/drawing/2014/main" id="{E8F619A1-B014-00BF-BE29-6C87A4038B2E}"/>
              </a:ext>
            </a:extLst>
          </p:cNvPr>
          <p:cNvSpPr txBox="1">
            <a:spLocks noChangeArrowheads="1"/>
          </p:cNvSpPr>
          <p:nvPr/>
        </p:nvSpPr>
        <p:spPr bwMode="auto">
          <a:xfrm>
            <a:off x="4284663" y="5157788"/>
            <a:ext cx="15113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SzTx/>
              <a:buFontTx/>
              <a:buNone/>
            </a:pPr>
            <a:r>
              <a:rPr lang="en-US" altLang="en-US" sz="1100">
                <a:solidFill>
                  <a:schemeClr val="tx1"/>
                </a:solidFill>
              </a:rPr>
              <a:t>Note the ADP is released after the power stroke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29" name="Picture 4" descr="fast contraction">
            <a:extLst>
              <a:ext uri="{FF2B5EF4-FFF2-40B4-BE49-F238E27FC236}">
                <a16:creationId xmlns:a16="http://schemas.microsoft.com/office/drawing/2014/main" id="{9BE19A9D-0DB7-DF48-BA48-46FEB2A732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50" y="1916113"/>
            <a:ext cx="5395913" cy="2665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0" name="Text Box 5">
            <a:extLst>
              <a:ext uri="{FF2B5EF4-FFF2-40B4-BE49-F238E27FC236}">
                <a16:creationId xmlns:a16="http://schemas.microsoft.com/office/drawing/2014/main" id="{68F0A97F-3F5A-F513-8A41-C137D919282E}"/>
              </a:ext>
            </a:extLst>
          </p:cNvPr>
          <p:cNvSpPr txBox="1">
            <a:spLocks noChangeArrowheads="1"/>
          </p:cNvSpPr>
          <p:nvPr/>
        </p:nvSpPr>
        <p:spPr bwMode="auto">
          <a:xfrm>
            <a:off x="468313" y="5084763"/>
            <a:ext cx="8424862"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spcBef>
                <a:spcPct val="50000"/>
              </a:spcBef>
              <a:buSzTx/>
              <a:buFontTx/>
              <a:buNone/>
            </a:pPr>
            <a:r>
              <a:rPr lang="en-GB" altLang="en-US" sz="2800">
                <a:solidFill>
                  <a:schemeClr val="tx1"/>
                </a:solidFill>
              </a:rPr>
              <a:t>The contractile response is initiated after the muscle action potential and lasts much longer than the action potential.</a:t>
            </a:r>
          </a:p>
        </p:txBody>
      </p:sp>
      <p:sp>
        <p:nvSpPr>
          <p:cNvPr id="22531" name="Rectangle 6">
            <a:extLst>
              <a:ext uri="{FF2B5EF4-FFF2-40B4-BE49-F238E27FC236}">
                <a16:creationId xmlns:a16="http://schemas.microsoft.com/office/drawing/2014/main" id="{AD71AB3E-FF7D-7E83-0C89-66B8A6CE3DE2}"/>
              </a:ext>
            </a:extLst>
          </p:cNvPr>
          <p:cNvSpPr>
            <a:spLocks noChangeArrowheads="1"/>
          </p:cNvSpPr>
          <p:nvPr/>
        </p:nvSpPr>
        <p:spPr bwMode="auto">
          <a:xfrm>
            <a:off x="79375" y="79375"/>
            <a:ext cx="734536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chor="ctr"/>
          <a:lstStyle>
            <a:lvl1pPr>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SzTx/>
              <a:buFontTx/>
              <a:buNone/>
            </a:pPr>
            <a:r>
              <a:rPr lang="en-GB" altLang="en-US" sz="4000" b="1">
                <a:solidFill>
                  <a:srgbClr val="FFFF00"/>
                </a:solidFill>
              </a:rPr>
              <a:t>Contractile Response</a:t>
            </a:r>
          </a:p>
        </p:txBody>
      </p:sp>
      <p:pic>
        <p:nvPicPr>
          <p:cNvPr id="22532" name="Picture 3" descr="10_14">
            <a:extLst>
              <a:ext uri="{FF2B5EF4-FFF2-40B4-BE49-F238E27FC236}">
                <a16:creationId xmlns:a16="http://schemas.microsoft.com/office/drawing/2014/main" id="{2EA5F6BC-25EE-1105-E0B0-B4E89D4C72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11863" y="2420938"/>
            <a:ext cx="2787650" cy="197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ADE0A953-4E96-944E-A61C-5C596D46F6A1}"/>
              </a:ext>
            </a:extLst>
          </p:cNvPr>
          <p:cNvSpPr txBox="1"/>
          <p:nvPr/>
        </p:nvSpPr>
        <p:spPr>
          <a:xfrm>
            <a:off x="1616075" y="4594225"/>
            <a:ext cx="2135188" cy="400050"/>
          </a:xfrm>
          <a:prstGeom prst="rect">
            <a:avLst/>
          </a:prstGeom>
          <a:noFill/>
        </p:spPr>
        <p:txBody>
          <a:bodyPr wrap="none">
            <a:spAutoFit/>
          </a:bodyPr>
          <a:lstStyle/>
          <a:p>
            <a:pPr>
              <a:defRPr/>
            </a:pPr>
            <a:r>
              <a:rPr lang="en-US" sz="2000" b="1">
                <a:solidFill>
                  <a:srgbClr val="C00000"/>
                </a:solidFill>
                <a:latin typeface="+mn-lt"/>
                <a:ea typeface="MS PGothic" charset="-128"/>
              </a:rPr>
              <a:t>Action Potential</a:t>
            </a:r>
            <a:endParaRPr lang="en-US" sz="2000" b="1" dirty="0">
              <a:solidFill>
                <a:srgbClr val="C00000"/>
              </a:solidFill>
              <a:latin typeface="+mn-lt"/>
              <a:ea typeface="MS PGothic" charset="-128"/>
            </a:endParaRPr>
          </a:p>
        </p:txBody>
      </p:sp>
      <p:cxnSp>
        <p:nvCxnSpPr>
          <p:cNvPr id="4" name="Straight Arrow Connector 3">
            <a:extLst>
              <a:ext uri="{FF2B5EF4-FFF2-40B4-BE49-F238E27FC236}">
                <a16:creationId xmlns:a16="http://schemas.microsoft.com/office/drawing/2014/main" id="{DC74B955-5D16-C7F7-9CB7-0A67C12DEC7E}"/>
              </a:ext>
            </a:extLst>
          </p:cNvPr>
          <p:cNvCxnSpPr>
            <a:cxnSpLocks noChangeShapeType="1"/>
          </p:cNvCxnSpPr>
          <p:nvPr/>
        </p:nvCxnSpPr>
        <p:spPr bwMode="auto">
          <a:xfrm flipH="1" flipV="1">
            <a:off x="1476375" y="3573463"/>
            <a:ext cx="647700" cy="1008062"/>
          </a:xfrm>
          <a:prstGeom prst="straightConnector1">
            <a:avLst/>
          </a:prstGeom>
          <a:noFill/>
          <a:ln w="38100">
            <a:solidFill>
              <a:srgbClr val="C00000"/>
            </a:solidFill>
            <a:round/>
            <a:headEnd/>
            <a:tailEnd type="triangle" w="lg" len="lg"/>
          </a:ln>
          <a:extLst>
            <a:ext uri="{909E8E84-426E-40DD-AFC4-6F175D3DCCD1}">
              <a14:hiddenFill xmlns:a14="http://schemas.microsoft.com/office/drawing/2010/main">
                <a:noFill/>
              </a14:hiddenFill>
            </a:ext>
          </a:extLst>
        </p:spPr>
      </p:cxnSp>
      <p:sp>
        <p:nvSpPr>
          <p:cNvPr id="10" name="TextBox 9">
            <a:extLst>
              <a:ext uri="{FF2B5EF4-FFF2-40B4-BE49-F238E27FC236}">
                <a16:creationId xmlns:a16="http://schemas.microsoft.com/office/drawing/2014/main" id="{E0743EA4-81FD-3F49-9178-1FDC3B466733}"/>
              </a:ext>
            </a:extLst>
          </p:cNvPr>
          <p:cNvSpPr txBox="1"/>
          <p:nvPr/>
        </p:nvSpPr>
        <p:spPr>
          <a:xfrm>
            <a:off x="3059113" y="1268413"/>
            <a:ext cx="2563812" cy="400050"/>
          </a:xfrm>
          <a:prstGeom prst="rect">
            <a:avLst/>
          </a:prstGeom>
          <a:noFill/>
          <a:ln>
            <a:noFill/>
          </a:ln>
        </p:spPr>
        <p:txBody>
          <a:bodyPr wrap="none">
            <a:spAutoFit/>
          </a:bodyPr>
          <a:lstStyle/>
          <a:p>
            <a:pPr>
              <a:defRPr/>
            </a:pPr>
            <a:r>
              <a:rPr lang="en-US" sz="2000" b="1">
                <a:solidFill>
                  <a:srgbClr val="0000CC"/>
                </a:solidFill>
                <a:latin typeface="+mn-lt"/>
                <a:ea typeface="MS PGothic" charset="-128"/>
              </a:rPr>
              <a:t>Muscle Contraction</a:t>
            </a:r>
            <a:endParaRPr lang="en-US" sz="2000" b="1" dirty="0">
              <a:solidFill>
                <a:srgbClr val="0000CC"/>
              </a:solidFill>
              <a:latin typeface="+mn-lt"/>
              <a:ea typeface="MS PGothic" charset="-128"/>
            </a:endParaRPr>
          </a:p>
        </p:txBody>
      </p:sp>
      <p:cxnSp>
        <p:nvCxnSpPr>
          <p:cNvPr id="11" name="Straight Arrow Connector 10">
            <a:extLst>
              <a:ext uri="{FF2B5EF4-FFF2-40B4-BE49-F238E27FC236}">
                <a16:creationId xmlns:a16="http://schemas.microsoft.com/office/drawing/2014/main" id="{10E09ADD-0ECE-6F73-99B3-9AF714244FE1}"/>
              </a:ext>
            </a:extLst>
          </p:cNvPr>
          <p:cNvCxnSpPr>
            <a:cxnSpLocks noChangeShapeType="1"/>
            <a:stCxn id="10" idx="2"/>
          </p:cNvCxnSpPr>
          <p:nvPr/>
        </p:nvCxnSpPr>
        <p:spPr bwMode="auto">
          <a:xfrm flipH="1">
            <a:off x="2771775" y="1668463"/>
            <a:ext cx="1570038" cy="428625"/>
          </a:xfrm>
          <a:prstGeom prst="straightConnector1">
            <a:avLst/>
          </a:prstGeom>
          <a:noFill/>
          <a:ln w="38100">
            <a:solidFill>
              <a:srgbClr val="0000CC"/>
            </a:solidFill>
            <a:round/>
            <a:headEnd/>
            <a:tailEnd type="triangle" w="lg" len="lg"/>
          </a:ln>
          <a:extLst>
            <a:ext uri="{909E8E84-426E-40DD-AFC4-6F175D3DCCD1}">
              <a14:hiddenFill xmlns:a14="http://schemas.microsoft.com/office/drawing/2010/main">
                <a:noFill/>
              </a14:hiddenFill>
            </a:ext>
          </a:extLst>
        </p:spPr>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7" name="Picture 3" descr="10_15">
            <a:extLst>
              <a:ext uri="{FF2B5EF4-FFF2-40B4-BE49-F238E27FC236}">
                <a16:creationId xmlns:a16="http://schemas.microsoft.com/office/drawing/2014/main" id="{B2B822F5-C188-0898-99A1-8BD18EE68D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38" y="981075"/>
            <a:ext cx="9129712" cy="451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78" name="Rectangle 5">
            <a:extLst>
              <a:ext uri="{FF2B5EF4-FFF2-40B4-BE49-F238E27FC236}">
                <a16:creationId xmlns:a16="http://schemas.microsoft.com/office/drawing/2014/main" id="{865DB4A8-F5D7-FB52-7FE3-2CE9053B3B18}"/>
              </a:ext>
            </a:extLst>
          </p:cNvPr>
          <p:cNvSpPr>
            <a:spLocks noChangeArrowheads="1"/>
          </p:cNvSpPr>
          <p:nvPr/>
        </p:nvSpPr>
        <p:spPr bwMode="auto">
          <a:xfrm>
            <a:off x="79375" y="79375"/>
            <a:ext cx="734536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chor="ctr"/>
          <a:lstStyle>
            <a:lvl1pPr>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SzTx/>
              <a:buFontTx/>
              <a:buNone/>
            </a:pPr>
            <a:r>
              <a:rPr lang="en-GB" altLang="en-US" sz="4000" b="1">
                <a:solidFill>
                  <a:srgbClr val="FFFF00"/>
                </a:solidFill>
              </a:rPr>
              <a:t>Stimulation Frequency</a:t>
            </a:r>
          </a:p>
        </p:txBody>
      </p:sp>
      <p:sp>
        <p:nvSpPr>
          <p:cNvPr id="24579" name="Text Box 6">
            <a:extLst>
              <a:ext uri="{FF2B5EF4-FFF2-40B4-BE49-F238E27FC236}">
                <a16:creationId xmlns:a16="http://schemas.microsoft.com/office/drawing/2014/main" id="{20A4C357-1FA0-781D-4054-BD1777C513E2}"/>
              </a:ext>
            </a:extLst>
          </p:cNvPr>
          <p:cNvSpPr txBox="1">
            <a:spLocks noChangeArrowheads="1"/>
          </p:cNvSpPr>
          <p:nvPr/>
        </p:nvSpPr>
        <p:spPr bwMode="auto">
          <a:xfrm>
            <a:off x="611188" y="5516563"/>
            <a:ext cx="8424862" cy="1385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spcBef>
                <a:spcPct val="50000"/>
              </a:spcBef>
              <a:buSzTx/>
              <a:buFontTx/>
              <a:buNone/>
            </a:pPr>
            <a:r>
              <a:rPr lang="en-GB" altLang="en-US" sz="2800">
                <a:solidFill>
                  <a:schemeClr val="tx1"/>
                </a:solidFill>
              </a:rPr>
              <a:t>The contractile response is initiated after the muscle action potential. Different frequencies of stimulation affects contractile force.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5" name="Picture 3" descr="0707">
            <a:extLst>
              <a:ext uri="{FF2B5EF4-FFF2-40B4-BE49-F238E27FC236}">
                <a16:creationId xmlns:a16="http://schemas.microsoft.com/office/drawing/2014/main" id="{29F1E843-DD84-2A3F-774F-4577356D34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60" y="2276475"/>
            <a:ext cx="6840538" cy="442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6" name="Rectangle 4">
            <a:extLst>
              <a:ext uri="{FF2B5EF4-FFF2-40B4-BE49-F238E27FC236}">
                <a16:creationId xmlns:a16="http://schemas.microsoft.com/office/drawing/2014/main" id="{FDB65442-28DB-310D-07AA-801228D28F18}"/>
              </a:ext>
            </a:extLst>
          </p:cNvPr>
          <p:cNvSpPr>
            <a:spLocks noChangeArrowheads="1"/>
          </p:cNvSpPr>
          <p:nvPr/>
        </p:nvSpPr>
        <p:spPr bwMode="auto">
          <a:xfrm>
            <a:off x="79375" y="79375"/>
            <a:ext cx="734536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chor="ctr"/>
          <a:lstStyle>
            <a:lvl1pPr>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SzTx/>
              <a:buFontTx/>
              <a:buNone/>
            </a:pPr>
            <a:r>
              <a:rPr lang="en-GB" altLang="en-US" sz="4000" b="1" dirty="0">
                <a:solidFill>
                  <a:srgbClr val="FFFF00"/>
                </a:solidFill>
              </a:rPr>
              <a:t>Muscle Tone</a:t>
            </a:r>
          </a:p>
        </p:txBody>
      </p:sp>
      <p:pic>
        <p:nvPicPr>
          <p:cNvPr id="26627" name="Picture 5">
            <a:extLst>
              <a:ext uri="{FF2B5EF4-FFF2-40B4-BE49-F238E27FC236}">
                <a16:creationId xmlns:a16="http://schemas.microsoft.com/office/drawing/2014/main" id="{8D468051-723A-1B34-458B-5B5A5D4E93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4008" y="838101"/>
            <a:ext cx="1836737"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8" name="Rectangle 1">
            <a:extLst>
              <a:ext uri="{FF2B5EF4-FFF2-40B4-BE49-F238E27FC236}">
                <a16:creationId xmlns:a16="http://schemas.microsoft.com/office/drawing/2014/main" id="{14130F5D-B454-F43D-128D-C18BB0B52236}"/>
              </a:ext>
            </a:extLst>
          </p:cNvPr>
          <p:cNvSpPr>
            <a:spLocks noChangeArrowheads="1"/>
          </p:cNvSpPr>
          <p:nvPr/>
        </p:nvSpPr>
        <p:spPr bwMode="auto">
          <a:xfrm>
            <a:off x="6804248" y="4421212"/>
            <a:ext cx="1979612"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SzTx/>
              <a:buFontTx/>
              <a:buNone/>
            </a:pPr>
            <a:r>
              <a:rPr lang="en-US" altLang="en-US" sz="1600" dirty="0">
                <a:solidFill>
                  <a:schemeClr val="tx1"/>
                </a:solidFill>
              </a:rPr>
              <a:t>At a very long sarcomere length (3.65 </a:t>
            </a:r>
            <a:r>
              <a:rPr lang="en-US" altLang="en-US" sz="1600" dirty="0" err="1">
                <a:solidFill>
                  <a:schemeClr val="tx1"/>
                </a:solidFill>
              </a:rPr>
              <a:t>μm</a:t>
            </a:r>
            <a:r>
              <a:rPr lang="en-US" altLang="en-US" sz="1600" dirty="0">
                <a:solidFill>
                  <a:schemeClr val="tx1"/>
                </a:solidFill>
              </a:rPr>
              <a:t>), actin filaments no longer overlap with myosin filaments, so there is no contraction. </a:t>
            </a:r>
          </a:p>
        </p:txBody>
      </p:sp>
      <p:sp>
        <p:nvSpPr>
          <p:cNvPr id="26629" name="Rectangle 3">
            <a:extLst>
              <a:ext uri="{FF2B5EF4-FFF2-40B4-BE49-F238E27FC236}">
                <a16:creationId xmlns:a16="http://schemas.microsoft.com/office/drawing/2014/main" id="{B9D71CEA-419A-C44D-A64D-4FFA9FC70254}"/>
              </a:ext>
            </a:extLst>
          </p:cNvPr>
          <p:cNvSpPr>
            <a:spLocks noChangeArrowheads="1"/>
          </p:cNvSpPr>
          <p:nvPr/>
        </p:nvSpPr>
        <p:spPr bwMode="auto">
          <a:xfrm>
            <a:off x="4201691" y="1618772"/>
            <a:ext cx="3916288"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SzTx/>
              <a:buFontTx/>
              <a:buNone/>
            </a:pPr>
            <a:r>
              <a:rPr lang="en-US" altLang="en-US" sz="1600" dirty="0">
                <a:solidFill>
                  <a:schemeClr val="tx1"/>
                </a:solidFill>
              </a:rPr>
              <a:t>As muscle length is decreased toward an optimum length (L</a:t>
            </a:r>
            <a:r>
              <a:rPr lang="en-US" altLang="en-US" sz="1600" baseline="-25000" dirty="0">
                <a:solidFill>
                  <a:schemeClr val="tx1"/>
                </a:solidFill>
              </a:rPr>
              <a:t>0</a:t>
            </a:r>
            <a:r>
              <a:rPr lang="en-US" altLang="en-US" sz="1600" dirty="0">
                <a:solidFill>
                  <a:schemeClr val="tx1"/>
                </a:solidFill>
              </a:rPr>
              <a:t>), the amount of overlap increases, and contractile force progressively increases</a:t>
            </a:r>
          </a:p>
        </p:txBody>
      </p:sp>
      <p:sp>
        <p:nvSpPr>
          <p:cNvPr id="26630" name="Rectangle 4">
            <a:extLst>
              <a:ext uri="{FF2B5EF4-FFF2-40B4-BE49-F238E27FC236}">
                <a16:creationId xmlns:a16="http://schemas.microsoft.com/office/drawing/2014/main" id="{B6A4CE78-F021-9650-D421-28F160AB74CF}"/>
              </a:ext>
            </a:extLst>
          </p:cNvPr>
          <p:cNvSpPr>
            <a:spLocks noChangeArrowheads="1"/>
          </p:cNvSpPr>
          <p:nvPr/>
        </p:nvSpPr>
        <p:spPr bwMode="auto">
          <a:xfrm>
            <a:off x="206797" y="908720"/>
            <a:ext cx="3717131"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SzTx/>
              <a:buFontTx/>
              <a:buNone/>
            </a:pPr>
            <a:r>
              <a:rPr lang="en-US" altLang="en-US" sz="1600" dirty="0">
                <a:solidFill>
                  <a:schemeClr val="tx1"/>
                </a:solidFill>
              </a:rPr>
              <a:t>As sarcomere length decreases below 2 </a:t>
            </a:r>
            <a:r>
              <a:rPr lang="en-US" altLang="en-US" sz="1600" dirty="0" err="1">
                <a:solidFill>
                  <a:schemeClr val="tx1"/>
                </a:solidFill>
              </a:rPr>
              <a:t>μm</a:t>
            </a:r>
            <a:r>
              <a:rPr lang="en-US" altLang="en-US" sz="1600" dirty="0">
                <a:solidFill>
                  <a:schemeClr val="tx1"/>
                </a:solidFill>
              </a:rPr>
              <a:t>, the thin filaments collide in the middle of the sarcomere, and the actin-myosin interaction is disturbed and hence contractile force decreases.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a:extLst>
              <a:ext uri="{FF2B5EF4-FFF2-40B4-BE49-F238E27FC236}">
                <a16:creationId xmlns:a16="http://schemas.microsoft.com/office/drawing/2014/main" id="{0ABEFF9C-53C4-214B-7400-10E5E9E6B142}"/>
              </a:ext>
            </a:extLst>
          </p:cNvPr>
          <p:cNvSpPr>
            <a:spLocks noGrp="1" noChangeArrowheads="1"/>
          </p:cNvSpPr>
          <p:nvPr>
            <p:ph type="title"/>
          </p:nvPr>
        </p:nvSpPr>
        <p:spPr>
          <a:xfrm>
            <a:off x="34925" y="125413"/>
            <a:ext cx="7199313" cy="1143000"/>
          </a:xfrm>
        </p:spPr>
        <p:txBody>
          <a:bodyPr/>
          <a:lstStyle/>
          <a:p>
            <a:pPr algn="l"/>
            <a:r>
              <a:rPr lang="en-US" altLang="en-US" sz="3600" b="1" dirty="0"/>
              <a:t>Length-Tension Relationship</a:t>
            </a:r>
            <a:br>
              <a:rPr lang="en-US" altLang="en-US" sz="3600" b="1" dirty="0"/>
            </a:br>
            <a:endParaRPr lang="en-US" altLang="en-US" sz="3600" b="1" dirty="0"/>
          </a:p>
        </p:txBody>
      </p:sp>
      <p:sp>
        <p:nvSpPr>
          <p:cNvPr id="28674" name="Rectangle 2">
            <a:extLst>
              <a:ext uri="{FF2B5EF4-FFF2-40B4-BE49-F238E27FC236}">
                <a16:creationId xmlns:a16="http://schemas.microsoft.com/office/drawing/2014/main" id="{5C872A74-4FE7-794B-905F-4879271C205E}"/>
              </a:ext>
            </a:extLst>
          </p:cNvPr>
          <p:cNvSpPr>
            <a:spLocks noChangeArrowheads="1"/>
          </p:cNvSpPr>
          <p:nvPr/>
        </p:nvSpPr>
        <p:spPr bwMode="auto">
          <a:xfrm>
            <a:off x="647700" y="908050"/>
            <a:ext cx="7848600" cy="424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20000"/>
              </a:spcBef>
              <a:buSzPct val="100000"/>
              <a:buChar char="•"/>
              <a:defRPr sz="3200">
                <a:solidFill>
                  <a:srgbClr val="FFFFFF"/>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marL="0" indent="0">
              <a:spcBef>
                <a:spcPct val="0"/>
              </a:spcBef>
              <a:buSzTx/>
              <a:buFontTx/>
              <a:buNone/>
              <a:defRPr/>
            </a:pPr>
            <a:r>
              <a:rPr lang="en-US" altLang="en-US" sz="2400" dirty="0">
                <a:solidFill>
                  <a:schemeClr val="tx1"/>
                </a:solidFill>
              </a:rPr>
              <a:t>When muscles contract, they generate force (often measured as tension or stress) and changes in length i.e. </a:t>
            </a:r>
            <a:r>
              <a:rPr lang="en-US" altLang="en-US" sz="2400" b="1" dirty="0">
                <a:solidFill>
                  <a:schemeClr val="tx1"/>
                </a:solidFill>
              </a:rPr>
              <a:t>isotonic</a:t>
            </a:r>
            <a:r>
              <a:rPr lang="en-US" altLang="en-US" sz="2400" dirty="0">
                <a:solidFill>
                  <a:schemeClr val="tx1"/>
                </a:solidFill>
              </a:rPr>
              <a:t> contractions.</a:t>
            </a:r>
          </a:p>
          <a:p>
            <a:pPr>
              <a:spcBef>
                <a:spcPct val="0"/>
              </a:spcBef>
              <a:buSzTx/>
              <a:defRPr/>
            </a:pPr>
            <a:r>
              <a:rPr lang="en-US" altLang="en-US" sz="2200" b="1" dirty="0">
                <a:solidFill>
                  <a:schemeClr val="tx1"/>
                </a:solidFill>
              </a:rPr>
              <a:t>Concentric</a:t>
            </a:r>
            <a:r>
              <a:rPr lang="en-US" altLang="en-US" sz="2200" dirty="0">
                <a:solidFill>
                  <a:schemeClr val="tx1"/>
                </a:solidFill>
              </a:rPr>
              <a:t> contraction: is a type of muscle activation that increases the tension on a muscle as it shortens.  i.e. a biceps curl with a dumbbell. </a:t>
            </a:r>
          </a:p>
          <a:p>
            <a:pPr>
              <a:spcBef>
                <a:spcPct val="0"/>
              </a:spcBef>
              <a:buSzTx/>
              <a:defRPr/>
            </a:pPr>
            <a:r>
              <a:rPr lang="en-US" altLang="en-US" sz="2200" b="1" dirty="0">
                <a:solidFill>
                  <a:schemeClr val="tx1"/>
                </a:solidFill>
              </a:rPr>
              <a:t>Eccentric</a:t>
            </a:r>
            <a:r>
              <a:rPr lang="en-US" altLang="en-US" sz="2200" dirty="0">
                <a:solidFill>
                  <a:schemeClr val="tx1"/>
                </a:solidFill>
              </a:rPr>
              <a:t> contraction: during eccentric muscle contractions, the muscle fibers are stretched out. The muscle returns to the starting position of the </a:t>
            </a:r>
          </a:p>
          <a:p>
            <a:pPr marL="0" indent="0">
              <a:spcBef>
                <a:spcPct val="0"/>
              </a:spcBef>
              <a:buSzTx/>
              <a:buFontTx/>
              <a:buNone/>
              <a:defRPr/>
            </a:pPr>
            <a:r>
              <a:rPr lang="en-US" altLang="en-US" sz="2200" b="1" dirty="0">
                <a:solidFill>
                  <a:schemeClr val="tx1"/>
                </a:solidFill>
              </a:rPr>
              <a:t>Isometric</a:t>
            </a:r>
            <a:r>
              <a:rPr lang="en-US" altLang="en-US" sz="2200" dirty="0">
                <a:solidFill>
                  <a:schemeClr val="tx1"/>
                </a:solidFill>
              </a:rPr>
              <a:t> Contraction: isometric contractions do not cause any joint movement. There is no lengthening or contraction of muscles. </a:t>
            </a:r>
          </a:p>
        </p:txBody>
      </p:sp>
      <p:pic>
        <p:nvPicPr>
          <p:cNvPr id="28675" name="Picture 3" descr="10_16">
            <a:extLst>
              <a:ext uri="{FF2B5EF4-FFF2-40B4-BE49-F238E27FC236}">
                <a16:creationId xmlns:a16="http://schemas.microsoft.com/office/drawing/2014/main" id="{B4FB7499-79E0-A5FA-29DD-3BC0C0E446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8513" y="5038725"/>
            <a:ext cx="4205287" cy="183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6" name="Text Box 6">
            <a:extLst>
              <a:ext uri="{FF2B5EF4-FFF2-40B4-BE49-F238E27FC236}">
                <a16:creationId xmlns:a16="http://schemas.microsoft.com/office/drawing/2014/main" id="{4B91D61C-F99D-D84A-9F88-67C2E85FA8AC}"/>
              </a:ext>
            </a:extLst>
          </p:cNvPr>
          <p:cNvSpPr txBox="1">
            <a:spLocks noChangeArrowheads="1"/>
          </p:cNvSpPr>
          <p:nvPr/>
        </p:nvSpPr>
        <p:spPr bwMode="auto">
          <a:xfrm>
            <a:off x="4608513" y="6330950"/>
            <a:ext cx="4211637" cy="5540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spcBef>
                <a:spcPct val="50000"/>
              </a:spcBef>
              <a:buSzTx/>
              <a:buFontTx/>
              <a:buNone/>
            </a:pPr>
            <a:r>
              <a:rPr lang="en-GB" altLang="en-US" sz="1200" b="1" dirty="0">
                <a:solidFill>
                  <a:srgbClr val="000099"/>
                </a:solidFill>
              </a:rPr>
              <a:t>     Isotonic                     </a:t>
            </a:r>
            <a:r>
              <a:rPr lang="en-GB" altLang="en-US" sz="1200" b="1" dirty="0" err="1">
                <a:solidFill>
                  <a:srgbClr val="000099"/>
                </a:solidFill>
              </a:rPr>
              <a:t>Isotonic</a:t>
            </a:r>
            <a:r>
              <a:rPr lang="en-GB" altLang="en-US" sz="1200" b="1" dirty="0">
                <a:solidFill>
                  <a:srgbClr val="000099"/>
                </a:solidFill>
              </a:rPr>
              <a:t> 	        Isometric</a:t>
            </a:r>
          </a:p>
          <a:p>
            <a:pPr>
              <a:spcBef>
                <a:spcPct val="50000"/>
              </a:spcBef>
              <a:buSzTx/>
              <a:buFontTx/>
              <a:buNone/>
            </a:pPr>
            <a:r>
              <a:rPr lang="en-GB" altLang="en-US" sz="1200" b="1" dirty="0">
                <a:solidFill>
                  <a:srgbClr val="000099"/>
                </a:solidFill>
              </a:rPr>
              <a:t>   Concentric                 Eccentric</a:t>
            </a:r>
          </a:p>
        </p:txBody>
      </p:sp>
      <p:sp>
        <p:nvSpPr>
          <p:cNvPr id="28677" name="Rectangle 6">
            <a:extLst>
              <a:ext uri="{FF2B5EF4-FFF2-40B4-BE49-F238E27FC236}">
                <a16:creationId xmlns:a16="http://schemas.microsoft.com/office/drawing/2014/main" id="{DFAFA4A9-45FB-066E-A823-46E939D8916D}"/>
              </a:ext>
            </a:extLst>
          </p:cNvPr>
          <p:cNvSpPr>
            <a:spLocks noChangeArrowheads="1"/>
          </p:cNvSpPr>
          <p:nvPr/>
        </p:nvSpPr>
        <p:spPr bwMode="auto">
          <a:xfrm>
            <a:off x="647700" y="5013325"/>
            <a:ext cx="4068763" cy="178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FFFFFF"/>
                </a:solidFill>
                <a:latin typeface="Times New Roman" panose="02020603050405020304" pitchFamily="18" charset="0"/>
                <a:ea typeface="MS PGothic" panose="020B0600070205080204" pitchFamily="34" charset="-128"/>
              </a:defRPr>
            </a:lvl1pPr>
            <a:lvl2pPr marL="742950" indent="-285750">
              <a:defRPr sz="2400">
                <a:solidFill>
                  <a:srgbClr val="FFFFFF"/>
                </a:solidFill>
                <a:latin typeface="Times New Roman" panose="02020603050405020304" pitchFamily="18" charset="0"/>
                <a:ea typeface="MS PGothic" panose="020B0600070205080204" pitchFamily="34" charset="-128"/>
              </a:defRPr>
            </a:lvl2pPr>
            <a:lvl3pPr marL="1143000" indent="-228600">
              <a:defRPr sz="2400">
                <a:solidFill>
                  <a:srgbClr val="FFFFFF"/>
                </a:solidFill>
                <a:latin typeface="Times New Roman" panose="02020603050405020304" pitchFamily="18" charset="0"/>
                <a:ea typeface="MS PGothic" panose="020B0600070205080204" pitchFamily="34" charset="-128"/>
              </a:defRPr>
            </a:lvl3pPr>
            <a:lvl4pPr marL="1600200" indent="-228600">
              <a:defRPr sz="2400">
                <a:solidFill>
                  <a:srgbClr val="FFFFFF"/>
                </a:solidFill>
                <a:latin typeface="Times New Roman" panose="02020603050405020304" pitchFamily="18" charset="0"/>
                <a:ea typeface="MS PGothic" panose="020B0600070205080204" pitchFamily="34" charset="-128"/>
              </a:defRPr>
            </a:lvl4pPr>
            <a:lvl5pPr marL="2057400" indent="-228600">
              <a:defRPr sz="24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rgbClr val="FFFFFF"/>
                </a:solidFill>
                <a:latin typeface="Times New Roman" panose="02020603050405020304" pitchFamily="18" charset="0"/>
                <a:ea typeface="MS PGothic" panose="020B0600070205080204" pitchFamily="34" charset="-128"/>
              </a:defRPr>
            </a:lvl9pPr>
          </a:lstStyle>
          <a:p>
            <a:r>
              <a:rPr lang="en-US" altLang="en-US" sz="2200" dirty="0">
                <a:solidFill>
                  <a:schemeClr val="tx1"/>
                </a:solidFill>
                <a:latin typeface="Arial" panose="020B0604020202020204" pitchFamily="34" charset="0"/>
              </a:rPr>
              <a:t>For this reason, isometric exercises, as the tension applied to the muscle remains consistent, are used in rehab programs.</a:t>
            </a:r>
            <a:endParaRPr lang="en-US" altLang="en-US" sz="2200" dirty="0">
              <a:solidFill>
                <a:schemeClr val="tx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1" name="Picture 6" descr="0708 (revised)">
            <a:extLst>
              <a:ext uri="{FF2B5EF4-FFF2-40B4-BE49-F238E27FC236}">
                <a16:creationId xmlns:a16="http://schemas.microsoft.com/office/drawing/2014/main" id="{91C07A95-DA19-80F4-BC30-BAD1FF8F1C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981075"/>
            <a:ext cx="6035675" cy="297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2" name="Rectangle 7">
            <a:extLst>
              <a:ext uri="{FF2B5EF4-FFF2-40B4-BE49-F238E27FC236}">
                <a16:creationId xmlns:a16="http://schemas.microsoft.com/office/drawing/2014/main" id="{9EB9040A-64F9-FB48-4C42-D30A5F113496}"/>
              </a:ext>
            </a:extLst>
          </p:cNvPr>
          <p:cNvSpPr>
            <a:spLocks noChangeArrowheads="1"/>
          </p:cNvSpPr>
          <p:nvPr/>
        </p:nvSpPr>
        <p:spPr bwMode="auto">
          <a:xfrm>
            <a:off x="79375" y="79375"/>
            <a:ext cx="734536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chor="ctr"/>
          <a:lstStyle>
            <a:lvl1pPr>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SzTx/>
              <a:buFontTx/>
              <a:buNone/>
            </a:pPr>
            <a:r>
              <a:rPr lang="en-GB" altLang="en-US" sz="4000" b="1" dirty="0">
                <a:solidFill>
                  <a:srgbClr val="FFFF00"/>
                </a:solidFill>
              </a:rPr>
              <a:t>Fast &amp; Slow Muscles</a:t>
            </a:r>
          </a:p>
        </p:txBody>
      </p:sp>
      <p:sp>
        <p:nvSpPr>
          <p:cNvPr id="30723" name="Text Box 9">
            <a:extLst>
              <a:ext uri="{FF2B5EF4-FFF2-40B4-BE49-F238E27FC236}">
                <a16:creationId xmlns:a16="http://schemas.microsoft.com/office/drawing/2014/main" id="{FBF91827-5897-9AE3-9AA0-4FA8FF1D3D8A}"/>
              </a:ext>
            </a:extLst>
          </p:cNvPr>
          <p:cNvSpPr txBox="1">
            <a:spLocks noChangeArrowheads="1"/>
          </p:cNvSpPr>
          <p:nvPr/>
        </p:nvSpPr>
        <p:spPr bwMode="auto">
          <a:xfrm>
            <a:off x="6153150" y="3252788"/>
            <a:ext cx="295592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SzTx/>
              <a:buFontTx/>
              <a:buNone/>
            </a:pPr>
            <a:r>
              <a:rPr lang="en-GB" altLang="en-US" sz="1200">
                <a:solidFill>
                  <a:srgbClr val="0000CC"/>
                </a:solidFill>
              </a:rPr>
              <a:t>Type 1 Slow Oxidative (darkest)</a:t>
            </a:r>
          </a:p>
          <a:p>
            <a:pPr>
              <a:spcBef>
                <a:spcPct val="0"/>
              </a:spcBef>
              <a:buSzTx/>
              <a:buFontTx/>
              <a:buNone/>
            </a:pPr>
            <a:r>
              <a:rPr lang="en-GB" altLang="en-US" sz="1200">
                <a:solidFill>
                  <a:srgbClr val="0000CC"/>
                </a:solidFill>
              </a:rPr>
              <a:t>Type 2A Fast Oxidative (Intermediate)	</a:t>
            </a:r>
          </a:p>
          <a:p>
            <a:pPr>
              <a:spcBef>
                <a:spcPct val="0"/>
              </a:spcBef>
              <a:buSzTx/>
              <a:buFontTx/>
              <a:buNone/>
            </a:pPr>
            <a:r>
              <a:rPr lang="en-GB" altLang="en-US" sz="1200">
                <a:solidFill>
                  <a:srgbClr val="0000CC"/>
                </a:solidFill>
              </a:rPr>
              <a:t>Type 2B Fast Glycolytic (lightest)</a:t>
            </a:r>
          </a:p>
        </p:txBody>
      </p:sp>
      <p:pic>
        <p:nvPicPr>
          <p:cNvPr id="30724" name="Picture 1">
            <a:extLst>
              <a:ext uri="{FF2B5EF4-FFF2-40B4-BE49-F238E27FC236}">
                <a16:creationId xmlns:a16="http://schemas.microsoft.com/office/drawing/2014/main" id="{987A4EFE-AB0C-ECEE-ABE8-0AB06D6746E9}"/>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094413" y="1003300"/>
            <a:ext cx="298450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5" name="Rectangle 2">
            <a:extLst>
              <a:ext uri="{FF2B5EF4-FFF2-40B4-BE49-F238E27FC236}">
                <a16:creationId xmlns:a16="http://schemas.microsoft.com/office/drawing/2014/main" id="{3AB13D5A-FCD1-81AE-AB49-2720E96A188F}"/>
              </a:ext>
            </a:extLst>
          </p:cNvPr>
          <p:cNvSpPr>
            <a:spLocks noChangeArrowheads="1"/>
          </p:cNvSpPr>
          <p:nvPr/>
        </p:nvSpPr>
        <p:spPr bwMode="auto">
          <a:xfrm>
            <a:off x="250825" y="4005064"/>
            <a:ext cx="8424863"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SzTx/>
            </a:pPr>
            <a:r>
              <a:rPr lang="en-US" altLang="en-US" sz="1800" dirty="0">
                <a:solidFill>
                  <a:srgbClr val="000000"/>
                </a:solidFill>
              </a:rPr>
              <a:t>The histochemical assay for Succinate Dehydrogenase (SDH) is used to distinguish between </a:t>
            </a:r>
            <a:r>
              <a:rPr lang="en-US" altLang="en-US" sz="1800" dirty="0" err="1">
                <a:solidFill>
                  <a:srgbClr val="000000"/>
                </a:solidFill>
              </a:rPr>
              <a:t>fibres</a:t>
            </a:r>
            <a:r>
              <a:rPr lang="en-US" altLang="en-US" sz="1800" dirty="0">
                <a:solidFill>
                  <a:srgbClr val="000000"/>
                </a:solidFill>
              </a:rPr>
              <a:t>. </a:t>
            </a:r>
          </a:p>
          <a:p>
            <a:pPr>
              <a:spcBef>
                <a:spcPct val="0"/>
              </a:spcBef>
              <a:buSzTx/>
            </a:pPr>
            <a:r>
              <a:rPr lang="en-US" altLang="en-US" sz="1800" dirty="0">
                <a:solidFill>
                  <a:srgbClr val="000000"/>
                </a:solidFill>
              </a:rPr>
              <a:t>Muscle cells which contain more mitochondria will have a higher oxidative capacity. The SDH enzyme is located in the inner membrane of the mitochondrion, bound to the cristae. SDH is responsible for oxidizing succinate to fumarate in the citric acid cycle. The more SDH (and therefore mitochondria) a </a:t>
            </a:r>
            <a:r>
              <a:rPr lang="en-US" altLang="en-US" sz="1800" dirty="0" err="1">
                <a:solidFill>
                  <a:srgbClr val="000000"/>
                </a:solidFill>
              </a:rPr>
              <a:t>fibre</a:t>
            </a:r>
            <a:r>
              <a:rPr lang="en-US" altLang="en-US" sz="1800" dirty="0">
                <a:solidFill>
                  <a:srgbClr val="000000"/>
                </a:solidFill>
              </a:rPr>
              <a:t> contains, the greater the intensity of the stain. </a:t>
            </a:r>
          </a:p>
          <a:p>
            <a:pPr>
              <a:spcBef>
                <a:spcPct val="0"/>
              </a:spcBef>
              <a:buSzTx/>
            </a:pPr>
            <a:r>
              <a:rPr lang="en-US" altLang="en-US" sz="1800" dirty="0">
                <a:solidFill>
                  <a:srgbClr val="000000"/>
                </a:solidFill>
              </a:rPr>
              <a:t>Oxidative </a:t>
            </a:r>
            <a:r>
              <a:rPr lang="en-US" altLang="en-US" sz="1800" dirty="0" err="1">
                <a:solidFill>
                  <a:srgbClr val="000000"/>
                </a:solidFill>
              </a:rPr>
              <a:t>fibres</a:t>
            </a:r>
            <a:r>
              <a:rPr lang="en-US" altLang="en-US" sz="1800" dirty="0">
                <a:solidFill>
                  <a:srgbClr val="000000"/>
                </a:solidFill>
              </a:rPr>
              <a:t> have a dense, purple speckled appearance, while non-oxidative </a:t>
            </a:r>
            <a:r>
              <a:rPr lang="en-US" altLang="en-US" sz="1800" dirty="0" err="1">
                <a:solidFill>
                  <a:srgbClr val="000000"/>
                </a:solidFill>
              </a:rPr>
              <a:t>fibres</a:t>
            </a:r>
            <a:r>
              <a:rPr lang="en-US" altLang="en-US" sz="1800" dirty="0">
                <a:solidFill>
                  <a:srgbClr val="000000"/>
                </a:solidFill>
              </a:rPr>
              <a:t> have only scattered purple speckles. Therefore, this histochemical assay reflects the relative oxidative potential of muscle fibers.</a:t>
            </a:r>
            <a:endParaRPr lang="en-US" alt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A92E481-751E-4586-E4B0-515A155BB93C}"/>
              </a:ext>
            </a:extLst>
          </p:cNvPr>
          <p:cNvGraphicFramePr>
            <a:graphicFrameLocks noGrp="1"/>
          </p:cNvGraphicFramePr>
          <p:nvPr>
            <p:extLst>
              <p:ext uri="{D42A27DB-BD31-4B8C-83A1-F6EECF244321}">
                <p14:modId xmlns:p14="http://schemas.microsoft.com/office/powerpoint/2010/main" val="1246286254"/>
              </p:ext>
            </p:extLst>
          </p:nvPr>
        </p:nvGraphicFramePr>
        <p:xfrm>
          <a:off x="611560" y="1196752"/>
          <a:ext cx="7920879" cy="4657318"/>
        </p:xfrm>
        <a:graphic>
          <a:graphicData uri="http://schemas.openxmlformats.org/drawingml/2006/table">
            <a:tbl>
              <a:tblPr>
                <a:tableStyleId>{616DA210-FB5B-4158-B5E0-FEB733F419BA}</a:tableStyleId>
              </a:tblPr>
              <a:tblGrid>
                <a:gridCol w="2520280">
                  <a:extLst>
                    <a:ext uri="{9D8B030D-6E8A-4147-A177-3AD203B41FA5}">
                      <a16:colId xmlns:a16="http://schemas.microsoft.com/office/drawing/2014/main" val="1395777663"/>
                    </a:ext>
                  </a:extLst>
                </a:gridCol>
                <a:gridCol w="2760306">
                  <a:extLst>
                    <a:ext uri="{9D8B030D-6E8A-4147-A177-3AD203B41FA5}">
                      <a16:colId xmlns:a16="http://schemas.microsoft.com/office/drawing/2014/main" val="2567077230"/>
                    </a:ext>
                  </a:extLst>
                </a:gridCol>
                <a:gridCol w="2640293">
                  <a:extLst>
                    <a:ext uri="{9D8B030D-6E8A-4147-A177-3AD203B41FA5}">
                      <a16:colId xmlns:a16="http://schemas.microsoft.com/office/drawing/2014/main" val="3052808277"/>
                    </a:ext>
                  </a:extLst>
                </a:gridCol>
              </a:tblGrid>
              <a:tr h="432048">
                <a:tc>
                  <a:txBody>
                    <a:bodyPr/>
                    <a:lstStyle/>
                    <a:p>
                      <a:pPr algn="ctr">
                        <a:buNone/>
                      </a:pPr>
                      <a:r>
                        <a:rPr lang="en-GB" sz="2000" b="1"/>
                        <a:t>Feature</a:t>
                      </a:r>
                    </a:p>
                  </a:txBody>
                  <a:tcPr marL="67456" marR="67456" marT="33728" marB="33728" anchor="ctr">
                    <a:solidFill>
                      <a:schemeClr val="bg1">
                        <a:lumMod val="20000"/>
                        <a:lumOff val="80000"/>
                      </a:schemeClr>
                    </a:solidFill>
                  </a:tcPr>
                </a:tc>
                <a:tc>
                  <a:txBody>
                    <a:bodyPr/>
                    <a:lstStyle/>
                    <a:p>
                      <a:pPr algn="ctr">
                        <a:buNone/>
                      </a:pPr>
                      <a:r>
                        <a:rPr lang="en-GB" sz="2000" b="1" dirty="0"/>
                        <a:t>Slow-Twitch</a:t>
                      </a:r>
                    </a:p>
                  </a:txBody>
                  <a:tcPr marL="67456" marR="67456" marT="33728" marB="33728" anchor="ctr">
                    <a:solidFill>
                      <a:schemeClr val="bg1">
                        <a:lumMod val="20000"/>
                        <a:lumOff val="80000"/>
                      </a:schemeClr>
                    </a:solidFill>
                  </a:tcPr>
                </a:tc>
                <a:tc>
                  <a:txBody>
                    <a:bodyPr/>
                    <a:lstStyle/>
                    <a:p>
                      <a:pPr algn="ctr">
                        <a:buNone/>
                      </a:pPr>
                      <a:r>
                        <a:rPr lang="en-GB" sz="2000" b="1" dirty="0"/>
                        <a:t>Fast-Twitch</a:t>
                      </a:r>
                    </a:p>
                  </a:txBody>
                  <a:tcPr marL="67456" marR="67456" marT="33728" marB="33728" anchor="ctr">
                    <a:solidFill>
                      <a:schemeClr val="bg1">
                        <a:lumMod val="20000"/>
                        <a:lumOff val="80000"/>
                      </a:schemeClr>
                    </a:solidFill>
                  </a:tcPr>
                </a:tc>
                <a:extLst>
                  <a:ext uri="{0D108BD9-81ED-4DB2-BD59-A6C34878D82A}">
                    <a16:rowId xmlns:a16="http://schemas.microsoft.com/office/drawing/2014/main" val="4038634581"/>
                  </a:ext>
                </a:extLst>
              </a:tr>
              <a:tr h="431761">
                <a:tc>
                  <a:txBody>
                    <a:bodyPr/>
                    <a:lstStyle/>
                    <a:p>
                      <a:pPr>
                        <a:buNone/>
                      </a:pPr>
                      <a:r>
                        <a:rPr lang="en-GB" sz="2000" dirty="0"/>
                        <a:t>Myoglobin</a:t>
                      </a:r>
                    </a:p>
                  </a:txBody>
                  <a:tcPr marL="67456" marR="67456" marT="33728" marB="33728" anchor="ctr"/>
                </a:tc>
                <a:tc>
                  <a:txBody>
                    <a:bodyPr/>
                    <a:lstStyle/>
                    <a:p>
                      <a:pPr>
                        <a:buNone/>
                      </a:pPr>
                      <a:r>
                        <a:rPr lang="en-GB" sz="2000" dirty="0"/>
                        <a:t>High</a:t>
                      </a:r>
                    </a:p>
                  </a:txBody>
                  <a:tcPr marL="67456" marR="67456" marT="33728" marB="33728" anchor="ctr"/>
                </a:tc>
                <a:tc>
                  <a:txBody>
                    <a:bodyPr/>
                    <a:lstStyle/>
                    <a:p>
                      <a:pPr>
                        <a:buNone/>
                      </a:pPr>
                      <a:r>
                        <a:rPr lang="en-GB" sz="2000" dirty="0"/>
                        <a:t>Low</a:t>
                      </a:r>
                    </a:p>
                  </a:txBody>
                  <a:tcPr marL="67456" marR="67456" marT="33728" marB="33728" anchor="ctr"/>
                </a:tc>
                <a:extLst>
                  <a:ext uri="{0D108BD9-81ED-4DB2-BD59-A6C34878D82A}">
                    <a16:rowId xmlns:a16="http://schemas.microsoft.com/office/drawing/2014/main" val="806530975"/>
                  </a:ext>
                </a:extLst>
              </a:tr>
              <a:tr h="370491">
                <a:tc>
                  <a:txBody>
                    <a:bodyPr/>
                    <a:lstStyle/>
                    <a:p>
                      <a:pPr>
                        <a:buNone/>
                      </a:pPr>
                      <a:r>
                        <a:rPr lang="en-GB" sz="2000"/>
                        <a:t>Contraction Speed</a:t>
                      </a:r>
                    </a:p>
                  </a:txBody>
                  <a:tcPr marL="67456" marR="67456" marT="33728" marB="33728" anchor="ctr"/>
                </a:tc>
                <a:tc>
                  <a:txBody>
                    <a:bodyPr/>
                    <a:lstStyle/>
                    <a:p>
                      <a:pPr>
                        <a:buNone/>
                      </a:pPr>
                      <a:r>
                        <a:rPr lang="en-GB" sz="2000" dirty="0"/>
                        <a:t>Slow</a:t>
                      </a:r>
                    </a:p>
                  </a:txBody>
                  <a:tcPr marL="67456" marR="67456" marT="33728" marB="33728" anchor="ctr"/>
                </a:tc>
                <a:tc>
                  <a:txBody>
                    <a:bodyPr/>
                    <a:lstStyle/>
                    <a:p>
                      <a:pPr>
                        <a:buNone/>
                      </a:pPr>
                      <a:r>
                        <a:rPr lang="en-GB" sz="2000" dirty="0"/>
                        <a:t>Fast</a:t>
                      </a:r>
                    </a:p>
                  </a:txBody>
                  <a:tcPr marL="67456" marR="67456" marT="33728" marB="33728" anchor="ctr"/>
                </a:tc>
                <a:extLst>
                  <a:ext uri="{0D108BD9-81ED-4DB2-BD59-A6C34878D82A}">
                    <a16:rowId xmlns:a16="http://schemas.microsoft.com/office/drawing/2014/main" val="1098892298"/>
                  </a:ext>
                </a:extLst>
              </a:tr>
              <a:tr h="409133">
                <a:tc>
                  <a:txBody>
                    <a:bodyPr/>
                    <a:lstStyle/>
                    <a:p>
                      <a:pPr>
                        <a:buNone/>
                      </a:pPr>
                      <a:r>
                        <a:rPr lang="en-GB" sz="2000"/>
                        <a:t>Fatigue Resistance</a:t>
                      </a:r>
                    </a:p>
                  </a:txBody>
                  <a:tcPr marL="67456" marR="67456" marT="33728" marB="33728" anchor="ctr"/>
                </a:tc>
                <a:tc>
                  <a:txBody>
                    <a:bodyPr/>
                    <a:lstStyle/>
                    <a:p>
                      <a:pPr>
                        <a:buNone/>
                      </a:pPr>
                      <a:r>
                        <a:rPr lang="en-GB" sz="2000" dirty="0"/>
                        <a:t>High</a:t>
                      </a:r>
                    </a:p>
                  </a:txBody>
                  <a:tcPr marL="67456" marR="67456" marT="33728" marB="33728" anchor="ctr"/>
                </a:tc>
                <a:tc>
                  <a:txBody>
                    <a:bodyPr/>
                    <a:lstStyle/>
                    <a:p>
                      <a:pPr>
                        <a:buNone/>
                      </a:pPr>
                      <a:r>
                        <a:rPr lang="en-GB" sz="2000" dirty="0"/>
                        <a:t>Low</a:t>
                      </a:r>
                    </a:p>
                  </a:txBody>
                  <a:tcPr marL="67456" marR="67456" marT="33728" marB="33728" anchor="ctr"/>
                </a:tc>
                <a:extLst>
                  <a:ext uri="{0D108BD9-81ED-4DB2-BD59-A6C34878D82A}">
                    <a16:rowId xmlns:a16="http://schemas.microsoft.com/office/drawing/2014/main" val="899414638"/>
                  </a:ext>
                </a:extLst>
              </a:tr>
              <a:tr h="442747">
                <a:tc>
                  <a:txBody>
                    <a:bodyPr/>
                    <a:lstStyle/>
                    <a:p>
                      <a:pPr>
                        <a:buNone/>
                      </a:pPr>
                      <a:r>
                        <a:rPr lang="en-GB" sz="2000" dirty="0"/>
                        <a:t>Endurance</a:t>
                      </a:r>
                    </a:p>
                  </a:txBody>
                  <a:tcPr marL="67456" marR="67456" marT="33728" marB="33728" anchor="ctr"/>
                </a:tc>
                <a:tc>
                  <a:txBody>
                    <a:bodyPr/>
                    <a:lstStyle/>
                    <a:p>
                      <a:pPr>
                        <a:buNone/>
                      </a:pPr>
                      <a:r>
                        <a:rPr lang="en-GB" sz="2000" dirty="0"/>
                        <a:t>Long-duration activity</a:t>
                      </a:r>
                    </a:p>
                  </a:txBody>
                  <a:tcPr marL="67456" marR="67456" marT="33728" marB="33728" anchor="ctr"/>
                </a:tc>
                <a:tc>
                  <a:txBody>
                    <a:bodyPr/>
                    <a:lstStyle/>
                    <a:p>
                      <a:pPr>
                        <a:buNone/>
                      </a:pPr>
                      <a:r>
                        <a:rPr lang="en-GB" sz="2000" dirty="0"/>
                        <a:t>Short bursts of power</a:t>
                      </a:r>
                    </a:p>
                  </a:txBody>
                  <a:tcPr marL="67456" marR="67456" marT="33728" marB="33728" anchor="ctr"/>
                </a:tc>
                <a:extLst>
                  <a:ext uri="{0D108BD9-81ED-4DB2-BD59-A6C34878D82A}">
                    <a16:rowId xmlns:a16="http://schemas.microsoft.com/office/drawing/2014/main" val="2871780786"/>
                  </a:ext>
                </a:extLst>
              </a:tr>
              <a:tr h="370491">
                <a:tc>
                  <a:txBody>
                    <a:bodyPr/>
                    <a:lstStyle/>
                    <a:p>
                      <a:pPr>
                        <a:buNone/>
                      </a:pPr>
                      <a:r>
                        <a:rPr lang="en-GB" sz="2000"/>
                        <a:t>Mitochondria</a:t>
                      </a:r>
                    </a:p>
                  </a:txBody>
                  <a:tcPr marL="67456" marR="67456" marT="33728" marB="33728" anchor="ctr"/>
                </a:tc>
                <a:tc>
                  <a:txBody>
                    <a:bodyPr/>
                    <a:lstStyle/>
                    <a:p>
                      <a:pPr>
                        <a:buNone/>
                      </a:pPr>
                      <a:r>
                        <a:rPr lang="en-GB" sz="2000"/>
                        <a:t>Numerous and large</a:t>
                      </a:r>
                    </a:p>
                  </a:txBody>
                  <a:tcPr marL="67456" marR="67456" marT="33728" marB="33728" anchor="ctr"/>
                </a:tc>
                <a:tc>
                  <a:txBody>
                    <a:bodyPr/>
                    <a:lstStyle/>
                    <a:p>
                      <a:pPr>
                        <a:buNone/>
                      </a:pPr>
                      <a:r>
                        <a:rPr lang="en-GB" sz="2000"/>
                        <a:t>Fewer and smaller</a:t>
                      </a:r>
                    </a:p>
                  </a:txBody>
                  <a:tcPr marL="67456" marR="67456" marT="33728" marB="33728" anchor="ctr"/>
                </a:tc>
                <a:extLst>
                  <a:ext uri="{0D108BD9-81ED-4DB2-BD59-A6C34878D82A}">
                    <a16:rowId xmlns:a16="http://schemas.microsoft.com/office/drawing/2014/main" val="3123564180"/>
                  </a:ext>
                </a:extLst>
              </a:tr>
              <a:tr h="370491">
                <a:tc>
                  <a:txBody>
                    <a:bodyPr/>
                    <a:lstStyle/>
                    <a:p>
                      <a:pPr>
                        <a:buNone/>
                      </a:pPr>
                      <a:r>
                        <a:rPr lang="en-GB" sz="2000"/>
                        <a:t>Capillary Density</a:t>
                      </a:r>
                    </a:p>
                  </a:txBody>
                  <a:tcPr marL="67456" marR="67456" marT="33728" marB="33728" anchor="ctr"/>
                </a:tc>
                <a:tc>
                  <a:txBody>
                    <a:bodyPr/>
                    <a:lstStyle/>
                    <a:p>
                      <a:pPr>
                        <a:buNone/>
                      </a:pPr>
                      <a:r>
                        <a:rPr lang="en-GB" sz="2000"/>
                        <a:t>High</a:t>
                      </a:r>
                    </a:p>
                  </a:txBody>
                  <a:tcPr marL="67456" marR="67456" marT="33728" marB="33728" anchor="ctr"/>
                </a:tc>
                <a:tc>
                  <a:txBody>
                    <a:bodyPr/>
                    <a:lstStyle/>
                    <a:p>
                      <a:pPr>
                        <a:buNone/>
                      </a:pPr>
                      <a:r>
                        <a:rPr lang="en-GB" sz="2000"/>
                        <a:t>Low</a:t>
                      </a:r>
                    </a:p>
                  </a:txBody>
                  <a:tcPr marL="67456" marR="67456" marT="33728" marB="33728" anchor="ctr"/>
                </a:tc>
                <a:extLst>
                  <a:ext uri="{0D108BD9-81ED-4DB2-BD59-A6C34878D82A}">
                    <a16:rowId xmlns:a16="http://schemas.microsoft.com/office/drawing/2014/main" val="1949176320"/>
                  </a:ext>
                </a:extLst>
              </a:tr>
              <a:tr h="648359">
                <a:tc>
                  <a:txBody>
                    <a:bodyPr/>
                    <a:lstStyle/>
                    <a:p>
                      <a:pPr>
                        <a:buNone/>
                      </a:pPr>
                      <a:r>
                        <a:rPr lang="en-GB" sz="2000"/>
                        <a:t>Energy Source</a:t>
                      </a:r>
                    </a:p>
                  </a:txBody>
                  <a:tcPr marL="67456" marR="67456" marT="33728" marB="33728" anchor="ctr"/>
                </a:tc>
                <a:tc>
                  <a:txBody>
                    <a:bodyPr/>
                    <a:lstStyle/>
                    <a:p>
                      <a:pPr>
                        <a:buNone/>
                      </a:pPr>
                      <a:r>
                        <a:rPr lang="en-GB" sz="2000"/>
                        <a:t>Aerobic (oxygen, fats)</a:t>
                      </a:r>
                    </a:p>
                  </a:txBody>
                  <a:tcPr marL="67456" marR="67456" marT="33728" marB="33728" anchor="ctr"/>
                </a:tc>
                <a:tc>
                  <a:txBody>
                    <a:bodyPr/>
                    <a:lstStyle/>
                    <a:p>
                      <a:pPr>
                        <a:buNone/>
                      </a:pPr>
                      <a:r>
                        <a:rPr lang="en-GB" sz="2000"/>
                        <a:t>Anaerobic (glycogen, glucose)</a:t>
                      </a:r>
                    </a:p>
                  </a:txBody>
                  <a:tcPr marL="67456" marR="67456" marT="33728" marB="33728" anchor="ctr"/>
                </a:tc>
                <a:extLst>
                  <a:ext uri="{0D108BD9-81ED-4DB2-BD59-A6C34878D82A}">
                    <a16:rowId xmlns:a16="http://schemas.microsoft.com/office/drawing/2014/main" val="1851223026"/>
                  </a:ext>
                </a:extLst>
              </a:tr>
              <a:tr h="470749">
                <a:tc>
                  <a:txBody>
                    <a:bodyPr/>
                    <a:lstStyle/>
                    <a:p>
                      <a:pPr>
                        <a:buNone/>
                      </a:pPr>
                      <a:r>
                        <a:rPr lang="en-GB" sz="2000"/>
                        <a:t>Primary Function</a:t>
                      </a:r>
                    </a:p>
                  </a:txBody>
                  <a:tcPr marL="67456" marR="67456" marT="33728" marB="33728" anchor="ctr"/>
                </a:tc>
                <a:tc>
                  <a:txBody>
                    <a:bodyPr/>
                    <a:lstStyle/>
                    <a:p>
                      <a:pPr>
                        <a:buNone/>
                      </a:pPr>
                      <a:r>
                        <a:rPr lang="en-GB" sz="2000" dirty="0"/>
                        <a:t>Posture, endurance</a:t>
                      </a:r>
                    </a:p>
                  </a:txBody>
                  <a:tcPr marL="67456" marR="67456" marT="33728" marB="33728" anchor="ctr"/>
                </a:tc>
                <a:tc>
                  <a:txBody>
                    <a:bodyPr/>
                    <a:lstStyle/>
                    <a:p>
                      <a:pPr>
                        <a:buNone/>
                      </a:pPr>
                      <a:r>
                        <a:rPr lang="en-GB" sz="2000" dirty="0"/>
                        <a:t>Quick, powerful</a:t>
                      </a:r>
                    </a:p>
                  </a:txBody>
                  <a:tcPr marL="67456" marR="67456" marT="33728" marB="33728" anchor="ctr"/>
                </a:tc>
                <a:extLst>
                  <a:ext uri="{0D108BD9-81ED-4DB2-BD59-A6C34878D82A}">
                    <a16:rowId xmlns:a16="http://schemas.microsoft.com/office/drawing/2014/main" val="1436187200"/>
                  </a:ext>
                </a:extLst>
              </a:tr>
              <a:tr h="648359">
                <a:tc>
                  <a:txBody>
                    <a:bodyPr/>
                    <a:lstStyle/>
                    <a:p>
                      <a:pPr>
                        <a:buNone/>
                      </a:pPr>
                      <a:r>
                        <a:rPr lang="en-GB" sz="2000"/>
                        <a:t>Example Activities</a:t>
                      </a:r>
                    </a:p>
                  </a:txBody>
                  <a:tcPr marL="67456" marR="67456" marT="33728" marB="33728" anchor="ctr"/>
                </a:tc>
                <a:tc>
                  <a:txBody>
                    <a:bodyPr/>
                    <a:lstStyle/>
                    <a:p>
                      <a:pPr>
                        <a:buNone/>
                      </a:pPr>
                      <a:r>
                        <a:rPr lang="en-GB" sz="2000" dirty="0"/>
                        <a:t>Distance running, marathons, cycling.</a:t>
                      </a:r>
                    </a:p>
                  </a:txBody>
                  <a:tcPr marL="67456" marR="67456" marT="33728" marB="33728" anchor="ctr"/>
                </a:tc>
                <a:tc>
                  <a:txBody>
                    <a:bodyPr/>
                    <a:lstStyle/>
                    <a:p>
                      <a:pPr>
                        <a:buNone/>
                      </a:pPr>
                      <a:r>
                        <a:rPr lang="en-GB" sz="2000" dirty="0"/>
                        <a:t>Weightlifting, jumping, sprinting.</a:t>
                      </a:r>
                    </a:p>
                  </a:txBody>
                  <a:tcPr marL="67456" marR="67456" marT="33728" marB="33728" anchor="ctr"/>
                </a:tc>
                <a:extLst>
                  <a:ext uri="{0D108BD9-81ED-4DB2-BD59-A6C34878D82A}">
                    <a16:rowId xmlns:a16="http://schemas.microsoft.com/office/drawing/2014/main" val="670495474"/>
                  </a:ext>
                </a:extLst>
              </a:tr>
            </a:tbl>
          </a:graphicData>
        </a:graphic>
      </p:graphicFrame>
      <p:sp>
        <p:nvSpPr>
          <p:cNvPr id="3" name="Rectangle 7">
            <a:extLst>
              <a:ext uri="{FF2B5EF4-FFF2-40B4-BE49-F238E27FC236}">
                <a16:creationId xmlns:a16="http://schemas.microsoft.com/office/drawing/2014/main" id="{2BDCB69C-304E-5D4C-AC31-7299BF5AFEA1}"/>
              </a:ext>
            </a:extLst>
          </p:cNvPr>
          <p:cNvSpPr>
            <a:spLocks noChangeArrowheads="1"/>
          </p:cNvSpPr>
          <p:nvPr/>
        </p:nvSpPr>
        <p:spPr bwMode="auto">
          <a:xfrm>
            <a:off x="79375" y="79375"/>
            <a:ext cx="734536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chor="ctr"/>
          <a:lstStyle>
            <a:lvl1pPr>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SzTx/>
              <a:buFontTx/>
              <a:buNone/>
            </a:pPr>
            <a:r>
              <a:rPr lang="en-GB" altLang="en-US" sz="4000" b="1" dirty="0">
                <a:solidFill>
                  <a:srgbClr val="FFFF00"/>
                </a:solidFill>
              </a:rPr>
              <a:t>Muscle Types</a:t>
            </a:r>
          </a:p>
        </p:txBody>
      </p:sp>
    </p:spTree>
    <p:extLst>
      <p:ext uri="{BB962C8B-B14F-4D97-AF65-F5344CB8AC3E}">
        <p14:creationId xmlns:p14="http://schemas.microsoft.com/office/powerpoint/2010/main" val="16285881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a:extLst>
              <a:ext uri="{FF2B5EF4-FFF2-40B4-BE49-F238E27FC236}">
                <a16:creationId xmlns:a16="http://schemas.microsoft.com/office/drawing/2014/main" id="{4DA757B3-758D-CF2D-3574-1EEC4D6FF1F6}"/>
              </a:ext>
            </a:extLst>
          </p:cNvPr>
          <p:cNvSpPr>
            <a:spLocks noChangeArrowheads="1"/>
          </p:cNvSpPr>
          <p:nvPr/>
        </p:nvSpPr>
        <p:spPr bwMode="auto">
          <a:xfrm>
            <a:off x="466725" y="1023938"/>
            <a:ext cx="821055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SzTx/>
              <a:buFontTx/>
              <a:buNone/>
            </a:pPr>
            <a:r>
              <a:rPr lang="en-GB" altLang="en-US" sz="2800">
                <a:solidFill>
                  <a:schemeClr val="tx1"/>
                </a:solidFill>
              </a:rPr>
              <a:t>When a muscle is activated, it shortens and, in doing so, it exerts a force on the tendons to which it is attached. </a:t>
            </a:r>
          </a:p>
          <a:p>
            <a:pPr>
              <a:spcBef>
                <a:spcPct val="0"/>
              </a:spcBef>
              <a:buSzTx/>
              <a:buFontTx/>
              <a:buNone/>
            </a:pPr>
            <a:r>
              <a:rPr lang="en-GB" altLang="en-US" sz="2800">
                <a:solidFill>
                  <a:schemeClr val="tx1"/>
                </a:solidFill>
              </a:rPr>
              <a:t>The amount of force exerted depends on:</a:t>
            </a:r>
          </a:p>
        </p:txBody>
      </p:sp>
      <p:sp>
        <p:nvSpPr>
          <p:cNvPr id="32770" name="Text Box 3">
            <a:extLst>
              <a:ext uri="{FF2B5EF4-FFF2-40B4-BE49-F238E27FC236}">
                <a16:creationId xmlns:a16="http://schemas.microsoft.com/office/drawing/2014/main" id="{459C5D93-48D0-2F94-5F88-A83F5C29D0C5}"/>
              </a:ext>
            </a:extLst>
          </p:cNvPr>
          <p:cNvSpPr txBox="1">
            <a:spLocks noChangeArrowheads="1"/>
          </p:cNvSpPr>
          <p:nvPr/>
        </p:nvSpPr>
        <p:spPr bwMode="auto">
          <a:xfrm>
            <a:off x="990600" y="3157538"/>
            <a:ext cx="6750050" cy="267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spcBef>
                <a:spcPct val="50000"/>
              </a:spcBef>
              <a:buSzTx/>
            </a:pPr>
            <a:r>
              <a:rPr lang="en-GB" altLang="en-US" sz="2400">
                <a:solidFill>
                  <a:schemeClr val="tx1"/>
                </a:solidFill>
              </a:rPr>
              <a:t>The number of active motor units</a:t>
            </a:r>
          </a:p>
          <a:p>
            <a:pPr>
              <a:spcBef>
                <a:spcPct val="50000"/>
              </a:spcBef>
              <a:buSzTx/>
            </a:pPr>
            <a:r>
              <a:rPr lang="en-GB" altLang="en-US" sz="2400">
                <a:solidFill>
                  <a:schemeClr val="tx1"/>
                </a:solidFill>
              </a:rPr>
              <a:t>The cross-sectional area of the muscle</a:t>
            </a:r>
          </a:p>
          <a:p>
            <a:pPr>
              <a:spcBef>
                <a:spcPct val="50000"/>
              </a:spcBef>
              <a:buSzTx/>
            </a:pPr>
            <a:r>
              <a:rPr lang="en-GB" altLang="en-US" sz="2400">
                <a:solidFill>
                  <a:schemeClr val="tx1"/>
                </a:solidFill>
              </a:rPr>
              <a:t>The frequency of stimulation</a:t>
            </a:r>
          </a:p>
          <a:p>
            <a:pPr>
              <a:spcBef>
                <a:spcPct val="50000"/>
              </a:spcBef>
              <a:buSzTx/>
            </a:pPr>
            <a:r>
              <a:rPr lang="en-GB" altLang="en-US" sz="2400">
                <a:solidFill>
                  <a:schemeClr val="tx1"/>
                </a:solidFill>
              </a:rPr>
              <a:t>The initial resting length of the muscle</a:t>
            </a:r>
          </a:p>
          <a:p>
            <a:pPr>
              <a:spcBef>
                <a:spcPct val="50000"/>
              </a:spcBef>
              <a:buSzTx/>
            </a:pPr>
            <a:r>
              <a:rPr lang="en-GB" altLang="en-US" sz="2400">
                <a:solidFill>
                  <a:schemeClr val="tx1"/>
                </a:solidFill>
              </a:rPr>
              <a:t>The rate at which the muscle shortens</a:t>
            </a:r>
          </a:p>
        </p:txBody>
      </p:sp>
      <p:sp>
        <p:nvSpPr>
          <p:cNvPr id="32771" name="Rectangle 4">
            <a:extLst>
              <a:ext uri="{FF2B5EF4-FFF2-40B4-BE49-F238E27FC236}">
                <a16:creationId xmlns:a16="http://schemas.microsoft.com/office/drawing/2014/main" id="{58367179-82FA-0CCC-3EAF-A455FD097C6A}"/>
              </a:ext>
            </a:extLst>
          </p:cNvPr>
          <p:cNvSpPr>
            <a:spLocks noChangeArrowheads="1"/>
          </p:cNvSpPr>
          <p:nvPr/>
        </p:nvSpPr>
        <p:spPr bwMode="auto">
          <a:xfrm>
            <a:off x="79375" y="79375"/>
            <a:ext cx="734536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chor="ctr"/>
          <a:lstStyle>
            <a:lvl1pPr>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SzTx/>
              <a:buFontTx/>
              <a:buNone/>
            </a:pPr>
            <a:r>
              <a:rPr lang="en-GB" altLang="en-US" sz="4000" b="1">
                <a:solidFill>
                  <a:srgbClr val="FFFF00"/>
                </a:solidFill>
              </a:rPr>
              <a:t>Force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793" name="Group 11">
            <a:extLst>
              <a:ext uri="{FF2B5EF4-FFF2-40B4-BE49-F238E27FC236}">
                <a16:creationId xmlns:a16="http://schemas.microsoft.com/office/drawing/2014/main" id="{49789CC7-848C-64E4-74F3-3851322EEB66}"/>
              </a:ext>
            </a:extLst>
          </p:cNvPr>
          <p:cNvGrpSpPr>
            <a:grpSpLocks/>
          </p:cNvGrpSpPr>
          <p:nvPr/>
        </p:nvGrpSpPr>
        <p:grpSpPr bwMode="auto">
          <a:xfrm>
            <a:off x="539750" y="5722938"/>
            <a:ext cx="658813" cy="554037"/>
            <a:chOff x="601112" y="5514210"/>
            <a:chExt cx="658520" cy="554578"/>
          </a:xfrm>
        </p:grpSpPr>
        <p:sp>
          <p:nvSpPr>
            <p:cNvPr id="33820" name="Right Arrow 14">
              <a:extLst>
                <a:ext uri="{FF2B5EF4-FFF2-40B4-BE49-F238E27FC236}">
                  <a16:creationId xmlns:a16="http://schemas.microsoft.com/office/drawing/2014/main" id="{735FE6A0-2462-4B28-0113-733F47B552DA}"/>
                </a:ext>
              </a:extLst>
            </p:cNvPr>
            <p:cNvSpPr>
              <a:spLocks noChangeArrowheads="1"/>
            </p:cNvSpPr>
            <p:nvPr/>
          </p:nvSpPr>
          <p:spPr bwMode="auto">
            <a:xfrm>
              <a:off x="891208" y="5553236"/>
              <a:ext cx="368424" cy="515552"/>
            </a:xfrm>
            <a:prstGeom prst="rightArrow">
              <a:avLst>
                <a:gd name="adj1" fmla="val 50000"/>
                <a:gd name="adj2" fmla="val 50000"/>
              </a:avLst>
            </a:prstGeom>
            <a:solidFill>
              <a:srgbClr val="0000CC"/>
            </a:solidFill>
            <a:ln w="12700">
              <a:solidFill>
                <a:schemeClr val="tx1"/>
              </a:solidFill>
              <a:round/>
              <a:headEnd/>
              <a:tailEnd/>
            </a:ln>
          </p:spPr>
          <p:txBody>
            <a:bodyPr/>
            <a:lstStyle>
              <a:lvl1pPr>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SzTx/>
                <a:buFontTx/>
                <a:buNone/>
              </a:pPr>
              <a:endParaRPr lang="en-US" altLang="en-US" sz="2400">
                <a:latin typeface="Times New Roman" panose="02020603050405020304" pitchFamily="18" charset="0"/>
              </a:endParaRPr>
            </a:p>
          </p:txBody>
        </p:sp>
        <p:sp>
          <p:nvSpPr>
            <p:cNvPr id="18" name="TextBox 17">
              <a:extLst>
                <a:ext uri="{FF2B5EF4-FFF2-40B4-BE49-F238E27FC236}">
                  <a16:creationId xmlns:a16="http://schemas.microsoft.com/office/drawing/2014/main" id="{25C5A602-0B7C-F84F-9937-8A4CE483991F}"/>
                </a:ext>
              </a:extLst>
            </p:cNvPr>
            <p:cNvSpPr txBox="1"/>
            <p:nvPr/>
          </p:nvSpPr>
          <p:spPr>
            <a:xfrm>
              <a:off x="601112" y="5514210"/>
              <a:ext cx="298317" cy="338467"/>
            </a:xfrm>
            <a:prstGeom prst="rect">
              <a:avLst/>
            </a:prstGeom>
            <a:noFill/>
          </p:spPr>
          <p:txBody>
            <a:bodyPr wrap="none">
              <a:spAutoFit/>
            </a:bodyPr>
            <a:lstStyle/>
            <a:p>
              <a:pPr>
                <a:defRPr/>
              </a:pPr>
              <a:r>
                <a:rPr lang="en-GB" sz="1600" b="1" dirty="0">
                  <a:solidFill>
                    <a:schemeClr val="bg1">
                      <a:lumMod val="50000"/>
                    </a:schemeClr>
                  </a:solidFill>
                  <a:latin typeface="+mn-lt"/>
                  <a:ea typeface="+mn-ea"/>
                </a:rPr>
                <a:t>2</a:t>
              </a:r>
            </a:p>
          </p:txBody>
        </p:sp>
      </p:grpSp>
      <p:grpSp>
        <p:nvGrpSpPr>
          <p:cNvPr id="33794" name="Group 28">
            <a:extLst>
              <a:ext uri="{FF2B5EF4-FFF2-40B4-BE49-F238E27FC236}">
                <a16:creationId xmlns:a16="http://schemas.microsoft.com/office/drawing/2014/main" id="{8CD24531-F36E-6715-5AA7-F4826B5744D1}"/>
              </a:ext>
            </a:extLst>
          </p:cNvPr>
          <p:cNvGrpSpPr>
            <a:grpSpLocks/>
          </p:cNvGrpSpPr>
          <p:nvPr/>
        </p:nvGrpSpPr>
        <p:grpSpPr bwMode="auto">
          <a:xfrm>
            <a:off x="1258888" y="5068888"/>
            <a:ext cx="1260475" cy="1700212"/>
            <a:chOff x="1259632" y="4896742"/>
            <a:chExt cx="1260140" cy="1700610"/>
          </a:xfrm>
        </p:grpSpPr>
        <p:grpSp>
          <p:nvGrpSpPr>
            <p:cNvPr id="33813" name="Group 29">
              <a:extLst>
                <a:ext uri="{FF2B5EF4-FFF2-40B4-BE49-F238E27FC236}">
                  <a16:creationId xmlns:a16="http://schemas.microsoft.com/office/drawing/2014/main" id="{17C8406D-A8B6-B7CB-4771-0E0E12EAB191}"/>
                </a:ext>
              </a:extLst>
            </p:cNvPr>
            <p:cNvGrpSpPr>
              <a:grpSpLocks/>
            </p:cNvGrpSpPr>
            <p:nvPr/>
          </p:nvGrpSpPr>
          <p:grpSpPr bwMode="auto">
            <a:xfrm rot="5400000">
              <a:off x="1111405" y="5044969"/>
              <a:ext cx="1556594" cy="1260140"/>
              <a:chOff x="5292080" y="4581128"/>
              <a:chExt cx="2132658" cy="1749568"/>
            </a:xfrm>
          </p:grpSpPr>
          <p:pic>
            <p:nvPicPr>
              <p:cNvPr id="33817" name="Picture 6" descr="C:\Users\Pam\AppData\Local\Microsoft\Windows\Temporary Internet Files\Content.IE5\ALZ0KOP3\MP900437254[1].jpg">
                <a:extLst>
                  <a:ext uri="{FF2B5EF4-FFF2-40B4-BE49-F238E27FC236}">
                    <a16:creationId xmlns:a16="http://schemas.microsoft.com/office/drawing/2014/main" id="{CF2E6C16-62B0-2959-2070-CF7A2C70B5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5292080" y="4581128"/>
                <a:ext cx="1929671" cy="1749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818" name="Oval 34">
                <a:extLst>
                  <a:ext uri="{FF2B5EF4-FFF2-40B4-BE49-F238E27FC236}">
                    <a16:creationId xmlns:a16="http://schemas.microsoft.com/office/drawing/2014/main" id="{2FC99EB8-0208-FD3F-C4BA-B62F128C7E08}"/>
                  </a:ext>
                </a:extLst>
              </p:cNvPr>
              <p:cNvSpPr>
                <a:spLocks noChangeArrowheads="1"/>
              </p:cNvSpPr>
              <p:nvPr/>
            </p:nvSpPr>
            <p:spPr bwMode="auto">
              <a:xfrm>
                <a:off x="6588224" y="5109694"/>
                <a:ext cx="489511" cy="407538"/>
              </a:xfrm>
              <a:prstGeom prst="ellipse">
                <a:avLst/>
              </a:prstGeom>
              <a:solidFill>
                <a:srgbClr val="FFFFFF"/>
              </a:solidFill>
              <a:ln>
                <a:noFill/>
              </a:ln>
              <a:extLst>
                <a:ext uri="{91240B29-F687-4F45-9708-019B960494DF}">
                  <a14:hiddenLine xmlns:a14="http://schemas.microsoft.com/office/drawing/2010/main" w="12700">
                    <a:solidFill>
                      <a:srgbClr val="000000"/>
                    </a:solidFill>
                    <a:round/>
                    <a:headEnd/>
                    <a:tailEnd/>
                  </a14:hiddenLine>
                </a:ext>
              </a:extLst>
            </p:spPr>
            <p:txBody>
              <a:bodyPr/>
              <a:lstStyle>
                <a:lvl1pPr>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SzTx/>
                  <a:buFontTx/>
                  <a:buNone/>
                </a:pPr>
                <a:endParaRPr lang="en-US" altLang="en-US" sz="2400">
                  <a:latin typeface="Times New Roman" panose="02020603050405020304" pitchFamily="18" charset="0"/>
                </a:endParaRPr>
              </a:p>
            </p:txBody>
          </p:sp>
          <p:sp>
            <p:nvSpPr>
              <p:cNvPr id="33819" name="Rectangle 35">
                <a:extLst>
                  <a:ext uri="{FF2B5EF4-FFF2-40B4-BE49-F238E27FC236}">
                    <a16:creationId xmlns:a16="http://schemas.microsoft.com/office/drawing/2014/main" id="{82B7DA42-7CBE-10C6-BEA4-92BDA6D1BC70}"/>
                  </a:ext>
                </a:extLst>
              </p:cNvPr>
              <p:cNvSpPr>
                <a:spLocks noChangeArrowheads="1"/>
              </p:cNvSpPr>
              <p:nvPr/>
            </p:nvSpPr>
            <p:spPr bwMode="auto">
              <a:xfrm>
                <a:off x="6832979" y="4941168"/>
                <a:ext cx="591759" cy="972108"/>
              </a:xfrm>
              <a:prstGeom prst="rect">
                <a:avLst/>
              </a:prstGeom>
              <a:solidFill>
                <a:srgbClr val="FFFFFF"/>
              </a:solidFill>
              <a:ln>
                <a:noFill/>
              </a:ln>
              <a:extLst>
                <a:ext uri="{91240B29-F687-4F45-9708-019B960494DF}">
                  <a14:hiddenLine xmlns:a14="http://schemas.microsoft.com/office/drawing/2010/main" w="12700">
                    <a:solidFill>
                      <a:srgbClr val="000000"/>
                    </a:solidFill>
                    <a:round/>
                    <a:headEnd/>
                    <a:tailEnd/>
                  </a14:hiddenLine>
                </a:ext>
              </a:extLst>
            </p:spPr>
            <p:txBody>
              <a:bodyPr/>
              <a:lstStyle>
                <a:lvl1pPr>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SzTx/>
                  <a:buFontTx/>
                  <a:buNone/>
                </a:pPr>
                <a:endParaRPr lang="en-US" altLang="en-US" sz="2400">
                  <a:latin typeface="Times New Roman" panose="02020603050405020304" pitchFamily="18" charset="0"/>
                </a:endParaRPr>
              </a:p>
            </p:txBody>
          </p:sp>
        </p:grpSp>
        <p:grpSp>
          <p:nvGrpSpPr>
            <p:cNvPr id="33814" name="Group 30">
              <a:extLst>
                <a:ext uri="{FF2B5EF4-FFF2-40B4-BE49-F238E27FC236}">
                  <a16:creationId xmlns:a16="http://schemas.microsoft.com/office/drawing/2014/main" id="{8D9DDF70-07BD-769C-6DD3-285509FBAB9A}"/>
                </a:ext>
              </a:extLst>
            </p:cNvPr>
            <p:cNvGrpSpPr>
              <a:grpSpLocks/>
            </p:cNvGrpSpPr>
            <p:nvPr/>
          </p:nvGrpSpPr>
          <p:grpSpPr bwMode="auto">
            <a:xfrm>
              <a:off x="1475656" y="5805264"/>
              <a:ext cx="936104" cy="792088"/>
              <a:chOff x="1475656" y="5517232"/>
              <a:chExt cx="936104" cy="792088"/>
            </a:xfrm>
          </p:grpSpPr>
          <p:sp>
            <p:nvSpPr>
              <p:cNvPr id="32" name="Trapezoid 31">
                <a:extLst>
                  <a:ext uri="{FF2B5EF4-FFF2-40B4-BE49-F238E27FC236}">
                    <a16:creationId xmlns:a16="http://schemas.microsoft.com/office/drawing/2014/main" id="{D3B79E48-FAAD-A54F-8AA1-D0D5A02FF536}"/>
                  </a:ext>
                </a:extLst>
              </p:cNvPr>
              <p:cNvSpPr/>
              <p:nvPr/>
            </p:nvSpPr>
            <p:spPr bwMode="auto">
              <a:xfrm>
                <a:off x="1475475" y="5804377"/>
                <a:ext cx="936376" cy="504943"/>
              </a:xfrm>
              <a:prstGeom prst="trapezoid">
                <a:avLst/>
              </a:prstGeom>
              <a:gradFill flip="none" rotWithShape="1">
                <a:gsLst>
                  <a:gs pos="0">
                    <a:srgbClr val="000000"/>
                  </a:gs>
                  <a:gs pos="20000">
                    <a:srgbClr val="0A128C"/>
                  </a:gs>
                  <a:gs pos="36000">
                    <a:srgbClr val="181CC7"/>
                  </a:gs>
                  <a:gs pos="50000">
                    <a:srgbClr val="7005D4"/>
                  </a:gs>
                  <a:gs pos="69000">
                    <a:srgbClr val="8C3D91"/>
                  </a:gs>
                </a:gsLst>
                <a:lin ang="16200000" scaled="1"/>
                <a:tileRect/>
              </a:gradFill>
              <a:ln w="12700" cap="flat" cmpd="sng" algn="ctr">
                <a:solidFill>
                  <a:schemeClr val="bg1"/>
                </a:solidFill>
                <a:prstDash val="solid"/>
                <a:round/>
                <a:headEnd type="none" w="med" len="med"/>
                <a:tailEnd type="none" w="med" len="med"/>
              </a:ln>
              <a:effectLst/>
            </p:spPr>
            <p:txBody>
              <a:bodyPr/>
              <a:lstStyle/>
              <a:p>
                <a:pPr>
                  <a:defRPr/>
                </a:pPr>
                <a:r>
                  <a:rPr lang="en-GB" b="1" dirty="0">
                    <a:latin typeface="+mn-lt"/>
                    <a:ea typeface="+mn-ea"/>
                  </a:rPr>
                  <a:t>1kg</a:t>
                </a:r>
              </a:p>
            </p:txBody>
          </p:sp>
          <p:sp>
            <p:nvSpPr>
              <p:cNvPr id="33" name="Donut 32">
                <a:extLst>
                  <a:ext uri="{FF2B5EF4-FFF2-40B4-BE49-F238E27FC236}">
                    <a16:creationId xmlns:a16="http://schemas.microsoft.com/office/drawing/2014/main" id="{A1967C46-CB72-5444-809B-7DD763B44EF8}"/>
                  </a:ext>
                </a:extLst>
              </p:cNvPr>
              <p:cNvSpPr/>
              <p:nvPr/>
            </p:nvSpPr>
            <p:spPr bwMode="auto">
              <a:xfrm>
                <a:off x="1835741" y="5516973"/>
                <a:ext cx="215843" cy="287404"/>
              </a:xfrm>
              <a:prstGeom prst="donut">
                <a:avLst/>
              </a:prstGeom>
              <a:gradFill flip="none" rotWithShape="1">
                <a:gsLst>
                  <a:gs pos="0">
                    <a:srgbClr val="000000"/>
                  </a:gs>
                  <a:gs pos="20000">
                    <a:srgbClr val="0A128C"/>
                  </a:gs>
                  <a:gs pos="36000">
                    <a:srgbClr val="181CC7"/>
                  </a:gs>
                  <a:gs pos="50000">
                    <a:srgbClr val="7005D4"/>
                  </a:gs>
                  <a:gs pos="69000">
                    <a:srgbClr val="8C3D91"/>
                  </a:gs>
                </a:gsLst>
                <a:lin ang="5400000" scaled="1"/>
                <a:tileRect/>
              </a:gradFill>
              <a:ln w="12700" cap="flat" cmpd="sng" algn="ctr">
                <a:solidFill>
                  <a:schemeClr val="tx1"/>
                </a:solidFill>
                <a:prstDash val="solid"/>
                <a:round/>
                <a:headEnd type="none" w="med" len="med"/>
                <a:tailEnd type="none" w="med" len="med"/>
              </a:ln>
              <a:effectLst/>
            </p:spPr>
            <p:txBody>
              <a:bodyPr/>
              <a:lstStyle/>
              <a:p>
                <a:pPr>
                  <a:defRPr/>
                </a:pPr>
                <a:endParaRPr lang="en-GB">
                  <a:ea typeface="+mn-ea"/>
                </a:endParaRPr>
              </a:p>
            </p:txBody>
          </p:sp>
        </p:grpSp>
      </p:grpSp>
      <p:sp>
        <p:nvSpPr>
          <p:cNvPr id="33795" name="Rectangle 15">
            <a:extLst>
              <a:ext uri="{FF2B5EF4-FFF2-40B4-BE49-F238E27FC236}">
                <a16:creationId xmlns:a16="http://schemas.microsoft.com/office/drawing/2014/main" id="{EE4BD9F5-5165-1C28-79C7-2F3FAD749F37}"/>
              </a:ext>
            </a:extLst>
          </p:cNvPr>
          <p:cNvSpPr>
            <a:spLocks noChangeArrowheads="1"/>
          </p:cNvSpPr>
          <p:nvPr/>
        </p:nvSpPr>
        <p:spPr bwMode="auto">
          <a:xfrm>
            <a:off x="595313" y="4819650"/>
            <a:ext cx="2087562" cy="2209800"/>
          </a:xfrm>
          <a:prstGeom prst="rect">
            <a:avLst/>
          </a:prstGeom>
          <a:solidFill>
            <a:srgbClr val="FFFFFF"/>
          </a:solidFill>
          <a:ln>
            <a:noFill/>
          </a:ln>
          <a:extLst>
            <a:ext uri="{91240B29-F687-4F45-9708-019B960494DF}">
              <a14:hiddenLine xmlns:a14="http://schemas.microsoft.com/office/drawing/2010/main" w="12700">
                <a:solidFill>
                  <a:srgbClr val="000000"/>
                </a:solidFill>
                <a:round/>
                <a:headEnd/>
                <a:tailEnd/>
              </a14:hiddenLine>
            </a:ext>
          </a:extLst>
        </p:spPr>
        <p:txBody>
          <a:bodyPr/>
          <a:lstStyle>
            <a:lvl1pPr>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SzTx/>
              <a:buFontTx/>
              <a:buNone/>
            </a:pPr>
            <a:endParaRPr lang="en-US" altLang="en-US" sz="2400">
              <a:latin typeface="Times New Roman" panose="02020603050405020304" pitchFamily="18" charset="0"/>
            </a:endParaRPr>
          </a:p>
        </p:txBody>
      </p:sp>
      <p:sp>
        <p:nvSpPr>
          <p:cNvPr id="33797" name="Text Box 3">
            <a:extLst>
              <a:ext uri="{FF2B5EF4-FFF2-40B4-BE49-F238E27FC236}">
                <a16:creationId xmlns:a16="http://schemas.microsoft.com/office/drawing/2014/main" id="{AA764375-0253-D50F-63A4-438939B006AA}"/>
              </a:ext>
            </a:extLst>
          </p:cNvPr>
          <p:cNvSpPr txBox="1">
            <a:spLocks noChangeArrowheads="1"/>
          </p:cNvSpPr>
          <p:nvPr/>
        </p:nvSpPr>
        <p:spPr bwMode="auto">
          <a:xfrm>
            <a:off x="1210394" y="1052736"/>
            <a:ext cx="6457950" cy="4450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spcBef>
                <a:spcPct val="80000"/>
              </a:spcBef>
              <a:buSzTx/>
              <a:buFontTx/>
              <a:buNone/>
            </a:pPr>
            <a:r>
              <a:rPr lang="en-GB" altLang="en-US" sz="2400" b="1" dirty="0">
                <a:solidFill>
                  <a:schemeClr val="tx1"/>
                </a:solidFill>
              </a:rPr>
              <a:t>Force = mass </a:t>
            </a:r>
            <a:r>
              <a:rPr lang="en-GB" altLang="en-US" sz="2400" b="1" dirty="0">
                <a:solidFill>
                  <a:schemeClr val="tx1"/>
                </a:solidFill>
                <a:sym typeface="Symbol" panose="05050102010706020507" pitchFamily="18" charset="2"/>
              </a:rPr>
              <a:t></a:t>
            </a:r>
            <a:r>
              <a:rPr lang="en-GB" altLang="en-US" sz="2400" b="1" dirty="0">
                <a:solidFill>
                  <a:schemeClr val="tx1"/>
                </a:solidFill>
              </a:rPr>
              <a:t> acceleration </a:t>
            </a:r>
          </a:p>
          <a:p>
            <a:pPr>
              <a:spcBef>
                <a:spcPct val="80000"/>
              </a:spcBef>
              <a:buSzTx/>
              <a:buFontTx/>
              <a:buNone/>
            </a:pPr>
            <a:r>
              <a:rPr lang="en-GB" altLang="en-US" sz="2400" b="1" dirty="0">
                <a:solidFill>
                  <a:schemeClr val="tx1"/>
                </a:solidFill>
              </a:rPr>
              <a:t>Work 	= force </a:t>
            </a:r>
            <a:r>
              <a:rPr lang="en-GB" altLang="en-US" sz="2400" b="1" dirty="0">
                <a:solidFill>
                  <a:schemeClr val="tx1"/>
                </a:solidFill>
                <a:sym typeface="Symbol" panose="05050102010706020507" pitchFamily="18" charset="2"/>
              </a:rPr>
              <a:t></a:t>
            </a:r>
            <a:r>
              <a:rPr lang="en-GB" altLang="en-US" sz="2400" b="1" dirty="0">
                <a:solidFill>
                  <a:schemeClr val="tx1"/>
                </a:solidFill>
              </a:rPr>
              <a:t> distance moved by load</a:t>
            </a:r>
          </a:p>
          <a:p>
            <a:pPr>
              <a:spcBef>
                <a:spcPct val="80000"/>
              </a:spcBef>
              <a:buSzTx/>
              <a:buFontTx/>
              <a:buNone/>
            </a:pPr>
            <a:r>
              <a:rPr lang="en-GB" altLang="en-US" sz="2400" b="1" dirty="0">
                <a:solidFill>
                  <a:schemeClr val="tx1"/>
                </a:solidFill>
              </a:rPr>
              <a:t>Power = work ÷ time</a:t>
            </a:r>
          </a:p>
          <a:p>
            <a:pPr>
              <a:spcBef>
                <a:spcPct val="80000"/>
              </a:spcBef>
              <a:buSzTx/>
              <a:buFontTx/>
              <a:buNone/>
            </a:pPr>
            <a:r>
              <a:rPr lang="en-GB" altLang="en-US" sz="2400" b="1" dirty="0">
                <a:solidFill>
                  <a:schemeClr val="tx1"/>
                </a:solidFill>
              </a:rPr>
              <a:t>	= </a:t>
            </a:r>
            <a:r>
              <a:rPr lang="en-GB" altLang="en-US" sz="2400" b="1" u="sng" dirty="0">
                <a:solidFill>
                  <a:schemeClr val="tx1"/>
                </a:solidFill>
              </a:rPr>
              <a:t>(force </a:t>
            </a:r>
            <a:r>
              <a:rPr lang="en-GB" altLang="en-US" sz="2400" b="1" u="sng" dirty="0">
                <a:solidFill>
                  <a:schemeClr val="tx1"/>
                </a:solidFill>
                <a:sym typeface="Symbol" panose="05050102010706020507" pitchFamily="18" charset="2"/>
              </a:rPr>
              <a:t></a:t>
            </a:r>
            <a:r>
              <a:rPr lang="en-GB" altLang="en-US" sz="2400" b="1" u="sng" dirty="0">
                <a:solidFill>
                  <a:schemeClr val="tx1"/>
                </a:solidFill>
              </a:rPr>
              <a:t> distance)</a:t>
            </a:r>
          </a:p>
          <a:p>
            <a:pPr>
              <a:spcBef>
                <a:spcPct val="80000"/>
              </a:spcBef>
              <a:buSzTx/>
              <a:buFontTx/>
              <a:buNone/>
            </a:pPr>
            <a:r>
              <a:rPr lang="en-GB" altLang="en-US" sz="2400" b="1" dirty="0">
                <a:solidFill>
                  <a:schemeClr val="tx1"/>
                </a:solidFill>
              </a:rPr>
              <a:t>		time</a:t>
            </a:r>
          </a:p>
          <a:p>
            <a:pPr>
              <a:spcBef>
                <a:spcPct val="80000"/>
              </a:spcBef>
              <a:buSzTx/>
              <a:buFontTx/>
              <a:buNone/>
            </a:pPr>
            <a:r>
              <a:rPr lang="en-GB" altLang="en-US" sz="2400" b="1" dirty="0">
                <a:solidFill>
                  <a:schemeClr val="tx1"/>
                </a:solidFill>
              </a:rPr>
              <a:t>	= force </a:t>
            </a:r>
            <a:r>
              <a:rPr lang="en-GB" altLang="en-US" sz="2400" b="1" dirty="0">
                <a:solidFill>
                  <a:schemeClr val="tx1"/>
                </a:solidFill>
                <a:sym typeface="Symbol" panose="05050102010706020507" pitchFamily="18" charset="2"/>
              </a:rPr>
              <a:t></a:t>
            </a:r>
            <a:r>
              <a:rPr lang="en-GB" altLang="en-US" sz="2400" b="1" dirty="0">
                <a:solidFill>
                  <a:schemeClr val="tx1"/>
                </a:solidFill>
              </a:rPr>
              <a:t> velocity</a:t>
            </a:r>
          </a:p>
          <a:p>
            <a:pPr>
              <a:spcBef>
                <a:spcPct val="80000"/>
              </a:spcBef>
              <a:buSzTx/>
              <a:buFontTx/>
              <a:buNone/>
            </a:pPr>
            <a:endParaRPr lang="en-GB" altLang="en-US" sz="2400" b="1" dirty="0">
              <a:solidFill>
                <a:schemeClr val="tx1"/>
              </a:solidFill>
            </a:endParaRPr>
          </a:p>
        </p:txBody>
      </p:sp>
      <p:sp>
        <p:nvSpPr>
          <p:cNvPr id="33798" name="Rectangle 4">
            <a:extLst>
              <a:ext uri="{FF2B5EF4-FFF2-40B4-BE49-F238E27FC236}">
                <a16:creationId xmlns:a16="http://schemas.microsoft.com/office/drawing/2014/main" id="{EBBD424F-0F90-E746-19EE-0C3EBDDB751D}"/>
              </a:ext>
            </a:extLst>
          </p:cNvPr>
          <p:cNvSpPr>
            <a:spLocks noChangeArrowheads="1"/>
          </p:cNvSpPr>
          <p:nvPr/>
        </p:nvSpPr>
        <p:spPr bwMode="auto">
          <a:xfrm>
            <a:off x="79375" y="79375"/>
            <a:ext cx="734536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chor="ctr"/>
          <a:lstStyle>
            <a:lvl1pPr>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SzTx/>
              <a:buFontTx/>
              <a:buNone/>
            </a:pPr>
            <a:r>
              <a:rPr lang="en-GB" altLang="en-US" sz="4000" b="1">
                <a:solidFill>
                  <a:srgbClr val="FFFF00"/>
                </a:solidFill>
              </a:rPr>
              <a:t>Power</a:t>
            </a:r>
          </a:p>
        </p:txBody>
      </p:sp>
      <p:grpSp>
        <p:nvGrpSpPr>
          <p:cNvPr id="9" name="Group 8">
            <a:extLst>
              <a:ext uri="{FF2B5EF4-FFF2-40B4-BE49-F238E27FC236}">
                <a16:creationId xmlns:a16="http://schemas.microsoft.com/office/drawing/2014/main" id="{A1A2417E-2AA7-55DE-9FD3-D571FA51187E}"/>
              </a:ext>
            </a:extLst>
          </p:cNvPr>
          <p:cNvGrpSpPr>
            <a:grpSpLocks/>
          </p:cNvGrpSpPr>
          <p:nvPr/>
        </p:nvGrpSpPr>
        <p:grpSpPr bwMode="auto">
          <a:xfrm>
            <a:off x="1258888" y="5068888"/>
            <a:ext cx="1260475" cy="1700212"/>
            <a:chOff x="1259632" y="4896742"/>
            <a:chExt cx="1260140" cy="1700610"/>
          </a:xfrm>
        </p:grpSpPr>
        <p:grpSp>
          <p:nvGrpSpPr>
            <p:cNvPr id="33806" name="Group 7">
              <a:extLst>
                <a:ext uri="{FF2B5EF4-FFF2-40B4-BE49-F238E27FC236}">
                  <a16:creationId xmlns:a16="http://schemas.microsoft.com/office/drawing/2014/main" id="{2A3141FC-443D-7D1A-C4D8-D3D99AB67F05}"/>
                </a:ext>
              </a:extLst>
            </p:cNvPr>
            <p:cNvGrpSpPr>
              <a:grpSpLocks/>
            </p:cNvGrpSpPr>
            <p:nvPr/>
          </p:nvGrpSpPr>
          <p:grpSpPr bwMode="auto">
            <a:xfrm rot="5400000">
              <a:off x="1111405" y="5044969"/>
              <a:ext cx="1556594" cy="1260140"/>
              <a:chOff x="5292080" y="4581128"/>
              <a:chExt cx="2132658" cy="1749568"/>
            </a:xfrm>
          </p:grpSpPr>
          <p:pic>
            <p:nvPicPr>
              <p:cNvPr id="33810" name="Picture 6" descr="C:\Users\Pam\AppData\Local\Microsoft\Windows\Temporary Internet Files\Content.IE5\ALZ0KOP3\MP900437254[1].jpg">
                <a:extLst>
                  <a:ext uri="{FF2B5EF4-FFF2-40B4-BE49-F238E27FC236}">
                    <a16:creationId xmlns:a16="http://schemas.microsoft.com/office/drawing/2014/main" id="{787AA27D-9793-F282-3955-B7D0E854D2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5292080" y="4581128"/>
                <a:ext cx="1929671" cy="1749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811" name="Oval 5">
                <a:extLst>
                  <a:ext uri="{FF2B5EF4-FFF2-40B4-BE49-F238E27FC236}">
                    <a16:creationId xmlns:a16="http://schemas.microsoft.com/office/drawing/2014/main" id="{2C999190-D6A1-2B4C-689A-CE627AFCEC8A}"/>
                  </a:ext>
                </a:extLst>
              </p:cNvPr>
              <p:cNvSpPr>
                <a:spLocks noChangeArrowheads="1"/>
              </p:cNvSpPr>
              <p:nvPr/>
            </p:nvSpPr>
            <p:spPr bwMode="auto">
              <a:xfrm>
                <a:off x="6588224" y="5109694"/>
                <a:ext cx="489511" cy="407538"/>
              </a:xfrm>
              <a:prstGeom prst="ellipse">
                <a:avLst/>
              </a:prstGeom>
              <a:solidFill>
                <a:srgbClr val="FFFFFF"/>
              </a:solidFill>
              <a:ln>
                <a:noFill/>
              </a:ln>
              <a:extLst>
                <a:ext uri="{91240B29-F687-4F45-9708-019B960494DF}">
                  <a14:hiddenLine xmlns:a14="http://schemas.microsoft.com/office/drawing/2010/main" w="12700">
                    <a:solidFill>
                      <a:srgbClr val="000000"/>
                    </a:solidFill>
                    <a:round/>
                    <a:headEnd/>
                    <a:tailEnd/>
                  </a14:hiddenLine>
                </a:ext>
              </a:extLst>
            </p:spPr>
            <p:txBody>
              <a:bodyPr/>
              <a:lstStyle>
                <a:lvl1pPr>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SzTx/>
                  <a:buFontTx/>
                  <a:buNone/>
                </a:pPr>
                <a:endParaRPr lang="en-US" altLang="en-US" sz="2400">
                  <a:latin typeface="Times New Roman" panose="02020603050405020304" pitchFamily="18" charset="0"/>
                </a:endParaRPr>
              </a:p>
            </p:txBody>
          </p:sp>
          <p:sp>
            <p:nvSpPr>
              <p:cNvPr id="33812" name="Rectangle 6">
                <a:extLst>
                  <a:ext uri="{FF2B5EF4-FFF2-40B4-BE49-F238E27FC236}">
                    <a16:creationId xmlns:a16="http://schemas.microsoft.com/office/drawing/2014/main" id="{AE26C81F-1D7E-D670-FF3B-E18280152D15}"/>
                  </a:ext>
                </a:extLst>
              </p:cNvPr>
              <p:cNvSpPr>
                <a:spLocks noChangeArrowheads="1"/>
              </p:cNvSpPr>
              <p:nvPr/>
            </p:nvSpPr>
            <p:spPr bwMode="auto">
              <a:xfrm>
                <a:off x="6832979" y="4941168"/>
                <a:ext cx="591759" cy="972108"/>
              </a:xfrm>
              <a:prstGeom prst="rect">
                <a:avLst/>
              </a:prstGeom>
              <a:solidFill>
                <a:srgbClr val="FFFFFF"/>
              </a:solidFill>
              <a:ln>
                <a:noFill/>
              </a:ln>
              <a:extLst>
                <a:ext uri="{91240B29-F687-4F45-9708-019B960494DF}">
                  <a14:hiddenLine xmlns:a14="http://schemas.microsoft.com/office/drawing/2010/main" w="12700">
                    <a:solidFill>
                      <a:srgbClr val="000000"/>
                    </a:solidFill>
                    <a:round/>
                    <a:headEnd/>
                    <a:tailEnd/>
                  </a14:hiddenLine>
                </a:ext>
              </a:extLst>
            </p:spPr>
            <p:txBody>
              <a:bodyPr/>
              <a:lstStyle>
                <a:lvl1pPr>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SzTx/>
                  <a:buFontTx/>
                  <a:buNone/>
                </a:pPr>
                <a:endParaRPr lang="en-US" altLang="en-US" sz="2400">
                  <a:latin typeface="Times New Roman" panose="02020603050405020304" pitchFamily="18" charset="0"/>
                </a:endParaRPr>
              </a:p>
            </p:txBody>
          </p:sp>
        </p:grpSp>
        <p:grpSp>
          <p:nvGrpSpPr>
            <p:cNvPr id="33807" name="Group 3">
              <a:extLst>
                <a:ext uri="{FF2B5EF4-FFF2-40B4-BE49-F238E27FC236}">
                  <a16:creationId xmlns:a16="http://schemas.microsoft.com/office/drawing/2014/main" id="{3E79EE0E-0189-3045-5887-0D171C3A1083}"/>
                </a:ext>
              </a:extLst>
            </p:cNvPr>
            <p:cNvGrpSpPr>
              <a:grpSpLocks/>
            </p:cNvGrpSpPr>
            <p:nvPr/>
          </p:nvGrpSpPr>
          <p:grpSpPr bwMode="auto">
            <a:xfrm>
              <a:off x="1475656" y="5805264"/>
              <a:ext cx="936104" cy="792088"/>
              <a:chOff x="1475656" y="5517232"/>
              <a:chExt cx="936104" cy="792088"/>
            </a:xfrm>
          </p:grpSpPr>
          <p:sp>
            <p:nvSpPr>
              <p:cNvPr id="2" name="Trapezoid 1">
                <a:extLst>
                  <a:ext uri="{FF2B5EF4-FFF2-40B4-BE49-F238E27FC236}">
                    <a16:creationId xmlns:a16="http://schemas.microsoft.com/office/drawing/2014/main" id="{48B5DE48-1AC8-D040-A0DF-BF4FC5408DB2}"/>
                  </a:ext>
                </a:extLst>
              </p:cNvPr>
              <p:cNvSpPr/>
              <p:nvPr/>
            </p:nvSpPr>
            <p:spPr bwMode="auto">
              <a:xfrm>
                <a:off x="1475475" y="5804377"/>
                <a:ext cx="936376" cy="504943"/>
              </a:xfrm>
              <a:prstGeom prst="trapezoid">
                <a:avLst/>
              </a:prstGeom>
              <a:gradFill flip="none" rotWithShape="1">
                <a:gsLst>
                  <a:gs pos="0">
                    <a:srgbClr val="000000"/>
                  </a:gs>
                  <a:gs pos="20000">
                    <a:srgbClr val="0A128C"/>
                  </a:gs>
                  <a:gs pos="36000">
                    <a:srgbClr val="181CC7"/>
                  </a:gs>
                  <a:gs pos="50000">
                    <a:srgbClr val="7005D4"/>
                  </a:gs>
                  <a:gs pos="69000">
                    <a:srgbClr val="8C3D91"/>
                  </a:gs>
                </a:gsLst>
                <a:lin ang="16200000" scaled="1"/>
                <a:tileRect/>
              </a:gradFill>
              <a:ln w="12700" cap="flat" cmpd="sng" algn="ctr">
                <a:solidFill>
                  <a:schemeClr val="bg1"/>
                </a:solidFill>
                <a:prstDash val="solid"/>
                <a:round/>
                <a:headEnd type="none" w="med" len="med"/>
                <a:tailEnd type="none" w="med" len="med"/>
              </a:ln>
              <a:effectLst/>
            </p:spPr>
            <p:txBody>
              <a:bodyPr/>
              <a:lstStyle/>
              <a:p>
                <a:pPr>
                  <a:defRPr/>
                </a:pPr>
                <a:r>
                  <a:rPr lang="en-GB" b="1" dirty="0">
                    <a:latin typeface="+mn-lt"/>
                    <a:ea typeface="+mn-ea"/>
                  </a:rPr>
                  <a:t>1kg</a:t>
                </a:r>
              </a:p>
            </p:txBody>
          </p:sp>
          <p:sp>
            <p:nvSpPr>
              <p:cNvPr id="3" name="Donut 2">
                <a:extLst>
                  <a:ext uri="{FF2B5EF4-FFF2-40B4-BE49-F238E27FC236}">
                    <a16:creationId xmlns:a16="http://schemas.microsoft.com/office/drawing/2014/main" id="{46C6F507-F5E6-1E4E-9123-A3E4CABA875E}"/>
                  </a:ext>
                </a:extLst>
              </p:cNvPr>
              <p:cNvSpPr/>
              <p:nvPr/>
            </p:nvSpPr>
            <p:spPr bwMode="auto">
              <a:xfrm>
                <a:off x="1835741" y="5516973"/>
                <a:ext cx="215843" cy="287404"/>
              </a:xfrm>
              <a:prstGeom prst="donut">
                <a:avLst/>
              </a:prstGeom>
              <a:gradFill flip="none" rotWithShape="1">
                <a:gsLst>
                  <a:gs pos="0">
                    <a:srgbClr val="000000"/>
                  </a:gs>
                  <a:gs pos="20000">
                    <a:srgbClr val="0A128C"/>
                  </a:gs>
                  <a:gs pos="36000">
                    <a:srgbClr val="181CC7"/>
                  </a:gs>
                  <a:gs pos="50000">
                    <a:srgbClr val="7005D4"/>
                  </a:gs>
                  <a:gs pos="69000">
                    <a:srgbClr val="8C3D91"/>
                  </a:gs>
                </a:gsLst>
                <a:lin ang="5400000" scaled="1"/>
                <a:tileRect/>
              </a:gradFill>
              <a:ln w="12700" cap="flat" cmpd="sng" algn="ctr">
                <a:solidFill>
                  <a:schemeClr val="tx1"/>
                </a:solidFill>
                <a:prstDash val="solid"/>
                <a:round/>
                <a:headEnd type="none" w="med" len="med"/>
                <a:tailEnd type="none" w="med" len="med"/>
              </a:ln>
              <a:effectLst/>
            </p:spPr>
            <p:txBody>
              <a:bodyPr/>
              <a:lstStyle/>
              <a:p>
                <a:pPr>
                  <a:defRPr/>
                </a:pPr>
                <a:endParaRPr lang="en-GB">
                  <a:ea typeface="+mn-ea"/>
                </a:endParaRPr>
              </a:p>
            </p:txBody>
          </p:sp>
        </p:grpSp>
      </p:grpSp>
      <p:sp>
        <p:nvSpPr>
          <p:cNvPr id="33800" name="Right Arrow 13">
            <a:extLst>
              <a:ext uri="{FF2B5EF4-FFF2-40B4-BE49-F238E27FC236}">
                <a16:creationId xmlns:a16="http://schemas.microsoft.com/office/drawing/2014/main" id="{CA3B9873-798C-DCCD-D078-B79C8811E5EF}"/>
              </a:ext>
            </a:extLst>
          </p:cNvPr>
          <p:cNvSpPr>
            <a:spLocks noChangeArrowheads="1"/>
          </p:cNvSpPr>
          <p:nvPr/>
        </p:nvSpPr>
        <p:spPr bwMode="auto">
          <a:xfrm>
            <a:off x="890588" y="5443538"/>
            <a:ext cx="368300" cy="250825"/>
          </a:xfrm>
          <a:prstGeom prst="rightArrow">
            <a:avLst>
              <a:gd name="adj1" fmla="val 50000"/>
              <a:gd name="adj2" fmla="val 50223"/>
            </a:avLst>
          </a:prstGeom>
          <a:solidFill>
            <a:srgbClr val="0000CC"/>
          </a:solidFill>
          <a:ln w="12700">
            <a:solidFill>
              <a:schemeClr val="tx1"/>
            </a:solidFill>
            <a:round/>
            <a:headEnd/>
            <a:tailEnd/>
          </a:ln>
        </p:spPr>
        <p:txBody>
          <a:bodyPr/>
          <a:lstStyle>
            <a:lvl1pPr>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SzTx/>
              <a:buFontTx/>
              <a:buNone/>
            </a:pPr>
            <a:endParaRPr lang="en-US" altLang="en-US" sz="2400">
              <a:latin typeface="Times New Roman" panose="02020603050405020304" pitchFamily="18" charset="0"/>
            </a:endParaRPr>
          </a:p>
        </p:txBody>
      </p:sp>
      <p:sp>
        <p:nvSpPr>
          <p:cNvPr id="33801" name="Rectangle 16">
            <a:extLst>
              <a:ext uri="{FF2B5EF4-FFF2-40B4-BE49-F238E27FC236}">
                <a16:creationId xmlns:a16="http://schemas.microsoft.com/office/drawing/2014/main" id="{20ACB665-B831-7BE0-8559-D3FE8AD016B5}"/>
              </a:ext>
            </a:extLst>
          </p:cNvPr>
          <p:cNvSpPr>
            <a:spLocks noChangeArrowheads="1"/>
          </p:cNvSpPr>
          <p:nvPr/>
        </p:nvSpPr>
        <p:spPr bwMode="auto">
          <a:xfrm>
            <a:off x="5508625" y="4365625"/>
            <a:ext cx="33051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spcBef>
                <a:spcPct val="80000"/>
              </a:spcBef>
              <a:buSzTx/>
              <a:buFontTx/>
              <a:buNone/>
            </a:pPr>
            <a:r>
              <a:rPr lang="en-GB" altLang="en-US" sz="1400">
                <a:solidFill>
                  <a:schemeClr val="tx1"/>
                </a:solidFill>
              </a:rPr>
              <a:t>Force= 1 Kg x 1m s</a:t>
            </a:r>
            <a:r>
              <a:rPr lang="en-GB" altLang="en-US" sz="1400" baseline="30000">
                <a:solidFill>
                  <a:schemeClr val="tx1"/>
                </a:solidFill>
              </a:rPr>
              <a:t>-1</a:t>
            </a:r>
            <a:r>
              <a:rPr lang="en-GB" altLang="en-US" sz="1400">
                <a:solidFill>
                  <a:schemeClr val="tx1"/>
                </a:solidFill>
              </a:rPr>
              <a:t>  = 1 Newton (1 N)</a:t>
            </a:r>
          </a:p>
        </p:txBody>
      </p:sp>
      <p:sp>
        <p:nvSpPr>
          <p:cNvPr id="33802" name="Rectangle 39">
            <a:extLst>
              <a:ext uri="{FF2B5EF4-FFF2-40B4-BE49-F238E27FC236}">
                <a16:creationId xmlns:a16="http://schemas.microsoft.com/office/drawing/2014/main" id="{87E2CD27-8D11-6CC5-4F06-B4E310025E41}"/>
              </a:ext>
            </a:extLst>
          </p:cNvPr>
          <p:cNvSpPr>
            <a:spLocks noChangeArrowheads="1"/>
          </p:cNvSpPr>
          <p:nvPr/>
        </p:nvSpPr>
        <p:spPr bwMode="auto">
          <a:xfrm>
            <a:off x="5508625" y="4941888"/>
            <a:ext cx="3241675"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spcBef>
                <a:spcPct val="80000"/>
              </a:spcBef>
              <a:buSzTx/>
              <a:buFontTx/>
              <a:buNone/>
            </a:pPr>
            <a:r>
              <a:rPr lang="en-GB" altLang="en-US" sz="1400">
                <a:solidFill>
                  <a:schemeClr val="tx1"/>
                </a:solidFill>
              </a:rPr>
              <a:t>Work = (1 Kg x 1m s</a:t>
            </a:r>
            <a:r>
              <a:rPr lang="en-GB" altLang="en-US" sz="1400" baseline="30000">
                <a:solidFill>
                  <a:schemeClr val="tx1"/>
                </a:solidFill>
              </a:rPr>
              <a:t>-1</a:t>
            </a:r>
            <a:r>
              <a:rPr lang="en-GB" altLang="en-US" sz="1400">
                <a:solidFill>
                  <a:schemeClr val="tx1"/>
                </a:solidFill>
              </a:rPr>
              <a:t> ) x 1 m</a:t>
            </a:r>
          </a:p>
          <a:p>
            <a:pPr>
              <a:spcBef>
                <a:spcPct val="80000"/>
              </a:spcBef>
              <a:buSzTx/>
              <a:buFontTx/>
              <a:buNone/>
            </a:pPr>
            <a:r>
              <a:rPr lang="en-GB" altLang="en-US" sz="1400">
                <a:solidFill>
                  <a:schemeClr val="tx1"/>
                </a:solidFill>
              </a:rPr>
              <a:t> = 1 Newton Metre (1 N.m) or Joule (J)</a:t>
            </a:r>
          </a:p>
        </p:txBody>
      </p:sp>
      <p:sp>
        <p:nvSpPr>
          <p:cNvPr id="33803" name="Rectangle 40">
            <a:extLst>
              <a:ext uri="{FF2B5EF4-FFF2-40B4-BE49-F238E27FC236}">
                <a16:creationId xmlns:a16="http://schemas.microsoft.com/office/drawing/2014/main" id="{E9F80820-A34B-7FB0-8C61-621C0DB12A8E}"/>
              </a:ext>
            </a:extLst>
          </p:cNvPr>
          <p:cNvSpPr>
            <a:spLocks noChangeArrowheads="1"/>
          </p:cNvSpPr>
          <p:nvPr/>
        </p:nvSpPr>
        <p:spPr bwMode="auto">
          <a:xfrm>
            <a:off x="5508625" y="5902325"/>
            <a:ext cx="3194050"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spcBef>
                <a:spcPct val="80000"/>
              </a:spcBef>
              <a:buSzTx/>
              <a:buFontTx/>
              <a:buNone/>
            </a:pPr>
            <a:r>
              <a:rPr lang="en-GB" altLang="en-US" sz="1400">
                <a:solidFill>
                  <a:schemeClr val="tx1"/>
                </a:solidFill>
              </a:rPr>
              <a:t>Power = (1 Kg x 1m s</a:t>
            </a:r>
            <a:r>
              <a:rPr lang="en-GB" altLang="en-US" sz="1400" baseline="30000">
                <a:solidFill>
                  <a:schemeClr val="tx1"/>
                </a:solidFill>
              </a:rPr>
              <a:t>-1</a:t>
            </a:r>
            <a:r>
              <a:rPr lang="en-GB" altLang="en-US" sz="1400">
                <a:solidFill>
                  <a:schemeClr val="tx1"/>
                </a:solidFill>
              </a:rPr>
              <a:t>  x 1 m) / time</a:t>
            </a:r>
          </a:p>
          <a:p>
            <a:pPr>
              <a:spcBef>
                <a:spcPct val="80000"/>
              </a:spcBef>
              <a:buSzTx/>
              <a:buFontTx/>
              <a:buNone/>
            </a:pPr>
            <a:r>
              <a:rPr lang="en-GB" altLang="en-US" sz="1400">
                <a:solidFill>
                  <a:schemeClr val="tx1"/>
                </a:solidFill>
              </a:rPr>
              <a:t> = Joule / second ( J s</a:t>
            </a:r>
            <a:r>
              <a:rPr lang="en-GB" altLang="en-US" sz="1400" baseline="30000">
                <a:solidFill>
                  <a:schemeClr val="tx1"/>
                </a:solidFill>
              </a:rPr>
              <a:t>-1</a:t>
            </a:r>
            <a:r>
              <a:rPr lang="en-GB" altLang="en-US" sz="1400">
                <a:solidFill>
                  <a:schemeClr val="tx1"/>
                </a:solidFill>
              </a:rPr>
              <a:t> ) or Watts (W)</a:t>
            </a:r>
          </a:p>
        </p:txBody>
      </p:sp>
      <p:sp>
        <p:nvSpPr>
          <p:cNvPr id="19" name="TextBox 18">
            <a:extLst>
              <a:ext uri="{FF2B5EF4-FFF2-40B4-BE49-F238E27FC236}">
                <a16:creationId xmlns:a16="http://schemas.microsoft.com/office/drawing/2014/main" id="{C74236D5-52FC-7848-9545-40D281A76474}"/>
              </a:ext>
            </a:extLst>
          </p:cNvPr>
          <p:cNvSpPr txBox="1"/>
          <p:nvPr/>
        </p:nvSpPr>
        <p:spPr>
          <a:xfrm>
            <a:off x="79375" y="1036836"/>
            <a:ext cx="1039813" cy="1816100"/>
          </a:xfrm>
          <a:prstGeom prst="rect">
            <a:avLst/>
          </a:prstGeom>
          <a:noFill/>
        </p:spPr>
        <p:txBody>
          <a:bodyPr wrap="none">
            <a:spAutoFit/>
          </a:bodyPr>
          <a:lstStyle/>
          <a:p>
            <a:pPr algn="ctr">
              <a:defRPr/>
            </a:pPr>
            <a:r>
              <a:rPr lang="en-GB" sz="1600" b="1" dirty="0" err="1">
                <a:solidFill>
                  <a:srgbClr val="C00000"/>
                </a:solidFill>
                <a:latin typeface="+mn-lt"/>
                <a:ea typeface="+mn-ea"/>
              </a:rPr>
              <a:t>Newtons</a:t>
            </a:r>
            <a:endParaRPr lang="en-GB" sz="1600" b="1" dirty="0">
              <a:solidFill>
                <a:srgbClr val="C00000"/>
              </a:solidFill>
              <a:latin typeface="+mn-lt"/>
              <a:ea typeface="+mn-ea"/>
            </a:endParaRPr>
          </a:p>
          <a:p>
            <a:pPr algn="ctr">
              <a:defRPr/>
            </a:pPr>
            <a:endParaRPr lang="en-GB" sz="1600" b="1" dirty="0">
              <a:solidFill>
                <a:srgbClr val="C00000"/>
              </a:solidFill>
              <a:latin typeface="+mn-lt"/>
              <a:ea typeface="+mn-ea"/>
            </a:endParaRPr>
          </a:p>
          <a:p>
            <a:pPr algn="ctr">
              <a:defRPr/>
            </a:pPr>
            <a:endParaRPr lang="en-GB" sz="1600" b="1" dirty="0">
              <a:solidFill>
                <a:srgbClr val="C00000"/>
              </a:solidFill>
              <a:latin typeface="+mn-lt"/>
              <a:ea typeface="+mn-ea"/>
            </a:endParaRPr>
          </a:p>
          <a:p>
            <a:pPr algn="ctr">
              <a:defRPr/>
            </a:pPr>
            <a:r>
              <a:rPr lang="en-GB" sz="1600" b="1" dirty="0">
                <a:solidFill>
                  <a:srgbClr val="C00000"/>
                </a:solidFill>
                <a:latin typeface="+mn-lt"/>
                <a:ea typeface="+mn-ea"/>
              </a:rPr>
              <a:t>Joules</a:t>
            </a:r>
          </a:p>
          <a:p>
            <a:pPr algn="ctr">
              <a:defRPr/>
            </a:pPr>
            <a:endParaRPr lang="en-GB" sz="1600" b="1" dirty="0">
              <a:solidFill>
                <a:srgbClr val="C00000"/>
              </a:solidFill>
              <a:latin typeface="+mn-lt"/>
              <a:ea typeface="+mn-ea"/>
            </a:endParaRPr>
          </a:p>
          <a:p>
            <a:pPr algn="ctr">
              <a:defRPr/>
            </a:pPr>
            <a:endParaRPr lang="en-GB" sz="1600" b="1" dirty="0">
              <a:solidFill>
                <a:srgbClr val="C00000"/>
              </a:solidFill>
              <a:latin typeface="+mn-lt"/>
              <a:ea typeface="+mn-ea"/>
            </a:endParaRPr>
          </a:p>
          <a:p>
            <a:pPr algn="ctr">
              <a:defRPr/>
            </a:pPr>
            <a:r>
              <a:rPr lang="en-GB" sz="1600" b="1" dirty="0">
                <a:solidFill>
                  <a:srgbClr val="C00000"/>
                </a:solidFill>
                <a:latin typeface="+mn-lt"/>
                <a:ea typeface="+mn-ea"/>
              </a:rPr>
              <a:t>Watts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3" presetClass="path" presetSubtype="0" accel="50000" decel="50000" fill="hold" nodeType="clickEffect">
                                  <p:stCondLst>
                                    <p:cond delay="0"/>
                                  </p:stCondLst>
                                  <p:childTnLst>
                                    <p:animMotion origin="layout" path="M 0 0 L 0.25 0 E" pathEditMode="relative" ptsTypes="">
                                      <p:cBhvr>
                                        <p:cTn id="6" dur="2000" fill="hold"/>
                                        <p:tgtEl>
                                          <p:spTgt spid="9"/>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1" name="Picture 3" descr="force velocity curve">
            <a:extLst>
              <a:ext uri="{FF2B5EF4-FFF2-40B4-BE49-F238E27FC236}">
                <a16:creationId xmlns:a16="http://schemas.microsoft.com/office/drawing/2014/main" id="{7C838DE6-4DB7-C7E8-E9A4-C862453696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9138" y="1079500"/>
            <a:ext cx="7913687" cy="4910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652" name="Picture 4" descr="power vs velocity">
            <a:extLst>
              <a:ext uri="{FF2B5EF4-FFF2-40B4-BE49-F238E27FC236}">
                <a16:creationId xmlns:a16="http://schemas.microsoft.com/office/drawing/2014/main" id="{16A754FA-8D2A-0D21-955C-002BFBFE07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9138" y="1079500"/>
            <a:ext cx="7910512" cy="490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653" name="Picture 5" descr="0710 (revised)">
            <a:extLst>
              <a:ext uri="{FF2B5EF4-FFF2-40B4-BE49-F238E27FC236}">
                <a16:creationId xmlns:a16="http://schemas.microsoft.com/office/drawing/2014/main" id="{0E3418A8-8F5E-AF8F-C8C3-64B801E31E0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9138" y="1079500"/>
            <a:ext cx="7910512" cy="490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1654" name="Text Box 6">
            <a:extLst>
              <a:ext uri="{FF2B5EF4-FFF2-40B4-BE49-F238E27FC236}">
                <a16:creationId xmlns:a16="http://schemas.microsoft.com/office/drawing/2014/main" id="{510D32F2-A4A3-76CC-117F-E76584EB3D76}"/>
              </a:ext>
            </a:extLst>
          </p:cNvPr>
          <p:cNvSpPr txBox="1">
            <a:spLocks noChangeArrowheads="1"/>
          </p:cNvSpPr>
          <p:nvPr/>
        </p:nvSpPr>
        <p:spPr bwMode="auto">
          <a:xfrm>
            <a:off x="1333500" y="6096000"/>
            <a:ext cx="64785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spcBef>
                <a:spcPct val="50000"/>
              </a:spcBef>
              <a:buSzTx/>
              <a:buFontTx/>
              <a:buNone/>
            </a:pPr>
            <a:r>
              <a:rPr lang="en-GB" altLang="en-US" sz="2400" dirty="0">
                <a:solidFill>
                  <a:srgbClr val="C00000"/>
                </a:solidFill>
              </a:rPr>
              <a:t>Power = Force x velocity of contraction</a:t>
            </a:r>
          </a:p>
        </p:txBody>
      </p:sp>
      <p:sp>
        <p:nvSpPr>
          <p:cNvPr id="35845" name="Rectangle 8">
            <a:extLst>
              <a:ext uri="{FF2B5EF4-FFF2-40B4-BE49-F238E27FC236}">
                <a16:creationId xmlns:a16="http://schemas.microsoft.com/office/drawing/2014/main" id="{8CDA9A55-7729-5966-A9F1-6637C39F61DE}"/>
              </a:ext>
            </a:extLst>
          </p:cNvPr>
          <p:cNvSpPr>
            <a:spLocks noChangeArrowheads="1"/>
          </p:cNvSpPr>
          <p:nvPr/>
        </p:nvSpPr>
        <p:spPr bwMode="auto">
          <a:xfrm>
            <a:off x="79375" y="79375"/>
            <a:ext cx="734536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chor="ctr"/>
          <a:lstStyle>
            <a:lvl1pPr>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SzTx/>
              <a:buFontTx/>
              <a:buNone/>
            </a:pPr>
            <a:r>
              <a:rPr lang="en-GB" altLang="en-US" sz="4000" b="1">
                <a:solidFill>
                  <a:srgbClr val="FFFF00"/>
                </a:solidFill>
              </a:rPr>
              <a:t>Force-velocity curve</a:t>
            </a:r>
          </a:p>
        </p:txBody>
      </p:sp>
      <p:grpSp>
        <p:nvGrpSpPr>
          <p:cNvPr id="411662" name="Group 14">
            <a:extLst>
              <a:ext uri="{FF2B5EF4-FFF2-40B4-BE49-F238E27FC236}">
                <a16:creationId xmlns:a16="http://schemas.microsoft.com/office/drawing/2014/main" id="{03DAC901-4087-C2A2-ACB0-52D7F0BF6685}"/>
              </a:ext>
            </a:extLst>
          </p:cNvPr>
          <p:cNvGrpSpPr>
            <a:grpSpLocks/>
          </p:cNvGrpSpPr>
          <p:nvPr/>
        </p:nvGrpSpPr>
        <p:grpSpPr bwMode="auto">
          <a:xfrm>
            <a:off x="1624013" y="764704"/>
            <a:ext cx="2084387" cy="820737"/>
            <a:chOff x="1023" y="509"/>
            <a:chExt cx="1313" cy="517"/>
          </a:xfrm>
        </p:grpSpPr>
        <p:sp>
          <p:nvSpPr>
            <p:cNvPr id="35852" name="Text Box 9">
              <a:extLst>
                <a:ext uri="{FF2B5EF4-FFF2-40B4-BE49-F238E27FC236}">
                  <a16:creationId xmlns:a16="http://schemas.microsoft.com/office/drawing/2014/main" id="{712A5673-1D22-893D-C087-E45DFCEF4E5F}"/>
                </a:ext>
              </a:extLst>
            </p:cNvPr>
            <p:cNvSpPr txBox="1">
              <a:spLocks noChangeArrowheads="1"/>
            </p:cNvSpPr>
            <p:nvPr/>
          </p:nvSpPr>
          <p:spPr bwMode="auto">
            <a:xfrm>
              <a:off x="1023" y="509"/>
              <a:ext cx="1313" cy="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SzTx/>
                <a:buFontTx/>
                <a:buNone/>
              </a:pPr>
              <a:r>
                <a:rPr lang="en-GB" altLang="en-US" sz="2400" dirty="0">
                  <a:solidFill>
                    <a:srgbClr val="0070C0"/>
                  </a:solidFill>
                </a:rPr>
                <a:t>No shortening</a:t>
              </a:r>
            </a:p>
          </p:txBody>
        </p:sp>
        <p:sp>
          <p:nvSpPr>
            <p:cNvPr id="35853" name="Line 11">
              <a:extLst>
                <a:ext uri="{FF2B5EF4-FFF2-40B4-BE49-F238E27FC236}">
                  <a16:creationId xmlns:a16="http://schemas.microsoft.com/office/drawing/2014/main" id="{DF834CEB-9CA0-60DF-A82B-CF6B5F9E300C}"/>
                </a:ext>
              </a:extLst>
            </p:cNvPr>
            <p:cNvSpPr>
              <a:spLocks noChangeShapeType="1"/>
            </p:cNvSpPr>
            <p:nvPr/>
          </p:nvSpPr>
          <p:spPr bwMode="auto">
            <a:xfrm flipH="1">
              <a:off x="1111" y="754"/>
              <a:ext cx="136" cy="272"/>
            </a:xfrm>
            <a:prstGeom prst="line">
              <a:avLst/>
            </a:prstGeom>
            <a:noFill/>
            <a:ln w="76200">
              <a:solidFill>
                <a:srgbClr val="006699"/>
              </a:solidFill>
              <a:round/>
              <a:headEnd/>
              <a:tailEnd type="triangle" w="med" len="med"/>
            </a:ln>
            <a:extLst>
              <a:ext uri="{909E8E84-426E-40DD-AFC4-6F175D3DCCD1}">
                <a14:hiddenFill xmlns:a14="http://schemas.microsoft.com/office/drawing/2010/main">
                  <a:noFill/>
                </a14:hiddenFill>
              </a:ext>
            </a:extLst>
          </p:spPr>
          <p:txBody>
            <a:bodyPr/>
            <a:lstStyle/>
            <a:p>
              <a:endParaRPr lang="en-GB">
                <a:solidFill>
                  <a:srgbClr val="0070C0"/>
                </a:solidFill>
              </a:endParaRPr>
            </a:p>
          </p:txBody>
        </p:sp>
      </p:grpSp>
      <p:grpSp>
        <p:nvGrpSpPr>
          <p:cNvPr id="411663" name="Group 15">
            <a:extLst>
              <a:ext uri="{FF2B5EF4-FFF2-40B4-BE49-F238E27FC236}">
                <a16:creationId xmlns:a16="http://schemas.microsoft.com/office/drawing/2014/main" id="{FBCB5B3E-7146-5336-922A-95EB21762826}"/>
              </a:ext>
            </a:extLst>
          </p:cNvPr>
          <p:cNvGrpSpPr>
            <a:grpSpLocks/>
          </p:cNvGrpSpPr>
          <p:nvPr/>
        </p:nvGrpSpPr>
        <p:grpSpPr bwMode="auto">
          <a:xfrm>
            <a:off x="7007225" y="5084763"/>
            <a:ext cx="1236663" cy="889000"/>
            <a:chOff x="4414" y="3203"/>
            <a:chExt cx="779" cy="560"/>
          </a:xfrm>
        </p:grpSpPr>
        <p:sp>
          <p:nvSpPr>
            <p:cNvPr id="35850" name="Text Box 10">
              <a:extLst>
                <a:ext uri="{FF2B5EF4-FFF2-40B4-BE49-F238E27FC236}">
                  <a16:creationId xmlns:a16="http://schemas.microsoft.com/office/drawing/2014/main" id="{9460C9BA-482A-0D7D-4403-3E0C580B448E}"/>
                </a:ext>
              </a:extLst>
            </p:cNvPr>
            <p:cNvSpPr txBox="1">
              <a:spLocks noChangeArrowheads="1"/>
            </p:cNvSpPr>
            <p:nvPr/>
          </p:nvSpPr>
          <p:spPr bwMode="auto">
            <a:xfrm>
              <a:off x="4414" y="3475"/>
              <a:ext cx="779" cy="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SzTx/>
                <a:buFontTx/>
                <a:buNone/>
              </a:pPr>
              <a:r>
                <a:rPr lang="en-GB" altLang="en-US" sz="2400">
                  <a:solidFill>
                    <a:srgbClr val="0070C0"/>
                  </a:solidFill>
                </a:rPr>
                <a:t>No load</a:t>
              </a:r>
            </a:p>
          </p:txBody>
        </p:sp>
        <p:sp>
          <p:nvSpPr>
            <p:cNvPr id="35851" name="Line 13">
              <a:extLst>
                <a:ext uri="{FF2B5EF4-FFF2-40B4-BE49-F238E27FC236}">
                  <a16:creationId xmlns:a16="http://schemas.microsoft.com/office/drawing/2014/main" id="{FE453B7E-F2E0-3FC7-56A7-5076C6214786}"/>
                </a:ext>
              </a:extLst>
            </p:cNvPr>
            <p:cNvSpPr>
              <a:spLocks noChangeShapeType="1"/>
            </p:cNvSpPr>
            <p:nvPr/>
          </p:nvSpPr>
          <p:spPr bwMode="auto">
            <a:xfrm flipH="1" flipV="1">
              <a:off x="4513" y="3203"/>
              <a:ext cx="317" cy="272"/>
            </a:xfrm>
            <a:prstGeom prst="line">
              <a:avLst/>
            </a:prstGeom>
            <a:noFill/>
            <a:ln w="76200">
              <a:solidFill>
                <a:srgbClr val="006699"/>
              </a:solidFill>
              <a:round/>
              <a:headEnd/>
              <a:tailEnd type="triangle" w="med" len="med"/>
            </a:ln>
            <a:extLst>
              <a:ext uri="{909E8E84-426E-40DD-AFC4-6F175D3DCCD1}">
                <a14:hiddenFill xmlns:a14="http://schemas.microsoft.com/office/drawing/2010/main">
                  <a:noFill/>
                </a14:hiddenFill>
              </a:ext>
            </a:extLst>
          </p:spPr>
          <p:txBody>
            <a:bodyPr/>
            <a:lstStyle/>
            <a:p>
              <a:endParaRPr lang="en-GB">
                <a:solidFill>
                  <a:srgbClr val="0070C0"/>
                </a:solidFill>
              </a:endParaRPr>
            </a:p>
          </p:txBody>
        </p:sp>
      </p:grpSp>
      <p:sp>
        <p:nvSpPr>
          <p:cNvPr id="35848" name="Line 16">
            <a:extLst>
              <a:ext uri="{FF2B5EF4-FFF2-40B4-BE49-F238E27FC236}">
                <a16:creationId xmlns:a16="http://schemas.microsoft.com/office/drawing/2014/main" id="{B7E3A11D-936B-510B-91B3-98821483FB21}"/>
              </a:ext>
            </a:extLst>
          </p:cNvPr>
          <p:cNvSpPr>
            <a:spLocks noChangeShapeType="1"/>
          </p:cNvSpPr>
          <p:nvPr/>
        </p:nvSpPr>
        <p:spPr bwMode="auto">
          <a:xfrm>
            <a:off x="3276600" y="1773238"/>
            <a:ext cx="0" cy="3384550"/>
          </a:xfrm>
          <a:prstGeom prst="line">
            <a:avLst/>
          </a:prstGeom>
          <a:noFill/>
          <a:ln w="28575">
            <a:solidFill>
              <a:srgbClr val="C30121"/>
            </a:solidFill>
            <a:prstDash val="dash"/>
            <a:round/>
            <a:headEnd/>
            <a:tailEnd/>
          </a:ln>
          <a:extLst>
            <a:ext uri="{909E8E84-426E-40DD-AFC4-6F175D3DCCD1}">
              <a14:hiddenFill xmlns:a14="http://schemas.microsoft.com/office/drawing/2010/main">
                <a:noFill/>
              </a14:hiddenFill>
            </a:ext>
          </a:extLst>
        </p:spPr>
        <p:txBody>
          <a:bodyPr/>
          <a:lstStyle/>
          <a:p>
            <a:endParaRPr lang="en-GB"/>
          </a:p>
        </p:txBody>
      </p:sp>
      <p:sp>
        <p:nvSpPr>
          <p:cNvPr id="14" name="Text Box 10">
            <a:extLst>
              <a:ext uri="{FF2B5EF4-FFF2-40B4-BE49-F238E27FC236}">
                <a16:creationId xmlns:a16="http://schemas.microsoft.com/office/drawing/2014/main" id="{9B3DF3AA-ABF7-1B28-6D05-95270BD3727E}"/>
              </a:ext>
            </a:extLst>
          </p:cNvPr>
          <p:cNvSpPr txBox="1">
            <a:spLocks noChangeArrowheads="1"/>
          </p:cNvSpPr>
          <p:nvPr/>
        </p:nvSpPr>
        <p:spPr bwMode="auto">
          <a:xfrm>
            <a:off x="2925763" y="5229225"/>
            <a:ext cx="795337" cy="4619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SzTx/>
              <a:buFontTx/>
              <a:buNone/>
            </a:pPr>
            <a:r>
              <a:rPr lang="en-GB" altLang="en-US" sz="2400" dirty="0">
                <a:solidFill>
                  <a:srgbClr val="C00000"/>
                </a:solidFill>
              </a:rPr>
              <a:t>1/3</a:t>
            </a:r>
            <a:r>
              <a:rPr lang="en-GB" altLang="en-US" sz="2400" baseline="30000" dirty="0">
                <a:solidFill>
                  <a:srgbClr val="C00000"/>
                </a:solidFill>
              </a:rPr>
              <a:t>rd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5" name="Rectangle 3">
            <a:extLst>
              <a:ext uri="{FF2B5EF4-FFF2-40B4-BE49-F238E27FC236}">
                <a16:creationId xmlns:a16="http://schemas.microsoft.com/office/drawing/2014/main" id="{53AC662A-9ADD-A588-638B-9C245FEEAC7F}"/>
              </a:ext>
            </a:extLst>
          </p:cNvPr>
          <p:cNvSpPr>
            <a:spLocks noGrp="1" noChangeArrowheads="1"/>
          </p:cNvSpPr>
          <p:nvPr>
            <p:ph type="body" idx="1"/>
          </p:nvPr>
        </p:nvSpPr>
        <p:spPr>
          <a:xfrm>
            <a:off x="381000" y="914400"/>
            <a:ext cx="8534400" cy="5638800"/>
          </a:xfrm>
        </p:spPr>
        <p:txBody>
          <a:bodyPr/>
          <a:lstStyle/>
          <a:p>
            <a:pPr>
              <a:spcBef>
                <a:spcPct val="40000"/>
              </a:spcBef>
            </a:pPr>
            <a:r>
              <a:rPr lang="en-GB" altLang="en-US" sz="2400" dirty="0">
                <a:solidFill>
                  <a:schemeClr val="tx1"/>
                </a:solidFill>
              </a:rPr>
              <a:t>There are three main types of muscle: skeletal, cardiac and smooth.</a:t>
            </a:r>
          </a:p>
          <a:p>
            <a:pPr>
              <a:spcBef>
                <a:spcPct val="40000"/>
              </a:spcBef>
            </a:pPr>
            <a:r>
              <a:rPr lang="en-GB" altLang="en-US" sz="2400" dirty="0">
                <a:solidFill>
                  <a:schemeClr val="tx1"/>
                </a:solidFill>
              </a:rPr>
              <a:t>Skeletal muscle is made up of long cylindrical, multi-nucleated cells called muscle fibres. Individual muscle fibres contain myofibrils which are made up of repeating units called sarcomeres.</a:t>
            </a:r>
          </a:p>
          <a:p>
            <a:pPr>
              <a:spcBef>
                <a:spcPct val="40000"/>
              </a:spcBef>
            </a:pPr>
            <a:r>
              <a:rPr lang="en-GB" altLang="en-US" sz="2400" dirty="0">
                <a:solidFill>
                  <a:schemeClr val="tx1"/>
                </a:solidFill>
              </a:rPr>
              <a:t>The sarcomeres are the fundamental contractile unit. </a:t>
            </a:r>
          </a:p>
          <a:p>
            <a:pPr>
              <a:spcBef>
                <a:spcPct val="40000"/>
              </a:spcBef>
            </a:pPr>
            <a:r>
              <a:rPr lang="en-GB" altLang="en-US" sz="2400" dirty="0">
                <a:solidFill>
                  <a:schemeClr val="tx1"/>
                </a:solidFill>
              </a:rPr>
              <a:t>The contraction of skeletal muscle is neurogenic in origin. </a:t>
            </a:r>
          </a:p>
          <a:p>
            <a:pPr>
              <a:spcBef>
                <a:spcPct val="40000"/>
              </a:spcBef>
            </a:pPr>
            <a:r>
              <a:rPr lang="en-GB" altLang="en-US" sz="2400" dirty="0">
                <a:solidFill>
                  <a:schemeClr val="tx1"/>
                </a:solidFill>
              </a:rPr>
              <a:t>Muscles contract because the thin and thick filaments move relative to each other.</a:t>
            </a:r>
          </a:p>
          <a:p>
            <a:pPr>
              <a:spcBef>
                <a:spcPct val="40000"/>
              </a:spcBef>
            </a:pPr>
            <a:r>
              <a:rPr lang="en-GB" altLang="en-US" sz="2400" dirty="0">
                <a:solidFill>
                  <a:schemeClr val="tx1"/>
                </a:solidFill>
              </a:rPr>
              <a:t>The interaction between the thin and thick filaments is regulated by Ca</a:t>
            </a:r>
            <a:r>
              <a:rPr lang="en-GB" altLang="en-US" sz="2400" baseline="30000" dirty="0">
                <a:solidFill>
                  <a:schemeClr val="tx1"/>
                </a:solidFill>
              </a:rPr>
              <a:t>2+</a:t>
            </a:r>
            <a:r>
              <a:rPr lang="en-GB" altLang="en-US" sz="2400" dirty="0">
                <a:solidFill>
                  <a:schemeClr val="tx1"/>
                </a:solidFill>
              </a:rPr>
              <a:t>.</a:t>
            </a:r>
          </a:p>
        </p:txBody>
      </p:sp>
      <p:sp>
        <p:nvSpPr>
          <p:cNvPr id="36866" name="Rectangle 4">
            <a:extLst>
              <a:ext uri="{FF2B5EF4-FFF2-40B4-BE49-F238E27FC236}">
                <a16:creationId xmlns:a16="http://schemas.microsoft.com/office/drawing/2014/main" id="{94881DF1-E161-3A05-1AD4-6D4F733C050D}"/>
              </a:ext>
            </a:extLst>
          </p:cNvPr>
          <p:cNvSpPr>
            <a:spLocks noChangeArrowheads="1"/>
          </p:cNvSpPr>
          <p:nvPr/>
        </p:nvSpPr>
        <p:spPr bwMode="auto">
          <a:xfrm>
            <a:off x="79375" y="79375"/>
            <a:ext cx="734536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chor="ctr"/>
          <a:lstStyle>
            <a:lvl1pPr>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SzTx/>
              <a:buFontTx/>
              <a:buNone/>
            </a:pPr>
            <a:r>
              <a:rPr lang="en-GB" altLang="en-US" sz="4000" b="1">
                <a:solidFill>
                  <a:srgbClr val="FFFF00"/>
                </a:solidFill>
              </a:rPr>
              <a:t>Summary 1</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98" name="Text Box 2">
            <a:extLst>
              <a:ext uri="{FF2B5EF4-FFF2-40B4-BE49-F238E27FC236}">
                <a16:creationId xmlns:a16="http://schemas.microsoft.com/office/drawing/2014/main" id="{1231A9FE-C51A-3A49-A4C4-40063D912C22}"/>
              </a:ext>
            </a:extLst>
          </p:cNvPr>
          <p:cNvSpPr txBox="1">
            <a:spLocks noChangeArrowheads="1"/>
          </p:cNvSpPr>
          <p:nvPr/>
        </p:nvSpPr>
        <p:spPr bwMode="auto">
          <a:xfrm>
            <a:off x="609600" y="1447800"/>
            <a:ext cx="8153400" cy="4192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Char char="•"/>
              <a:defRPr sz="3200">
                <a:solidFill>
                  <a:srgbClr val="FFFFFF"/>
                </a:solidFill>
                <a:latin typeface="Arial" charset="0"/>
                <a:ea typeface="MS PGothic" charset="-128"/>
                <a:cs typeface="Arial" charset="0"/>
              </a:defRPr>
            </a:lvl1pPr>
            <a:lvl2pPr>
              <a:spcBef>
                <a:spcPct val="20000"/>
              </a:spcBef>
              <a:buSzPct val="100000"/>
              <a:buChar char="–"/>
              <a:defRPr sz="2800">
                <a:solidFill>
                  <a:srgbClr val="FFFFFF"/>
                </a:solidFill>
                <a:latin typeface="Arial" charset="0"/>
                <a:ea typeface="Arial" charset="0"/>
                <a:cs typeface="Arial" charset="0"/>
              </a:defRPr>
            </a:lvl2pPr>
            <a:lvl3pPr marL="1143000" indent="-228600">
              <a:spcBef>
                <a:spcPct val="20000"/>
              </a:spcBef>
              <a:buSzPct val="100000"/>
              <a:buChar char="•"/>
              <a:defRPr sz="2400">
                <a:solidFill>
                  <a:srgbClr val="FFFFFF"/>
                </a:solidFill>
                <a:latin typeface="Arial" charset="0"/>
                <a:ea typeface="Arial" charset="0"/>
                <a:cs typeface="Arial" charset="0"/>
              </a:defRPr>
            </a:lvl3pPr>
            <a:lvl4pPr>
              <a:spcBef>
                <a:spcPct val="20000"/>
              </a:spcBef>
              <a:buSzPct val="100000"/>
              <a:buChar char="–"/>
              <a:defRPr sz="2000">
                <a:solidFill>
                  <a:srgbClr val="FFFFFF"/>
                </a:solidFill>
                <a:latin typeface="Arial" charset="0"/>
                <a:ea typeface="Arial" charset="0"/>
                <a:cs typeface="Arial" charset="0"/>
              </a:defRPr>
            </a:lvl4pPr>
            <a:lvl5pPr marL="2057400" indent="-228600">
              <a:spcBef>
                <a:spcPct val="20000"/>
              </a:spcBef>
              <a:buSzPct val="100000"/>
              <a:buChar char="•"/>
              <a:defRPr sz="2000">
                <a:solidFill>
                  <a:srgbClr val="FFFFFF"/>
                </a:solidFill>
                <a:latin typeface="Arial" charset="0"/>
                <a:ea typeface="Arial" charset="0"/>
                <a:cs typeface="Arial" charset="0"/>
              </a:defRPr>
            </a:lvl5pPr>
            <a:lvl6pPr marL="2514600" indent="-228600" eaLnBrk="0" fontAlgn="base" hangingPunct="0">
              <a:spcBef>
                <a:spcPct val="20000"/>
              </a:spcBef>
              <a:spcAft>
                <a:spcPct val="0"/>
              </a:spcAft>
              <a:buSzPct val="100000"/>
              <a:buChar char="•"/>
              <a:defRPr sz="2000">
                <a:solidFill>
                  <a:srgbClr val="FFFFFF"/>
                </a:solidFill>
                <a:latin typeface="Arial" charset="0"/>
                <a:ea typeface="Arial" charset="0"/>
                <a:cs typeface="Arial" charset="0"/>
              </a:defRPr>
            </a:lvl6pPr>
            <a:lvl7pPr marL="2971800" indent="-228600" eaLnBrk="0" fontAlgn="base" hangingPunct="0">
              <a:spcBef>
                <a:spcPct val="20000"/>
              </a:spcBef>
              <a:spcAft>
                <a:spcPct val="0"/>
              </a:spcAft>
              <a:buSzPct val="100000"/>
              <a:buChar char="•"/>
              <a:defRPr sz="2000">
                <a:solidFill>
                  <a:srgbClr val="FFFFFF"/>
                </a:solidFill>
                <a:latin typeface="Arial" charset="0"/>
                <a:ea typeface="Arial" charset="0"/>
                <a:cs typeface="Arial" charset="0"/>
              </a:defRPr>
            </a:lvl7pPr>
            <a:lvl8pPr marL="3429000" indent="-228600" eaLnBrk="0" fontAlgn="base" hangingPunct="0">
              <a:spcBef>
                <a:spcPct val="20000"/>
              </a:spcBef>
              <a:spcAft>
                <a:spcPct val="0"/>
              </a:spcAft>
              <a:buSzPct val="100000"/>
              <a:buChar char="•"/>
              <a:defRPr sz="2000">
                <a:solidFill>
                  <a:srgbClr val="FFFFFF"/>
                </a:solidFill>
                <a:latin typeface="Arial" charset="0"/>
                <a:ea typeface="Arial" charset="0"/>
                <a:cs typeface="Arial" charset="0"/>
              </a:defRPr>
            </a:lvl8pPr>
            <a:lvl9pPr marL="3886200" indent="-228600" eaLnBrk="0" fontAlgn="base" hangingPunct="0">
              <a:spcBef>
                <a:spcPct val="20000"/>
              </a:spcBef>
              <a:spcAft>
                <a:spcPct val="0"/>
              </a:spcAft>
              <a:buSzPct val="100000"/>
              <a:buChar char="•"/>
              <a:defRPr sz="2000">
                <a:solidFill>
                  <a:srgbClr val="FFFFFF"/>
                </a:solidFill>
                <a:latin typeface="Arial" charset="0"/>
                <a:ea typeface="Arial" charset="0"/>
                <a:cs typeface="Arial" charset="0"/>
              </a:defRPr>
            </a:lvl9pPr>
          </a:lstStyle>
          <a:p>
            <a:pPr>
              <a:spcBef>
                <a:spcPct val="30000"/>
              </a:spcBef>
              <a:buSzTx/>
              <a:buFontTx/>
              <a:buNone/>
              <a:defRPr/>
            </a:pPr>
            <a:r>
              <a:rPr lang="en-GB" altLang="en-US" sz="2400" dirty="0">
                <a:solidFill>
                  <a:schemeClr val="tx1"/>
                </a:solidFill>
              </a:rPr>
              <a:t>The force developed by a muscle depends on:</a:t>
            </a:r>
          </a:p>
          <a:p>
            <a:pPr>
              <a:spcBef>
                <a:spcPct val="30000"/>
              </a:spcBef>
              <a:buSzTx/>
              <a:buFontTx/>
              <a:buNone/>
              <a:defRPr/>
            </a:pPr>
            <a:endParaRPr lang="en-GB" altLang="en-US" sz="2400" dirty="0">
              <a:solidFill>
                <a:schemeClr val="tx1"/>
              </a:solidFill>
            </a:endParaRPr>
          </a:p>
          <a:p>
            <a:pPr marL="342900" indent="-342900">
              <a:spcBef>
                <a:spcPct val="50000"/>
              </a:spcBef>
              <a:buSzTx/>
              <a:defRPr/>
            </a:pPr>
            <a:r>
              <a:rPr lang="en-GB" altLang="x-none" sz="2400" dirty="0">
                <a:solidFill>
                  <a:schemeClr val="tx1"/>
                </a:solidFill>
              </a:rPr>
              <a:t>The number of active motor units</a:t>
            </a:r>
          </a:p>
          <a:p>
            <a:pPr marL="342900" indent="-342900">
              <a:spcBef>
                <a:spcPct val="50000"/>
              </a:spcBef>
              <a:buSzTx/>
              <a:defRPr/>
            </a:pPr>
            <a:r>
              <a:rPr lang="en-GB" altLang="x-none" sz="2400" dirty="0">
                <a:solidFill>
                  <a:schemeClr val="tx1"/>
                </a:solidFill>
              </a:rPr>
              <a:t>The cross-sectional area of the muscle</a:t>
            </a:r>
          </a:p>
          <a:p>
            <a:pPr marL="342900" indent="-342900">
              <a:spcBef>
                <a:spcPct val="50000"/>
              </a:spcBef>
              <a:buSzTx/>
              <a:defRPr/>
            </a:pPr>
            <a:r>
              <a:rPr lang="en-GB" altLang="x-none" sz="2400" dirty="0">
                <a:solidFill>
                  <a:schemeClr val="tx1"/>
                </a:solidFill>
              </a:rPr>
              <a:t>The frequency of stimulation</a:t>
            </a:r>
          </a:p>
          <a:p>
            <a:pPr marL="342900" indent="-342900">
              <a:spcBef>
                <a:spcPct val="50000"/>
              </a:spcBef>
              <a:buSzTx/>
              <a:defRPr/>
            </a:pPr>
            <a:r>
              <a:rPr lang="en-GB" altLang="x-none" sz="2400" dirty="0">
                <a:solidFill>
                  <a:schemeClr val="tx1"/>
                </a:solidFill>
              </a:rPr>
              <a:t>The initial resting length of the muscle</a:t>
            </a:r>
          </a:p>
          <a:p>
            <a:pPr marL="342900" indent="-342900">
              <a:spcBef>
                <a:spcPct val="50000"/>
              </a:spcBef>
              <a:buSzTx/>
              <a:defRPr/>
            </a:pPr>
            <a:r>
              <a:rPr lang="en-GB" altLang="x-none" sz="2400" dirty="0">
                <a:solidFill>
                  <a:schemeClr val="tx1"/>
                </a:solidFill>
              </a:rPr>
              <a:t>The rate at which the muscle shortens</a:t>
            </a:r>
          </a:p>
          <a:p>
            <a:pPr lvl="1">
              <a:spcBef>
                <a:spcPct val="30000"/>
              </a:spcBef>
              <a:buSzTx/>
              <a:buFontTx/>
              <a:buChar char="•"/>
              <a:defRPr/>
            </a:pPr>
            <a:endParaRPr lang="en-GB" altLang="en-US" sz="2400" dirty="0">
              <a:solidFill>
                <a:schemeClr val="tx1"/>
              </a:solidFill>
              <a:ea typeface="MS PGothic" charset="-128"/>
            </a:endParaRPr>
          </a:p>
        </p:txBody>
      </p:sp>
      <p:sp>
        <p:nvSpPr>
          <p:cNvPr id="37890" name="Rectangle 4">
            <a:extLst>
              <a:ext uri="{FF2B5EF4-FFF2-40B4-BE49-F238E27FC236}">
                <a16:creationId xmlns:a16="http://schemas.microsoft.com/office/drawing/2014/main" id="{410963C6-7250-E62D-FDD5-577DB9EED2E6}"/>
              </a:ext>
            </a:extLst>
          </p:cNvPr>
          <p:cNvSpPr>
            <a:spLocks noChangeArrowheads="1"/>
          </p:cNvSpPr>
          <p:nvPr/>
        </p:nvSpPr>
        <p:spPr bwMode="auto">
          <a:xfrm>
            <a:off x="79375" y="79375"/>
            <a:ext cx="734536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chor="ctr"/>
          <a:lstStyle>
            <a:lvl1pPr>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SzTx/>
              <a:buFontTx/>
              <a:buNone/>
            </a:pPr>
            <a:r>
              <a:rPr lang="en-GB" altLang="en-US" sz="4000" b="1" dirty="0">
                <a:solidFill>
                  <a:srgbClr val="FFFF00"/>
                </a:solidFill>
              </a:rPr>
              <a:t>Summary 2</a:t>
            </a:r>
          </a:p>
        </p:txBody>
      </p:sp>
      <p:pic>
        <p:nvPicPr>
          <p:cNvPr id="4" name="Picture 4" descr="TOPSHOT-ATHLETICS-OLY-2016-RIO">
            <a:extLst>
              <a:ext uri="{FF2B5EF4-FFF2-40B4-BE49-F238E27FC236}">
                <a16:creationId xmlns:a16="http://schemas.microsoft.com/office/drawing/2014/main" id="{5FE10E57-D96E-AE4A-B1F4-5F9002A74D08}"/>
              </a:ext>
            </a:extLst>
          </p:cNvPr>
          <p:cNvPicPr>
            <a:picLocks noChangeAspect="1" noChangeArrowheads="1"/>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6300192" y="4941168"/>
            <a:ext cx="2625088" cy="174812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Content Placeholder 3">
            <a:extLst>
              <a:ext uri="{FF2B5EF4-FFF2-40B4-BE49-F238E27FC236}">
                <a16:creationId xmlns:a16="http://schemas.microsoft.com/office/drawing/2014/main" id="{C0C20983-E019-8E4F-8400-47C2EE944110}"/>
              </a:ext>
            </a:extLst>
          </p:cNvPr>
          <p:cNvSpPr>
            <a:spLocks noGrp="1"/>
          </p:cNvSpPr>
          <p:nvPr>
            <p:ph idx="1"/>
          </p:nvPr>
        </p:nvSpPr>
        <p:spPr>
          <a:xfrm>
            <a:off x="649288" y="764704"/>
            <a:ext cx="7845425" cy="4114800"/>
          </a:xfrm>
        </p:spPr>
        <p:txBody>
          <a:bodyPr/>
          <a:lstStyle/>
          <a:p>
            <a:pPr>
              <a:buClr>
                <a:schemeClr val="tx1"/>
              </a:buClr>
              <a:defRPr/>
            </a:pPr>
            <a:endParaRPr lang="en-US" altLang="en-US" sz="2400" dirty="0">
              <a:solidFill>
                <a:srgbClr val="0000CC"/>
              </a:solidFill>
              <a:ea typeface="MS PGothic" charset="-128"/>
            </a:endParaRPr>
          </a:p>
          <a:p>
            <a:pPr>
              <a:buClr>
                <a:schemeClr val="tx1"/>
              </a:buClr>
              <a:defRPr/>
            </a:pPr>
            <a:r>
              <a:rPr lang="en-US" altLang="en-US" sz="2400" dirty="0">
                <a:solidFill>
                  <a:srgbClr val="0000CC"/>
                </a:solidFill>
                <a:ea typeface="MS PGothic" charset="-128"/>
                <a:hlinkClick r:id="rId2"/>
              </a:rPr>
              <a:t>https://www.youtube.com/watch?v=sIH8uOg8ddw</a:t>
            </a:r>
            <a:endParaRPr lang="en-US" altLang="en-US" sz="2400" dirty="0">
              <a:solidFill>
                <a:srgbClr val="0000CC"/>
              </a:solidFill>
              <a:ea typeface="MS PGothic" charset="-128"/>
            </a:endParaRPr>
          </a:p>
          <a:p>
            <a:pPr>
              <a:buClr>
                <a:schemeClr val="tx1"/>
              </a:buClr>
              <a:defRPr/>
            </a:pPr>
            <a:r>
              <a:rPr lang="en-US" altLang="en-US" sz="2400" dirty="0">
                <a:solidFill>
                  <a:srgbClr val="0000CC"/>
                </a:solidFill>
                <a:ea typeface="MS PGothic" charset="-128"/>
                <a:hlinkClick r:id="rId3"/>
              </a:rPr>
              <a:t>https://www.youtube.com/watch?v=DfKKf89-dFI</a:t>
            </a:r>
            <a:endParaRPr lang="en-US" altLang="en-US" sz="2400" dirty="0">
              <a:solidFill>
                <a:srgbClr val="0000CC"/>
              </a:solidFill>
              <a:ea typeface="MS PGothic" charset="-128"/>
            </a:endParaRPr>
          </a:p>
          <a:p>
            <a:pPr>
              <a:buClr>
                <a:schemeClr val="tx1"/>
              </a:buClr>
              <a:defRPr/>
            </a:pPr>
            <a:r>
              <a:rPr lang="en-US" altLang="en-US" sz="2400" dirty="0">
                <a:solidFill>
                  <a:srgbClr val="0000CC"/>
                </a:solidFill>
                <a:ea typeface="MS PGothic" charset="-128"/>
                <a:hlinkClick r:id="rId4"/>
              </a:rPr>
              <a:t>https://www.youtube.com/watch?v=UhSSqToeMsI</a:t>
            </a:r>
            <a:endParaRPr lang="en-US" altLang="en-US" sz="2400" dirty="0">
              <a:solidFill>
                <a:srgbClr val="0000CC"/>
              </a:solidFill>
              <a:ea typeface="MS PGothic" charset="-128"/>
            </a:endParaRPr>
          </a:p>
          <a:p>
            <a:pPr marL="0" indent="0">
              <a:buClr>
                <a:schemeClr val="tx1"/>
              </a:buClr>
              <a:defRPr/>
            </a:pPr>
            <a:endParaRPr lang="en-US" altLang="en-US" sz="2400" dirty="0">
              <a:solidFill>
                <a:srgbClr val="0000CC"/>
              </a:solidFill>
              <a:ea typeface="MS PGothic" charset="-128"/>
            </a:endParaRPr>
          </a:p>
          <a:p>
            <a:pPr marL="0" indent="0">
              <a:buClr>
                <a:schemeClr val="tx1"/>
              </a:buClr>
              <a:defRPr/>
            </a:pPr>
            <a:endParaRPr lang="en-US" altLang="en-US" sz="2400" dirty="0">
              <a:solidFill>
                <a:srgbClr val="0000CC"/>
              </a:solidFill>
              <a:ea typeface="MS PGothic" charset="-128"/>
            </a:endParaRPr>
          </a:p>
          <a:p>
            <a:pPr marL="0" indent="0">
              <a:buClr>
                <a:schemeClr val="tx1"/>
              </a:buClr>
              <a:defRPr/>
            </a:pPr>
            <a:endParaRPr lang="en-US" altLang="en-US" sz="2400" dirty="0">
              <a:solidFill>
                <a:srgbClr val="0000CC"/>
              </a:solidFill>
              <a:ea typeface="MS PGothic" charset="-128"/>
            </a:endParaRPr>
          </a:p>
          <a:p>
            <a:pPr marL="0" indent="0">
              <a:buClr>
                <a:schemeClr val="tx1"/>
              </a:buClr>
              <a:defRPr/>
            </a:pPr>
            <a:endParaRPr lang="en-US" altLang="en-US" sz="2400" dirty="0">
              <a:solidFill>
                <a:srgbClr val="0000CC"/>
              </a:solidFill>
              <a:ea typeface="MS PGothic" charset="-128"/>
            </a:endParaRPr>
          </a:p>
        </p:txBody>
      </p:sp>
      <p:sp>
        <p:nvSpPr>
          <p:cNvPr id="4" name="Rectangle 4">
            <a:extLst>
              <a:ext uri="{FF2B5EF4-FFF2-40B4-BE49-F238E27FC236}">
                <a16:creationId xmlns:a16="http://schemas.microsoft.com/office/drawing/2014/main" id="{4076FC9C-7D4E-6E40-8F12-D53F5662F47A}"/>
              </a:ext>
            </a:extLst>
          </p:cNvPr>
          <p:cNvSpPr>
            <a:spLocks noChangeArrowheads="1"/>
          </p:cNvSpPr>
          <p:nvPr/>
        </p:nvSpPr>
        <p:spPr bwMode="auto">
          <a:xfrm>
            <a:off x="79375" y="79375"/>
            <a:ext cx="734536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chor="ctr"/>
          <a:lstStyle>
            <a:lvl1pPr>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SzTx/>
              <a:buFontTx/>
              <a:buNone/>
            </a:pPr>
            <a:r>
              <a:rPr lang="en-GB" altLang="en-US" sz="4000" b="1" dirty="0">
                <a:solidFill>
                  <a:srgbClr val="FFFF00"/>
                </a:solidFill>
              </a:rPr>
              <a:t>Useful links</a:t>
            </a:r>
          </a:p>
        </p:txBody>
      </p:sp>
      <p:sp>
        <p:nvSpPr>
          <p:cNvPr id="2" name="Rectangle 1">
            <a:extLst>
              <a:ext uri="{FF2B5EF4-FFF2-40B4-BE49-F238E27FC236}">
                <a16:creationId xmlns:a16="http://schemas.microsoft.com/office/drawing/2014/main" id="{296B339C-6D5B-674A-A26C-9483DC2B2FD7}"/>
              </a:ext>
            </a:extLst>
          </p:cNvPr>
          <p:cNvSpPr/>
          <p:nvPr/>
        </p:nvSpPr>
        <p:spPr>
          <a:xfrm>
            <a:off x="395536" y="3429000"/>
            <a:ext cx="8496944" cy="2677656"/>
          </a:xfrm>
          <a:prstGeom prst="rect">
            <a:avLst/>
          </a:prstGeom>
        </p:spPr>
        <p:txBody>
          <a:bodyPr wrap="square">
            <a:spAutoFit/>
          </a:bodyPr>
          <a:lstStyle/>
          <a:p>
            <a:pPr marL="0" indent="0">
              <a:buFontTx/>
              <a:buNone/>
            </a:pPr>
            <a:r>
              <a:rPr lang="en-US" altLang="en-US" b="1" dirty="0">
                <a:solidFill>
                  <a:schemeClr val="tx1"/>
                </a:solidFill>
                <a:latin typeface="+mj-lt"/>
                <a:cs typeface="+mj-cs"/>
              </a:rPr>
              <a:t>Recommended Reading</a:t>
            </a:r>
          </a:p>
          <a:p>
            <a:pPr marL="0" indent="0">
              <a:buFontTx/>
              <a:buNone/>
            </a:pPr>
            <a:endParaRPr lang="en-US" altLang="en-US" b="1" dirty="0">
              <a:solidFill>
                <a:schemeClr val="tx1"/>
              </a:solidFill>
              <a:latin typeface="+mj-lt"/>
              <a:cs typeface="+mj-cs"/>
            </a:endParaRPr>
          </a:p>
          <a:p>
            <a:pPr marL="0" indent="0">
              <a:buFontTx/>
              <a:buNone/>
            </a:pPr>
            <a:r>
              <a:rPr lang="en-US" altLang="en-US" dirty="0">
                <a:solidFill>
                  <a:schemeClr val="tx1"/>
                </a:solidFill>
                <a:latin typeface="+mn-lt"/>
                <a:cs typeface="+mj-cs"/>
              </a:rPr>
              <a:t>Pocock, Richards and Richards “Human Physiology”</a:t>
            </a:r>
          </a:p>
          <a:p>
            <a:pPr marL="0" indent="0"/>
            <a:r>
              <a:rPr lang="en-US" altLang="en-US" dirty="0">
                <a:solidFill>
                  <a:schemeClr val="tx1"/>
                </a:solidFill>
                <a:latin typeface="+mn-lt"/>
                <a:cs typeface="+mj-cs"/>
              </a:rPr>
              <a:t>5</a:t>
            </a:r>
            <a:r>
              <a:rPr lang="en-US" altLang="en-US" baseline="30000" dirty="0">
                <a:solidFill>
                  <a:schemeClr val="tx1"/>
                </a:solidFill>
                <a:latin typeface="+mn-lt"/>
                <a:cs typeface="+mj-cs"/>
              </a:rPr>
              <a:t>th</a:t>
            </a:r>
            <a:r>
              <a:rPr lang="en-US" altLang="en-US" dirty="0">
                <a:solidFill>
                  <a:schemeClr val="tx1"/>
                </a:solidFill>
                <a:latin typeface="+mn-lt"/>
                <a:cs typeface="+mj-cs"/>
              </a:rPr>
              <a:t> </a:t>
            </a:r>
            <a:r>
              <a:rPr lang="en-US" altLang="en-US" dirty="0" err="1">
                <a:solidFill>
                  <a:schemeClr val="tx1"/>
                </a:solidFill>
                <a:latin typeface="+mn-lt"/>
                <a:cs typeface="+mj-cs"/>
              </a:rPr>
              <a:t>edn</a:t>
            </a:r>
            <a:r>
              <a:rPr lang="en-US" altLang="en-US" dirty="0">
                <a:solidFill>
                  <a:schemeClr val="tx1"/>
                </a:solidFill>
                <a:latin typeface="+mn-lt"/>
                <a:cs typeface="+mj-cs"/>
              </a:rPr>
              <a:t> p120-131</a:t>
            </a:r>
          </a:p>
          <a:p>
            <a:pPr marL="0" indent="0"/>
            <a:r>
              <a:rPr lang="en-US" altLang="en-US" dirty="0">
                <a:solidFill>
                  <a:schemeClr val="tx1"/>
                </a:solidFill>
                <a:latin typeface="+mn-lt"/>
                <a:cs typeface="+mj-cs"/>
              </a:rPr>
              <a:t>4</a:t>
            </a:r>
            <a:r>
              <a:rPr lang="en-US" altLang="en-US" baseline="30000" dirty="0">
                <a:solidFill>
                  <a:schemeClr val="tx1"/>
                </a:solidFill>
                <a:latin typeface="+mn-lt"/>
                <a:cs typeface="+mj-cs"/>
              </a:rPr>
              <a:t>th</a:t>
            </a:r>
            <a:r>
              <a:rPr lang="en-US" altLang="en-US" dirty="0">
                <a:solidFill>
                  <a:schemeClr val="tx1"/>
                </a:solidFill>
                <a:latin typeface="+mn-lt"/>
                <a:cs typeface="+mj-cs"/>
              </a:rPr>
              <a:t> </a:t>
            </a:r>
            <a:r>
              <a:rPr lang="en-US" altLang="en-US" dirty="0" err="1">
                <a:solidFill>
                  <a:schemeClr val="tx1"/>
                </a:solidFill>
                <a:latin typeface="+mn-lt"/>
                <a:cs typeface="+mj-cs"/>
              </a:rPr>
              <a:t>edn</a:t>
            </a:r>
            <a:r>
              <a:rPr lang="en-US" altLang="en-US" dirty="0">
                <a:solidFill>
                  <a:schemeClr val="tx1"/>
                </a:solidFill>
                <a:latin typeface="+mn-lt"/>
                <a:cs typeface="+mj-cs"/>
              </a:rPr>
              <a:t> p117-127</a:t>
            </a:r>
          </a:p>
          <a:p>
            <a:pPr marL="0" indent="0"/>
            <a:r>
              <a:rPr lang="en-US" altLang="en-US" dirty="0">
                <a:solidFill>
                  <a:schemeClr val="tx1"/>
                </a:solidFill>
                <a:latin typeface="+mn-lt"/>
                <a:cs typeface="+mj-cs"/>
              </a:rPr>
              <a:t>3</a:t>
            </a:r>
            <a:r>
              <a:rPr lang="en-US" altLang="en-US" baseline="30000" dirty="0">
                <a:solidFill>
                  <a:schemeClr val="tx1"/>
                </a:solidFill>
                <a:latin typeface="+mn-lt"/>
                <a:cs typeface="+mj-cs"/>
              </a:rPr>
              <a:t>rd</a:t>
            </a:r>
            <a:r>
              <a:rPr lang="en-US" altLang="en-US" dirty="0">
                <a:solidFill>
                  <a:schemeClr val="tx1"/>
                </a:solidFill>
                <a:latin typeface="+mn-lt"/>
                <a:cs typeface="+mj-cs"/>
              </a:rPr>
              <a:t> </a:t>
            </a:r>
            <a:r>
              <a:rPr lang="en-US" altLang="en-US" dirty="0" err="1">
                <a:solidFill>
                  <a:schemeClr val="tx1"/>
                </a:solidFill>
                <a:latin typeface="+mn-lt"/>
                <a:cs typeface="+mj-cs"/>
              </a:rPr>
              <a:t>edn</a:t>
            </a:r>
            <a:r>
              <a:rPr lang="en-US" altLang="en-US" dirty="0">
                <a:solidFill>
                  <a:schemeClr val="tx1"/>
                </a:solidFill>
                <a:latin typeface="+mn-lt"/>
                <a:cs typeface="+mj-cs"/>
              </a:rPr>
              <a:t> p83-92</a:t>
            </a:r>
          </a:p>
          <a:p>
            <a:pPr marL="0" indent="0"/>
            <a:r>
              <a:rPr lang="en-US" altLang="en-US" dirty="0">
                <a:solidFill>
                  <a:schemeClr val="tx1"/>
                </a:solidFill>
                <a:latin typeface="+mn-lt"/>
                <a:cs typeface="+mj-cs"/>
              </a:rPr>
              <a:t>2</a:t>
            </a:r>
            <a:r>
              <a:rPr lang="en-US" altLang="en-US" baseline="30000" dirty="0">
                <a:solidFill>
                  <a:schemeClr val="tx1"/>
                </a:solidFill>
                <a:latin typeface="+mn-lt"/>
                <a:cs typeface="+mj-cs"/>
              </a:rPr>
              <a:t>nd</a:t>
            </a:r>
            <a:r>
              <a:rPr lang="en-US" altLang="en-US" dirty="0">
                <a:solidFill>
                  <a:schemeClr val="tx1"/>
                </a:solidFill>
                <a:latin typeface="+mn-lt"/>
                <a:cs typeface="+mj-cs"/>
              </a:rPr>
              <a:t> </a:t>
            </a:r>
            <a:r>
              <a:rPr lang="en-US" altLang="en-US" dirty="0" err="1">
                <a:solidFill>
                  <a:schemeClr val="tx1"/>
                </a:solidFill>
                <a:latin typeface="+mn-lt"/>
                <a:cs typeface="+mj-cs"/>
              </a:rPr>
              <a:t>edn</a:t>
            </a:r>
            <a:r>
              <a:rPr lang="en-US" altLang="en-US" dirty="0">
                <a:solidFill>
                  <a:schemeClr val="tx1"/>
                </a:solidFill>
                <a:latin typeface="+mn-lt"/>
                <a:cs typeface="+mj-cs"/>
              </a:rPr>
              <a:t> p97-105</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41CBED37-C3B8-8549-9F08-E96A027CF8A6}"/>
              </a:ext>
            </a:extLst>
          </p:cNvPr>
          <p:cNvSpPr>
            <a:spLocks noGrp="1"/>
          </p:cNvSpPr>
          <p:nvPr>
            <p:ph idx="1"/>
          </p:nvPr>
        </p:nvSpPr>
        <p:spPr>
          <a:xfrm>
            <a:off x="1117600" y="980728"/>
            <a:ext cx="6908800" cy="5115272"/>
          </a:xfrm>
        </p:spPr>
        <p:txBody>
          <a:bodyPr/>
          <a:lstStyle/>
          <a:p>
            <a:pPr marL="0" indent="0">
              <a:buNone/>
            </a:pPr>
            <a:r>
              <a:rPr lang="en-US" sz="2800" dirty="0">
                <a:solidFill>
                  <a:schemeClr val="tx1"/>
                </a:solidFill>
              </a:rPr>
              <a:t>Single Best Answer (SBA) style question</a:t>
            </a:r>
          </a:p>
          <a:p>
            <a:r>
              <a:rPr lang="en-US" sz="2800" dirty="0">
                <a:solidFill>
                  <a:schemeClr val="tx1"/>
                </a:solidFill>
              </a:rPr>
              <a:t>Lt pre practical quiz (formative)</a:t>
            </a:r>
          </a:p>
          <a:p>
            <a:r>
              <a:rPr lang="en-US" sz="2800" dirty="0">
                <a:solidFill>
                  <a:schemeClr val="tx1"/>
                </a:solidFill>
              </a:rPr>
              <a:t>Lt post-practical quiz (summative)</a:t>
            </a:r>
          </a:p>
          <a:p>
            <a:r>
              <a:rPr lang="en-US" sz="2800" dirty="0">
                <a:solidFill>
                  <a:schemeClr val="tx1"/>
                </a:solidFill>
              </a:rPr>
              <a:t>Test One (summative)</a:t>
            </a:r>
          </a:p>
          <a:p>
            <a:endParaRPr lang="en-US" sz="2800" dirty="0">
              <a:solidFill>
                <a:schemeClr val="tx1"/>
              </a:solidFill>
            </a:endParaRPr>
          </a:p>
          <a:p>
            <a:pPr marL="0" indent="0">
              <a:buNone/>
            </a:pPr>
            <a:r>
              <a:rPr lang="en-US" sz="2400" dirty="0">
                <a:solidFill>
                  <a:schemeClr val="tx1"/>
                </a:solidFill>
              </a:rPr>
              <a:t>“Where would you find titin within a muscle cell?”</a:t>
            </a:r>
          </a:p>
          <a:p>
            <a:pPr marL="514350" indent="-514350">
              <a:buFont typeface="+mj-lt"/>
              <a:buAutoNum type="alphaLcParenR"/>
            </a:pPr>
            <a:r>
              <a:rPr lang="en-US" sz="2000" dirty="0">
                <a:solidFill>
                  <a:schemeClr val="tx1"/>
                </a:solidFill>
              </a:rPr>
              <a:t>On the plasma membrane outer surface</a:t>
            </a:r>
          </a:p>
          <a:p>
            <a:pPr marL="514350" indent="-514350">
              <a:buFont typeface="+mj-lt"/>
              <a:buAutoNum type="alphaLcParenR"/>
            </a:pPr>
            <a:r>
              <a:rPr lang="en-US" sz="2000" dirty="0">
                <a:solidFill>
                  <a:schemeClr val="tx1"/>
                </a:solidFill>
              </a:rPr>
              <a:t>On the inside of the sarcolemma</a:t>
            </a:r>
          </a:p>
          <a:p>
            <a:pPr marL="514350" indent="-514350">
              <a:buFont typeface="+mj-lt"/>
              <a:buAutoNum type="alphaLcParenR"/>
            </a:pPr>
            <a:r>
              <a:rPr lang="en-US" sz="2000" dirty="0">
                <a:solidFill>
                  <a:schemeClr val="tx1"/>
                </a:solidFill>
              </a:rPr>
              <a:t>One the nuclear membrane surrounding the nucleus</a:t>
            </a:r>
          </a:p>
          <a:p>
            <a:pPr marL="514350" indent="-514350">
              <a:buFont typeface="+mj-lt"/>
              <a:buAutoNum type="alphaLcParenR"/>
            </a:pPr>
            <a:r>
              <a:rPr lang="en-US" sz="2000" dirty="0">
                <a:solidFill>
                  <a:schemeClr val="tx1"/>
                </a:solidFill>
              </a:rPr>
              <a:t>Within the transverse tubules</a:t>
            </a:r>
          </a:p>
          <a:p>
            <a:pPr marL="514350" indent="-514350">
              <a:buFont typeface="+mj-lt"/>
              <a:buAutoNum type="alphaLcParenR"/>
            </a:pPr>
            <a:r>
              <a:rPr lang="en-US" sz="2000" dirty="0">
                <a:solidFill>
                  <a:schemeClr val="tx1"/>
                </a:solidFill>
              </a:rPr>
              <a:t>On the sarcoplasmic reticulum membrane</a:t>
            </a:r>
          </a:p>
          <a:p>
            <a:pPr marL="514350" indent="-514350">
              <a:buFont typeface="+mj-lt"/>
              <a:buAutoNum type="alphaLcParenR"/>
            </a:pPr>
            <a:endParaRPr lang="en-US" sz="2800" dirty="0">
              <a:solidFill>
                <a:schemeClr val="tx1"/>
              </a:solidFill>
            </a:endParaRPr>
          </a:p>
        </p:txBody>
      </p:sp>
      <p:sp>
        <p:nvSpPr>
          <p:cNvPr id="4" name="Rectangle 4">
            <a:extLst>
              <a:ext uri="{FF2B5EF4-FFF2-40B4-BE49-F238E27FC236}">
                <a16:creationId xmlns:a16="http://schemas.microsoft.com/office/drawing/2014/main" id="{8A3F2194-2F0C-3B48-AD63-A9C714E48C27}"/>
              </a:ext>
            </a:extLst>
          </p:cNvPr>
          <p:cNvSpPr>
            <a:spLocks noChangeArrowheads="1"/>
          </p:cNvSpPr>
          <p:nvPr/>
        </p:nvSpPr>
        <p:spPr bwMode="auto">
          <a:xfrm>
            <a:off x="79375" y="79375"/>
            <a:ext cx="734536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chor="ctr"/>
          <a:lstStyle>
            <a:lvl1pPr>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SzTx/>
              <a:buFontTx/>
              <a:buNone/>
            </a:pPr>
            <a:r>
              <a:rPr lang="en-GB" altLang="en-US" sz="4000" b="1" dirty="0">
                <a:solidFill>
                  <a:srgbClr val="FFFF00"/>
                </a:solidFill>
              </a:rPr>
              <a:t>Assessment</a:t>
            </a:r>
          </a:p>
        </p:txBody>
      </p:sp>
    </p:spTree>
    <p:extLst>
      <p:ext uri="{BB962C8B-B14F-4D97-AF65-F5344CB8AC3E}">
        <p14:creationId xmlns:p14="http://schemas.microsoft.com/office/powerpoint/2010/main" val="5483313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41CBED37-C3B8-8549-9F08-E96A027CF8A6}"/>
              </a:ext>
            </a:extLst>
          </p:cNvPr>
          <p:cNvSpPr>
            <a:spLocks noGrp="1"/>
          </p:cNvSpPr>
          <p:nvPr>
            <p:ph idx="1"/>
          </p:nvPr>
        </p:nvSpPr>
        <p:spPr>
          <a:xfrm>
            <a:off x="1117600" y="980728"/>
            <a:ext cx="6908800" cy="5115272"/>
          </a:xfrm>
        </p:spPr>
        <p:txBody>
          <a:bodyPr/>
          <a:lstStyle/>
          <a:p>
            <a:pPr marL="0" indent="0">
              <a:buNone/>
            </a:pPr>
            <a:r>
              <a:rPr lang="en-US" sz="2400" b="1" dirty="0">
                <a:solidFill>
                  <a:schemeClr val="tx1"/>
                </a:solidFill>
              </a:rPr>
              <a:t>Essay style question:</a:t>
            </a:r>
          </a:p>
          <a:p>
            <a:pPr marL="0" indent="0">
              <a:buNone/>
            </a:pPr>
            <a:r>
              <a:rPr lang="en-US" sz="2800" dirty="0">
                <a:solidFill>
                  <a:schemeClr val="tx1"/>
                </a:solidFill>
              </a:rPr>
              <a:t>“Compare and </a:t>
            </a:r>
            <a:r>
              <a:rPr lang="en-US" sz="2800" dirty="0" err="1">
                <a:solidFill>
                  <a:schemeClr val="tx1"/>
                </a:solidFill>
              </a:rPr>
              <a:t>contast</a:t>
            </a:r>
            <a:r>
              <a:rPr lang="en-US" sz="2800" dirty="0">
                <a:solidFill>
                  <a:schemeClr val="tx1"/>
                </a:solidFill>
              </a:rPr>
              <a:t> the differences in muscle type between an weight lifter and a mountaineer.” 8 marks.</a:t>
            </a:r>
          </a:p>
          <a:p>
            <a:pPr marL="0" indent="0">
              <a:buNone/>
            </a:pPr>
            <a:endParaRPr lang="en-US" sz="2400" b="1" dirty="0">
              <a:solidFill>
                <a:schemeClr val="tx1"/>
              </a:solidFill>
            </a:endParaRPr>
          </a:p>
          <a:p>
            <a:pPr marL="0" indent="0">
              <a:buNone/>
            </a:pPr>
            <a:endParaRPr lang="en-US" sz="2400" b="1" dirty="0">
              <a:solidFill>
                <a:schemeClr val="tx1"/>
              </a:solidFill>
            </a:endParaRPr>
          </a:p>
          <a:p>
            <a:pPr marL="0" indent="0">
              <a:buNone/>
            </a:pPr>
            <a:endParaRPr lang="en-US" sz="2400" b="1" dirty="0">
              <a:solidFill>
                <a:schemeClr val="tx1"/>
              </a:solidFill>
            </a:endParaRPr>
          </a:p>
          <a:p>
            <a:pPr marL="0" indent="0">
              <a:buNone/>
            </a:pPr>
            <a:endParaRPr lang="en-US" sz="2400" b="1" dirty="0">
              <a:solidFill>
                <a:schemeClr val="tx1"/>
              </a:solidFill>
            </a:endParaRPr>
          </a:p>
          <a:p>
            <a:pPr marL="0" indent="0">
              <a:buNone/>
            </a:pPr>
            <a:endParaRPr lang="en-US" sz="2400" b="1" dirty="0">
              <a:solidFill>
                <a:schemeClr val="tx1"/>
              </a:solidFill>
            </a:endParaRPr>
          </a:p>
          <a:p>
            <a:pPr marL="0" indent="0">
              <a:buNone/>
            </a:pPr>
            <a:r>
              <a:rPr lang="en-US" sz="2400" b="1" dirty="0">
                <a:solidFill>
                  <a:schemeClr val="tx1"/>
                </a:solidFill>
              </a:rPr>
              <a:t>Calculation style question:</a:t>
            </a:r>
          </a:p>
          <a:p>
            <a:pPr marL="0" indent="0">
              <a:buNone/>
            </a:pPr>
            <a:r>
              <a:rPr lang="en-GB" sz="2400" dirty="0">
                <a:solidFill>
                  <a:schemeClr val="tx1"/>
                </a:solidFill>
              </a:rPr>
              <a:t>“Suppose a sprinter exerts an average forward force of 600 N while running at 10m per second. What power do they exert in KW.”</a:t>
            </a:r>
          </a:p>
          <a:p>
            <a:pPr marL="0" indent="0">
              <a:buNone/>
            </a:pPr>
            <a:endParaRPr lang="en-US" sz="2000" i="1" dirty="0">
              <a:solidFill>
                <a:schemeClr val="tx1"/>
              </a:solidFill>
            </a:endParaRPr>
          </a:p>
          <a:p>
            <a:pPr marL="0" indent="0">
              <a:buNone/>
            </a:pPr>
            <a:endParaRPr lang="en-US" sz="2400" dirty="0">
              <a:solidFill>
                <a:schemeClr val="tx1"/>
              </a:solidFill>
            </a:endParaRPr>
          </a:p>
        </p:txBody>
      </p:sp>
      <p:sp>
        <p:nvSpPr>
          <p:cNvPr id="4" name="Rectangle 4">
            <a:extLst>
              <a:ext uri="{FF2B5EF4-FFF2-40B4-BE49-F238E27FC236}">
                <a16:creationId xmlns:a16="http://schemas.microsoft.com/office/drawing/2014/main" id="{8A3F2194-2F0C-3B48-AD63-A9C714E48C27}"/>
              </a:ext>
            </a:extLst>
          </p:cNvPr>
          <p:cNvSpPr>
            <a:spLocks noChangeArrowheads="1"/>
          </p:cNvSpPr>
          <p:nvPr/>
        </p:nvSpPr>
        <p:spPr bwMode="auto">
          <a:xfrm>
            <a:off x="79375" y="79375"/>
            <a:ext cx="734536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chor="ctr"/>
          <a:lstStyle>
            <a:lvl1pPr>
              <a:spcBef>
                <a:spcPct val="20000"/>
              </a:spcBef>
              <a:buSzPct val="100000"/>
              <a:buChar char="•"/>
              <a:defRPr sz="3200">
                <a:solidFill>
                  <a:srgbClr val="FFFFFF"/>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100000"/>
              <a:buChar char="–"/>
              <a:defRPr sz="2800">
                <a:solidFill>
                  <a:srgbClr val="FFFFFF"/>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SzPct val="100000"/>
              <a:buChar char="•"/>
              <a:defRPr sz="2400">
                <a:solidFill>
                  <a:srgbClr val="FFFFFF"/>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SzPct val="100000"/>
              <a:buChar char="•"/>
              <a:defRPr sz="2000">
                <a:solidFill>
                  <a:srgbClr val="FFFFFF"/>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SzTx/>
              <a:buFontTx/>
              <a:buNone/>
            </a:pPr>
            <a:r>
              <a:rPr lang="en-GB" altLang="en-US" sz="4000" b="1" dirty="0">
                <a:solidFill>
                  <a:srgbClr val="FFFF00"/>
                </a:solidFill>
              </a:rPr>
              <a:t>Assessment</a:t>
            </a:r>
          </a:p>
        </p:txBody>
      </p:sp>
    </p:spTree>
    <p:extLst>
      <p:ext uri="{BB962C8B-B14F-4D97-AF65-F5344CB8AC3E}">
        <p14:creationId xmlns:p14="http://schemas.microsoft.com/office/powerpoint/2010/main" val="3581147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xEl>
                                              <p:pRg st="7" end="7"/>
                                            </p:txEl>
                                          </p:spTgt>
                                        </p:tgtEl>
                                        <p:attrNameLst>
                                          <p:attrName>style.visibility</p:attrName>
                                        </p:attrNameLst>
                                      </p:cBhvr>
                                      <p:to>
                                        <p:strVal val="visible"/>
                                      </p:to>
                                    </p:set>
                                    <p:animEffect transition="in" filter="dissolve">
                                      <p:cBhvr>
                                        <p:cTn id="7" dur="500"/>
                                        <p:tgtEl>
                                          <p:spTgt spid="6">
                                            <p:txEl>
                                              <p:pRg st="7" end="7"/>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6">
                                            <p:txEl>
                                              <p:pRg st="8" end="8"/>
                                            </p:txEl>
                                          </p:spTgt>
                                        </p:tgtEl>
                                        <p:attrNameLst>
                                          <p:attrName>style.visibility</p:attrName>
                                        </p:attrNameLst>
                                      </p:cBhvr>
                                      <p:to>
                                        <p:strVal val="visible"/>
                                      </p:to>
                                    </p:set>
                                    <p:anim calcmode="lin" valueType="num">
                                      <p:cBhvr additive="base">
                                        <p:cTn id="12" dur="500" fill="hold"/>
                                        <p:tgtEl>
                                          <p:spTgt spid="6">
                                            <p:txEl>
                                              <p:pRg st="8" end="8"/>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6">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Default Design">
  <a:themeElements>
    <a:clrScheme name="">
      <a:dk1>
        <a:srgbClr val="000000"/>
      </a:dk1>
      <a:lt1>
        <a:srgbClr val="3365FB"/>
      </a:lt1>
      <a:dk2>
        <a:srgbClr val="000000"/>
      </a:dk2>
      <a:lt2>
        <a:srgbClr val="919191"/>
      </a:lt2>
      <a:accent1>
        <a:srgbClr val="618FFD"/>
      </a:accent1>
      <a:accent2>
        <a:srgbClr val="00AE00"/>
      </a:accent2>
      <a:accent3>
        <a:srgbClr val="ADB8FD"/>
      </a:accent3>
      <a:accent4>
        <a:srgbClr val="000000"/>
      </a:accent4>
      <a:accent5>
        <a:srgbClr val="B7C6FE"/>
      </a:accent5>
      <a:accent6>
        <a:srgbClr val="009D00"/>
      </a:accent6>
      <a:hlink>
        <a:srgbClr val="FC0128"/>
      </a:hlink>
      <a:folHlink>
        <a:srgbClr val="CECECE"/>
      </a:folHlink>
    </a:clrScheme>
    <a:fontScheme name="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rgbClr val="FFFFFF"/>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rgbClr val="FFFFFF"/>
            </a:solidFill>
            <a:effectLst/>
            <a:latin typeface="Times New Roman" pitchFamily="18"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1faf88fe-a998-4c5b-93c9-210a11d9a5c2}" enabled="0" method="" siteId="{1faf88fe-a998-4c5b-93c9-210a11d9a5c2}" removed="1"/>
</clbl:labelList>
</file>

<file path=docProps/app.xml><?xml version="1.0" encoding="utf-8"?>
<Properties xmlns="http://schemas.openxmlformats.org/officeDocument/2006/extended-properties" xmlns:vt="http://schemas.openxmlformats.org/officeDocument/2006/docPropsVTypes">
  <Template>......:Microsoft Office:Microsoft PowerPoint 4:</Template>
  <TotalTime>39347</TotalTime>
  <Pages>21</Pages>
  <Words>2825</Words>
  <Application>Microsoft Macintosh PowerPoint</Application>
  <PresentationFormat>On-screen Show (4:3)</PresentationFormat>
  <Paragraphs>309</Paragraphs>
  <Slides>26</Slides>
  <Notes>16</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26</vt:i4>
      </vt:variant>
    </vt:vector>
  </HeadingPairs>
  <TitlesOfParts>
    <vt:vector size="36" baseType="lpstr">
      <vt:lpstr>ＭＳ Ｐゴシック</vt:lpstr>
      <vt:lpstr>ＭＳ Ｐゴシック</vt:lpstr>
      <vt:lpstr>Arial</vt:lpstr>
      <vt:lpstr>Calibri</vt:lpstr>
      <vt:lpstr>Symbol</vt:lpstr>
      <vt:lpstr>Times</vt:lpstr>
      <vt:lpstr>Times New Roman</vt:lpstr>
      <vt:lpstr>Wingdings 2</vt:lpstr>
      <vt:lpstr>Default Design</vt:lpstr>
      <vt:lpstr>Photo Editor Photo</vt:lpstr>
      <vt:lpstr>PowerPoint Presentation</vt:lpstr>
      <vt:lpstr>PowerPoint Presentation</vt:lpstr>
      <vt:lpstr>PowerPoint Presentation</vt:lpstr>
      <vt:lpstr>PowerPoint Presentation</vt:lpstr>
      <vt:lpstr>How a skeletal muscle contraction is initiated:</vt:lpstr>
      <vt:lpstr>PowerPoint Presentation</vt:lpstr>
      <vt:lpstr>Muscle Fibre Anatomy</vt:lpstr>
      <vt:lpstr>PowerPoint Presentation</vt:lpstr>
      <vt:lpstr>PowerPoint Presentation</vt:lpstr>
      <vt:lpstr>10_05</vt:lpstr>
      <vt:lpstr>PowerPoint Presentation</vt:lpstr>
      <vt:lpstr>PowerPoint Presentation</vt:lpstr>
      <vt:lpstr>PowerPoint Presentation</vt:lpstr>
      <vt:lpstr>PowerPoint Presentation</vt:lpstr>
      <vt:lpstr>PowerPoint Presentation</vt:lpstr>
      <vt:lpstr>Length-Tension Relationship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Slides</dc:title>
  <dc:subject>Ghrelin</dc:subject>
  <dc:creator>PowerMacintosh User</dc:creator>
  <cp:lastModifiedBy>Pam Houston</cp:lastModifiedBy>
  <cp:revision>292</cp:revision>
  <cp:lastPrinted>2011-10-18T12:51:59Z</cp:lastPrinted>
  <dcterms:created xsi:type="dcterms:W3CDTF">2000-02-01T12:46:55Z</dcterms:created>
  <dcterms:modified xsi:type="dcterms:W3CDTF">2026-10-16T09:05:19Z</dcterms:modified>
</cp:coreProperties>
</file>