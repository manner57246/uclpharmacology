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handoutMasterIdLst>
    <p:handoutMasterId r:id="rId45"/>
  </p:handoutMasterIdLst>
  <p:sldIdLst>
    <p:sldId id="406" r:id="rId2"/>
    <p:sldId id="446" r:id="rId3"/>
    <p:sldId id="508" r:id="rId4"/>
    <p:sldId id="509" r:id="rId5"/>
    <p:sldId id="485" r:id="rId6"/>
    <p:sldId id="1676" r:id="rId7"/>
    <p:sldId id="1652" r:id="rId8"/>
    <p:sldId id="502" r:id="rId9"/>
    <p:sldId id="486" r:id="rId10"/>
    <p:sldId id="503" r:id="rId11"/>
    <p:sldId id="1677" r:id="rId12"/>
    <p:sldId id="487" r:id="rId13"/>
    <p:sldId id="488" r:id="rId14"/>
    <p:sldId id="489" r:id="rId15"/>
    <p:sldId id="490" r:id="rId16"/>
    <p:sldId id="491" r:id="rId17"/>
    <p:sldId id="492" r:id="rId18"/>
    <p:sldId id="493" r:id="rId19"/>
    <p:sldId id="505" r:id="rId20"/>
    <p:sldId id="506" r:id="rId21"/>
    <p:sldId id="495" r:id="rId22"/>
    <p:sldId id="1678" r:id="rId23"/>
    <p:sldId id="496" r:id="rId24"/>
    <p:sldId id="494" r:id="rId25"/>
    <p:sldId id="455" r:id="rId26"/>
    <p:sldId id="459" r:id="rId27"/>
    <p:sldId id="460" r:id="rId28"/>
    <p:sldId id="1679" r:id="rId29"/>
    <p:sldId id="1680" r:id="rId30"/>
    <p:sldId id="1681" r:id="rId31"/>
    <p:sldId id="1682" r:id="rId32"/>
    <p:sldId id="1683" r:id="rId33"/>
    <p:sldId id="1684" r:id="rId34"/>
    <p:sldId id="1685" r:id="rId35"/>
    <p:sldId id="497" r:id="rId36"/>
    <p:sldId id="507" r:id="rId37"/>
    <p:sldId id="498" r:id="rId38"/>
    <p:sldId id="499" r:id="rId39"/>
    <p:sldId id="504" r:id="rId40"/>
    <p:sldId id="464" r:id="rId41"/>
    <p:sldId id="465" r:id="rId42"/>
    <p:sldId id="469" r:id="rId43"/>
  </p:sldIdLst>
  <p:sldSz cx="9144000" cy="6858000" type="screen4x3"/>
  <p:notesSz cx="6735763" cy="9869488"/>
  <p:defaultTextStyle>
    <a:defPPr>
      <a:defRPr lang="en-GB"/>
    </a:defPPr>
    <a:lvl1pPr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rgbClr val="FFFFFF"/>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rgbClr val="FFFFFF"/>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rgbClr val="FFFFFF"/>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rgbClr val="FFFFFF"/>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3" frameSlides="1"/>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006699"/>
    <a:srgbClr val="0099CC"/>
    <a:srgbClr val="33CCCC"/>
    <a:srgbClr val="00CCFF"/>
    <a:srgbClr val="FFFFCC"/>
    <a:srgbClr val="86E8AA"/>
    <a:srgbClr val="E88981"/>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FED13A-E263-4F9D-A381-11670E0DA51C}" v="66" dt="2025-10-07T21:10:56.7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106" autoAdjust="0"/>
  </p:normalViewPr>
  <p:slideViewPr>
    <p:cSldViewPr snapToGrid="0">
      <p:cViewPr varScale="1">
        <p:scale>
          <a:sx n="106" d="100"/>
          <a:sy n="106" d="100"/>
        </p:scale>
        <p:origin x="1158" y="15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6F83F73-6A7E-C0AE-2505-D0D8AD4DC9D8}"/>
              </a:ext>
            </a:extLst>
          </p:cNvPr>
          <p:cNvSpPr>
            <a:spLocks noGrp="1" noChangeArrowheads="1"/>
          </p:cNvSpPr>
          <p:nvPr>
            <p:ph type="body" sz="quarter" idx="3"/>
          </p:nvPr>
        </p:nvSpPr>
        <p:spPr bwMode="auto">
          <a:xfrm>
            <a:off x="898525" y="4691063"/>
            <a:ext cx="4938713" cy="4157662"/>
          </a:xfrm>
          <a:prstGeom prst="rect">
            <a:avLst/>
          </a:prstGeom>
          <a:noFill/>
          <a:ln>
            <a:noFill/>
          </a:ln>
          <a:effectLst/>
          <a:extLst>
            <a:ext uri="{FAA26D3D-D897-4be2-8F04-BA451C77F1D7}">
              <ma14:placeholderFlag xmlns="" xmlns:ma14="http://schemas.microsoft.com/office/mac/drawingml/2011/main" val="1"/>
            </a:ext>
          </a:extLst>
        </p:spPr>
        <p:txBody>
          <a:bodyPr vert="horz" wrap="square" lIns="90488" tIns="44450" rIns="90488" bIns="4445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075" name="Rectangle 3">
            <a:extLst>
              <a:ext uri="{FF2B5EF4-FFF2-40B4-BE49-F238E27FC236}">
                <a16:creationId xmlns:a16="http://schemas.microsoft.com/office/drawing/2014/main" id="{779C5CEE-1177-47FC-F150-2DD225C67014}"/>
              </a:ext>
            </a:extLst>
          </p:cNvPr>
          <p:cNvSpPr>
            <a:spLocks noGrp="1" noRot="1" noChangeAspect="1" noChangeArrowheads="1" noTextEdit="1"/>
          </p:cNvSpPr>
          <p:nvPr>
            <p:ph type="sldImg" idx="2"/>
          </p:nvPr>
        </p:nvSpPr>
        <p:spPr bwMode="auto">
          <a:xfrm>
            <a:off x="1058863" y="857250"/>
            <a:ext cx="4618037" cy="34639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Arial" charset="0"/>
      </a:defRPr>
    </a:lvl1pPr>
    <a:lvl2pPr marL="457200" algn="l" rtl="0" eaLnBrk="0" fontAlgn="base" hangingPunct="0">
      <a:spcBef>
        <a:spcPct val="30000"/>
      </a:spcBef>
      <a:spcAft>
        <a:spcPct val="0"/>
      </a:spcAft>
      <a:defRPr sz="1200" kern="1200">
        <a:solidFill>
          <a:schemeClr val="tx1"/>
        </a:solidFill>
        <a:latin typeface="Times New Roman" charset="0"/>
        <a:ea typeface="Arial" charset="0"/>
        <a:cs typeface="Arial" charset="0"/>
      </a:defRPr>
    </a:lvl2pPr>
    <a:lvl3pPr marL="914400" algn="l" rtl="0" eaLnBrk="0" fontAlgn="base" hangingPunct="0">
      <a:spcBef>
        <a:spcPct val="30000"/>
      </a:spcBef>
      <a:spcAft>
        <a:spcPct val="0"/>
      </a:spcAft>
      <a:defRPr sz="1200" kern="1200">
        <a:solidFill>
          <a:schemeClr val="tx1"/>
        </a:solidFill>
        <a:latin typeface="Times New Roman"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Times New Roman"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Times New Roman"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991343E9-9556-F01A-B296-E68F785CA372}"/>
              </a:ext>
            </a:extLst>
          </p:cNvPr>
          <p:cNvSpPr>
            <a:spLocks noGrp="1" noRot="1" noChangeAspect="1" noChangeArrowheads="1" noTextEdit="1"/>
          </p:cNvSpPr>
          <p:nvPr>
            <p:ph type="sldImg"/>
          </p:nvPr>
        </p:nvSpPr>
        <p:spPr>
          <a:ln/>
        </p:spPr>
      </p:sp>
      <p:sp>
        <p:nvSpPr>
          <p:cNvPr id="5122" name="Rectangle 3">
            <a:extLst>
              <a:ext uri="{FF2B5EF4-FFF2-40B4-BE49-F238E27FC236}">
                <a16:creationId xmlns:a16="http://schemas.microsoft.com/office/drawing/2014/main" id="{DCA83BFA-61E6-D220-6A1C-D9CBB7C490C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B645EFB3-8659-A9FD-A566-BC3C404B1B7E}"/>
              </a:ext>
            </a:extLst>
          </p:cNvPr>
          <p:cNvSpPr>
            <a:spLocks noGrp="1" noRot="1" noChangeAspect="1" noChangeArrowheads="1" noTextEdit="1"/>
          </p:cNvSpPr>
          <p:nvPr>
            <p:ph type="sldImg"/>
          </p:nvPr>
        </p:nvSpPr>
        <p:spPr>
          <a:ln/>
        </p:spPr>
      </p:sp>
      <p:sp>
        <p:nvSpPr>
          <p:cNvPr id="7170" name="Rectangle 3">
            <a:extLst>
              <a:ext uri="{FF2B5EF4-FFF2-40B4-BE49-F238E27FC236}">
                <a16:creationId xmlns:a16="http://schemas.microsoft.com/office/drawing/2014/main" id="{930AEEED-46B1-1556-08D4-DBDEAF6657A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54350FA7-2CDB-8818-30CC-D5B934DD4E5E}"/>
              </a:ext>
            </a:extLst>
          </p:cNvPr>
          <p:cNvSpPr>
            <a:spLocks noGrp="1" noRot="1" noChangeAspect="1" noChangeArrowheads="1" noTextEdit="1"/>
          </p:cNvSpPr>
          <p:nvPr>
            <p:ph type="sldImg"/>
          </p:nvPr>
        </p:nvSpPr>
        <p:spPr>
          <a:ln/>
        </p:spPr>
      </p:sp>
      <p:sp>
        <p:nvSpPr>
          <p:cNvPr id="13314" name="Rectangle 3">
            <a:extLst>
              <a:ext uri="{FF2B5EF4-FFF2-40B4-BE49-F238E27FC236}">
                <a16:creationId xmlns:a16="http://schemas.microsoft.com/office/drawing/2014/main" id="{370A35DC-29F4-DA09-E4C9-1DAD264902A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Rot="1" noChangeAspect="1" noTextEdit="1"/>
          </p:cNvSpPr>
          <p:nvPr>
            <p:ph type="sldImg"/>
          </p:nvPr>
        </p:nvSpPr>
        <p:spPr bwMode="auto">
          <a:xfrm>
            <a:off x="954088" y="735013"/>
            <a:ext cx="5195887" cy="3897312"/>
          </a:xfrm>
          <a:noFill/>
          <a:ln>
            <a:solidFill>
              <a:srgbClr val="000000"/>
            </a:solidFill>
            <a:miter lim="800000"/>
            <a:headEnd/>
            <a:tailEnd/>
          </a:ln>
        </p:spPr>
      </p:sp>
      <p:sp>
        <p:nvSpPr>
          <p:cNvPr id="53250" name="Rectangle 3"/>
          <p:cNvSpPr>
            <a:spLocks noGrp="1"/>
          </p:cNvSpPr>
          <p:nvPr>
            <p:ph type="body" idx="1"/>
          </p:nvPr>
        </p:nvSpPr>
        <p:spPr>
          <a:xfrm>
            <a:off x="946575" y="4876800"/>
            <a:ext cx="5209328" cy="4629150"/>
          </a:xfrm>
          <a:noFill/>
          <a:ln/>
        </p:spPr>
        <p:txBody>
          <a:bodyPr/>
          <a:lstStyle/>
          <a:p>
            <a:pPr eaLnBrk="1" hangingPunct="1"/>
            <a:r>
              <a:rPr lang="en-GB" dirty="0"/>
              <a:t>To be able measure ions (in this case potassium) flowing across</a:t>
            </a:r>
            <a:r>
              <a:rPr lang="en-GB" baseline="0" dirty="0"/>
              <a:t> a cell, </a:t>
            </a:r>
            <a:r>
              <a:rPr lang="en-GB" dirty="0"/>
              <a:t>a microelectrode (filled with a pseudo intracellular solution) has to form a high resistance seal with a patch of cell membrane, which can be subsequently ruptured (with suction) to give the electrode electrical access to the whole cell and where the contents of the pipette will diffuse into the cell. Voltage is then applied, clamping the membrane at a particular potential (voltage clamp), and allowing  for the membrane current to be recorded/measured at this potential via an amplifier. </a:t>
            </a:r>
          </a:p>
          <a:p>
            <a:pPr eaLnBrk="1" hangingPunct="1"/>
            <a:r>
              <a:rPr lang="en-GB" dirty="0"/>
              <a:t>This technique can also be utilised in the current clamp mode where changes in membrane potential can be recorded under basal conditions or in response to current injection. </a:t>
            </a:r>
            <a:br>
              <a:rPr lang="en-GB" dirty="0"/>
            </a:br>
            <a:br>
              <a:rPr lang="en-GB" dirty="0"/>
            </a:br>
            <a:r>
              <a:rPr lang="en-GB" dirty="0"/>
              <a:t>Voltage or current changes across cell membranes can be altered by applying compounds that block or open channels. These techniques enable us to understand how ion channels behave both in normal and disease states and how different drugs, ions, or other </a:t>
            </a:r>
            <a:r>
              <a:rPr lang="en-GB" dirty="0" err="1"/>
              <a:t>analytes</a:t>
            </a:r>
            <a:r>
              <a:rPr lang="en-GB" dirty="0"/>
              <a:t> can modify these conditions. </a:t>
            </a:r>
            <a:endParaRPr lang="en-US" dirty="0"/>
          </a:p>
        </p:txBody>
      </p:sp>
    </p:spTree>
    <p:extLst>
      <p:ext uri="{BB962C8B-B14F-4D97-AF65-F5344CB8AC3E}">
        <p14:creationId xmlns:p14="http://schemas.microsoft.com/office/powerpoint/2010/main" val="2165588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954088" y="735013"/>
            <a:ext cx="5197475" cy="3897312"/>
          </a:xfrm>
          <a:ln/>
        </p:spPr>
      </p:sp>
      <p:sp>
        <p:nvSpPr>
          <p:cNvPr id="47107" name="Rectangle 3"/>
          <p:cNvSpPr>
            <a:spLocks noGrp="1" noChangeArrowheads="1"/>
          </p:cNvSpPr>
          <p:nvPr>
            <p:ph type="body" idx="1"/>
          </p:nvPr>
        </p:nvSpPr>
        <p:spPr>
          <a:xfrm>
            <a:off x="947557" y="4877218"/>
            <a:ext cx="5207367" cy="46297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This is an example of a whole-cell</a:t>
            </a:r>
            <a:r>
              <a:rPr lang="en-US" altLang="en-US" baseline="0" dirty="0"/>
              <a:t> voltage- clamp experiment in a single pulmonary smooth muscle cell that has been enzymatically isolated from an artery. Here the cell is </a:t>
            </a:r>
            <a:r>
              <a:rPr lang="en-US" altLang="en-US" baseline="0" dirty="0" err="1"/>
              <a:t>dialysed</a:t>
            </a:r>
            <a:r>
              <a:rPr lang="en-US" altLang="en-US" baseline="0" dirty="0"/>
              <a:t> with a quasi physiological internal solution (high K+, low Na+) and bathed in a physiological salt solution (high sodium, low potassium). With this configuration, the normal gradient allows for potassium to leave the cell. On the left, shows how the magnitude of whole-cell outward current increases as the membrane potential is voltage-clamped at more and more positive membrane potentials.</a:t>
            </a:r>
          </a:p>
          <a:p>
            <a:r>
              <a:rPr lang="en-US" altLang="en-US" baseline="0" dirty="0"/>
              <a:t> </a:t>
            </a:r>
            <a:endParaRPr lang="en-US" altLang="en-US" dirty="0"/>
          </a:p>
        </p:txBody>
      </p:sp>
    </p:spTree>
    <p:extLst>
      <p:ext uri="{BB962C8B-B14F-4D97-AF65-F5344CB8AC3E}">
        <p14:creationId xmlns:p14="http://schemas.microsoft.com/office/powerpoint/2010/main" val="2735441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71586108-9FFD-65ED-27B7-EEB9E077F0BE}"/>
              </a:ext>
            </a:extLst>
          </p:cNvPr>
          <p:cNvSpPr>
            <a:spLocks noGrp="1" noRot="1" noChangeAspect="1" noChangeArrowheads="1" noTextEdit="1"/>
          </p:cNvSpPr>
          <p:nvPr>
            <p:ph type="sldImg"/>
          </p:nvPr>
        </p:nvSpPr>
        <p:spPr>
          <a:ln/>
        </p:spPr>
      </p:sp>
      <p:sp>
        <p:nvSpPr>
          <p:cNvPr id="11266" name="Rectangle 3">
            <a:extLst>
              <a:ext uri="{FF2B5EF4-FFF2-40B4-BE49-F238E27FC236}">
                <a16:creationId xmlns:a16="http://schemas.microsoft.com/office/drawing/2014/main" id="{F4E83076-8FEE-53DA-75CC-1FCE8D63B0C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A093479-E34F-CDBC-4FDF-E3F396503E57}"/>
              </a:ext>
            </a:extLst>
          </p:cNvPr>
          <p:cNvSpPr>
            <a:spLocks noGrp="1" noRot="1" noChangeAspect="1" noChangeArrowheads="1" noTextEdit="1"/>
          </p:cNvSpPr>
          <p:nvPr>
            <p:ph type="sldImg"/>
          </p:nvPr>
        </p:nvSpPr>
        <p:spPr>
          <a:ln/>
        </p:spPr>
      </p:sp>
      <p:sp>
        <p:nvSpPr>
          <p:cNvPr id="15362" name="Rectangle 3">
            <a:extLst>
              <a:ext uri="{FF2B5EF4-FFF2-40B4-BE49-F238E27FC236}">
                <a16:creationId xmlns:a16="http://schemas.microsoft.com/office/drawing/2014/main" id="{78107158-500A-5380-E8BF-A0783E385C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7DCCFEBA-8817-7825-64F3-9B675BE1026C}"/>
              </a:ext>
            </a:extLst>
          </p:cNvPr>
          <p:cNvSpPr>
            <a:spLocks noGrp="1" noRot="1" noChangeAspect="1" noChangeArrowheads="1" noTextEdit="1"/>
          </p:cNvSpPr>
          <p:nvPr>
            <p:ph type="sldImg"/>
          </p:nvPr>
        </p:nvSpPr>
        <p:spPr>
          <a:ln/>
        </p:spPr>
      </p:sp>
      <p:sp>
        <p:nvSpPr>
          <p:cNvPr id="17410" name="Rectangle 3">
            <a:extLst>
              <a:ext uri="{FF2B5EF4-FFF2-40B4-BE49-F238E27FC236}">
                <a16:creationId xmlns:a16="http://schemas.microsoft.com/office/drawing/2014/main" id="{2BFE9747-1FA2-79C0-D71D-20E6EC859B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F35F20AE-7807-7E4E-BB9A-732EB4DB0E60}"/>
              </a:ext>
            </a:extLst>
          </p:cNvPr>
          <p:cNvSpPr>
            <a:spLocks noGrp="1" noRot="1" noChangeAspect="1" noChangeArrowheads="1" noTextEdit="1"/>
          </p:cNvSpPr>
          <p:nvPr>
            <p:ph type="sldImg"/>
          </p:nvPr>
        </p:nvSpPr>
        <p:spPr>
          <a:ln/>
        </p:spPr>
      </p:sp>
      <p:sp>
        <p:nvSpPr>
          <p:cNvPr id="19458" name="Rectangle 3">
            <a:extLst>
              <a:ext uri="{FF2B5EF4-FFF2-40B4-BE49-F238E27FC236}">
                <a16:creationId xmlns:a16="http://schemas.microsoft.com/office/drawing/2014/main" id="{292B1AED-4691-9E5E-0224-DBD215EA1B2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65CD9F1F-701A-1A49-0BB8-B06FFCE221F6}"/>
              </a:ext>
            </a:extLst>
          </p:cNvPr>
          <p:cNvSpPr>
            <a:spLocks noGrp="1" noRot="1" noChangeAspect="1" noChangeArrowheads="1" noTextEdit="1"/>
          </p:cNvSpPr>
          <p:nvPr>
            <p:ph type="sldImg"/>
          </p:nvPr>
        </p:nvSpPr>
        <p:spPr>
          <a:ln/>
        </p:spPr>
      </p:sp>
      <p:sp>
        <p:nvSpPr>
          <p:cNvPr id="21506" name="Rectangle 3">
            <a:extLst>
              <a:ext uri="{FF2B5EF4-FFF2-40B4-BE49-F238E27FC236}">
                <a16:creationId xmlns:a16="http://schemas.microsoft.com/office/drawing/2014/main" id="{4DD1AF2B-8F8E-2278-A523-D3840F223CD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6161AEE1-2B40-1CAA-CB36-5486E399E571}"/>
              </a:ext>
            </a:extLst>
          </p:cNvPr>
          <p:cNvSpPr>
            <a:spLocks noGrp="1" noRot="1" noChangeAspect="1" noChangeArrowheads="1" noTextEdit="1"/>
          </p:cNvSpPr>
          <p:nvPr>
            <p:ph type="sldImg"/>
          </p:nvPr>
        </p:nvSpPr>
        <p:spPr>
          <a:ln/>
        </p:spPr>
      </p:sp>
      <p:sp>
        <p:nvSpPr>
          <p:cNvPr id="23554" name="Rectangle 3">
            <a:extLst>
              <a:ext uri="{FF2B5EF4-FFF2-40B4-BE49-F238E27FC236}">
                <a16:creationId xmlns:a16="http://schemas.microsoft.com/office/drawing/2014/main" id="{5FB83FA9-1891-C3CD-0E2E-204593A5FF9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42DE30CC-5B05-7BC8-C321-9B6C563BAF22}"/>
              </a:ext>
            </a:extLst>
          </p:cNvPr>
          <p:cNvSpPr>
            <a:spLocks noGrp="1" noRot="1" noChangeAspect="1" noChangeArrowheads="1" noTextEdit="1"/>
          </p:cNvSpPr>
          <p:nvPr>
            <p:ph type="sldImg"/>
          </p:nvPr>
        </p:nvSpPr>
        <p:spPr>
          <a:ln/>
        </p:spPr>
      </p:sp>
      <p:sp>
        <p:nvSpPr>
          <p:cNvPr id="25602" name="Rectangle 3">
            <a:extLst>
              <a:ext uri="{FF2B5EF4-FFF2-40B4-BE49-F238E27FC236}">
                <a16:creationId xmlns:a16="http://schemas.microsoft.com/office/drawing/2014/main" id="{005DAB71-D797-1CD8-F3A9-7E7D21F061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A068C153-A89B-A5AB-D179-05B6E969B539}"/>
              </a:ext>
            </a:extLst>
          </p:cNvPr>
          <p:cNvSpPr>
            <a:spLocks noGrp="1" noRot="1" noChangeAspect="1" noChangeArrowheads="1" noTextEdit="1"/>
          </p:cNvSpPr>
          <p:nvPr>
            <p:ph type="sldImg"/>
          </p:nvPr>
        </p:nvSpPr>
        <p:spPr>
          <a:ln/>
        </p:spPr>
      </p:sp>
      <p:sp>
        <p:nvSpPr>
          <p:cNvPr id="27650" name="Rectangle 3">
            <a:extLst>
              <a:ext uri="{FF2B5EF4-FFF2-40B4-BE49-F238E27FC236}">
                <a16:creationId xmlns:a16="http://schemas.microsoft.com/office/drawing/2014/main" id="{010CE861-A7AA-2FDE-59E0-D97CF43F5B5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F68E9CBF-5D84-1F7A-8EF9-7405EAFB81CE}"/>
              </a:ext>
            </a:extLst>
          </p:cNvPr>
          <p:cNvSpPr>
            <a:spLocks noGrp="1" noRot="1" noChangeAspect="1" noChangeArrowheads="1" noTextEdit="1"/>
          </p:cNvSpPr>
          <p:nvPr>
            <p:ph type="sldImg"/>
          </p:nvPr>
        </p:nvSpPr>
        <p:spPr>
          <a:ln/>
        </p:spPr>
      </p:sp>
      <p:sp>
        <p:nvSpPr>
          <p:cNvPr id="29698" name="Rectangle 3">
            <a:extLst>
              <a:ext uri="{FF2B5EF4-FFF2-40B4-BE49-F238E27FC236}">
                <a16:creationId xmlns:a16="http://schemas.microsoft.com/office/drawing/2014/main" id="{60899A44-C970-8682-8364-9A81FD545FD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11BD057-AD84-2F58-10EA-EBAF3298D9E0}"/>
              </a:ext>
            </a:extLst>
          </p:cNvPr>
          <p:cNvSpPr>
            <a:spLocks noGrp="1" noRot="1" noChangeAspect="1" noChangeArrowheads="1" noTextEdit="1"/>
          </p:cNvSpPr>
          <p:nvPr>
            <p:ph type="sldImg"/>
          </p:nvPr>
        </p:nvSpPr>
        <p:spPr>
          <a:ln/>
        </p:spPr>
      </p:sp>
      <p:sp>
        <p:nvSpPr>
          <p:cNvPr id="31746" name="Rectangle 3">
            <a:extLst>
              <a:ext uri="{FF2B5EF4-FFF2-40B4-BE49-F238E27FC236}">
                <a16:creationId xmlns:a16="http://schemas.microsoft.com/office/drawing/2014/main" id="{F82C2D87-5F01-EB0C-49A2-DBA55C5522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E90B946D-ECAC-B536-DCAB-A9DCA83D3081}"/>
              </a:ext>
            </a:extLst>
          </p:cNvPr>
          <p:cNvSpPr>
            <a:spLocks noGrp="1" noRot="1" noChangeAspect="1" noChangeArrowheads="1" noTextEdit="1"/>
          </p:cNvSpPr>
          <p:nvPr>
            <p:ph type="sldImg"/>
          </p:nvPr>
        </p:nvSpPr>
        <p:spPr>
          <a:ln/>
        </p:spPr>
      </p:sp>
      <p:sp>
        <p:nvSpPr>
          <p:cNvPr id="33794" name="Rectangle 3">
            <a:extLst>
              <a:ext uri="{FF2B5EF4-FFF2-40B4-BE49-F238E27FC236}">
                <a16:creationId xmlns:a16="http://schemas.microsoft.com/office/drawing/2014/main" id="{54DABA55-F8D3-7CBB-A3F2-F20BEE6FF81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4F7F178C-67F2-A59B-B130-24453D9F025F}"/>
              </a:ext>
            </a:extLst>
          </p:cNvPr>
          <p:cNvSpPr>
            <a:spLocks noGrp="1" noRot="1" noChangeAspect="1" noChangeArrowheads="1" noTextEdit="1"/>
          </p:cNvSpPr>
          <p:nvPr>
            <p:ph type="sldImg"/>
          </p:nvPr>
        </p:nvSpPr>
        <p:spPr>
          <a:ln/>
        </p:spPr>
      </p:sp>
      <p:sp>
        <p:nvSpPr>
          <p:cNvPr id="37890" name="Rectangle 3">
            <a:extLst>
              <a:ext uri="{FF2B5EF4-FFF2-40B4-BE49-F238E27FC236}">
                <a16:creationId xmlns:a16="http://schemas.microsoft.com/office/drawing/2014/main" id="{CF0FA849-DC36-B2A0-C855-BF11A36797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E3067452-678A-A057-FB1B-E6AC5FEAC289}"/>
              </a:ext>
            </a:extLst>
          </p:cNvPr>
          <p:cNvSpPr>
            <a:spLocks noGrp="1" noRot="1" noChangeAspect="1" noChangeArrowheads="1" noTextEdit="1"/>
          </p:cNvSpPr>
          <p:nvPr>
            <p:ph type="sldImg"/>
          </p:nvPr>
        </p:nvSpPr>
        <p:spPr>
          <a:ln/>
        </p:spPr>
      </p:sp>
      <p:sp>
        <p:nvSpPr>
          <p:cNvPr id="35842" name="Rectangle 3">
            <a:extLst>
              <a:ext uri="{FF2B5EF4-FFF2-40B4-BE49-F238E27FC236}">
                <a16:creationId xmlns:a16="http://schemas.microsoft.com/office/drawing/2014/main" id="{FAC326C0-88D3-3860-6A03-105ADDB350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A397FAC2-FE80-9CA6-AFBF-18CC574108E0}"/>
              </a:ext>
            </a:extLst>
          </p:cNvPr>
          <p:cNvSpPr>
            <a:spLocks noGrp="1" noRot="1" noChangeAspect="1" noChangeArrowheads="1" noTextEdit="1"/>
          </p:cNvSpPr>
          <p:nvPr>
            <p:ph type="sldImg"/>
          </p:nvPr>
        </p:nvSpPr>
        <p:spPr>
          <a:ln/>
        </p:spPr>
      </p:sp>
      <p:sp>
        <p:nvSpPr>
          <p:cNvPr id="39938" name="Rectangle 3">
            <a:extLst>
              <a:ext uri="{FF2B5EF4-FFF2-40B4-BE49-F238E27FC236}">
                <a16:creationId xmlns:a16="http://schemas.microsoft.com/office/drawing/2014/main" id="{5B0ADD6E-3689-E197-02D8-FF2A6B57A95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22D91443-0A8A-5484-5373-5D4537B75245}"/>
              </a:ext>
            </a:extLst>
          </p:cNvPr>
          <p:cNvSpPr>
            <a:spLocks noGrp="1" noRot="1" noChangeAspect="1" noChangeArrowheads="1" noTextEdit="1"/>
          </p:cNvSpPr>
          <p:nvPr>
            <p:ph type="sldImg"/>
          </p:nvPr>
        </p:nvSpPr>
        <p:spPr>
          <a:ln/>
        </p:spPr>
      </p:sp>
      <p:sp>
        <p:nvSpPr>
          <p:cNvPr id="41986" name="Rectangle 3">
            <a:extLst>
              <a:ext uri="{FF2B5EF4-FFF2-40B4-BE49-F238E27FC236}">
                <a16:creationId xmlns:a16="http://schemas.microsoft.com/office/drawing/2014/main" id="{8B61BB7A-DB00-88EE-3792-9DC244F2DDC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FFE0CB89-EBAD-B467-A067-4637AE8B43B1}"/>
              </a:ext>
            </a:extLst>
          </p:cNvPr>
          <p:cNvSpPr>
            <a:spLocks noGrp="1" noRot="1" noChangeAspect="1" noChangeArrowheads="1" noTextEdit="1"/>
          </p:cNvSpPr>
          <p:nvPr>
            <p:ph type="sldImg"/>
          </p:nvPr>
        </p:nvSpPr>
        <p:spPr>
          <a:ln/>
        </p:spPr>
      </p:sp>
      <p:sp>
        <p:nvSpPr>
          <p:cNvPr id="44034" name="Rectangle 3">
            <a:extLst>
              <a:ext uri="{FF2B5EF4-FFF2-40B4-BE49-F238E27FC236}">
                <a16:creationId xmlns:a16="http://schemas.microsoft.com/office/drawing/2014/main" id="{FF65257F-1BCB-1217-5C2C-E35ED49DE61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FC121172-B94B-B8B9-B699-12BFD27B104E}"/>
              </a:ext>
            </a:extLst>
          </p:cNvPr>
          <p:cNvSpPr>
            <a:spLocks noGrp="1" noRot="1" noChangeAspect="1" noChangeArrowheads="1" noTextEdit="1"/>
          </p:cNvSpPr>
          <p:nvPr>
            <p:ph type="sldImg"/>
          </p:nvPr>
        </p:nvSpPr>
        <p:spPr>
          <a:ln/>
        </p:spPr>
      </p:sp>
      <p:sp>
        <p:nvSpPr>
          <p:cNvPr id="46082" name="Rectangle 3">
            <a:extLst>
              <a:ext uri="{FF2B5EF4-FFF2-40B4-BE49-F238E27FC236}">
                <a16:creationId xmlns:a16="http://schemas.microsoft.com/office/drawing/2014/main" id="{9AC7FB55-2CBB-1609-66AB-36628CC2DB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5894C7D4-CA69-5C01-3D64-CD485AB8D1FF}"/>
              </a:ext>
            </a:extLst>
          </p:cNvPr>
          <p:cNvSpPr>
            <a:spLocks noGrp="1" noRot="1" noChangeAspect="1" noChangeArrowheads="1" noTextEdit="1"/>
          </p:cNvSpPr>
          <p:nvPr>
            <p:ph type="sldImg"/>
          </p:nvPr>
        </p:nvSpPr>
        <p:spPr>
          <a:ln/>
        </p:spPr>
      </p:sp>
      <p:sp>
        <p:nvSpPr>
          <p:cNvPr id="48130" name="Rectangle 3">
            <a:extLst>
              <a:ext uri="{FF2B5EF4-FFF2-40B4-BE49-F238E27FC236}">
                <a16:creationId xmlns:a16="http://schemas.microsoft.com/office/drawing/2014/main" id="{2B824405-F173-3224-A0BD-496409826C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1AF5AC25-4D49-FFF3-19B2-CE73E5B53D83}"/>
              </a:ext>
            </a:extLst>
          </p:cNvPr>
          <p:cNvSpPr>
            <a:spLocks noGrp="1" noRot="1" noChangeAspect="1" noChangeArrowheads="1" noTextEdit="1"/>
          </p:cNvSpPr>
          <p:nvPr>
            <p:ph type="sldImg"/>
          </p:nvPr>
        </p:nvSpPr>
        <p:spPr>
          <a:ln/>
        </p:spPr>
      </p:sp>
      <p:sp>
        <p:nvSpPr>
          <p:cNvPr id="52226" name="Rectangle 3">
            <a:extLst>
              <a:ext uri="{FF2B5EF4-FFF2-40B4-BE49-F238E27FC236}">
                <a16:creationId xmlns:a16="http://schemas.microsoft.com/office/drawing/2014/main" id="{57F83077-E36E-2890-8973-13137DE078C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760E00AF-1CA1-3D68-4800-F6FA0F1E87AE}"/>
              </a:ext>
            </a:extLst>
          </p:cNvPr>
          <p:cNvSpPr>
            <a:spLocks noGrp="1" noRot="1" noChangeAspect="1" noChangeArrowheads="1" noTextEdit="1"/>
          </p:cNvSpPr>
          <p:nvPr>
            <p:ph type="sldImg"/>
          </p:nvPr>
        </p:nvSpPr>
        <p:spPr>
          <a:ln/>
        </p:spPr>
      </p:sp>
      <p:sp>
        <p:nvSpPr>
          <p:cNvPr id="54274" name="Rectangle 3">
            <a:extLst>
              <a:ext uri="{FF2B5EF4-FFF2-40B4-BE49-F238E27FC236}">
                <a16:creationId xmlns:a16="http://schemas.microsoft.com/office/drawing/2014/main" id="{D8FEC86E-FC2F-FB22-7CA6-28BC81C5AB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32B4E0AC-949F-B3AE-84DE-077F0B3474DF}"/>
              </a:ext>
            </a:extLst>
          </p:cNvPr>
          <p:cNvSpPr>
            <a:spLocks noGrp="1" noRot="1" noChangeAspect="1" noChangeArrowheads="1" noTextEdit="1"/>
          </p:cNvSpPr>
          <p:nvPr>
            <p:ph type="sldImg"/>
          </p:nvPr>
        </p:nvSpPr>
        <p:spPr>
          <a:ln/>
        </p:spPr>
      </p:sp>
      <p:sp>
        <p:nvSpPr>
          <p:cNvPr id="56322" name="Rectangle 3">
            <a:extLst>
              <a:ext uri="{FF2B5EF4-FFF2-40B4-BE49-F238E27FC236}">
                <a16:creationId xmlns:a16="http://schemas.microsoft.com/office/drawing/2014/main" id="{E7BE3339-304E-A771-F873-9C3FA30D70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F7EDE491-15CC-7F9A-7621-8FB1163B6E7E}"/>
              </a:ext>
            </a:extLst>
          </p:cNvPr>
          <p:cNvSpPr>
            <a:spLocks noGrp="1" noRot="1" noChangeAspect="1" noChangeArrowheads="1" noTextEdit="1"/>
          </p:cNvSpPr>
          <p:nvPr>
            <p:ph type="sldImg"/>
          </p:nvPr>
        </p:nvSpPr>
        <p:spPr>
          <a:ln/>
        </p:spPr>
      </p:sp>
      <p:sp>
        <p:nvSpPr>
          <p:cNvPr id="58370" name="Rectangle 3">
            <a:extLst>
              <a:ext uri="{FF2B5EF4-FFF2-40B4-BE49-F238E27FC236}">
                <a16:creationId xmlns:a16="http://schemas.microsoft.com/office/drawing/2014/main" id="{0DA6F0FD-9197-5C68-D77E-7A57CB362E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38DCC6DB-E709-59F7-B8D8-CF542034F11F}"/>
              </a:ext>
            </a:extLst>
          </p:cNvPr>
          <p:cNvSpPr>
            <a:spLocks noGrp="1" noRot="1" noChangeAspect="1" noChangeArrowheads="1" noTextEdit="1"/>
          </p:cNvSpPr>
          <p:nvPr>
            <p:ph type="sldImg"/>
          </p:nvPr>
        </p:nvSpPr>
        <p:spPr>
          <a:ln/>
        </p:spPr>
      </p:sp>
      <p:sp>
        <p:nvSpPr>
          <p:cNvPr id="60418" name="Rectangle 3">
            <a:extLst>
              <a:ext uri="{FF2B5EF4-FFF2-40B4-BE49-F238E27FC236}">
                <a16:creationId xmlns:a16="http://schemas.microsoft.com/office/drawing/2014/main" id="{3E26B287-29CE-B171-BF6A-31B5270B923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63EEFD0D-04B2-F006-93FD-7FFC8148AA20}"/>
              </a:ext>
            </a:extLst>
          </p:cNvPr>
          <p:cNvSpPr>
            <a:spLocks noGrp="1" noRot="1" noChangeAspect="1" noChangeArrowheads="1" noTextEdit="1"/>
          </p:cNvSpPr>
          <p:nvPr>
            <p:ph type="sldImg"/>
          </p:nvPr>
        </p:nvSpPr>
        <p:spPr>
          <a:ln/>
        </p:spPr>
      </p:sp>
      <p:sp>
        <p:nvSpPr>
          <p:cNvPr id="62466" name="Rectangle 3">
            <a:extLst>
              <a:ext uri="{FF2B5EF4-FFF2-40B4-BE49-F238E27FC236}">
                <a16:creationId xmlns:a16="http://schemas.microsoft.com/office/drawing/2014/main" id="{3DD3AD01-F932-E8CC-D07E-9E02FC323D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t>Click to edit Master subtitle style</a:t>
            </a:r>
            <a:endParaRPr lang="en-US"/>
          </a:p>
        </p:txBody>
      </p:sp>
    </p:spTree>
    <p:extLst>
      <p:ext uri="{BB962C8B-B14F-4D97-AF65-F5344CB8AC3E}">
        <p14:creationId xmlns:p14="http://schemas.microsoft.com/office/powerpoint/2010/main" val="3200721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9557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Tree>
    <p:extLst>
      <p:ext uri="{BB962C8B-B14F-4D97-AF65-F5344CB8AC3E}">
        <p14:creationId xmlns:p14="http://schemas.microsoft.com/office/powerpoint/2010/main" val="46415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117600" y="1981200"/>
            <a:ext cx="3378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981200"/>
            <a:ext cx="3378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16564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350509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93460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925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2805111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798621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87391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9200" y="609600"/>
            <a:ext cx="1727200" cy="54864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1117600" y="609600"/>
            <a:ext cx="5029200" cy="5486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5868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2_1_">
    <p:bg>
      <p:bgPr>
        <a:solidFill>
          <a:schemeClr val="bg1">
            <a:alpha val="0"/>
          </a:schemeClr>
        </a:solidFill>
        <a:effectLst/>
      </p:bgPr>
    </p:bg>
    <p:spTree>
      <p:nvGrpSpPr>
        <p:cNvPr id="1" name=""/>
        <p:cNvGrpSpPr/>
        <p:nvPr/>
      </p:nvGrpSpPr>
      <p:grpSpPr>
        <a:xfrm>
          <a:off x="0" y="0"/>
          <a:ext cx="0" cy="0"/>
          <a:chOff x="0" y="0"/>
          <a:chExt cx="0" cy="0"/>
        </a:xfrm>
      </p:grpSpPr>
      <p:sp>
        <p:nvSpPr>
          <p:cNvPr id="40" name="Text Placeholder 39"/>
          <p:cNvSpPr>
            <a:spLocks noGrp="1"/>
          </p:cNvSpPr>
          <p:nvPr>
            <p:ph type="body" idx="10"/>
          </p:nvPr>
        </p:nvSpPr>
        <p:spPr>
          <a:xfrm>
            <a:off x="789306" y="812800"/>
            <a:ext cx="8547100" cy="3911600"/>
          </a:xfrm>
          <a:prstGeom prst="rect">
            <a:avLst/>
          </a:prstGeom>
          <a:noFill/>
          <a:ln w="0" cmpd="sng">
            <a:noFill/>
            <a:prstDash val="solid"/>
          </a:ln>
        </p:spPr>
        <p:txBody>
          <a:bodyPr vert="horz" lIns="0" tIns="0" rIns="0" bIns="0" anchor="t"/>
          <a:lstStyle/>
          <a:p>
            <a:r>
              <a:rPr lang="en-US"/>
              <a:t>What experiments would one do to test a </a:t>
            </a:r>
          </a:p>
          <a:p>
            <a:r>
              <a:rPr lang="en-US"/>
              <a:t>potential antihypertensive drug? </a:t>
            </a:r>
          </a:p>
          <a:p>
            <a:r>
              <a:rPr lang="en-US"/>
              <a:t>smooth muscle cell culture </a:t>
            </a:r>
          </a:p>
          <a:p>
            <a:r>
              <a:rPr lang="en-US"/>
              <a:t>small vessel myography </a:t>
            </a:r>
          </a:p>
          <a:p>
            <a:r>
              <a:rPr lang="en-US"/>
              <a:t>conduit vessel organ bath pharmacology </a:t>
            </a:r>
          </a:p>
          <a:p>
            <a:r>
              <a:rPr lang="en-US"/>
              <a:t>in vivo blood pressure measurement </a:t>
            </a:r>
          </a:p>
        </p:txBody>
      </p:sp>
    </p:spTree>
    <p:extLst>
      <p:ext uri="{BB962C8B-B14F-4D97-AF65-F5344CB8AC3E}">
        <p14:creationId xmlns:p14="http://schemas.microsoft.com/office/powerpoint/2010/main" val="50589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F01CF19-FE9A-9AF3-62E5-2457C27D1ABE}"/>
              </a:ext>
            </a:extLst>
          </p:cNvPr>
          <p:cNvSpPr>
            <a:spLocks noGrp="1" noChangeArrowheads="1"/>
          </p:cNvSpPr>
          <p:nvPr>
            <p:ph type="title"/>
          </p:nvPr>
        </p:nvSpPr>
        <p:spPr bwMode="auto">
          <a:xfrm>
            <a:off x="1117600" y="609600"/>
            <a:ext cx="6908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4E081A83-2E11-E159-0226-E5ED972A5FEC}"/>
              </a:ext>
            </a:extLst>
          </p:cNvPr>
          <p:cNvSpPr>
            <a:spLocks noGrp="1" noChangeArrowheads="1"/>
          </p:cNvSpPr>
          <p:nvPr>
            <p:ph type="body" idx="1"/>
          </p:nvPr>
        </p:nvSpPr>
        <p:spPr bwMode="auto">
          <a:xfrm>
            <a:off x="1117600" y="1981200"/>
            <a:ext cx="6908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pic>
        <p:nvPicPr>
          <p:cNvPr id="1028" name="Picture 4" descr="MidBlue1024">
            <a:extLst>
              <a:ext uri="{FF2B5EF4-FFF2-40B4-BE49-F238E27FC236}">
                <a16:creationId xmlns:a16="http://schemas.microsoft.com/office/drawing/2014/main" id="{3997D221-2594-385D-3456-4716BEED32BC}"/>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603250"/>
            <a:ext cx="9144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Lst>
        </p:spPr>
      </p:pic>
      <p:sp>
        <p:nvSpPr>
          <p:cNvPr id="1029" name="Rectangle 6">
            <a:extLst>
              <a:ext uri="{FF2B5EF4-FFF2-40B4-BE49-F238E27FC236}">
                <a16:creationId xmlns:a16="http://schemas.microsoft.com/office/drawing/2014/main" id="{5DB3D7B7-2027-6A9F-6F87-17AA3C97012D}"/>
              </a:ext>
            </a:extLst>
          </p:cNvPr>
          <p:cNvSpPr>
            <a:spLocks noChangeArrowheads="1"/>
          </p:cNvSpPr>
          <p:nvPr userDrawn="1"/>
        </p:nvSpPr>
        <p:spPr bwMode="auto">
          <a:xfrm>
            <a:off x="0" y="692150"/>
            <a:ext cx="9144000" cy="73025"/>
          </a:xfrm>
          <a:prstGeom prst="rect">
            <a:avLst/>
          </a:prstGeom>
          <a:gradFill rotWithShape="1">
            <a:gsLst>
              <a:gs pos="0">
                <a:schemeClr val="hlink"/>
              </a:gs>
              <a:gs pos="100000">
                <a:schemeClr val="tx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rgbClr val="FFFF00"/>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rgbClr val="FFFF00"/>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rgbClr val="FFFF00"/>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rgbClr val="FFFF00"/>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rgbClr val="FFFF00"/>
          </a:solidFill>
          <a:latin typeface="Arial" charset="0"/>
          <a:ea typeface="MS PGothic" panose="020B0600070205080204" pitchFamily="34" charset="-128"/>
          <a:cs typeface="Arial" charset="0"/>
        </a:defRPr>
      </a:lvl5pPr>
      <a:lvl6pPr marL="457200" algn="ctr" rtl="0" eaLnBrk="0" fontAlgn="base" hangingPunct="0">
        <a:spcBef>
          <a:spcPct val="0"/>
        </a:spcBef>
        <a:spcAft>
          <a:spcPct val="0"/>
        </a:spcAft>
        <a:defRPr sz="4400">
          <a:solidFill>
            <a:srgbClr val="FFFF00"/>
          </a:solidFill>
          <a:latin typeface="Arial" charset="0"/>
          <a:ea typeface="ＭＳ Ｐゴシック" charset="0"/>
          <a:cs typeface="Arial" charset="0"/>
        </a:defRPr>
      </a:lvl6pPr>
      <a:lvl7pPr marL="914400" algn="ctr" rtl="0" eaLnBrk="0" fontAlgn="base" hangingPunct="0">
        <a:spcBef>
          <a:spcPct val="0"/>
        </a:spcBef>
        <a:spcAft>
          <a:spcPct val="0"/>
        </a:spcAft>
        <a:defRPr sz="4400">
          <a:solidFill>
            <a:srgbClr val="FFFF00"/>
          </a:solidFill>
          <a:latin typeface="Arial" charset="0"/>
          <a:ea typeface="ＭＳ Ｐゴシック" charset="0"/>
          <a:cs typeface="Arial" charset="0"/>
        </a:defRPr>
      </a:lvl7pPr>
      <a:lvl8pPr marL="1371600" algn="ctr" rtl="0" eaLnBrk="0" fontAlgn="base" hangingPunct="0">
        <a:spcBef>
          <a:spcPct val="0"/>
        </a:spcBef>
        <a:spcAft>
          <a:spcPct val="0"/>
        </a:spcAft>
        <a:defRPr sz="4400">
          <a:solidFill>
            <a:srgbClr val="FFFF00"/>
          </a:solidFill>
          <a:latin typeface="Arial" charset="0"/>
          <a:ea typeface="ＭＳ Ｐゴシック" charset="0"/>
          <a:cs typeface="Arial" charset="0"/>
        </a:defRPr>
      </a:lvl8pPr>
      <a:lvl9pPr marL="1828800" algn="ctr" rtl="0" eaLnBrk="0" fontAlgn="base" hangingPunct="0">
        <a:spcBef>
          <a:spcPct val="0"/>
        </a:spcBef>
        <a:spcAft>
          <a:spcPct val="0"/>
        </a:spcAft>
        <a:defRPr sz="4400">
          <a:solidFill>
            <a:srgbClr val="FFFF00"/>
          </a:solidFill>
          <a:latin typeface="Arial" charset="0"/>
          <a:ea typeface="ＭＳ Ｐゴシック" charset="0"/>
          <a:cs typeface="Arial" charset="0"/>
        </a:defRPr>
      </a:lvl9pPr>
    </p:titleStyle>
    <p:bodyStyle>
      <a:lvl1pPr marL="342900" indent="-342900" algn="l" rtl="0" eaLnBrk="0" fontAlgn="base" hangingPunct="0">
        <a:spcBef>
          <a:spcPct val="20000"/>
        </a:spcBef>
        <a:spcAft>
          <a:spcPct val="0"/>
        </a:spcAft>
        <a:buSzPct val="100000"/>
        <a:buChar char="•"/>
        <a:defRPr sz="3200">
          <a:solidFill>
            <a:srgbClr val="FFFFFF"/>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SzPct val="100000"/>
        <a:buChar char="–"/>
        <a:defRPr sz="2800">
          <a:solidFill>
            <a:srgbClr val="FFFFFF"/>
          </a:solidFill>
          <a:latin typeface="+mn-lt"/>
          <a:ea typeface="Arial" charset="0"/>
          <a:cs typeface="+mn-cs"/>
        </a:defRPr>
      </a:lvl2pPr>
      <a:lvl3pPr marL="1143000" indent="-228600" algn="l" rtl="0" eaLnBrk="0" fontAlgn="base" hangingPunct="0">
        <a:spcBef>
          <a:spcPct val="20000"/>
        </a:spcBef>
        <a:spcAft>
          <a:spcPct val="0"/>
        </a:spcAft>
        <a:buSzPct val="100000"/>
        <a:buChar char="•"/>
        <a:defRPr sz="2400">
          <a:solidFill>
            <a:srgbClr val="FFFFFF"/>
          </a:solidFill>
          <a:latin typeface="+mn-lt"/>
          <a:ea typeface="Arial" charset="0"/>
          <a:cs typeface="+mn-cs"/>
        </a:defRPr>
      </a:lvl3pPr>
      <a:lvl4pPr marL="16002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4pPr>
      <a:lvl5pPr marL="20574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5pPr>
      <a:lvl6pPr marL="25146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6pPr>
      <a:lvl7pPr marL="29718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7pPr>
      <a:lvl8pPr marL="34290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8pPr>
      <a:lvl9pPr marL="38862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wmf"/><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oleObject" Target="../embeddings/oleObject1.bin"/><Relationship Id="rId5" Type="http://schemas.openxmlformats.org/officeDocument/2006/relationships/image" Target="../media/image6.emf"/><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1.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2.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hyperlink" Target="http://www.niehs.nih.gov/research/atniehs/labs/ln/icp/index.cfm"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6.xml"/><Relationship Id="rId4" Type="http://schemas.openxmlformats.org/officeDocument/2006/relationships/image" Target="../media/image17.jpeg"/></Relationships>
</file>

<file path=ppt/slides/_rels/slide3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emf"/></Relationships>
</file>

<file path=ppt/slides/_rels/slide3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5.jpeg"/></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28.jpeg"/><Relationship Id="rId4" Type="http://schemas.openxmlformats.org/officeDocument/2006/relationships/image" Target="../media/image27.jpeg"/></Relationships>
</file>

<file path=ppt/slides/_rels/slide3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2">
            <a:extLst>
              <a:ext uri="{FF2B5EF4-FFF2-40B4-BE49-F238E27FC236}">
                <a16:creationId xmlns:a16="http://schemas.microsoft.com/office/drawing/2014/main" id="{AC1CBA8A-8630-2F65-8952-02547777ECF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774921"/>
            <a:ext cx="7681912" cy="3588893"/>
          </a:xfrm>
          <a:prstGeom prst="rect">
            <a:avLst/>
          </a:prstGeom>
          <a:noFill/>
          <a:ln>
            <a:noFill/>
          </a:ln>
          <a:extLst>
            <a:ext uri="{909E8E84-426E-40DD-AFC4-6F175D3DCCD1}">
              <a14:hiddenFill xmlns:a14="http://schemas.microsoft.com/office/drawing/2010/main">
                <a:solidFill>
                  <a:srgbClr val="FFFFFF">
                    <a:alpha val="27058"/>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7">
            <a:extLst>
              <a:ext uri="{FF2B5EF4-FFF2-40B4-BE49-F238E27FC236}">
                <a16:creationId xmlns:a16="http://schemas.microsoft.com/office/drawing/2014/main" id="{CADECFD6-D865-F197-7CF0-97024C66382A}"/>
              </a:ext>
            </a:extLst>
          </p:cNvPr>
          <p:cNvSpPr>
            <a:spLocks noChangeArrowheads="1"/>
          </p:cNvSpPr>
          <p:nvPr/>
        </p:nvSpPr>
        <p:spPr bwMode="auto">
          <a:xfrm>
            <a:off x="1354138" y="4191000"/>
            <a:ext cx="64357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lgn="ctr">
              <a:spcBef>
                <a:spcPct val="20000"/>
              </a:spcBef>
              <a:buSzPct val="100000"/>
            </a:pPr>
            <a:r>
              <a:rPr lang="en-GB" altLang="en-US" sz="3200">
                <a:latin typeface="Arial" panose="020B0604020202020204" pitchFamily="34" charset="0"/>
              </a:rPr>
              <a:t> </a:t>
            </a:r>
          </a:p>
        </p:txBody>
      </p:sp>
      <p:sp>
        <p:nvSpPr>
          <p:cNvPr id="285702" name="Rectangle 6">
            <a:extLst>
              <a:ext uri="{FF2B5EF4-FFF2-40B4-BE49-F238E27FC236}">
                <a16:creationId xmlns:a16="http://schemas.microsoft.com/office/drawing/2014/main" id="{4FFCA7DB-1474-35DF-A928-33186F3820BF}"/>
              </a:ext>
            </a:extLst>
          </p:cNvPr>
          <p:cNvSpPr>
            <a:spLocks noChangeArrowheads="1"/>
          </p:cNvSpPr>
          <p:nvPr/>
        </p:nvSpPr>
        <p:spPr bwMode="auto">
          <a:xfrm>
            <a:off x="611188" y="673768"/>
            <a:ext cx="7888287" cy="2895600"/>
          </a:xfrm>
          <a:prstGeom prst="rect">
            <a:avLst/>
          </a:prstGeom>
          <a:noFill/>
          <a:ln>
            <a:noFill/>
          </a:ln>
          <a:effec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lgn="ctr"/>
            <a:r>
              <a:rPr lang="en-GB" altLang="en-US" sz="4800" b="1" dirty="0">
                <a:solidFill>
                  <a:srgbClr val="000099"/>
                </a:solidFill>
                <a:effectLst>
                  <a:outerShdw blurRad="38100" dist="38100" dir="2700000" algn="tl">
                    <a:srgbClr val="C0C0C0"/>
                  </a:outerShdw>
                </a:effectLst>
                <a:latin typeface="Arial" panose="020B0604020202020204" pitchFamily="34" charset="0"/>
              </a:rPr>
              <a:t>The Membrane Potential</a:t>
            </a:r>
            <a:br>
              <a:rPr lang="en-GB" altLang="en-US" sz="4800" b="1" dirty="0">
                <a:solidFill>
                  <a:srgbClr val="FAFD00"/>
                </a:solidFill>
                <a:effectLst>
                  <a:outerShdw blurRad="38100" dist="38100" dir="2700000" algn="tl">
                    <a:srgbClr val="C0C0C0"/>
                  </a:outerShdw>
                </a:effectLst>
                <a:latin typeface="Arial" panose="020B0604020202020204" pitchFamily="34" charset="0"/>
              </a:rPr>
            </a:br>
            <a:br>
              <a:rPr lang="en-GB" altLang="en-US" sz="4400" b="1" dirty="0">
                <a:solidFill>
                  <a:schemeClr val="hlink"/>
                </a:solidFill>
                <a:effectLst>
                  <a:outerShdw blurRad="38100" dist="38100" dir="2700000" algn="tl">
                    <a:srgbClr val="C0C0C0"/>
                  </a:outerShdw>
                </a:effectLst>
                <a:latin typeface="Arial" panose="020B0604020202020204" pitchFamily="34" charset="0"/>
              </a:rPr>
            </a:br>
            <a:br>
              <a:rPr lang="en-GB" altLang="en-US" sz="3200" b="1" i="1" dirty="0">
                <a:solidFill>
                  <a:schemeClr val="hlink"/>
                </a:solidFill>
                <a:latin typeface="Arial" panose="020B0604020202020204" pitchFamily="34" charset="0"/>
              </a:rPr>
            </a:br>
            <a:endParaRPr lang="en-GB" altLang="en-US" sz="3200" b="1" i="1" dirty="0">
              <a:solidFill>
                <a:schemeClr val="hlink"/>
              </a:solidFill>
              <a:latin typeface="Arial" panose="020B0604020202020204" pitchFamily="34" charset="0"/>
            </a:endParaRPr>
          </a:p>
        </p:txBody>
      </p:sp>
      <p:sp>
        <p:nvSpPr>
          <p:cNvPr id="4100" name="TextBox 1">
            <a:extLst>
              <a:ext uri="{FF2B5EF4-FFF2-40B4-BE49-F238E27FC236}">
                <a16:creationId xmlns:a16="http://schemas.microsoft.com/office/drawing/2014/main" id="{BD66FAA9-651A-17B6-30A7-27274A646614}"/>
              </a:ext>
            </a:extLst>
          </p:cNvPr>
          <p:cNvSpPr txBox="1">
            <a:spLocks noChangeArrowheads="1"/>
          </p:cNvSpPr>
          <p:nvPr/>
        </p:nvSpPr>
        <p:spPr bwMode="auto">
          <a:xfrm>
            <a:off x="611188" y="115888"/>
            <a:ext cx="1708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a:latin typeface="Arial" panose="020B0604020202020204" pitchFamily="34" charset="0"/>
              </a:rPr>
              <a:t>PHOL1001</a:t>
            </a:r>
          </a:p>
        </p:txBody>
      </p:sp>
      <p:sp>
        <p:nvSpPr>
          <p:cNvPr id="3" name="TextBox 2">
            <a:extLst>
              <a:ext uri="{FF2B5EF4-FFF2-40B4-BE49-F238E27FC236}">
                <a16:creationId xmlns:a16="http://schemas.microsoft.com/office/drawing/2014/main" id="{168643E0-BE23-93DF-2BD0-74110FA5C4E9}"/>
              </a:ext>
            </a:extLst>
          </p:cNvPr>
          <p:cNvSpPr txBox="1"/>
          <p:nvPr/>
        </p:nvSpPr>
        <p:spPr>
          <a:xfrm>
            <a:off x="4962283" y="5864802"/>
            <a:ext cx="4572000" cy="1200329"/>
          </a:xfrm>
          <a:prstGeom prst="rect">
            <a:avLst/>
          </a:prstGeom>
          <a:noFill/>
        </p:spPr>
        <p:txBody>
          <a:bodyPr wrap="square">
            <a:spAutoFit/>
          </a:bodyPr>
          <a:lstStyle/>
          <a:p>
            <a:pPr algn="ctr"/>
            <a:r>
              <a:rPr lang="en-GB" altLang="en-US" b="1" dirty="0">
                <a:solidFill>
                  <a:schemeClr val="accent2">
                    <a:lumMod val="50000"/>
                  </a:schemeClr>
                </a:solidFill>
                <a:latin typeface="Arial" panose="020B0604020202020204" pitchFamily="34" charset="0"/>
              </a:rPr>
              <a:t>Dr Jigisha Patel</a:t>
            </a:r>
          </a:p>
          <a:p>
            <a:pPr algn="ctr"/>
            <a:r>
              <a:rPr lang="en-GB" altLang="en-US" dirty="0">
                <a:solidFill>
                  <a:schemeClr val="accent2">
                    <a:lumMod val="50000"/>
                  </a:schemeClr>
                </a:solidFill>
                <a:latin typeface="Arial" panose="020B0604020202020204" pitchFamily="34" charset="0"/>
              </a:rPr>
              <a:t>jigisha.a.patel@ucl.ac.uk</a:t>
            </a:r>
            <a:br>
              <a:rPr lang="en-GB" altLang="en-US" sz="3200" b="1" i="1" dirty="0">
                <a:solidFill>
                  <a:schemeClr val="accent2">
                    <a:lumMod val="50000"/>
                  </a:schemeClr>
                </a:solidFill>
                <a:latin typeface="Arial" panose="020B0604020202020204" pitchFamily="34" charset="0"/>
              </a:rPr>
            </a:b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1" name="Rectangle 3">
            <a:extLst>
              <a:ext uri="{FF2B5EF4-FFF2-40B4-BE49-F238E27FC236}">
                <a16:creationId xmlns:a16="http://schemas.microsoft.com/office/drawing/2014/main" id="{B54E454B-22AC-36B2-410E-6107E56561FE}"/>
              </a:ext>
            </a:extLst>
          </p:cNvPr>
          <p:cNvSpPr>
            <a:spLocks noGrp="1" noChangeArrowheads="1"/>
          </p:cNvSpPr>
          <p:nvPr>
            <p:ph type="body" idx="1"/>
          </p:nvPr>
        </p:nvSpPr>
        <p:spPr>
          <a:xfrm>
            <a:off x="773113" y="1989138"/>
            <a:ext cx="7759700" cy="4114800"/>
          </a:xfrm>
        </p:spPr>
        <p:txBody>
          <a:bodyPr/>
          <a:lstStyle/>
          <a:p>
            <a:pPr>
              <a:lnSpc>
                <a:spcPct val="150000"/>
              </a:lnSpc>
            </a:pPr>
            <a:r>
              <a:rPr lang="en-GB" altLang="en-US" sz="2000" dirty="0">
                <a:solidFill>
                  <a:srgbClr val="000000"/>
                </a:solidFill>
              </a:rPr>
              <a:t>The origin of the membrane potential.</a:t>
            </a:r>
          </a:p>
          <a:p>
            <a:pPr>
              <a:lnSpc>
                <a:spcPct val="150000"/>
              </a:lnSpc>
            </a:pPr>
            <a:r>
              <a:rPr lang="en-GB" altLang="en-US" sz="2000" dirty="0">
                <a:solidFill>
                  <a:srgbClr val="000000"/>
                </a:solidFill>
              </a:rPr>
              <a:t>The relationship between the ionic permeability of the membrane and the membrane potential.</a:t>
            </a:r>
          </a:p>
          <a:p>
            <a:pPr>
              <a:lnSpc>
                <a:spcPct val="150000"/>
              </a:lnSpc>
            </a:pPr>
            <a:r>
              <a:rPr lang="en-GB" altLang="en-US" sz="2000" dirty="0">
                <a:solidFill>
                  <a:srgbClr val="000000"/>
                </a:solidFill>
              </a:rPr>
              <a:t>The properties of ion channels:</a:t>
            </a:r>
          </a:p>
          <a:p>
            <a:pPr lvl="1">
              <a:lnSpc>
                <a:spcPct val="150000"/>
              </a:lnSpc>
            </a:pPr>
            <a:r>
              <a:rPr lang="en-GB" altLang="en-US" sz="2000" dirty="0">
                <a:solidFill>
                  <a:srgbClr val="000000"/>
                </a:solidFill>
                <a:ea typeface="Arial" panose="020B0604020202020204" pitchFamily="34" charset="0"/>
              </a:rPr>
              <a:t>ligand-gated channels.</a:t>
            </a:r>
          </a:p>
          <a:p>
            <a:pPr lvl="1">
              <a:lnSpc>
                <a:spcPct val="150000"/>
              </a:lnSpc>
            </a:pPr>
            <a:r>
              <a:rPr lang="en-GB" altLang="en-US" sz="2000" dirty="0">
                <a:solidFill>
                  <a:srgbClr val="000000"/>
                </a:solidFill>
                <a:ea typeface="Arial" panose="020B0604020202020204" pitchFamily="34" charset="0"/>
              </a:rPr>
              <a:t>voltage-gated channels.</a:t>
            </a:r>
          </a:p>
          <a:p>
            <a:pPr>
              <a:lnSpc>
                <a:spcPct val="150000"/>
              </a:lnSpc>
            </a:pPr>
            <a:r>
              <a:rPr lang="en-GB" altLang="en-US" sz="2000" dirty="0">
                <a:solidFill>
                  <a:srgbClr val="000000"/>
                </a:solidFill>
              </a:rPr>
              <a:t>The action potential.</a:t>
            </a:r>
          </a:p>
        </p:txBody>
      </p:sp>
      <p:sp>
        <p:nvSpPr>
          <p:cNvPr id="6146" name="Text Box 4">
            <a:extLst>
              <a:ext uri="{FF2B5EF4-FFF2-40B4-BE49-F238E27FC236}">
                <a16:creationId xmlns:a16="http://schemas.microsoft.com/office/drawing/2014/main" id="{CAFF2C0D-1C2F-AD1B-15EA-33148FBB66CC}"/>
              </a:ext>
            </a:extLst>
          </p:cNvPr>
          <p:cNvSpPr txBox="1">
            <a:spLocks noChangeArrowheads="1"/>
          </p:cNvSpPr>
          <p:nvPr/>
        </p:nvSpPr>
        <p:spPr bwMode="auto">
          <a:xfrm>
            <a:off x="827088" y="1412875"/>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2000" b="1">
                <a:solidFill>
                  <a:srgbClr val="000000"/>
                </a:solidFill>
                <a:latin typeface="Arial" panose="020B0604020202020204" pitchFamily="34" charset="0"/>
              </a:rPr>
              <a:t>This lecture will discuss:</a:t>
            </a:r>
          </a:p>
        </p:txBody>
      </p:sp>
      <p:sp>
        <p:nvSpPr>
          <p:cNvPr id="6147" name="Rectangle 5">
            <a:extLst>
              <a:ext uri="{FF2B5EF4-FFF2-40B4-BE49-F238E27FC236}">
                <a16:creationId xmlns:a16="http://schemas.microsoft.com/office/drawing/2014/main" id="{B4862D37-5F7C-8B71-B2E0-11268C2670B3}"/>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dirty="0">
                <a:latin typeface="Arial" panose="020B0604020202020204" pitchFamily="34" charset="0"/>
              </a:rPr>
              <a:t>Membrane Potential</a:t>
            </a:r>
            <a:endParaRPr lang="en-GB" altLang="en-US" sz="3200" dirty="0">
              <a:solidFill>
                <a:srgbClr val="FFFF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Effect transition="in" filter="wipe(left)">
                                      <p:cBhvr>
                                        <p:cTn id="7" dur="500"/>
                                        <p:tgtEl>
                                          <p:spTgt spid="375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5811">
                                            <p:txEl>
                                              <p:pRg st="1" end="1"/>
                                            </p:txEl>
                                          </p:spTgt>
                                        </p:tgtEl>
                                        <p:attrNameLst>
                                          <p:attrName>style.visibility</p:attrName>
                                        </p:attrNameLst>
                                      </p:cBhvr>
                                      <p:to>
                                        <p:strVal val="visible"/>
                                      </p:to>
                                    </p:set>
                                    <p:animEffect transition="in" filter="wipe(left)">
                                      <p:cBhvr>
                                        <p:cTn id="12" dur="500"/>
                                        <p:tgtEl>
                                          <p:spTgt spid="3758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5811">
                                            <p:txEl>
                                              <p:pRg st="2" end="2"/>
                                            </p:txEl>
                                          </p:spTgt>
                                        </p:tgtEl>
                                        <p:attrNameLst>
                                          <p:attrName>style.visibility</p:attrName>
                                        </p:attrNameLst>
                                      </p:cBhvr>
                                      <p:to>
                                        <p:strVal val="visible"/>
                                      </p:to>
                                    </p:set>
                                    <p:animEffect transition="in" filter="wipe(left)">
                                      <p:cBhvr>
                                        <p:cTn id="17" dur="500"/>
                                        <p:tgtEl>
                                          <p:spTgt spid="375811">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75811">
                                            <p:txEl>
                                              <p:pRg st="3" end="3"/>
                                            </p:txEl>
                                          </p:spTgt>
                                        </p:tgtEl>
                                        <p:attrNameLst>
                                          <p:attrName>style.visibility</p:attrName>
                                        </p:attrNameLst>
                                      </p:cBhvr>
                                      <p:to>
                                        <p:strVal val="visible"/>
                                      </p:to>
                                    </p:set>
                                    <p:animEffect transition="in" filter="wipe(left)">
                                      <p:cBhvr>
                                        <p:cTn id="20" dur="500"/>
                                        <p:tgtEl>
                                          <p:spTgt spid="375811">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75811">
                                            <p:txEl>
                                              <p:pRg st="4" end="4"/>
                                            </p:txEl>
                                          </p:spTgt>
                                        </p:tgtEl>
                                        <p:attrNameLst>
                                          <p:attrName>style.visibility</p:attrName>
                                        </p:attrNameLst>
                                      </p:cBhvr>
                                      <p:to>
                                        <p:strVal val="visible"/>
                                      </p:to>
                                    </p:set>
                                    <p:animEffect transition="in" filter="wipe(left)">
                                      <p:cBhvr>
                                        <p:cTn id="23" dur="500"/>
                                        <p:tgtEl>
                                          <p:spTgt spid="375811">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75811">
                                            <p:txEl>
                                              <p:pRg st="5" end="5"/>
                                            </p:txEl>
                                          </p:spTgt>
                                        </p:tgtEl>
                                        <p:attrNameLst>
                                          <p:attrName>style.visibility</p:attrName>
                                        </p:attrNameLst>
                                      </p:cBhvr>
                                      <p:to>
                                        <p:strVal val="visible"/>
                                      </p:to>
                                    </p:set>
                                    <p:animEffect transition="in" filter="wipe(left)">
                                      <p:cBhvr>
                                        <p:cTn id="28" dur="500"/>
                                        <p:tgtEl>
                                          <p:spTgt spid="3758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EB8923-2668-ED70-08CB-31844CA8CA49}"/>
              </a:ext>
            </a:extLst>
          </p:cNvPr>
          <p:cNvSpPr txBox="1"/>
          <p:nvPr/>
        </p:nvSpPr>
        <p:spPr>
          <a:xfrm>
            <a:off x="226193" y="917912"/>
            <a:ext cx="8691613" cy="5940088"/>
          </a:xfrm>
          <a:prstGeom prst="rect">
            <a:avLst/>
          </a:prstGeom>
          <a:noFill/>
        </p:spPr>
        <p:txBody>
          <a:bodyPr wrap="square">
            <a:spAutoFit/>
          </a:bodyPr>
          <a:lstStyle/>
          <a:p>
            <a:pPr>
              <a:buFont typeface="Wingdings" pitchFamily="2" charset="2"/>
              <a:buChar char="Ø"/>
            </a:pPr>
            <a:r>
              <a:rPr lang="en-US" sz="2000" b="1" i="1" dirty="0">
                <a:solidFill>
                  <a:schemeClr val="tx1"/>
                </a:solidFill>
                <a:latin typeface="+mn-lt"/>
              </a:rPr>
              <a:t>Membrane potential is a</a:t>
            </a:r>
            <a:r>
              <a:rPr lang="en-IN" sz="2000" b="1" i="1" dirty="0">
                <a:solidFill>
                  <a:schemeClr val="tx1"/>
                </a:solidFill>
                <a:latin typeface="+mn-lt"/>
              </a:rPr>
              <a:t> difference in electrical potential across the cell membrane.</a:t>
            </a:r>
          </a:p>
          <a:p>
            <a:pPr>
              <a:buFont typeface="Wingdings" pitchFamily="2" charset="2"/>
              <a:buChar char="Ø"/>
            </a:pPr>
            <a:endParaRPr lang="en-US" sz="2000" b="1" i="1" dirty="0">
              <a:solidFill>
                <a:schemeClr val="tx1"/>
              </a:solidFill>
              <a:latin typeface="+mn-lt"/>
            </a:endParaRPr>
          </a:p>
          <a:p>
            <a:pPr>
              <a:buFont typeface="Wingdings" pitchFamily="2" charset="2"/>
              <a:buChar char="Ø"/>
            </a:pPr>
            <a:r>
              <a:rPr lang="en-US" sz="2000" dirty="0">
                <a:solidFill>
                  <a:schemeClr val="tx1"/>
                </a:solidFill>
                <a:latin typeface="+mn-lt"/>
              </a:rPr>
              <a:t>There exists a potential difference across the membrane of all living cells with inside being negative in relation to the outside, i.e. the cations and anions arrange themselves along the outer and inner surfaces of the cell membrane. </a:t>
            </a:r>
          </a:p>
          <a:p>
            <a:pPr>
              <a:buFont typeface="Wingdings" pitchFamily="2" charset="2"/>
              <a:buChar char="Ø"/>
            </a:pPr>
            <a:endParaRPr lang="en-US" sz="2000" dirty="0">
              <a:solidFill>
                <a:schemeClr val="tx1"/>
              </a:solidFill>
              <a:latin typeface="+mn-lt"/>
            </a:endParaRPr>
          </a:p>
          <a:p>
            <a:pPr>
              <a:buFont typeface="Wingdings" pitchFamily="2" charset="2"/>
              <a:buChar char="Ø"/>
            </a:pPr>
            <a:r>
              <a:rPr lang="en-US" sz="2000" dirty="0">
                <a:solidFill>
                  <a:schemeClr val="tx1"/>
                </a:solidFill>
                <a:latin typeface="+mn-lt"/>
              </a:rPr>
              <a:t>The build up of charges occurs only very close to cell membrane. The ECF and ICF are else where contains equal number of +</a:t>
            </a:r>
            <a:r>
              <a:rPr lang="en-US" sz="2000" dirty="0" err="1">
                <a:solidFill>
                  <a:schemeClr val="tx1"/>
                </a:solidFill>
                <a:latin typeface="+mn-lt"/>
              </a:rPr>
              <a:t>ve</a:t>
            </a:r>
            <a:r>
              <a:rPr lang="en-US" sz="2000" dirty="0">
                <a:solidFill>
                  <a:schemeClr val="tx1"/>
                </a:solidFill>
                <a:latin typeface="+mn-lt"/>
              </a:rPr>
              <a:t> and –</a:t>
            </a:r>
            <a:r>
              <a:rPr lang="en-US" sz="2000" dirty="0" err="1">
                <a:solidFill>
                  <a:schemeClr val="tx1"/>
                </a:solidFill>
                <a:latin typeface="+mn-lt"/>
              </a:rPr>
              <a:t>ve</a:t>
            </a:r>
            <a:r>
              <a:rPr lang="en-US" sz="2000" dirty="0">
                <a:solidFill>
                  <a:schemeClr val="tx1"/>
                </a:solidFill>
                <a:latin typeface="+mn-lt"/>
              </a:rPr>
              <a:t> charges and is electrically neutral.</a:t>
            </a:r>
          </a:p>
          <a:p>
            <a:pPr>
              <a:buFont typeface="Wingdings" pitchFamily="2" charset="2"/>
              <a:buChar char="Ø"/>
            </a:pPr>
            <a:endParaRPr lang="en-US" sz="2000" dirty="0">
              <a:solidFill>
                <a:schemeClr val="tx1"/>
              </a:solidFill>
              <a:latin typeface="+mn-lt"/>
            </a:endParaRPr>
          </a:p>
          <a:p>
            <a:pPr>
              <a:buFont typeface="Wingdings" pitchFamily="2" charset="2"/>
              <a:buChar char="Ø"/>
            </a:pPr>
            <a:r>
              <a:rPr lang="en-US" sz="2000" dirty="0">
                <a:solidFill>
                  <a:schemeClr val="tx1"/>
                </a:solidFill>
                <a:latin typeface="+mn-lt"/>
              </a:rPr>
              <a:t>Thus, the actual number of ions responsible for membrane potential is minute fraction of the total number present across the cell membrane in each respective compartment. </a:t>
            </a:r>
          </a:p>
          <a:p>
            <a:pPr>
              <a:buFont typeface="Wingdings" pitchFamily="2" charset="2"/>
              <a:buChar char="Ø"/>
            </a:pPr>
            <a:endParaRPr lang="en-US" sz="2000" dirty="0">
              <a:solidFill>
                <a:schemeClr val="tx1"/>
              </a:solidFill>
              <a:latin typeface="+mn-lt"/>
            </a:endParaRPr>
          </a:p>
          <a:p>
            <a:pPr>
              <a:buFont typeface="Wingdings" pitchFamily="2" charset="2"/>
              <a:buChar char="Ø"/>
            </a:pPr>
            <a:r>
              <a:rPr lang="en-US" sz="2000" dirty="0">
                <a:solidFill>
                  <a:schemeClr val="tx1"/>
                </a:solidFill>
                <a:latin typeface="+mn-lt"/>
              </a:rPr>
              <a:t>The greater the difference across the membrane, the larger the membrane potential.</a:t>
            </a:r>
            <a:endParaRPr lang="en-IN" sz="2000" dirty="0">
              <a:solidFill>
                <a:schemeClr val="tx1"/>
              </a:solidFill>
              <a:latin typeface="+mn-lt"/>
            </a:endParaRPr>
          </a:p>
          <a:p>
            <a:pPr>
              <a:buFont typeface="Wingdings" pitchFamily="2" charset="2"/>
              <a:buChar char="Ø"/>
            </a:pPr>
            <a:endParaRPr lang="en-US" sz="2000" dirty="0">
              <a:solidFill>
                <a:schemeClr val="tx1"/>
              </a:solidFill>
              <a:latin typeface="+mn-lt"/>
            </a:endParaRPr>
          </a:p>
        </p:txBody>
      </p:sp>
      <p:sp>
        <p:nvSpPr>
          <p:cNvPr id="10" name="Rectangle 5">
            <a:extLst>
              <a:ext uri="{FF2B5EF4-FFF2-40B4-BE49-F238E27FC236}">
                <a16:creationId xmlns:a16="http://schemas.microsoft.com/office/drawing/2014/main" id="{9EEABBBE-D931-D42C-442A-26A479902C78}"/>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dirty="0">
                <a:latin typeface="Arial" panose="020B0604020202020204" pitchFamily="34" charset="0"/>
              </a:rPr>
              <a:t>Membrane Potential</a:t>
            </a:r>
            <a:endParaRPr lang="en-GB" altLang="en-US" sz="3200" dirty="0">
              <a:solidFill>
                <a:srgbClr val="FFFF00"/>
              </a:solidFill>
              <a:latin typeface="Arial" panose="020B0604020202020204" pitchFamily="34" charset="0"/>
            </a:endParaRPr>
          </a:p>
        </p:txBody>
      </p:sp>
    </p:spTree>
    <p:extLst>
      <p:ext uri="{BB962C8B-B14F-4D97-AF65-F5344CB8AC3E}">
        <p14:creationId xmlns:p14="http://schemas.microsoft.com/office/powerpoint/2010/main" val="396943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fade">
                                      <p:cBhvr>
                                        <p:cTn id="22" dur="500"/>
                                        <p:tgtEl>
                                          <p:spTgt spid="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animEffect transition="in" filter="fade">
                                      <p:cBhvr>
                                        <p:cTn id="2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13E855-E026-1B44-6D29-B9A7F970E9A9}"/>
              </a:ext>
            </a:extLst>
          </p:cNvPr>
          <p:cNvSpPr txBox="1"/>
          <p:nvPr/>
        </p:nvSpPr>
        <p:spPr>
          <a:xfrm>
            <a:off x="173255" y="1050718"/>
            <a:ext cx="8797489" cy="4462760"/>
          </a:xfrm>
          <a:prstGeom prst="rect">
            <a:avLst/>
          </a:prstGeom>
          <a:noFill/>
        </p:spPr>
        <p:txBody>
          <a:bodyPr wrap="square">
            <a:spAutoFit/>
          </a:bodyPr>
          <a:lstStyle/>
          <a:p>
            <a:pPr>
              <a:buFont typeface="Wingdings" pitchFamily="2" charset="2"/>
              <a:buChar char="Ø"/>
            </a:pPr>
            <a:r>
              <a:rPr lang="en-US" sz="2000" dirty="0">
                <a:solidFill>
                  <a:schemeClr val="tx1"/>
                </a:solidFill>
                <a:latin typeface="+mn-lt"/>
              </a:rPr>
              <a:t>The membrane potential at rest is called </a:t>
            </a:r>
            <a:r>
              <a:rPr lang="en-US" sz="2000" b="1" i="1" dirty="0">
                <a:solidFill>
                  <a:srgbClr val="C00000"/>
                </a:solidFill>
                <a:latin typeface="+mn-lt"/>
              </a:rPr>
              <a:t>resting membrane potential</a:t>
            </a:r>
            <a:r>
              <a:rPr lang="en-US" sz="2000" b="1" i="1" dirty="0">
                <a:solidFill>
                  <a:schemeClr val="tx1"/>
                </a:solidFill>
                <a:latin typeface="+mn-lt"/>
              </a:rPr>
              <a:t>. </a:t>
            </a:r>
            <a:r>
              <a:rPr lang="en-US" sz="2000" dirty="0">
                <a:solidFill>
                  <a:schemeClr val="tx1"/>
                </a:solidFill>
                <a:latin typeface="+mn-lt"/>
              </a:rPr>
              <a:t>It is written with </a:t>
            </a:r>
            <a:r>
              <a:rPr lang="en-US" sz="2000" i="1" dirty="0">
                <a:solidFill>
                  <a:schemeClr val="tx1"/>
                </a:solidFill>
                <a:latin typeface="+mn-lt"/>
              </a:rPr>
              <a:t>minus sign</a:t>
            </a:r>
            <a:r>
              <a:rPr lang="en-US" sz="2000" dirty="0">
                <a:solidFill>
                  <a:schemeClr val="tx1"/>
                </a:solidFill>
                <a:latin typeface="+mn-lt"/>
              </a:rPr>
              <a:t>, signifying that inside is negative relative to exterior. </a:t>
            </a:r>
          </a:p>
          <a:p>
            <a:pPr>
              <a:buFont typeface="Wingdings" pitchFamily="2" charset="2"/>
              <a:buChar char="Ø"/>
            </a:pPr>
            <a:endParaRPr lang="en-US" sz="2000" dirty="0">
              <a:solidFill>
                <a:schemeClr val="tx1"/>
              </a:solidFill>
              <a:latin typeface="+mn-lt"/>
            </a:endParaRPr>
          </a:p>
          <a:p>
            <a:pPr>
              <a:buFont typeface="Wingdings" pitchFamily="2" charset="2"/>
              <a:buChar char="Ø"/>
            </a:pPr>
            <a:endParaRPr lang="en-US" sz="2000" dirty="0">
              <a:solidFill>
                <a:schemeClr val="tx1"/>
              </a:solidFill>
              <a:latin typeface="+mn-lt"/>
            </a:endParaRPr>
          </a:p>
          <a:p>
            <a:pPr>
              <a:buFont typeface="Wingdings" pitchFamily="2" charset="2"/>
              <a:buChar char="Ø"/>
            </a:pPr>
            <a:r>
              <a:rPr lang="en-US" sz="2000" dirty="0">
                <a:solidFill>
                  <a:schemeClr val="tx1"/>
                </a:solidFill>
                <a:latin typeface="+mn-lt"/>
              </a:rPr>
              <a:t>The membrane potential measured during the excited state of cell is called </a:t>
            </a:r>
            <a:r>
              <a:rPr lang="en-US" sz="2000" b="1" i="1" dirty="0">
                <a:solidFill>
                  <a:srgbClr val="C00000"/>
                </a:solidFill>
                <a:latin typeface="+mn-lt"/>
              </a:rPr>
              <a:t>action potential</a:t>
            </a:r>
            <a:r>
              <a:rPr lang="en-US" sz="2000" b="1" i="1" dirty="0">
                <a:solidFill>
                  <a:schemeClr val="tx1"/>
                </a:solidFill>
                <a:latin typeface="+mn-lt"/>
              </a:rPr>
              <a:t>. </a:t>
            </a:r>
            <a:r>
              <a:rPr lang="en-US" sz="2000" dirty="0">
                <a:solidFill>
                  <a:schemeClr val="tx1"/>
                </a:solidFill>
                <a:latin typeface="+mn-lt"/>
              </a:rPr>
              <a:t>It is written with </a:t>
            </a:r>
            <a:r>
              <a:rPr lang="en-US" sz="2000" i="1" dirty="0">
                <a:solidFill>
                  <a:schemeClr val="tx1"/>
                </a:solidFill>
                <a:latin typeface="+mn-lt"/>
              </a:rPr>
              <a:t>plus sign</a:t>
            </a:r>
            <a:r>
              <a:rPr lang="en-US" sz="2000" dirty="0">
                <a:solidFill>
                  <a:schemeClr val="tx1"/>
                </a:solidFill>
                <a:latin typeface="+mn-lt"/>
              </a:rPr>
              <a:t>, signifying that outside is negative relative to interior.</a:t>
            </a:r>
          </a:p>
          <a:p>
            <a:pPr>
              <a:buFont typeface="Wingdings" pitchFamily="2" charset="2"/>
              <a:buChar char="Ø"/>
            </a:pPr>
            <a:endParaRPr lang="en-US" sz="2000" dirty="0">
              <a:solidFill>
                <a:schemeClr val="tx1"/>
              </a:solidFill>
              <a:latin typeface="+mn-lt"/>
            </a:endParaRPr>
          </a:p>
          <a:p>
            <a:pPr>
              <a:buFont typeface="Wingdings" pitchFamily="2" charset="2"/>
              <a:buChar char="Ø"/>
            </a:pPr>
            <a:endParaRPr lang="en-US" sz="2000" dirty="0">
              <a:solidFill>
                <a:schemeClr val="tx1"/>
              </a:solidFill>
              <a:latin typeface="+mn-lt"/>
            </a:endParaRPr>
          </a:p>
          <a:p>
            <a:pPr>
              <a:buFont typeface="Wingdings" pitchFamily="2" charset="2"/>
              <a:buChar char="Ø"/>
            </a:pPr>
            <a:r>
              <a:rPr lang="en-US" sz="2000" b="1" dirty="0">
                <a:solidFill>
                  <a:schemeClr val="tx1"/>
                </a:solidFill>
                <a:latin typeface="+mn-lt"/>
              </a:rPr>
              <a:t>All living cells have resting membrane potentials. Whereas action potentials are produced </a:t>
            </a:r>
            <a:r>
              <a:rPr lang="en-US" sz="2000" b="1" i="1" dirty="0">
                <a:solidFill>
                  <a:schemeClr val="tx1"/>
                </a:solidFill>
                <a:latin typeface="+mn-lt"/>
              </a:rPr>
              <a:t>only in excitable cells</a:t>
            </a:r>
            <a:r>
              <a:rPr lang="en-US" sz="2000" b="1" dirty="0">
                <a:solidFill>
                  <a:schemeClr val="tx1"/>
                </a:solidFill>
                <a:latin typeface="+mn-lt"/>
              </a:rPr>
              <a:t> (such as nerve and muscle cells).</a:t>
            </a:r>
          </a:p>
          <a:p>
            <a:pPr>
              <a:buFont typeface="Wingdings" pitchFamily="2" charset="2"/>
              <a:buChar char="Ø"/>
            </a:pPr>
            <a:endParaRPr lang="en-US" sz="2000" dirty="0">
              <a:solidFill>
                <a:schemeClr val="tx1"/>
              </a:solidFill>
              <a:latin typeface="+mn-lt"/>
            </a:endParaRPr>
          </a:p>
        </p:txBody>
      </p:sp>
      <p:sp>
        <p:nvSpPr>
          <p:cNvPr id="4" name="Rectangle 5">
            <a:extLst>
              <a:ext uri="{FF2B5EF4-FFF2-40B4-BE49-F238E27FC236}">
                <a16:creationId xmlns:a16="http://schemas.microsoft.com/office/drawing/2014/main" id="{A7293B35-A583-4461-6F74-1A2F34D4D03C}"/>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dirty="0">
                <a:latin typeface="Arial" panose="020B0604020202020204" pitchFamily="34" charset="0"/>
              </a:rPr>
              <a:t>Membrane Potential</a:t>
            </a:r>
            <a:endParaRPr lang="en-GB" altLang="en-US" sz="3200" dirty="0">
              <a:solidFill>
                <a:srgbClr val="FFFF00"/>
              </a:solidFill>
              <a:latin typeface="Arial" panose="020B0604020202020204" pitchFamily="34" charset="0"/>
            </a:endParaRPr>
          </a:p>
        </p:txBody>
      </p:sp>
    </p:spTree>
    <p:extLst>
      <p:ext uri="{BB962C8B-B14F-4D97-AF65-F5344CB8AC3E}">
        <p14:creationId xmlns:p14="http://schemas.microsoft.com/office/powerpoint/2010/main" val="199686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9" name="Text Box 3">
            <a:extLst>
              <a:ext uri="{FF2B5EF4-FFF2-40B4-BE49-F238E27FC236}">
                <a16:creationId xmlns:a16="http://schemas.microsoft.com/office/drawing/2014/main" id="{C9D9372D-C0B7-164A-D592-02F1CF66AAA7}"/>
              </a:ext>
            </a:extLst>
          </p:cNvPr>
          <p:cNvSpPr txBox="1">
            <a:spLocks noChangeArrowheads="1"/>
          </p:cNvSpPr>
          <p:nvPr/>
        </p:nvSpPr>
        <p:spPr bwMode="auto">
          <a:xfrm>
            <a:off x="611188" y="1628775"/>
            <a:ext cx="8137525"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buFontTx/>
              <a:buChar char="•"/>
            </a:pPr>
            <a:r>
              <a:rPr lang="en-GB" altLang="en-US" sz="2000">
                <a:solidFill>
                  <a:srgbClr val="000000"/>
                </a:solidFill>
                <a:latin typeface="Arial" panose="020B0604020202020204" pitchFamily="34" charset="0"/>
              </a:rPr>
              <a:t>All mammalian cells have a membrane potential.</a:t>
            </a:r>
          </a:p>
          <a:p>
            <a:pPr>
              <a:spcBef>
                <a:spcPct val="50000"/>
              </a:spcBef>
              <a:buFontTx/>
              <a:buChar char="•"/>
            </a:pPr>
            <a:r>
              <a:rPr lang="en-GB" altLang="en-US" sz="2000">
                <a:solidFill>
                  <a:srgbClr val="000000"/>
                </a:solidFill>
                <a:latin typeface="Arial" panose="020B0604020202020204" pitchFamily="34" charset="0"/>
              </a:rPr>
              <a:t>In quiescent cells it is called the resting membrane potential. </a:t>
            </a:r>
          </a:p>
          <a:p>
            <a:pPr>
              <a:spcBef>
                <a:spcPct val="50000"/>
              </a:spcBef>
              <a:buFontTx/>
              <a:buChar char="•"/>
            </a:pPr>
            <a:r>
              <a:rPr lang="en-GB" altLang="en-US" sz="2000">
                <a:solidFill>
                  <a:srgbClr val="000000"/>
                </a:solidFill>
                <a:latin typeface="Arial" panose="020B0604020202020204" pitchFamily="34" charset="0"/>
              </a:rPr>
              <a:t>The resting membrane potential is always negative with respect to the outside. </a:t>
            </a:r>
          </a:p>
          <a:p>
            <a:pPr>
              <a:spcBef>
                <a:spcPct val="50000"/>
              </a:spcBef>
              <a:buFontTx/>
              <a:buChar char="•"/>
            </a:pPr>
            <a:r>
              <a:rPr lang="en-GB" altLang="en-US" sz="2000">
                <a:solidFill>
                  <a:srgbClr val="000000"/>
                </a:solidFill>
                <a:latin typeface="Arial" panose="020B0604020202020204" pitchFamily="34" charset="0"/>
              </a:rPr>
              <a:t>It varies in magnitude from one kind of cell to another but generally lies within the range -40 to -90 mV.</a:t>
            </a:r>
          </a:p>
          <a:p>
            <a:pPr>
              <a:spcBef>
                <a:spcPct val="50000"/>
              </a:spcBef>
              <a:buFontTx/>
              <a:buChar char="•"/>
            </a:pPr>
            <a:r>
              <a:rPr lang="en-GB" altLang="en-US" sz="2000">
                <a:solidFill>
                  <a:srgbClr val="000000"/>
                </a:solidFill>
                <a:latin typeface="Arial" panose="020B0604020202020204" pitchFamily="34" charset="0"/>
              </a:rPr>
              <a:t>In </a:t>
            </a:r>
            <a:r>
              <a:rPr lang="ja-JP" altLang="en-GB" sz="2000">
                <a:solidFill>
                  <a:srgbClr val="000000"/>
                </a:solidFill>
                <a:latin typeface="Arial" panose="020B0604020202020204" pitchFamily="34" charset="0"/>
              </a:rPr>
              <a:t>“</a:t>
            </a:r>
            <a:r>
              <a:rPr lang="en-GB" altLang="ja-JP" sz="2000">
                <a:solidFill>
                  <a:srgbClr val="000000"/>
                </a:solidFill>
                <a:latin typeface="Arial" panose="020B0604020202020204" pitchFamily="34" charset="0"/>
              </a:rPr>
              <a:t>excitable</a:t>
            </a:r>
            <a:r>
              <a:rPr lang="ja-JP" altLang="en-GB" sz="2000">
                <a:solidFill>
                  <a:srgbClr val="000000"/>
                </a:solidFill>
                <a:latin typeface="Arial" panose="020B0604020202020204" pitchFamily="34" charset="0"/>
              </a:rPr>
              <a:t>”</a:t>
            </a:r>
            <a:r>
              <a:rPr lang="en-GB" altLang="ja-JP" sz="2000">
                <a:solidFill>
                  <a:srgbClr val="000000"/>
                </a:solidFill>
                <a:latin typeface="Arial" panose="020B0604020202020204" pitchFamily="34" charset="0"/>
              </a:rPr>
              <a:t> cells the membrane potential changes in response to appropriate signals to produce specific dynamic phenomena called action and graded potentials. </a:t>
            </a:r>
          </a:p>
          <a:p>
            <a:pPr lvl="2">
              <a:spcBef>
                <a:spcPct val="50000"/>
              </a:spcBef>
            </a:pPr>
            <a:r>
              <a:rPr lang="en-GB" altLang="en-US" sz="2000">
                <a:solidFill>
                  <a:srgbClr val="000000"/>
                </a:solidFill>
                <a:latin typeface="Arial" panose="020B0604020202020204" pitchFamily="34" charset="0"/>
              </a:rPr>
              <a:t>–it is a physiological variable.</a:t>
            </a:r>
          </a:p>
        </p:txBody>
      </p:sp>
      <p:sp>
        <p:nvSpPr>
          <p:cNvPr id="12290" name="Rectangle 4">
            <a:extLst>
              <a:ext uri="{FF2B5EF4-FFF2-40B4-BE49-F238E27FC236}">
                <a16:creationId xmlns:a16="http://schemas.microsoft.com/office/drawing/2014/main" id="{6DE3CAE0-B8F1-7908-9C26-B957931E6F0A}"/>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Membrane Potential</a:t>
            </a:r>
            <a:endParaRPr lang="en-GB" altLang="en-US">
              <a:solidFill>
                <a:srgbClr val="FFFF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7859">
                                            <p:txEl>
                                              <p:pRg st="0" end="0"/>
                                            </p:txEl>
                                          </p:spTgt>
                                        </p:tgtEl>
                                        <p:attrNameLst>
                                          <p:attrName>style.visibility</p:attrName>
                                        </p:attrNameLst>
                                      </p:cBhvr>
                                      <p:to>
                                        <p:strVal val="visible"/>
                                      </p:to>
                                    </p:set>
                                    <p:animEffect transition="in" filter="wipe(left)">
                                      <p:cBhvr>
                                        <p:cTn id="7" dur="500"/>
                                        <p:tgtEl>
                                          <p:spTgt spid="3778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7859">
                                            <p:txEl>
                                              <p:pRg st="1" end="1"/>
                                            </p:txEl>
                                          </p:spTgt>
                                        </p:tgtEl>
                                        <p:attrNameLst>
                                          <p:attrName>style.visibility</p:attrName>
                                        </p:attrNameLst>
                                      </p:cBhvr>
                                      <p:to>
                                        <p:strVal val="visible"/>
                                      </p:to>
                                    </p:set>
                                    <p:animEffect transition="in" filter="wipe(left)">
                                      <p:cBhvr>
                                        <p:cTn id="12" dur="500"/>
                                        <p:tgtEl>
                                          <p:spTgt spid="3778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7859">
                                            <p:txEl>
                                              <p:pRg st="2" end="2"/>
                                            </p:txEl>
                                          </p:spTgt>
                                        </p:tgtEl>
                                        <p:attrNameLst>
                                          <p:attrName>style.visibility</p:attrName>
                                        </p:attrNameLst>
                                      </p:cBhvr>
                                      <p:to>
                                        <p:strVal val="visible"/>
                                      </p:to>
                                    </p:set>
                                    <p:animEffect transition="in" filter="wipe(left)">
                                      <p:cBhvr>
                                        <p:cTn id="17" dur="500"/>
                                        <p:tgtEl>
                                          <p:spTgt spid="3778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7859">
                                            <p:txEl>
                                              <p:pRg st="3" end="3"/>
                                            </p:txEl>
                                          </p:spTgt>
                                        </p:tgtEl>
                                        <p:attrNameLst>
                                          <p:attrName>style.visibility</p:attrName>
                                        </p:attrNameLst>
                                      </p:cBhvr>
                                      <p:to>
                                        <p:strVal val="visible"/>
                                      </p:to>
                                    </p:set>
                                    <p:animEffect transition="in" filter="wipe(left)">
                                      <p:cBhvr>
                                        <p:cTn id="22" dur="500"/>
                                        <p:tgtEl>
                                          <p:spTgt spid="3778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7859">
                                            <p:txEl>
                                              <p:pRg st="4" end="4"/>
                                            </p:txEl>
                                          </p:spTgt>
                                        </p:tgtEl>
                                        <p:attrNameLst>
                                          <p:attrName>style.visibility</p:attrName>
                                        </p:attrNameLst>
                                      </p:cBhvr>
                                      <p:to>
                                        <p:strVal val="visible"/>
                                      </p:to>
                                    </p:set>
                                    <p:animEffect transition="in" filter="wipe(left)">
                                      <p:cBhvr>
                                        <p:cTn id="27" dur="500"/>
                                        <p:tgtEl>
                                          <p:spTgt spid="377859">
                                            <p:txEl>
                                              <p:pRg st="4" end="4"/>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77859">
                                            <p:txEl>
                                              <p:pRg st="5" end="5"/>
                                            </p:txEl>
                                          </p:spTgt>
                                        </p:tgtEl>
                                        <p:attrNameLst>
                                          <p:attrName>style.visibility</p:attrName>
                                        </p:attrNameLst>
                                      </p:cBhvr>
                                      <p:to>
                                        <p:strVal val="visible"/>
                                      </p:to>
                                    </p:set>
                                    <p:animEffect transition="in" filter="wipe(left)">
                                      <p:cBhvr>
                                        <p:cTn id="30" dur="500"/>
                                        <p:tgtEl>
                                          <p:spTgt spid="3778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59"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9"/>
          <p:cNvPicPr>
            <a:picLocks noChangeAspect="1" noChangeArrowheads="1"/>
          </p:cNvPicPr>
          <p:nvPr/>
        </p:nvPicPr>
        <p:blipFill>
          <a:blip r:embed="rId3" cstate="print"/>
          <a:srcRect l="5141"/>
          <a:stretch>
            <a:fillRect/>
          </a:stretch>
        </p:blipFill>
        <p:spPr bwMode="auto">
          <a:xfrm>
            <a:off x="639589" y="779605"/>
            <a:ext cx="5713086" cy="3154753"/>
          </a:xfrm>
          <a:prstGeom prst="rect">
            <a:avLst/>
          </a:prstGeom>
          <a:noFill/>
          <a:ln w="9525">
            <a:noFill/>
            <a:miter lim="800000"/>
            <a:headEnd/>
            <a:tailEnd/>
          </a:ln>
        </p:spPr>
      </p:pic>
      <p:sp>
        <p:nvSpPr>
          <p:cNvPr id="97283" name="Rectangle 3"/>
          <p:cNvSpPr>
            <a:spLocks noChangeArrowheads="1"/>
          </p:cNvSpPr>
          <p:nvPr/>
        </p:nvSpPr>
        <p:spPr bwMode="auto">
          <a:xfrm>
            <a:off x="167950" y="-226005"/>
            <a:ext cx="6315075" cy="857250"/>
          </a:xfrm>
          <a:prstGeom prst="rect">
            <a:avLst/>
          </a:prstGeom>
          <a:noFill/>
          <a:ln w="9525">
            <a:noFill/>
            <a:miter lim="800000"/>
            <a:headEnd/>
            <a:tailEnd/>
          </a:ln>
          <a:effectLst/>
        </p:spPr>
        <p:txBody>
          <a:bodyPr lIns="69056" tIns="34529" rIns="69056" bIns="34529" anchor="ctr"/>
          <a:lstStyle/>
          <a:p>
            <a:pPr algn="ctr" eaLnBrk="0" fontAlgn="base" hangingPunct="0">
              <a:spcBef>
                <a:spcPct val="0"/>
              </a:spcBef>
              <a:spcAft>
                <a:spcPct val="0"/>
              </a:spcAft>
              <a:defRPr/>
            </a:pPr>
            <a:r>
              <a:rPr lang="en-GB" dirty="0">
                <a:latin typeface="Arial" panose="020B0604020202020204" pitchFamily="34" charset="0"/>
                <a:cs typeface="Arial" panose="020B0604020202020204" pitchFamily="34" charset="0"/>
              </a:rPr>
              <a:t>Whole-cell voltage-clamping in</a:t>
            </a:r>
            <a:r>
              <a:rPr lang="en-GB" b="1" dirty="0">
                <a:effectLst>
                  <a:outerShdw blurRad="38100" dist="38100" dir="2700000" algn="tl">
                    <a:srgbClr val="C0C0C0"/>
                  </a:outerShdw>
                </a:effectLst>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single isolated smooth muscle cell</a:t>
            </a:r>
          </a:p>
        </p:txBody>
      </p:sp>
      <p:sp>
        <p:nvSpPr>
          <p:cNvPr id="7" name="Rectangle 6">
            <a:extLst>
              <a:ext uri="{FF2B5EF4-FFF2-40B4-BE49-F238E27FC236}">
                <a16:creationId xmlns:a16="http://schemas.microsoft.com/office/drawing/2014/main" id="{299996CF-C936-7CCB-D31E-8EA90A49A90D}"/>
              </a:ext>
            </a:extLst>
          </p:cNvPr>
          <p:cNvSpPr/>
          <p:nvPr/>
        </p:nvSpPr>
        <p:spPr bwMode="auto">
          <a:xfrm>
            <a:off x="1549401" y="4508500"/>
            <a:ext cx="5545137" cy="1800225"/>
          </a:xfrm>
          <a:prstGeom prst="rect">
            <a:avLst/>
          </a:prstGeom>
          <a:solidFill>
            <a:srgbClr val="FFF8E0"/>
          </a:solidFill>
          <a:ln w="12700" cap="flat" cmpd="sng" algn="ctr">
            <a:solidFill>
              <a:schemeClr val="bg2">
                <a:lumMod val="60000"/>
                <a:lumOff val="40000"/>
              </a:schemeClr>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376839" name="Line 7">
            <a:extLst>
              <a:ext uri="{FF2B5EF4-FFF2-40B4-BE49-F238E27FC236}">
                <a16:creationId xmlns:a16="http://schemas.microsoft.com/office/drawing/2014/main" id="{0DC9CD05-E849-6733-0E01-FD265BAD7B82}"/>
              </a:ext>
            </a:extLst>
          </p:cNvPr>
          <p:cNvSpPr>
            <a:spLocks noChangeShapeType="1"/>
          </p:cNvSpPr>
          <p:nvPr/>
        </p:nvSpPr>
        <p:spPr bwMode="auto">
          <a:xfrm>
            <a:off x="1547813" y="4724400"/>
            <a:ext cx="2879725" cy="0"/>
          </a:xfrm>
          <a:prstGeom prst="line">
            <a:avLst/>
          </a:prstGeom>
          <a:noFill/>
          <a:ln w="19050" cmpd="sng">
            <a:solidFill>
              <a:schemeClr val="accent1">
                <a:lumMod val="75000"/>
              </a:schemeClr>
            </a:solidFill>
            <a:round/>
            <a:headEnd/>
            <a:tailEnd/>
          </a:ln>
        </p:spPr>
        <p:txBody>
          <a:bodyPr wrap="none" anchor="ctr"/>
          <a:lstStyle/>
          <a:p>
            <a:pPr>
              <a:defRPr/>
            </a:pPr>
            <a:endParaRPr lang="en-US">
              <a:latin typeface="Times New Roman" charset="0"/>
              <a:ea typeface="ＭＳ Ｐゴシック" charset="0"/>
              <a:cs typeface="ＭＳ Ｐゴシック" charset="0"/>
            </a:endParaRPr>
          </a:p>
        </p:txBody>
      </p:sp>
      <p:grpSp>
        <p:nvGrpSpPr>
          <p:cNvPr id="2" name="Group 8">
            <a:extLst>
              <a:ext uri="{FF2B5EF4-FFF2-40B4-BE49-F238E27FC236}">
                <a16:creationId xmlns:a16="http://schemas.microsoft.com/office/drawing/2014/main" id="{97AA758E-BC1D-9D27-673C-7C1749EFC8C2}"/>
              </a:ext>
            </a:extLst>
          </p:cNvPr>
          <p:cNvGrpSpPr>
            <a:grpSpLocks/>
          </p:cNvGrpSpPr>
          <p:nvPr/>
        </p:nvGrpSpPr>
        <p:grpSpPr bwMode="auto">
          <a:xfrm>
            <a:off x="4427538" y="4724400"/>
            <a:ext cx="2667000" cy="1296988"/>
            <a:chOff x="4176" y="1440"/>
            <a:chExt cx="768" cy="288"/>
          </a:xfrm>
        </p:grpSpPr>
        <p:sp>
          <p:nvSpPr>
            <p:cNvPr id="22555" name="Line 9">
              <a:extLst>
                <a:ext uri="{FF2B5EF4-FFF2-40B4-BE49-F238E27FC236}">
                  <a16:creationId xmlns:a16="http://schemas.microsoft.com/office/drawing/2014/main" id="{52BCECED-8080-2EE1-E4D9-7B68D9DCD4CD}"/>
                </a:ext>
              </a:extLst>
            </p:cNvPr>
            <p:cNvSpPr>
              <a:spLocks noChangeShapeType="1"/>
            </p:cNvSpPr>
            <p:nvPr/>
          </p:nvSpPr>
          <p:spPr bwMode="auto">
            <a:xfrm>
              <a:off x="4176" y="1440"/>
              <a:ext cx="0" cy="288"/>
            </a:xfrm>
            <a:prstGeom prst="line">
              <a:avLst/>
            </a:prstGeom>
            <a:noFill/>
            <a:ln w="19050" cmpd="sng">
              <a:solidFill>
                <a:srgbClr val="0B52FC"/>
              </a:solidFill>
              <a:round/>
              <a:headEnd/>
              <a:tailEnd/>
            </a:ln>
          </p:spPr>
          <p:txBody>
            <a:bodyPr wrap="none" anchor="ctr"/>
            <a:lstStyle/>
            <a:p>
              <a:pPr>
                <a:defRPr/>
              </a:pPr>
              <a:endParaRPr lang="en-US">
                <a:ln w="12700" cmpd="sng">
                  <a:solidFill>
                    <a:schemeClr val="tx1"/>
                  </a:solidFill>
                </a:ln>
                <a:latin typeface="Times New Roman" charset="0"/>
                <a:ea typeface="ＭＳ Ｐゴシック" charset="0"/>
                <a:cs typeface="ＭＳ Ｐゴシック" charset="0"/>
              </a:endParaRPr>
            </a:p>
          </p:txBody>
        </p:sp>
        <p:sp>
          <p:nvSpPr>
            <p:cNvPr id="22556" name="Line 10">
              <a:extLst>
                <a:ext uri="{FF2B5EF4-FFF2-40B4-BE49-F238E27FC236}">
                  <a16:creationId xmlns:a16="http://schemas.microsoft.com/office/drawing/2014/main" id="{4929F52C-A7E7-C68D-779B-EA1D7140FE22}"/>
                </a:ext>
              </a:extLst>
            </p:cNvPr>
            <p:cNvSpPr>
              <a:spLocks noChangeShapeType="1"/>
            </p:cNvSpPr>
            <p:nvPr/>
          </p:nvSpPr>
          <p:spPr bwMode="auto">
            <a:xfrm>
              <a:off x="4176" y="1728"/>
              <a:ext cx="768" cy="0"/>
            </a:xfrm>
            <a:prstGeom prst="line">
              <a:avLst/>
            </a:prstGeom>
            <a:noFill/>
            <a:ln w="19050" cmpd="sng">
              <a:solidFill>
                <a:srgbClr val="0B52FC"/>
              </a:solidFill>
              <a:round/>
              <a:headEnd/>
              <a:tailEnd/>
            </a:ln>
          </p:spPr>
          <p:txBody>
            <a:bodyPr wrap="none" anchor="ctr"/>
            <a:lstStyle/>
            <a:p>
              <a:pPr>
                <a:defRPr/>
              </a:pPr>
              <a:endParaRPr lang="en-US">
                <a:ln w="12700" cmpd="sng">
                  <a:solidFill>
                    <a:schemeClr val="tx1"/>
                  </a:solidFill>
                </a:ln>
                <a:latin typeface="Times New Roman" charset="0"/>
                <a:ea typeface="ＭＳ Ｐゴシック" charset="0"/>
                <a:cs typeface="ＭＳ Ｐゴシック" charset="0"/>
              </a:endParaRPr>
            </a:p>
          </p:txBody>
        </p:sp>
      </p:grpSp>
      <p:sp>
        <p:nvSpPr>
          <p:cNvPr id="8203" name="Text Box 13">
            <a:extLst>
              <a:ext uri="{FF2B5EF4-FFF2-40B4-BE49-F238E27FC236}">
                <a16:creationId xmlns:a16="http://schemas.microsoft.com/office/drawing/2014/main" id="{3506A97F-BA73-3B58-C06C-CBB30EA45983}"/>
              </a:ext>
            </a:extLst>
          </p:cNvPr>
          <p:cNvSpPr txBox="1">
            <a:spLocks noChangeArrowheads="1"/>
          </p:cNvSpPr>
          <p:nvPr/>
        </p:nvSpPr>
        <p:spPr bwMode="auto">
          <a:xfrm>
            <a:off x="3924300" y="638175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1600">
                <a:solidFill>
                  <a:schemeClr val="tx1"/>
                </a:solidFill>
                <a:latin typeface="Arial" panose="020B0604020202020204" pitchFamily="34" charset="0"/>
              </a:rPr>
              <a:t>Time</a:t>
            </a:r>
          </a:p>
        </p:txBody>
      </p:sp>
      <p:sp>
        <p:nvSpPr>
          <p:cNvPr id="8204" name="Line 14">
            <a:extLst>
              <a:ext uri="{FF2B5EF4-FFF2-40B4-BE49-F238E27FC236}">
                <a16:creationId xmlns:a16="http://schemas.microsoft.com/office/drawing/2014/main" id="{D0798A22-E0C3-2E5B-E3CF-7127B29C5382}"/>
              </a:ext>
            </a:extLst>
          </p:cNvPr>
          <p:cNvSpPr>
            <a:spLocks noChangeShapeType="1"/>
          </p:cNvSpPr>
          <p:nvPr/>
        </p:nvSpPr>
        <p:spPr bwMode="auto">
          <a:xfrm>
            <a:off x="4572000" y="6597650"/>
            <a:ext cx="5762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22546" name="Text Box 26">
            <a:extLst>
              <a:ext uri="{FF2B5EF4-FFF2-40B4-BE49-F238E27FC236}">
                <a16:creationId xmlns:a16="http://schemas.microsoft.com/office/drawing/2014/main" id="{B30589F3-745A-9D95-1E31-890EDB7CD6F6}"/>
              </a:ext>
            </a:extLst>
          </p:cNvPr>
          <p:cNvSpPr txBox="1">
            <a:spLocks noChangeArrowheads="1"/>
          </p:cNvSpPr>
          <p:nvPr/>
        </p:nvSpPr>
        <p:spPr bwMode="auto">
          <a:xfrm>
            <a:off x="5076825" y="4005263"/>
            <a:ext cx="325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1800">
                <a:solidFill>
                  <a:schemeClr val="tx1"/>
                </a:solidFill>
                <a:latin typeface="Arial" panose="020B0604020202020204" pitchFamily="34" charset="0"/>
              </a:rPr>
              <a:t>Electrode penetrates cell here</a:t>
            </a:r>
            <a:endParaRPr lang="en-GB" altLang="en-US">
              <a:solidFill>
                <a:schemeClr val="tx1"/>
              </a:solidFill>
              <a:latin typeface="Arial" panose="020B0604020202020204" pitchFamily="34" charset="0"/>
            </a:endParaRPr>
          </a:p>
        </p:txBody>
      </p:sp>
      <p:sp>
        <p:nvSpPr>
          <p:cNvPr id="376859" name="Line 27">
            <a:extLst>
              <a:ext uri="{FF2B5EF4-FFF2-40B4-BE49-F238E27FC236}">
                <a16:creationId xmlns:a16="http://schemas.microsoft.com/office/drawing/2014/main" id="{017529C3-60B1-1C59-3897-38F994C72374}"/>
              </a:ext>
            </a:extLst>
          </p:cNvPr>
          <p:cNvSpPr>
            <a:spLocks noChangeShapeType="1"/>
          </p:cNvSpPr>
          <p:nvPr/>
        </p:nvSpPr>
        <p:spPr bwMode="auto">
          <a:xfrm flipH="1">
            <a:off x="4500563" y="4221163"/>
            <a:ext cx="503237"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grpSp>
        <p:nvGrpSpPr>
          <p:cNvPr id="8212" name="Group 17">
            <a:extLst>
              <a:ext uri="{FF2B5EF4-FFF2-40B4-BE49-F238E27FC236}">
                <a16:creationId xmlns:a16="http://schemas.microsoft.com/office/drawing/2014/main" id="{BF0A527A-2496-5A01-7A72-7323EB62FB1F}"/>
              </a:ext>
            </a:extLst>
          </p:cNvPr>
          <p:cNvGrpSpPr>
            <a:grpSpLocks/>
          </p:cNvGrpSpPr>
          <p:nvPr/>
        </p:nvGrpSpPr>
        <p:grpSpPr bwMode="auto">
          <a:xfrm>
            <a:off x="0" y="4508500"/>
            <a:ext cx="1547813" cy="1873250"/>
            <a:chOff x="304800" y="2756866"/>
            <a:chExt cx="1548021" cy="2370620"/>
          </a:xfrm>
        </p:grpSpPr>
        <p:cxnSp>
          <p:nvCxnSpPr>
            <p:cNvPr id="8213" name="Straight Connector 19">
              <a:extLst>
                <a:ext uri="{FF2B5EF4-FFF2-40B4-BE49-F238E27FC236}">
                  <a16:creationId xmlns:a16="http://schemas.microsoft.com/office/drawing/2014/main" id="{0B847296-2CA2-BA58-66B3-333BC73FE88E}"/>
                </a:ext>
              </a:extLst>
            </p:cNvPr>
            <p:cNvCxnSpPr>
              <a:cxnSpLocks noChangeShapeType="1"/>
            </p:cNvCxnSpPr>
            <p:nvPr/>
          </p:nvCxnSpPr>
          <p:spPr bwMode="auto">
            <a:xfrm>
              <a:off x="1852464" y="2756866"/>
              <a:ext cx="0" cy="22794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8214" name="TextBox 22">
              <a:extLst>
                <a:ext uri="{FF2B5EF4-FFF2-40B4-BE49-F238E27FC236}">
                  <a16:creationId xmlns:a16="http://schemas.microsoft.com/office/drawing/2014/main" id="{6389C08A-6190-F145-1B9D-AD4F26428063}"/>
                </a:ext>
              </a:extLst>
            </p:cNvPr>
            <p:cNvSpPr txBox="1">
              <a:spLocks noChangeArrowheads="1"/>
            </p:cNvSpPr>
            <p:nvPr/>
          </p:nvSpPr>
          <p:spPr bwMode="auto">
            <a:xfrm>
              <a:off x="304800" y="3505200"/>
              <a:ext cx="1518865"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lgn="ctr"/>
              <a:r>
                <a:rPr lang="en-US" altLang="en-US" sz="1600">
                  <a:solidFill>
                    <a:srgbClr val="000000"/>
                  </a:solidFill>
                  <a:latin typeface="Arial" panose="020B0604020202020204" pitchFamily="34" charset="0"/>
                </a:rPr>
                <a:t>Membrane</a:t>
              </a:r>
            </a:p>
            <a:p>
              <a:pPr algn="ctr"/>
              <a:r>
                <a:rPr lang="en-US" altLang="en-US" sz="1600">
                  <a:solidFill>
                    <a:srgbClr val="000000"/>
                  </a:solidFill>
                  <a:latin typeface="Arial" panose="020B0604020202020204" pitchFamily="34" charset="0"/>
                </a:rPr>
                <a:t> potential (mV)</a:t>
              </a:r>
            </a:p>
          </p:txBody>
        </p:sp>
        <p:sp>
          <p:nvSpPr>
            <p:cNvPr id="8215" name="TextBox 23">
              <a:extLst>
                <a:ext uri="{FF2B5EF4-FFF2-40B4-BE49-F238E27FC236}">
                  <a16:creationId xmlns:a16="http://schemas.microsoft.com/office/drawing/2014/main" id="{C08AFB4D-E42E-DB9C-D649-7D5A222F869F}"/>
                </a:ext>
              </a:extLst>
            </p:cNvPr>
            <p:cNvSpPr txBox="1">
              <a:spLocks noChangeArrowheads="1"/>
            </p:cNvSpPr>
            <p:nvPr/>
          </p:nvSpPr>
          <p:spPr bwMode="auto">
            <a:xfrm>
              <a:off x="1524000" y="2819400"/>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0</a:t>
              </a:r>
            </a:p>
          </p:txBody>
        </p:sp>
        <p:sp>
          <p:nvSpPr>
            <p:cNvPr id="8216" name="TextBox 24">
              <a:extLst>
                <a:ext uri="{FF2B5EF4-FFF2-40B4-BE49-F238E27FC236}">
                  <a16:creationId xmlns:a16="http://schemas.microsoft.com/office/drawing/2014/main" id="{D087D213-AFFD-CFD3-80B9-2F9C6381F05D}"/>
                </a:ext>
              </a:extLst>
            </p:cNvPr>
            <p:cNvSpPr txBox="1">
              <a:spLocks noChangeArrowheads="1"/>
            </p:cNvSpPr>
            <p:nvPr/>
          </p:nvSpPr>
          <p:spPr bwMode="auto">
            <a:xfrm>
              <a:off x="1371600" y="4419600"/>
              <a:ext cx="48122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-70</a:t>
              </a:r>
            </a:p>
            <a:p>
              <a:endParaRPr lang="en-US" altLang="en-US"/>
            </a:p>
          </p:txBody>
        </p:sp>
      </p:grpSp>
      <p:sp>
        <p:nvSpPr>
          <p:cNvPr id="6" name="TextBox 5">
            <a:extLst>
              <a:ext uri="{FF2B5EF4-FFF2-40B4-BE49-F238E27FC236}">
                <a16:creationId xmlns:a16="http://schemas.microsoft.com/office/drawing/2014/main" id="{FCC246C4-AE0E-8147-E581-18FBB5F106B4}"/>
              </a:ext>
            </a:extLst>
          </p:cNvPr>
          <p:cNvSpPr txBox="1"/>
          <p:nvPr/>
        </p:nvSpPr>
        <p:spPr>
          <a:xfrm>
            <a:off x="6042025" y="836612"/>
            <a:ext cx="3101975" cy="3046988"/>
          </a:xfrm>
          <a:prstGeom prst="rect">
            <a:avLst/>
          </a:prstGeom>
          <a:noFill/>
        </p:spPr>
        <p:txBody>
          <a:bodyPr wrap="square">
            <a:spAutoFit/>
          </a:bodyPr>
          <a:lstStyle/>
          <a:p>
            <a:r>
              <a:rPr lang="en-GB" sz="1600" dirty="0">
                <a:solidFill>
                  <a:schemeClr val="tx1"/>
                </a:solidFill>
                <a:latin typeface="+mn-lt"/>
              </a:rPr>
              <a:t>When one electrode is placed on the surface of the cell and another electrode is inserted into interior of the cell, both are connected through a suitable amplifier to a </a:t>
            </a:r>
            <a:r>
              <a:rPr lang="en-GB" sz="1600" dirty="0">
                <a:solidFill>
                  <a:srgbClr val="0070C0"/>
                </a:solidFill>
                <a:latin typeface="+mn-lt"/>
              </a:rPr>
              <a:t>cathode ray oscilloscope</a:t>
            </a:r>
            <a:r>
              <a:rPr lang="en-GB" sz="1600" dirty="0">
                <a:solidFill>
                  <a:schemeClr val="tx1"/>
                </a:solidFill>
                <a:latin typeface="+mn-lt"/>
              </a:rPr>
              <a:t> (CRO), a constant (or steady) potential difference is observed between the inside and outside of the cell at rest, called as the resting membrane potential.</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376839"/>
                                        </p:tgtEl>
                                        <p:attrNameLst>
                                          <p:attrName>style.visibility</p:attrName>
                                        </p:attrNameLst>
                                      </p:cBhvr>
                                      <p:to>
                                        <p:strVal val="visible"/>
                                      </p:to>
                                    </p:set>
                                    <p:anim calcmode="lin" valueType="num">
                                      <p:cBhvr>
                                        <p:cTn id="7" dur="5000" fill="hold"/>
                                        <p:tgtEl>
                                          <p:spTgt spid="376839"/>
                                        </p:tgtEl>
                                        <p:attrNameLst>
                                          <p:attrName>ppt_x</p:attrName>
                                        </p:attrNameLst>
                                      </p:cBhvr>
                                      <p:tavLst>
                                        <p:tav tm="0">
                                          <p:val>
                                            <p:strVal val="#ppt_x-#ppt_w/2"/>
                                          </p:val>
                                        </p:tav>
                                        <p:tav tm="100000">
                                          <p:val>
                                            <p:strVal val="#ppt_x"/>
                                          </p:val>
                                        </p:tav>
                                      </p:tavLst>
                                    </p:anim>
                                    <p:anim calcmode="lin" valueType="num">
                                      <p:cBhvr>
                                        <p:cTn id="8" dur="5000" fill="hold"/>
                                        <p:tgtEl>
                                          <p:spTgt spid="376839"/>
                                        </p:tgtEl>
                                        <p:attrNameLst>
                                          <p:attrName>ppt_y</p:attrName>
                                        </p:attrNameLst>
                                      </p:cBhvr>
                                      <p:tavLst>
                                        <p:tav tm="0">
                                          <p:val>
                                            <p:strVal val="#ppt_y"/>
                                          </p:val>
                                        </p:tav>
                                        <p:tav tm="100000">
                                          <p:val>
                                            <p:strVal val="#ppt_y"/>
                                          </p:val>
                                        </p:tav>
                                      </p:tavLst>
                                    </p:anim>
                                    <p:anim calcmode="lin" valueType="num">
                                      <p:cBhvr>
                                        <p:cTn id="9" dur="5000" fill="hold"/>
                                        <p:tgtEl>
                                          <p:spTgt spid="376839"/>
                                        </p:tgtEl>
                                        <p:attrNameLst>
                                          <p:attrName>ppt_w</p:attrName>
                                        </p:attrNameLst>
                                      </p:cBhvr>
                                      <p:tavLst>
                                        <p:tav tm="0">
                                          <p:val>
                                            <p:fltVal val="0"/>
                                          </p:val>
                                        </p:tav>
                                        <p:tav tm="100000">
                                          <p:val>
                                            <p:strVal val="#ppt_w"/>
                                          </p:val>
                                        </p:tav>
                                      </p:tavLst>
                                    </p:anim>
                                    <p:anim calcmode="lin" valueType="num">
                                      <p:cBhvr>
                                        <p:cTn id="10" dur="5000" fill="hold"/>
                                        <p:tgtEl>
                                          <p:spTgt spid="376839"/>
                                        </p:tgtEl>
                                        <p:attrNameLst>
                                          <p:attrName>ppt_h</p:attrName>
                                        </p:attrNameLst>
                                      </p:cBhvr>
                                      <p:tavLst>
                                        <p:tav tm="0">
                                          <p:val>
                                            <p:strVal val="#ppt_h"/>
                                          </p:val>
                                        </p:tav>
                                        <p:tav tm="100000">
                                          <p:val>
                                            <p:strVal val="#ppt_h"/>
                                          </p:val>
                                        </p:tav>
                                      </p:tavLst>
                                    </p:anim>
                                  </p:childTnLst>
                                </p:cTn>
                              </p:par>
                              <p:par>
                                <p:cTn id="11" presetID="1" presetClass="entr" presetSubtype="0" fill="hold" nodeType="withEffect">
                                  <p:stCondLst>
                                    <p:cond delay="0"/>
                                  </p:stCondLst>
                                  <p:childTnLst>
                                    <p:set>
                                      <p:cBhvr>
                                        <p:cTn id="12" dur="1" fill="hold">
                                          <p:stCondLst>
                                            <p:cond delay="499"/>
                                          </p:stCondLst>
                                        </p:cTn>
                                        <p:tgtEl>
                                          <p:spTgt spid="376859"/>
                                        </p:tgtEl>
                                        <p:attrNameLst>
                                          <p:attrName>style.visibility</p:attrName>
                                        </p:attrNameLst>
                                      </p:cBhvr>
                                      <p:to>
                                        <p:strVal val="visible"/>
                                      </p:to>
                                    </p:set>
                                  </p:childTnLst>
                                </p:cTn>
                              </p:par>
                              <p:par>
                                <p:cTn id="13" presetID="17" presetClass="entr" presetSubtype="8"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0" fill="hold"/>
                                        <p:tgtEl>
                                          <p:spTgt spid="2"/>
                                        </p:tgtEl>
                                        <p:attrNameLst>
                                          <p:attrName>ppt_x</p:attrName>
                                        </p:attrNameLst>
                                      </p:cBhvr>
                                      <p:tavLst>
                                        <p:tav tm="0">
                                          <p:val>
                                            <p:strVal val="#ppt_x-#ppt_w/2"/>
                                          </p:val>
                                        </p:tav>
                                        <p:tav tm="100000">
                                          <p:val>
                                            <p:strVal val="#ppt_x"/>
                                          </p:val>
                                        </p:tav>
                                      </p:tavLst>
                                    </p:anim>
                                    <p:anim calcmode="lin" valueType="num">
                                      <p:cBhvr>
                                        <p:cTn id="16" dur="5000" fill="hold"/>
                                        <p:tgtEl>
                                          <p:spTgt spid="2"/>
                                        </p:tgtEl>
                                        <p:attrNameLst>
                                          <p:attrName>ppt_y</p:attrName>
                                        </p:attrNameLst>
                                      </p:cBhvr>
                                      <p:tavLst>
                                        <p:tav tm="0">
                                          <p:val>
                                            <p:strVal val="#ppt_y"/>
                                          </p:val>
                                        </p:tav>
                                        <p:tav tm="100000">
                                          <p:val>
                                            <p:strVal val="#ppt_y"/>
                                          </p:val>
                                        </p:tav>
                                      </p:tavLst>
                                    </p:anim>
                                    <p:anim calcmode="lin" valueType="num">
                                      <p:cBhvr>
                                        <p:cTn id="17" dur="5000" fill="hold"/>
                                        <p:tgtEl>
                                          <p:spTgt spid="2"/>
                                        </p:tgtEl>
                                        <p:attrNameLst>
                                          <p:attrName>ppt_w</p:attrName>
                                        </p:attrNameLst>
                                      </p:cBhvr>
                                      <p:tavLst>
                                        <p:tav tm="0">
                                          <p:val>
                                            <p:fltVal val="0"/>
                                          </p:val>
                                        </p:tav>
                                        <p:tav tm="100000">
                                          <p:val>
                                            <p:strVal val="#ppt_w"/>
                                          </p:val>
                                        </p:tav>
                                      </p:tavLst>
                                    </p:anim>
                                    <p:anim calcmode="lin" valueType="num">
                                      <p:cBhvr>
                                        <p:cTn id="18" dur="5000" fill="hold"/>
                                        <p:tgtEl>
                                          <p:spTgt spid="2"/>
                                        </p:tgtEl>
                                        <p:attrNameLst>
                                          <p:attrName>ppt_h</p:attrName>
                                        </p:attrNameLst>
                                      </p:cBhvr>
                                      <p:tavLst>
                                        <p:tav tm="0">
                                          <p:val>
                                            <p:strVal val="#ppt_h"/>
                                          </p:val>
                                        </p:tav>
                                        <p:tav tm="100000">
                                          <p:val>
                                            <p:strVal val="#ppt_h"/>
                                          </p:val>
                                        </p:tav>
                                      </p:tavLst>
                                    </p:anim>
                                  </p:childTnLst>
                                </p:cTn>
                              </p:par>
                              <p:par>
                                <p:cTn id="19" presetID="9" presetClass="entr" presetSubtype="0" fill="hold" grpId="0" nodeType="withEffect">
                                  <p:stCondLst>
                                    <p:cond delay="0"/>
                                  </p:stCondLst>
                                  <p:childTnLst>
                                    <p:set>
                                      <p:cBhvr>
                                        <p:cTn id="20" dur="1" fill="hold">
                                          <p:stCondLst>
                                            <p:cond delay="0"/>
                                          </p:stCondLst>
                                        </p:cTn>
                                        <p:tgtEl>
                                          <p:spTgt spid="22546"/>
                                        </p:tgtEl>
                                        <p:attrNameLst>
                                          <p:attrName>style.visibility</p:attrName>
                                        </p:attrNameLst>
                                      </p:cBhvr>
                                      <p:to>
                                        <p:strVal val="visible"/>
                                      </p:to>
                                    </p:set>
                                    <p:animEffect transition="in" filter="dissolve">
                                      <p:cBhvr>
                                        <p:cTn id="21" dur="500"/>
                                        <p:tgtEl>
                                          <p:spTgt spid="22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nyc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2967" y="845968"/>
            <a:ext cx="3599954" cy="259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59" name="Rectangle 3"/>
          <p:cNvSpPr>
            <a:spLocks noChangeArrowheads="1"/>
          </p:cNvSpPr>
          <p:nvPr/>
        </p:nvSpPr>
        <p:spPr bwMode="auto">
          <a:xfrm>
            <a:off x="241734" y="-428625"/>
            <a:ext cx="6315075" cy="857250"/>
          </a:xfrm>
          <a:prstGeom prst="rect">
            <a:avLst/>
          </a:prstGeom>
          <a:noFill/>
          <a:ln w="9525">
            <a:noFill/>
            <a:miter lim="800000"/>
            <a:headEnd/>
            <a:tailEnd/>
          </a:ln>
          <a:effectLst/>
        </p:spPr>
        <p:txBody>
          <a:bodyPr lIns="69056" tIns="34529" rIns="69056" bIns="34529" anchor="ctr"/>
          <a:lstStyle/>
          <a:p>
            <a:pPr algn="ctr" eaLnBrk="0" fontAlgn="base" hangingPunct="0">
              <a:spcBef>
                <a:spcPct val="0"/>
              </a:spcBef>
              <a:spcAft>
                <a:spcPct val="0"/>
              </a:spcAft>
              <a:defRPr/>
            </a:pPr>
            <a:r>
              <a:rPr lang="en-GB" dirty="0">
                <a:latin typeface="Arial" pitchFamily="34" charset="0"/>
                <a:cs typeface="Arial" charset="0"/>
              </a:rPr>
              <a:t>Whole-cell voltage-clamping in single isolated smooth muscle cells</a:t>
            </a:r>
          </a:p>
        </p:txBody>
      </p:sp>
      <p:pic>
        <p:nvPicPr>
          <p:cNvPr id="18436"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t="15762" b="38367"/>
          <a:stretch>
            <a:fillRect/>
          </a:stretch>
        </p:blipFill>
        <p:spPr bwMode="auto">
          <a:xfrm>
            <a:off x="601253" y="2748647"/>
            <a:ext cx="3281363"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37" name="Text Box 6"/>
          <p:cNvSpPr txBox="1">
            <a:spLocks noChangeArrowheads="1"/>
          </p:cNvSpPr>
          <p:nvPr/>
        </p:nvSpPr>
        <p:spPr bwMode="auto">
          <a:xfrm>
            <a:off x="2128596" y="2468854"/>
            <a:ext cx="763351"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1600" b="1">
                <a:solidFill>
                  <a:srgbClr val="000066"/>
                </a:solidFill>
                <a:latin typeface="Verdana" pitchFamily="34" charset="0"/>
                <a:cs typeface="Arial" pitchFamily="34" charset="0"/>
              </a:defRPr>
            </a:lvl1pPr>
            <a:lvl2pPr marL="742950" indent="-285750" eaLnBrk="0" hangingPunct="0">
              <a:defRPr sz="1600" b="1">
                <a:solidFill>
                  <a:srgbClr val="000066"/>
                </a:solidFill>
                <a:latin typeface="Verdana" pitchFamily="34" charset="0"/>
                <a:cs typeface="Arial" pitchFamily="34" charset="0"/>
              </a:defRPr>
            </a:lvl2pPr>
            <a:lvl3pPr marL="1143000" indent="-228600" eaLnBrk="0" hangingPunct="0">
              <a:defRPr sz="1600" b="1">
                <a:solidFill>
                  <a:srgbClr val="000066"/>
                </a:solidFill>
                <a:latin typeface="Verdana" pitchFamily="34" charset="0"/>
                <a:cs typeface="Arial" pitchFamily="34" charset="0"/>
              </a:defRPr>
            </a:lvl3pPr>
            <a:lvl4pPr marL="1600200" indent="-228600" eaLnBrk="0" hangingPunct="0">
              <a:defRPr sz="1600" b="1">
                <a:solidFill>
                  <a:srgbClr val="000066"/>
                </a:solidFill>
                <a:latin typeface="Verdana" pitchFamily="34" charset="0"/>
                <a:cs typeface="Arial" pitchFamily="34" charset="0"/>
              </a:defRPr>
            </a:lvl4pPr>
            <a:lvl5pPr marL="2057400" indent="-228600" eaLnBrk="0" hangingPunct="0">
              <a:defRPr sz="1600" b="1">
                <a:solidFill>
                  <a:srgbClr val="000066"/>
                </a:solidFill>
                <a:latin typeface="Verdana" pitchFamily="34" charset="0"/>
                <a:cs typeface="Arial" pitchFamily="34" charset="0"/>
              </a:defRPr>
            </a:lvl5pPr>
            <a:lvl6pPr marL="25146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6pPr>
            <a:lvl7pPr marL="29718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7pPr>
            <a:lvl8pPr marL="34290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8pPr>
            <a:lvl9pPr marL="38862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9pPr>
          </a:lstStyle>
          <a:p>
            <a:pPr fontAlgn="base">
              <a:spcBef>
                <a:spcPct val="0"/>
              </a:spcBef>
              <a:spcAft>
                <a:spcPct val="0"/>
              </a:spcAft>
            </a:pPr>
            <a:r>
              <a:rPr lang="en-US" altLang="en-US" sz="1275" dirty="0">
                <a:solidFill>
                  <a:srgbClr val="000000"/>
                </a:solidFill>
                <a:latin typeface="Arial" pitchFamily="34" charset="0"/>
              </a:rPr>
              <a:t>+80 mV</a:t>
            </a:r>
            <a:endParaRPr lang="en-US" altLang="en-US" sz="2250" dirty="0">
              <a:solidFill>
                <a:srgbClr val="000000"/>
              </a:solidFill>
              <a:latin typeface="Arial" pitchFamily="34" charset="0"/>
            </a:endParaRPr>
          </a:p>
        </p:txBody>
      </p:sp>
      <p:pic>
        <p:nvPicPr>
          <p:cNvPr id="18438"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08622" y="4257191"/>
            <a:ext cx="2662238" cy="1878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39" name="Text Box 8"/>
          <p:cNvSpPr txBox="1">
            <a:spLocks noChangeArrowheads="1"/>
          </p:cNvSpPr>
          <p:nvPr/>
        </p:nvSpPr>
        <p:spPr bwMode="auto">
          <a:xfrm>
            <a:off x="7737363" y="1866731"/>
            <a:ext cx="90676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1600" b="1">
                <a:solidFill>
                  <a:srgbClr val="000066"/>
                </a:solidFill>
                <a:latin typeface="Verdana" pitchFamily="34" charset="0"/>
                <a:cs typeface="Arial" pitchFamily="34" charset="0"/>
              </a:defRPr>
            </a:lvl1pPr>
            <a:lvl2pPr marL="742950" indent="-285750" eaLnBrk="0" hangingPunct="0">
              <a:defRPr sz="1600" b="1">
                <a:solidFill>
                  <a:srgbClr val="000066"/>
                </a:solidFill>
                <a:latin typeface="Verdana" pitchFamily="34" charset="0"/>
                <a:cs typeface="Arial" pitchFamily="34" charset="0"/>
              </a:defRPr>
            </a:lvl2pPr>
            <a:lvl3pPr marL="1143000" indent="-228600" eaLnBrk="0" hangingPunct="0">
              <a:defRPr sz="1600" b="1">
                <a:solidFill>
                  <a:srgbClr val="000066"/>
                </a:solidFill>
                <a:latin typeface="Verdana" pitchFamily="34" charset="0"/>
                <a:cs typeface="Arial" pitchFamily="34" charset="0"/>
              </a:defRPr>
            </a:lvl3pPr>
            <a:lvl4pPr marL="1600200" indent="-228600" eaLnBrk="0" hangingPunct="0">
              <a:defRPr sz="1600" b="1">
                <a:solidFill>
                  <a:srgbClr val="000066"/>
                </a:solidFill>
                <a:latin typeface="Verdana" pitchFamily="34" charset="0"/>
                <a:cs typeface="Arial" pitchFamily="34" charset="0"/>
              </a:defRPr>
            </a:lvl4pPr>
            <a:lvl5pPr marL="2057400" indent="-228600" eaLnBrk="0" hangingPunct="0">
              <a:defRPr sz="1600" b="1">
                <a:solidFill>
                  <a:srgbClr val="000066"/>
                </a:solidFill>
                <a:latin typeface="Verdana" pitchFamily="34" charset="0"/>
                <a:cs typeface="Arial" pitchFamily="34" charset="0"/>
              </a:defRPr>
            </a:lvl5pPr>
            <a:lvl6pPr marL="25146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6pPr>
            <a:lvl7pPr marL="29718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7pPr>
            <a:lvl8pPr marL="34290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8pPr>
            <a:lvl9pPr marL="38862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9pPr>
          </a:lstStyle>
          <a:p>
            <a:pPr fontAlgn="base">
              <a:spcBef>
                <a:spcPct val="0"/>
              </a:spcBef>
              <a:spcAft>
                <a:spcPct val="0"/>
              </a:spcAft>
            </a:pPr>
            <a:r>
              <a:rPr lang="en-US" altLang="en-US" sz="1500" dirty="0">
                <a:solidFill>
                  <a:schemeClr val="tx1"/>
                </a:solidFill>
                <a:latin typeface="Arial" pitchFamily="34" charset="0"/>
              </a:rPr>
              <a:t>140 </a:t>
            </a:r>
            <a:r>
              <a:rPr lang="en-US" altLang="en-US" sz="1500" dirty="0" err="1">
                <a:solidFill>
                  <a:schemeClr val="tx1"/>
                </a:solidFill>
                <a:latin typeface="Arial" pitchFamily="34" charset="0"/>
              </a:rPr>
              <a:t>KCl</a:t>
            </a:r>
            <a:endParaRPr lang="en-US" altLang="en-US" sz="3000" b="0" dirty="0">
              <a:solidFill>
                <a:schemeClr val="tx1"/>
              </a:solidFill>
              <a:latin typeface="Arial" pitchFamily="34" charset="0"/>
            </a:endParaRPr>
          </a:p>
        </p:txBody>
      </p:sp>
      <p:sp>
        <p:nvSpPr>
          <p:cNvPr id="18440" name="Rectangle 9"/>
          <p:cNvSpPr>
            <a:spLocks noChangeArrowheads="1"/>
          </p:cNvSpPr>
          <p:nvPr/>
        </p:nvSpPr>
        <p:spPr bwMode="auto">
          <a:xfrm>
            <a:off x="5344465" y="2748647"/>
            <a:ext cx="6767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1600" b="1">
                <a:solidFill>
                  <a:srgbClr val="000066"/>
                </a:solidFill>
                <a:latin typeface="Verdana" pitchFamily="34" charset="0"/>
                <a:cs typeface="Arial" pitchFamily="34" charset="0"/>
              </a:defRPr>
            </a:lvl1pPr>
            <a:lvl2pPr marL="742950" indent="-285750" eaLnBrk="0" hangingPunct="0">
              <a:defRPr sz="1600" b="1">
                <a:solidFill>
                  <a:srgbClr val="000066"/>
                </a:solidFill>
                <a:latin typeface="Verdana" pitchFamily="34" charset="0"/>
                <a:cs typeface="Arial" pitchFamily="34" charset="0"/>
              </a:defRPr>
            </a:lvl2pPr>
            <a:lvl3pPr marL="1143000" indent="-228600" eaLnBrk="0" hangingPunct="0">
              <a:defRPr sz="1600" b="1">
                <a:solidFill>
                  <a:srgbClr val="000066"/>
                </a:solidFill>
                <a:latin typeface="Verdana" pitchFamily="34" charset="0"/>
                <a:cs typeface="Arial" pitchFamily="34" charset="0"/>
              </a:defRPr>
            </a:lvl3pPr>
            <a:lvl4pPr marL="1600200" indent="-228600" eaLnBrk="0" hangingPunct="0">
              <a:defRPr sz="1600" b="1">
                <a:solidFill>
                  <a:srgbClr val="000066"/>
                </a:solidFill>
                <a:latin typeface="Verdana" pitchFamily="34" charset="0"/>
                <a:cs typeface="Arial" pitchFamily="34" charset="0"/>
              </a:defRPr>
            </a:lvl4pPr>
            <a:lvl5pPr marL="2057400" indent="-228600" eaLnBrk="0" hangingPunct="0">
              <a:defRPr sz="1600" b="1">
                <a:solidFill>
                  <a:srgbClr val="000066"/>
                </a:solidFill>
                <a:latin typeface="Verdana" pitchFamily="34" charset="0"/>
                <a:cs typeface="Arial" pitchFamily="34" charset="0"/>
              </a:defRPr>
            </a:lvl5pPr>
            <a:lvl6pPr marL="25146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6pPr>
            <a:lvl7pPr marL="29718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7pPr>
            <a:lvl8pPr marL="34290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8pPr>
            <a:lvl9pPr marL="3886200" indent="-228600" algn="ctr" eaLnBrk="0" fontAlgn="base" hangingPunct="0">
              <a:spcBef>
                <a:spcPct val="50000"/>
              </a:spcBef>
              <a:spcAft>
                <a:spcPct val="0"/>
              </a:spcAft>
              <a:defRPr sz="1600" b="1">
                <a:solidFill>
                  <a:srgbClr val="000066"/>
                </a:solidFill>
                <a:latin typeface="Verdana" pitchFamily="34" charset="0"/>
                <a:cs typeface="Arial" pitchFamily="34" charset="0"/>
              </a:defRPr>
            </a:lvl9pPr>
          </a:lstStyle>
          <a:p>
            <a:pPr fontAlgn="base">
              <a:spcBef>
                <a:spcPct val="0"/>
              </a:spcBef>
              <a:spcAft>
                <a:spcPct val="0"/>
              </a:spcAft>
            </a:pPr>
            <a:r>
              <a:rPr lang="en-US" altLang="en-US" sz="1500" dirty="0">
                <a:solidFill>
                  <a:srgbClr val="000000"/>
                </a:solidFill>
                <a:latin typeface="Arial" pitchFamily="34" charset="0"/>
              </a:rPr>
              <a:t>5 </a:t>
            </a:r>
            <a:r>
              <a:rPr lang="en-US" altLang="en-US" sz="1500" dirty="0" err="1">
                <a:solidFill>
                  <a:srgbClr val="000000"/>
                </a:solidFill>
                <a:latin typeface="Arial" pitchFamily="34" charset="0"/>
              </a:rPr>
              <a:t>KCl</a:t>
            </a:r>
            <a:endParaRPr lang="en-US" altLang="en-US" sz="1500" dirty="0">
              <a:solidFill>
                <a:srgbClr val="000000"/>
              </a:solidFill>
              <a:latin typeface="Arial" pitchFamily="34" charset="0"/>
            </a:endParaRPr>
          </a:p>
        </p:txBody>
      </p:sp>
      <p:graphicFrame>
        <p:nvGraphicFramePr>
          <p:cNvPr id="2" name="Object 157">
            <a:extLst>
              <a:ext uri="{FF2B5EF4-FFF2-40B4-BE49-F238E27FC236}">
                <a16:creationId xmlns:a16="http://schemas.microsoft.com/office/drawing/2014/main" id="{850D4F2F-6F84-80F0-3F38-CE76EE7C2632}"/>
              </a:ext>
            </a:extLst>
          </p:cNvPr>
          <p:cNvGraphicFramePr>
            <a:graphicFrameLocks noChangeAspect="1"/>
          </p:cNvGraphicFramePr>
          <p:nvPr>
            <p:extLst>
              <p:ext uri="{D42A27DB-BD31-4B8C-83A1-F6EECF244321}">
                <p14:modId xmlns:p14="http://schemas.microsoft.com/office/powerpoint/2010/main" val="2710914788"/>
              </p:ext>
            </p:extLst>
          </p:nvPr>
        </p:nvGraphicFramePr>
        <p:xfrm>
          <a:off x="5112967" y="5398660"/>
          <a:ext cx="1923100" cy="1226743"/>
        </p:xfrm>
        <a:graphic>
          <a:graphicData uri="http://schemas.openxmlformats.org/presentationml/2006/ole">
            <mc:AlternateContent xmlns:mc="http://schemas.openxmlformats.org/markup-compatibility/2006">
              <mc:Choice xmlns:v="urn:schemas-microsoft-com:vml" Requires="v">
                <p:oleObj name="Graph" r:id="rId6" imgW="4599360" imgH="2931840" progId="Origin50.Graph">
                  <p:embed/>
                </p:oleObj>
              </mc:Choice>
              <mc:Fallback>
                <p:oleObj name="Graph" r:id="rId6" imgW="4599360" imgH="2931840" progId="Origin50.Graph">
                  <p:embed/>
                  <p:pic>
                    <p:nvPicPr>
                      <p:cNvPr id="2" name="Object 157">
                        <a:extLst>
                          <a:ext uri="{FF2B5EF4-FFF2-40B4-BE49-F238E27FC236}">
                            <a16:creationId xmlns:a16="http://schemas.microsoft.com/office/drawing/2014/main" id="{850D4F2F-6F84-80F0-3F38-CE76EE7C26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12967" y="5398660"/>
                        <a:ext cx="1923100" cy="1226743"/>
                      </a:xfrm>
                      <a:prstGeom prst="rect">
                        <a:avLst/>
                      </a:prstGeom>
                      <a:solidFill>
                        <a:srgbClr val="0070C0"/>
                      </a:solidFill>
                      <a:ln>
                        <a:noFill/>
                      </a:ln>
                      <a:effectLst/>
                    </p:spPr>
                  </p:pic>
                </p:oleObj>
              </mc:Fallback>
            </mc:AlternateContent>
          </a:graphicData>
        </a:graphic>
      </p:graphicFrame>
      <p:sp>
        <p:nvSpPr>
          <p:cNvPr id="4" name="TextBox 3">
            <a:extLst>
              <a:ext uri="{FF2B5EF4-FFF2-40B4-BE49-F238E27FC236}">
                <a16:creationId xmlns:a16="http://schemas.microsoft.com/office/drawing/2014/main" id="{1BDDDE63-91A8-E328-5299-259C60B5C96D}"/>
              </a:ext>
            </a:extLst>
          </p:cNvPr>
          <p:cNvSpPr txBox="1"/>
          <p:nvPr/>
        </p:nvSpPr>
        <p:spPr>
          <a:xfrm>
            <a:off x="431078" y="877461"/>
            <a:ext cx="4613091" cy="1323439"/>
          </a:xfrm>
          <a:prstGeom prst="rect">
            <a:avLst/>
          </a:prstGeom>
          <a:noFill/>
        </p:spPr>
        <p:txBody>
          <a:bodyPr wrap="square">
            <a:spAutoFit/>
          </a:bodyPr>
          <a:lstStyle/>
          <a:p>
            <a:r>
              <a:rPr lang="en-US" altLang="en-US" sz="2000" dirty="0">
                <a:solidFill>
                  <a:schemeClr val="tx1"/>
                </a:solidFill>
                <a:latin typeface="+mn-lt"/>
              </a:rPr>
              <a:t>This is an example of a whole-cell</a:t>
            </a:r>
            <a:r>
              <a:rPr lang="en-US" altLang="en-US" sz="2000" baseline="0" dirty="0">
                <a:solidFill>
                  <a:schemeClr val="tx1"/>
                </a:solidFill>
                <a:latin typeface="+mn-lt"/>
              </a:rPr>
              <a:t> voltage- clamp experiment in a single pulmonary artery smooth muscle cell that has been enzymatically isolated.</a:t>
            </a:r>
            <a:endParaRPr lang="en-GB" sz="2000" dirty="0">
              <a:solidFill>
                <a:schemeClr val="tx1"/>
              </a:solidFill>
              <a:latin typeface="+mn-lt"/>
            </a:endParaRPr>
          </a:p>
        </p:txBody>
      </p:sp>
      <p:pic>
        <p:nvPicPr>
          <p:cNvPr id="32" name="Picture 31">
            <a:extLst>
              <a:ext uri="{FF2B5EF4-FFF2-40B4-BE49-F238E27FC236}">
                <a16:creationId xmlns:a16="http://schemas.microsoft.com/office/drawing/2014/main" id="{C834A944-3D8F-FDFE-ABC7-A89C82ABD9D8}"/>
              </a:ext>
            </a:extLst>
          </p:cNvPr>
          <p:cNvPicPr>
            <a:picLocks noChangeAspect="1"/>
          </p:cNvPicPr>
          <p:nvPr/>
        </p:nvPicPr>
        <p:blipFill>
          <a:blip r:embed="rId8"/>
          <a:srcRect l="13372" t="14089" r="11687" b="38037"/>
          <a:stretch>
            <a:fillRect/>
          </a:stretch>
        </p:blipFill>
        <p:spPr>
          <a:xfrm>
            <a:off x="5113498" y="3505299"/>
            <a:ext cx="3599423" cy="1787474"/>
          </a:xfrm>
          <a:prstGeom prst="rect">
            <a:avLst/>
          </a:prstGeom>
        </p:spPr>
      </p:pic>
    </p:spTree>
    <p:extLst>
      <p:ext uri="{BB962C8B-B14F-4D97-AF65-F5344CB8AC3E}">
        <p14:creationId xmlns:p14="http://schemas.microsoft.com/office/powerpoint/2010/main" val="1739416506"/>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extBox 3">
            <a:extLst>
              <a:ext uri="{FF2B5EF4-FFF2-40B4-BE49-F238E27FC236}">
                <a16:creationId xmlns:a16="http://schemas.microsoft.com/office/drawing/2014/main" id="{F01DF4A4-5FF4-7410-E446-275C5F0B6FC9}"/>
              </a:ext>
            </a:extLst>
          </p:cNvPr>
          <p:cNvSpPr txBox="1">
            <a:spLocks noChangeArrowheads="1"/>
          </p:cNvSpPr>
          <p:nvPr/>
        </p:nvSpPr>
        <p:spPr bwMode="auto">
          <a:xfrm>
            <a:off x="468663" y="2612256"/>
            <a:ext cx="7213600"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2000" b="1" dirty="0">
                <a:solidFill>
                  <a:srgbClr val="000000"/>
                </a:solidFill>
                <a:latin typeface="Arial" panose="020B0604020202020204" pitchFamily="34" charset="0"/>
              </a:rPr>
              <a:t>Typical membrane potentials:</a:t>
            </a:r>
          </a:p>
          <a:p>
            <a:endParaRPr lang="en-US" altLang="en-US" sz="2000" dirty="0">
              <a:solidFill>
                <a:srgbClr val="000000"/>
              </a:solidFill>
              <a:latin typeface="Arial" panose="020B0604020202020204" pitchFamily="34" charset="0"/>
            </a:endParaRPr>
          </a:p>
          <a:p>
            <a:pPr>
              <a:lnSpc>
                <a:spcPct val="150000"/>
              </a:lnSpc>
            </a:pPr>
            <a:r>
              <a:rPr lang="en-US" altLang="en-US" sz="2000" b="1" dirty="0">
                <a:solidFill>
                  <a:srgbClr val="000000"/>
                </a:solidFill>
                <a:latin typeface="Arial" panose="020B0604020202020204" pitchFamily="34" charset="0"/>
              </a:rPr>
              <a:t>Cell type		Resting potential</a:t>
            </a:r>
          </a:p>
          <a:p>
            <a:pPr>
              <a:lnSpc>
                <a:spcPct val="150000"/>
              </a:lnSpc>
            </a:pPr>
            <a:r>
              <a:rPr lang="en-US" altLang="en-US" sz="2000" dirty="0">
                <a:solidFill>
                  <a:srgbClr val="000000"/>
                </a:solidFill>
                <a:latin typeface="Arial" panose="020B0604020202020204" pitchFamily="34" charset="0"/>
              </a:rPr>
              <a:t>Skeletal Muscle		-90 mV			</a:t>
            </a:r>
          </a:p>
          <a:p>
            <a:pPr>
              <a:lnSpc>
                <a:spcPct val="150000"/>
              </a:lnSpc>
            </a:pPr>
            <a:r>
              <a:rPr lang="en-US" altLang="en-US" sz="2000" dirty="0">
                <a:solidFill>
                  <a:srgbClr val="000000"/>
                </a:solidFill>
                <a:latin typeface="Arial" panose="020B0604020202020204" pitchFamily="34" charset="0"/>
              </a:rPr>
              <a:t>Smooth muscle cells	-60 mV</a:t>
            </a:r>
          </a:p>
          <a:p>
            <a:pPr>
              <a:lnSpc>
                <a:spcPct val="150000"/>
              </a:lnSpc>
            </a:pPr>
            <a:r>
              <a:rPr lang="en-US" altLang="en-US" sz="2000" dirty="0">
                <a:solidFill>
                  <a:srgbClr val="000000"/>
                </a:solidFill>
                <a:latin typeface="Arial" panose="020B0604020202020204" pitchFamily="34" charset="0"/>
              </a:rPr>
              <a:t>Astroglia		-80 to -90 mV</a:t>
            </a:r>
          </a:p>
          <a:p>
            <a:pPr>
              <a:lnSpc>
                <a:spcPct val="150000"/>
              </a:lnSpc>
            </a:pPr>
            <a:r>
              <a:rPr lang="en-US" altLang="en-US" sz="2000" dirty="0">
                <a:solidFill>
                  <a:srgbClr val="000000"/>
                </a:solidFill>
                <a:latin typeface="Arial" panose="020B0604020202020204" pitchFamily="34" charset="0"/>
              </a:rPr>
              <a:t>Neurons		-60 to -70 mv</a:t>
            </a:r>
          </a:p>
          <a:p>
            <a:pPr>
              <a:lnSpc>
                <a:spcPct val="150000"/>
              </a:lnSpc>
            </a:pPr>
            <a:r>
              <a:rPr lang="en-US" altLang="en-US" sz="2000" dirty="0">
                <a:solidFill>
                  <a:srgbClr val="000000"/>
                </a:solidFill>
                <a:latin typeface="Arial" panose="020B0604020202020204" pitchFamily="34" charset="0"/>
              </a:rPr>
              <a:t>Erythrocytes		-9 mV</a:t>
            </a:r>
          </a:p>
          <a:p>
            <a:pPr>
              <a:lnSpc>
                <a:spcPct val="150000"/>
              </a:lnSpc>
            </a:pPr>
            <a:r>
              <a:rPr lang="en-US" altLang="en-US" sz="2000" dirty="0">
                <a:solidFill>
                  <a:srgbClr val="000000"/>
                </a:solidFill>
                <a:latin typeface="Arial" panose="020B0604020202020204" pitchFamily="34" charset="0"/>
              </a:rPr>
              <a:t>Photoreceptors		-40 mV</a:t>
            </a:r>
          </a:p>
        </p:txBody>
      </p:sp>
      <p:sp>
        <p:nvSpPr>
          <p:cNvPr id="3" name="TextBox 2">
            <a:extLst>
              <a:ext uri="{FF2B5EF4-FFF2-40B4-BE49-F238E27FC236}">
                <a16:creationId xmlns:a16="http://schemas.microsoft.com/office/drawing/2014/main" id="{12230C32-7096-F8F3-93F4-2B244476449D}"/>
              </a:ext>
            </a:extLst>
          </p:cNvPr>
          <p:cNvSpPr txBox="1"/>
          <p:nvPr/>
        </p:nvSpPr>
        <p:spPr>
          <a:xfrm>
            <a:off x="113096" y="890660"/>
            <a:ext cx="8917807" cy="1323439"/>
          </a:xfrm>
          <a:prstGeom prst="rect">
            <a:avLst/>
          </a:prstGeom>
          <a:noFill/>
        </p:spPr>
        <p:txBody>
          <a:bodyPr wrap="square">
            <a:spAutoFit/>
          </a:bodyPr>
          <a:lstStyle/>
          <a:p>
            <a:pPr>
              <a:buFont typeface="Wingdings" pitchFamily="2" charset="2"/>
              <a:buChar char="Ø"/>
            </a:pPr>
            <a:r>
              <a:rPr lang="en-US" sz="2000" dirty="0">
                <a:solidFill>
                  <a:schemeClr val="tx1"/>
                </a:solidFill>
                <a:latin typeface="+mn-lt"/>
              </a:rPr>
              <a:t>In a particular cell also membrane potential varies according to its functional status. For example, a nerve cell has a membrane potential of -70 mV (inside negative) at rest , but when it gets excited, the membrane potentials becomes +30 mV (inside positive).</a:t>
            </a:r>
          </a:p>
        </p:txBody>
      </p:sp>
      <p:sp>
        <p:nvSpPr>
          <p:cNvPr id="4" name="Rectangle 5">
            <a:extLst>
              <a:ext uri="{FF2B5EF4-FFF2-40B4-BE49-F238E27FC236}">
                <a16:creationId xmlns:a16="http://schemas.microsoft.com/office/drawing/2014/main" id="{10EE2D6D-4960-535E-1EF8-0437CEC98BB4}"/>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dirty="0">
                <a:latin typeface="Arial" panose="020B0604020202020204" pitchFamily="34" charset="0"/>
              </a:rPr>
              <a:t>Membrane Potential</a:t>
            </a:r>
            <a:endParaRPr lang="en-GB" altLang="en-US" sz="3200" dirty="0">
              <a:solidFill>
                <a:srgbClr val="FFFF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10241"/>
                                        </p:tgtEl>
                                        <p:attrNameLst>
                                          <p:attrName>style.visibility</p:attrName>
                                        </p:attrNameLst>
                                      </p:cBhvr>
                                      <p:to>
                                        <p:strVal val="visible"/>
                                      </p:to>
                                    </p:set>
                                    <p:anim calcmode="lin" valueType="num">
                                      <p:cBhvr>
                                        <p:cTn id="12" dur="1000" fill="hold"/>
                                        <p:tgtEl>
                                          <p:spTgt spid="10241"/>
                                        </p:tgtEl>
                                        <p:attrNameLst>
                                          <p:attrName>ppt_w</p:attrName>
                                        </p:attrNameLst>
                                      </p:cBhvr>
                                      <p:tavLst>
                                        <p:tav tm="0">
                                          <p:val>
                                            <p:fltVal val="0"/>
                                          </p:val>
                                        </p:tav>
                                        <p:tav tm="100000">
                                          <p:val>
                                            <p:strVal val="#ppt_w"/>
                                          </p:val>
                                        </p:tav>
                                      </p:tavLst>
                                    </p:anim>
                                    <p:anim calcmode="lin" valueType="num">
                                      <p:cBhvr>
                                        <p:cTn id="13" dur="1000" fill="hold"/>
                                        <p:tgtEl>
                                          <p:spTgt spid="10241"/>
                                        </p:tgtEl>
                                        <p:attrNameLst>
                                          <p:attrName>ppt_h</p:attrName>
                                        </p:attrNameLst>
                                      </p:cBhvr>
                                      <p:tavLst>
                                        <p:tav tm="0">
                                          <p:val>
                                            <p:fltVal val="0"/>
                                          </p:val>
                                        </p:tav>
                                        <p:tav tm="100000">
                                          <p:val>
                                            <p:strVal val="#ppt_h"/>
                                          </p:val>
                                        </p:tav>
                                      </p:tavLst>
                                    </p:anim>
                                    <p:anim calcmode="lin" valueType="num">
                                      <p:cBhvr>
                                        <p:cTn id="14" dur="1000" fill="hold"/>
                                        <p:tgtEl>
                                          <p:spTgt spid="10241"/>
                                        </p:tgtEl>
                                        <p:attrNameLst>
                                          <p:attrName>style.rotation</p:attrName>
                                        </p:attrNameLst>
                                      </p:cBhvr>
                                      <p:tavLst>
                                        <p:tav tm="0">
                                          <p:val>
                                            <p:fltVal val="90"/>
                                          </p:val>
                                        </p:tav>
                                        <p:tav tm="100000">
                                          <p:val>
                                            <p:fltVal val="0"/>
                                          </p:val>
                                        </p:tav>
                                      </p:tavLst>
                                    </p:anim>
                                    <p:animEffect transition="in" filter="fade">
                                      <p:cBhvr>
                                        <p:cTn id="15" dur="1000"/>
                                        <p:tgtEl>
                                          <p:spTgt spid="10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3" descr="membrane potential">
            <a:extLst>
              <a:ext uri="{FF2B5EF4-FFF2-40B4-BE49-F238E27FC236}">
                <a16:creationId xmlns:a16="http://schemas.microsoft.com/office/drawing/2014/main" id="{58F5B6CD-60E3-EE71-4353-62D62A643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844675"/>
            <a:ext cx="6096000" cy="480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 name="Rectangle 4">
            <a:extLst>
              <a:ext uri="{FF2B5EF4-FFF2-40B4-BE49-F238E27FC236}">
                <a16:creationId xmlns:a16="http://schemas.microsoft.com/office/drawing/2014/main" id="{3470C832-2BF8-FBB4-4266-AA5C979361C3}"/>
              </a:ext>
            </a:extLst>
          </p:cNvPr>
          <p:cNvSpPr>
            <a:spLocks noChangeArrowheads="1"/>
          </p:cNvSpPr>
          <p:nvPr/>
        </p:nvSpPr>
        <p:spPr bwMode="auto">
          <a:xfrm>
            <a:off x="611188" y="1588"/>
            <a:ext cx="49672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Membrane Potential</a:t>
            </a:r>
            <a:endParaRPr lang="en-GB" altLang="en-US">
              <a:solidFill>
                <a:srgbClr val="FFFF00"/>
              </a:solidFill>
              <a:latin typeface="Arial" panose="020B0604020202020204" pitchFamily="34" charset="0"/>
            </a:endParaRPr>
          </a:p>
        </p:txBody>
      </p:sp>
      <p:sp>
        <p:nvSpPr>
          <p:cNvPr id="14339" name="Rectangle 2">
            <a:extLst>
              <a:ext uri="{FF2B5EF4-FFF2-40B4-BE49-F238E27FC236}">
                <a16:creationId xmlns:a16="http://schemas.microsoft.com/office/drawing/2014/main" id="{7EC643CD-E63C-B475-95D5-F905C7F8AB2F}"/>
              </a:ext>
            </a:extLst>
          </p:cNvPr>
          <p:cNvSpPr>
            <a:spLocks noGrp="1" noChangeArrowheads="1"/>
          </p:cNvSpPr>
          <p:nvPr>
            <p:ph type="title"/>
          </p:nvPr>
        </p:nvSpPr>
        <p:spPr>
          <a:xfrm>
            <a:off x="1187450" y="692150"/>
            <a:ext cx="7345363" cy="1223963"/>
          </a:xfrm>
        </p:spPr>
        <p:txBody>
          <a:bodyPr/>
          <a:lstStyle/>
          <a:p>
            <a:pPr algn="l"/>
            <a:r>
              <a:rPr lang="en-GB" altLang="en-US" sz="2000">
                <a:solidFill>
                  <a:srgbClr val="000000"/>
                </a:solidFill>
              </a:rPr>
              <a:t>The resting membrane potential is mainly determined by the potassium gradient across the plasma membrane.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Picture 3" descr="membrane potential">
            <a:extLst>
              <a:ext uri="{FF2B5EF4-FFF2-40B4-BE49-F238E27FC236}">
                <a16:creationId xmlns:a16="http://schemas.microsoft.com/office/drawing/2014/main" id="{6F215879-A3F9-011C-AFD7-F3E277CC95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844675"/>
            <a:ext cx="6096000" cy="480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Rectangle 4">
            <a:extLst>
              <a:ext uri="{FF2B5EF4-FFF2-40B4-BE49-F238E27FC236}">
                <a16:creationId xmlns:a16="http://schemas.microsoft.com/office/drawing/2014/main" id="{5CCC99F8-7E5F-167B-22A5-1C4B7CC443FE}"/>
              </a:ext>
            </a:extLst>
          </p:cNvPr>
          <p:cNvSpPr>
            <a:spLocks noChangeArrowheads="1"/>
          </p:cNvSpPr>
          <p:nvPr/>
        </p:nvSpPr>
        <p:spPr bwMode="auto">
          <a:xfrm>
            <a:off x="611188" y="1588"/>
            <a:ext cx="49672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Membrane Potential</a:t>
            </a:r>
            <a:endParaRPr lang="en-GB" altLang="en-US">
              <a:solidFill>
                <a:srgbClr val="FFFF00"/>
              </a:solidFill>
              <a:latin typeface="Arial" panose="020B0604020202020204" pitchFamily="34" charset="0"/>
            </a:endParaRPr>
          </a:p>
        </p:txBody>
      </p:sp>
      <p:sp>
        <p:nvSpPr>
          <p:cNvPr id="16387" name="Rectangle 2">
            <a:extLst>
              <a:ext uri="{FF2B5EF4-FFF2-40B4-BE49-F238E27FC236}">
                <a16:creationId xmlns:a16="http://schemas.microsoft.com/office/drawing/2014/main" id="{11D2D113-80D7-3A2C-92D9-374EB48A41C9}"/>
              </a:ext>
            </a:extLst>
          </p:cNvPr>
          <p:cNvSpPr>
            <a:spLocks noGrp="1" noChangeArrowheads="1"/>
          </p:cNvSpPr>
          <p:nvPr>
            <p:ph type="title"/>
          </p:nvPr>
        </p:nvSpPr>
        <p:spPr>
          <a:xfrm>
            <a:off x="1187450" y="692150"/>
            <a:ext cx="7345363" cy="1223963"/>
          </a:xfrm>
        </p:spPr>
        <p:txBody>
          <a:bodyPr/>
          <a:lstStyle/>
          <a:p>
            <a:pPr algn="l"/>
            <a:r>
              <a:rPr lang="en-GB" altLang="en-US" sz="2000">
                <a:solidFill>
                  <a:srgbClr val="000000"/>
                </a:solidFill>
              </a:rPr>
              <a:t>The resting membrane potential is mainly determined by the potassium gradient across the plasma membrane.</a:t>
            </a:r>
          </a:p>
        </p:txBody>
      </p:sp>
      <p:cxnSp>
        <p:nvCxnSpPr>
          <p:cNvPr id="16388" name="Straight Connector 2">
            <a:extLst>
              <a:ext uri="{FF2B5EF4-FFF2-40B4-BE49-F238E27FC236}">
                <a16:creationId xmlns:a16="http://schemas.microsoft.com/office/drawing/2014/main" id="{0479A0B8-CA97-ADE4-02F0-BC9244E7FD0B}"/>
              </a:ext>
            </a:extLst>
          </p:cNvPr>
          <p:cNvCxnSpPr>
            <a:cxnSpLocks noChangeShapeType="1"/>
          </p:cNvCxnSpPr>
          <p:nvPr/>
        </p:nvCxnSpPr>
        <p:spPr bwMode="auto">
          <a:xfrm flipV="1">
            <a:off x="5495925" y="3590925"/>
            <a:ext cx="22225" cy="2233613"/>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cxnSp>
      <p:cxnSp>
        <p:nvCxnSpPr>
          <p:cNvPr id="16389" name="Straight Arrow Connector 4">
            <a:extLst>
              <a:ext uri="{FF2B5EF4-FFF2-40B4-BE49-F238E27FC236}">
                <a16:creationId xmlns:a16="http://schemas.microsoft.com/office/drawing/2014/main" id="{EE752CB1-1E7D-9061-4175-A08B6F075B84}"/>
              </a:ext>
            </a:extLst>
          </p:cNvPr>
          <p:cNvCxnSpPr>
            <a:cxnSpLocks noChangeShapeType="1"/>
          </p:cNvCxnSpPr>
          <p:nvPr/>
        </p:nvCxnSpPr>
        <p:spPr bwMode="auto">
          <a:xfrm flipH="1">
            <a:off x="2266950" y="3590925"/>
            <a:ext cx="3251200" cy="11113"/>
          </a:xfrm>
          <a:prstGeom prst="straightConnector1">
            <a:avLst/>
          </a:prstGeom>
          <a:noFill/>
          <a:ln w="38100">
            <a:solidFill>
              <a:srgbClr val="008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17F0C9-5A89-F5BF-104D-407E9922A4AB}"/>
              </a:ext>
            </a:extLst>
          </p:cNvPr>
          <p:cNvSpPr txBox="1"/>
          <p:nvPr/>
        </p:nvSpPr>
        <p:spPr>
          <a:xfrm>
            <a:off x="187692" y="811872"/>
            <a:ext cx="8850430" cy="1754326"/>
          </a:xfrm>
          <a:prstGeom prst="rect">
            <a:avLst/>
          </a:prstGeom>
          <a:noFill/>
        </p:spPr>
        <p:txBody>
          <a:bodyPr wrap="square">
            <a:spAutoFit/>
          </a:bodyPr>
          <a:lstStyle/>
          <a:p>
            <a:pPr>
              <a:buNone/>
            </a:pPr>
            <a:r>
              <a:rPr lang="en-GB" sz="1800" b="1" dirty="0">
                <a:solidFill>
                  <a:schemeClr val="tx1"/>
                </a:solidFill>
                <a:latin typeface="+mn-lt"/>
                <a:cs typeface="Times New Roman" panose="02020603050405020304" pitchFamily="18" charset="0"/>
              </a:rPr>
              <a:t>Diffusible Ions</a:t>
            </a:r>
          </a:p>
          <a:p>
            <a:pPr>
              <a:buFont typeface="Arial" panose="020B0604020202020204" pitchFamily="34" charset="0"/>
              <a:buChar char="•"/>
            </a:pPr>
            <a:r>
              <a:rPr lang="en-GB" sz="1800" dirty="0">
                <a:solidFill>
                  <a:schemeClr val="tx1"/>
                </a:solidFill>
                <a:latin typeface="+mn-lt"/>
                <a:cs typeface="Times New Roman" panose="02020603050405020304" pitchFamily="18" charset="0"/>
              </a:rPr>
              <a:t>Na⁺, K⁺, Cl⁻, and HCO₃⁻ are considered diffusible ions because they can move across the cell membrane under certain conditions.</a:t>
            </a:r>
          </a:p>
          <a:p>
            <a:pPr>
              <a:buFont typeface="Arial" panose="020B0604020202020204" pitchFamily="34" charset="0"/>
              <a:buChar char="•"/>
            </a:pPr>
            <a:endParaRPr lang="en-GB" sz="1800" dirty="0">
              <a:solidFill>
                <a:schemeClr val="tx1"/>
              </a:solidFill>
              <a:latin typeface="+mn-lt"/>
              <a:cs typeface="Times New Roman" panose="02020603050405020304" pitchFamily="18" charset="0"/>
            </a:endParaRPr>
          </a:p>
          <a:p>
            <a:pPr>
              <a:buFont typeface="Arial" panose="020B0604020202020204" pitchFamily="34" charset="0"/>
              <a:buChar char="•"/>
            </a:pPr>
            <a:r>
              <a:rPr lang="en-GB" sz="1800" dirty="0">
                <a:solidFill>
                  <a:schemeClr val="tx1"/>
                </a:solidFill>
                <a:latin typeface="+mn-lt"/>
                <a:cs typeface="Times New Roman" panose="02020603050405020304" pitchFamily="18" charset="0"/>
              </a:rPr>
              <a:t>Their movement is governed by electrochemical gradients and membrane permeability, which varies by ion and cell type.</a:t>
            </a:r>
          </a:p>
        </p:txBody>
      </p:sp>
      <p:sp>
        <p:nvSpPr>
          <p:cNvPr id="5" name="TextBox 4">
            <a:extLst>
              <a:ext uri="{FF2B5EF4-FFF2-40B4-BE49-F238E27FC236}">
                <a16:creationId xmlns:a16="http://schemas.microsoft.com/office/drawing/2014/main" id="{0D97419F-7E80-B20F-A830-5FD19A340D54}"/>
              </a:ext>
            </a:extLst>
          </p:cNvPr>
          <p:cNvSpPr txBox="1"/>
          <p:nvPr/>
        </p:nvSpPr>
        <p:spPr>
          <a:xfrm>
            <a:off x="187692" y="2782175"/>
            <a:ext cx="8850430" cy="3139321"/>
          </a:xfrm>
          <a:prstGeom prst="rect">
            <a:avLst/>
          </a:prstGeom>
          <a:noFill/>
        </p:spPr>
        <p:txBody>
          <a:bodyPr wrap="square">
            <a:spAutoFit/>
          </a:bodyPr>
          <a:lstStyle/>
          <a:p>
            <a:pPr>
              <a:buNone/>
            </a:pPr>
            <a:r>
              <a:rPr lang="en-GB" sz="1800" b="1" dirty="0">
                <a:solidFill>
                  <a:schemeClr val="tx1"/>
                </a:solidFill>
                <a:latin typeface="+mn-lt"/>
                <a:cs typeface="Times New Roman" panose="02020603050405020304" pitchFamily="18" charset="0"/>
              </a:rPr>
              <a:t>Membrane Permeability</a:t>
            </a:r>
          </a:p>
          <a:p>
            <a:pPr>
              <a:buFont typeface="Arial" panose="020B0604020202020204" pitchFamily="34" charset="0"/>
              <a:buChar char="•"/>
            </a:pPr>
            <a:r>
              <a:rPr lang="en-GB" sz="1800" dirty="0">
                <a:solidFill>
                  <a:schemeClr val="tx1"/>
                </a:solidFill>
                <a:latin typeface="+mn-lt"/>
                <a:cs typeface="Times New Roman" panose="02020603050405020304" pitchFamily="18" charset="0"/>
              </a:rPr>
              <a:t>The cell membrane is selectively permeable, not freely permeable to most ions.</a:t>
            </a:r>
          </a:p>
          <a:p>
            <a:pPr>
              <a:buFont typeface="Arial" panose="020B0604020202020204" pitchFamily="34" charset="0"/>
              <a:buChar char="•"/>
            </a:pPr>
            <a:endParaRPr lang="en-GB" sz="1800" dirty="0">
              <a:solidFill>
                <a:schemeClr val="tx1"/>
              </a:solidFill>
              <a:latin typeface="+mn-lt"/>
              <a:cs typeface="Times New Roman" panose="02020603050405020304" pitchFamily="18" charset="0"/>
            </a:endParaRPr>
          </a:p>
          <a:p>
            <a:pPr>
              <a:buFont typeface="Arial" panose="020B0604020202020204" pitchFamily="34" charset="0"/>
              <a:buChar char="•"/>
            </a:pPr>
            <a:r>
              <a:rPr lang="en-GB" sz="1800" dirty="0">
                <a:solidFill>
                  <a:srgbClr val="C00000"/>
                </a:solidFill>
                <a:latin typeface="+mn-lt"/>
                <a:cs typeface="Times New Roman" panose="02020603050405020304" pitchFamily="18" charset="0"/>
              </a:rPr>
              <a:t>K⁺</a:t>
            </a:r>
            <a:r>
              <a:rPr lang="en-GB" sz="1800" dirty="0">
                <a:solidFill>
                  <a:schemeClr val="tx1"/>
                </a:solidFill>
                <a:latin typeface="+mn-lt"/>
                <a:cs typeface="Times New Roman" panose="02020603050405020304" pitchFamily="18" charset="0"/>
              </a:rPr>
              <a:t> permeability is indeed much higher than that of Na⁺ — estimates range from 50 to 100 times greater, depending on the cell and physiological state.</a:t>
            </a:r>
          </a:p>
          <a:p>
            <a:pPr>
              <a:buFont typeface="Arial" panose="020B0604020202020204" pitchFamily="34" charset="0"/>
              <a:buChar char="•"/>
            </a:pPr>
            <a:endParaRPr lang="en-GB" sz="1800" dirty="0">
              <a:solidFill>
                <a:schemeClr val="tx1"/>
              </a:solidFill>
              <a:latin typeface="+mn-lt"/>
              <a:cs typeface="Times New Roman" panose="02020603050405020304" pitchFamily="18" charset="0"/>
            </a:endParaRPr>
          </a:p>
          <a:p>
            <a:pPr>
              <a:buFont typeface="Arial" panose="020B0604020202020204" pitchFamily="34" charset="0"/>
              <a:buChar char="•"/>
            </a:pPr>
            <a:r>
              <a:rPr lang="en-GB" sz="1800" dirty="0">
                <a:solidFill>
                  <a:srgbClr val="00B050"/>
                </a:solidFill>
                <a:latin typeface="+mn-lt"/>
                <a:cs typeface="Times New Roman" panose="02020603050405020304" pitchFamily="18" charset="0"/>
              </a:rPr>
              <a:t>Cl⁻ </a:t>
            </a:r>
            <a:r>
              <a:rPr lang="en-GB" sz="1800" dirty="0">
                <a:solidFill>
                  <a:schemeClr val="tx1"/>
                </a:solidFill>
                <a:latin typeface="+mn-lt"/>
                <a:cs typeface="Times New Roman" panose="02020603050405020304" pitchFamily="18" charset="0"/>
              </a:rPr>
              <a:t>permeability is variable and often passive, influenced by membrane potential and chloride channels.</a:t>
            </a:r>
          </a:p>
          <a:p>
            <a:pPr>
              <a:buFont typeface="Arial" panose="020B0604020202020204" pitchFamily="34" charset="0"/>
              <a:buChar char="•"/>
            </a:pPr>
            <a:endParaRPr lang="en-GB" sz="1800" dirty="0">
              <a:solidFill>
                <a:schemeClr val="tx1"/>
              </a:solidFill>
              <a:latin typeface="+mn-lt"/>
              <a:cs typeface="Times New Roman" panose="02020603050405020304" pitchFamily="18" charset="0"/>
            </a:endParaRPr>
          </a:p>
          <a:p>
            <a:pPr>
              <a:buFont typeface="Arial" panose="020B0604020202020204" pitchFamily="34" charset="0"/>
              <a:buChar char="•"/>
            </a:pPr>
            <a:r>
              <a:rPr lang="en-GB" sz="1800" dirty="0">
                <a:solidFill>
                  <a:schemeClr val="accent1">
                    <a:lumMod val="75000"/>
                  </a:schemeClr>
                </a:solidFill>
                <a:latin typeface="+mn-lt"/>
                <a:cs typeface="Times New Roman" panose="02020603050405020304" pitchFamily="18" charset="0"/>
              </a:rPr>
              <a:t>Na⁺ </a:t>
            </a:r>
            <a:r>
              <a:rPr lang="en-GB" sz="1800" dirty="0">
                <a:solidFill>
                  <a:schemeClr val="tx1"/>
                </a:solidFill>
                <a:latin typeface="+mn-lt"/>
                <a:cs typeface="Times New Roman" panose="02020603050405020304" pitchFamily="18" charset="0"/>
              </a:rPr>
              <a:t>permeability is low at rest, but increases during action potentials due to voltage-gated Na⁺ channels.</a:t>
            </a:r>
          </a:p>
        </p:txBody>
      </p:sp>
      <p:sp>
        <p:nvSpPr>
          <p:cNvPr id="6" name="Rectangle 5">
            <a:extLst>
              <a:ext uri="{FF2B5EF4-FFF2-40B4-BE49-F238E27FC236}">
                <a16:creationId xmlns:a16="http://schemas.microsoft.com/office/drawing/2014/main" id="{DFBC2143-26BE-715E-5E98-8C8A5CB4469B}"/>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dirty="0">
                <a:latin typeface="Arial" panose="020B0604020202020204" pitchFamily="34" charset="0"/>
              </a:rPr>
              <a:t>Membrane Potential</a:t>
            </a:r>
            <a:endParaRPr lang="en-GB" altLang="en-US" sz="3200" dirty="0">
              <a:solidFill>
                <a:srgbClr val="FFFF00"/>
              </a:solidFill>
              <a:latin typeface="Arial" panose="020B0604020202020204" pitchFamily="34" charset="0"/>
            </a:endParaRPr>
          </a:p>
        </p:txBody>
      </p:sp>
    </p:spTree>
    <p:extLst>
      <p:ext uri="{BB962C8B-B14F-4D97-AF65-F5344CB8AC3E}">
        <p14:creationId xmlns:p14="http://schemas.microsoft.com/office/powerpoint/2010/main" val="198975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 calcmode="lin" valueType="num">
                                      <p:cBhvr>
                                        <p:cTn id="20" dur="500" fill="hold"/>
                                        <p:tgtEl>
                                          <p:spTgt spid="5">
                                            <p:txEl>
                                              <p:pRg st="3" end="3"/>
                                            </p:txEl>
                                          </p:spTgt>
                                        </p:tgtEl>
                                        <p:attrNameLst>
                                          <p:attrName>ppt_w</p:attrName>
                                        </p:attrNameLst>
                                      </p:cBhvr>
                                      <p:tavLst>
                                        <p:tav tm="0">
                                          <p:val>
                                            <p:fltVal val="0"/>
                                          </p:val>
                                        </p:tav>
                                        <p:tav tm="100000">
                                          <p:val>
                                            <p:strVal val="#ppt_w"/>
                                          </p:val>
                                        </p:tav>
                                      </p:tavLst>
                                    </p:anim>
                                    <p:anim calcmode="lin" valueType="num">
                                      <p:cBhvr>
                                        <p:cTn id="21" dur="500" fill="hold"/>
                                        <p:tgtEl>
                                          <p:spTgt spid="5">
                                            <p:txEl>
                                              <p:pRg st="3" end="3"/>
                                            </p:txEl>
                                          </p:spTgt>
                                        </p:tgtEl>
                                        <p:attrNameLst>
                                          <p:attrName>ppt_h</p:attrName>
                                        </p:attrNameLst>
                                      </p:cBhvr>
                                      <p:tavLst>
                                        <p:tav tm="0">
                                          <p:val>
                                            <p:fltVal val="0"/>
                                          </p:val>
                                        </p:tav>
                                        <p:tav tm="100000">
                                          <p:val>
                                            <p:strVal val="#ppt_h"/>
                                          </p:val>
                                        </p:tav>
                                      </p:tavLst>
                                    </p:anim>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3">
            <a:extLst>
              <a:ext uri="{FF2B5EF4-FFF2-40B4-BE49-F238E27FC236}">
                <a16:creationId xmlns:a16="http://schemas.microsoft.com/office/drawing/2014/main" id="{F10CF74F-AA11-5654-F760-4FEE59BE43B5}"/>
              </a:ext>
            </a:extLst>
          </p:cNvPr>
          <p:cNvSpPr txBox="1">
            <a:spLocks noChangeArrowheads="1"/>
          </p:cNvSpPr>
          <p:nvPr/>
        </p:nvSpPr>
        <p:spPr bwMode="auto">
          <a:xfrm>
            <a:off x="588963" y="1023938"/>
            <a:ext cx="7848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2000">
                <a:solidFill>
                  <a:srgbClr val="000000"/>
                </a:solidFill>
                <a:latin typeface="Arial" panose="020B0604020202020204" pitchFamily="34" charset="0"/>
              </a:rPr>
              <a:t>The activity of the sodium pump leads to the accumulation of potassium ions inside cells.</a:t>
            </a:r>
          </a:p>
        </p:txBody>
      </p:sp>
      <p:pic>
        <p:nvPicPr>
          <p:cNvPr id="18435" name="Picture 4" descr="0404">
            <a:extLst>
              <a:ext uri="{FF2B5EF4-FFF2-40B4-BE49-F238E27FC236}">
                <a16:creationId xmlns:a16="http://schemas.microsoft.com/office/drawing/2014/main" id="{6B4759DA-132D-097B-0827-353CD3C65B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590800"/>
            <a:ext cx="4578350" cy="38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4FD6E56-C9A7-E3DF-DD05-B96B5F9AF43D}"/>
              </a:ext>
            </a:extLst>
          </p:cNvPr>
          <p:cNvSpPr txBox="1"/>
          <p:nvPr/>
        </p:nvSpPr>
        <p:spPr>
          <a:xfrm>
            <a:off x="381000" y="2667000"/>
            <a:ext cx="1301750" cy="338138"/>
          </a:xfrm>
          <a:prstGeom prst="rect">
            <a:avLst/>
          </a:prstGeom>
          <a:noFill/>
        </p:spPr>
        <p:txBody>
          <a:bodyPr wrap="none">
            <a:spAutoFit/>
          </a:bodyPr>
          <a:lstStyle/>
          <a:p>
            <a:pPr>
              <a:defRPr/>
            </a:pPr>
            <a:r>
              <a:rPr lang="en-US" sz="1600" dirty="0">
                <a:solidFill>
                  <a:schemeClr val="tx1"/>
                </a:solidFill>
                <a:latin typeface="+mn-lt"/>
                <a:ea typeface="+mn-ea"/>
              </a:rPr>
              <a:t>[K+] = 4 </a:t>
            </a:r>
            <a:r>
              <a:rPr lang="en-US" sz="1600" dirty="0" err="1">
                <a:solidFill>
                  <a:schemeClr val="tx1"/>
                </a:solidFill>
                <a:latin typeface="+mn-lt"/>
                <a:ea typeface="+mn-ea"/>
              </a:rPr>
              <a:t>mM</a:t>
            </a:r>
            <a:endParaRPr lang="en-US" sz="1600" dirty="0">
              <a:solidFill>
                <a:schemeClr val="tx1"/>
              </a:solidFill>
              <a:latin typeface="+mn-lt"/>
              <a:ea typeface="+mn-ea"/>
            </a:endParaRPr>
          </a:p>
        </p:txBody>
      </p:sp>
      <p:sp>
        <p:nvSpPr>
          <p:cNvPr id="18437" name="Rectangle 6">
            <a:extLst>
              <a:ext uri="{FF2B5EF4-FFF2-40B4-BE49-F238E27FC236}">
                <a16:creationId xmlns:a16="http://schemas.microsoft.com/office/drawing/2014/main" id="{A850F407-A048-B492-4D17-33443FDE9D01}"/>
              </a:ext>
            </a:extLst>
          </p:cNvPr>
          <p:cNvSpPr>
            <a:spLocks noChangeArrowheads="1"/>
          </p:cNvSpPr>
          <p:nvPr/>
        </p:nvSpPr>
        <p:spPr bwMode="auto">
          <a:xfrm>
            <a:off x="304800" y="5410200"/>
            <a:ext cx="1530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chemeClr val="tx1"/>
                </a:solidFill>
                <a:latin typeface="Arial" panose="020B0604020202020204" pitchFamily="34" charset="0"/>
              </a:rPr>
              <a:t>[K+] = 150 mM</a:t>
            </a:r>
          </a:p>
        </p:txBody>
      </p:sp>
      <p:sp>
        <p:nvSpPr>
          <p:cNvPr id="18438" name="Rectangle 7">
            <a:extLst>
              <a:ext uri="{FF2B5EF4-FFF2-40B4-BE49-F238E27FC236}">
                <a16:creationId xmlns:a16="http://schemas.microsoft.com/office/drawing/2014/main" id="{AADB6E43-CB14-862E-E5C8-F76D42ACAA72}"/>
              </a:ext>
            </a:extLst>
          </p:cNvPr>
          <p:cNvSpPr>
            <a:spLocks noChangeArrowheads="1"/>
          </p:cNvSpPr>
          <p:nvPr/>
        </p:nvSpPr>
        <p:spPr bwMode="auto">
          <a:xfrm>
            <a:off x="7239000" y="5410200"/>
            <a:ext cx="1541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chemeClr val="tx1"/>
                </a:solidFill>
                <a:latin typeface="Arial" panose="020B0604020202020204" pitchFamily="34" charset="0"/>
              </a:rPr>
              <a:t>[Na+] = 20 mM</a:t>
            </a:r>
          </a:p>
        </p:txBody>
      </p:sp>
      <p:sp>
        <p:nvSpPr>
          <p:cNvPr id="18439" name="Rectangle 8">
            <a:extLst>
              <a:ext uri="{FF2B5EF4-FFF2-40B4-BE49-F238E27FC236}">
                <a16:creationId xmlns:a16="http://schemas.microsoft.com/office/drawing/2014/main" id="{D7A2A024-4DCF-8C31-4ADE-B8913E6C5EB6}"/>
              </a:ext>
            </a:extLst>
          </p:cNvPr>
          <p:cNvSpPr>
            <a:spLocks noChangeArrowheads="1"/>
          </p:cNvSpPr>
          <p:nvPr/>
        </p:nvSpPr>
        <p:spPr bwMode="auto">
          <a:xfrm>
            <a:off x="7162800" y="2743200"/>
            <a:ext cx="16557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chemeClr val="tx1"/>
                </a:solidFill>
                <a:latin typeface="Arial" panose="020B0604020202020204" pitchFamily="34" charset="0"/>
              </a:rPr>
              <a:t>[Na+] = 140 mM</a:t>
            </a:r>
          </a:p>
        </p:txBody>
      </p:sp>
      <p:sp>
        <p:nvSpPr>
          <p:cNvPr id="2" name="Rectangle 5">
            <a:extLst>
              <a:ext uri="{FF2B5EF4-FFF2-40B4-BE49-F238E27FC236}">
                <a16:creationId xmlns:a16="http://schemas.microsoft.com/office/drawing/2014/main" id="{F4194F3C-9DF1-39B0-4ACA-ECC282AEEBD3}"/>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dirty="0">
                <a:latin typeface="Arial" panose="020B0604020202020204" pitchFamily="34" charset="0"/>
              </a:rPr>
              <a:t>Membrane Potential</a:t>
            </a:r>
            <a:endParaRPr lang="en-GB" altLang="en-US" sz="3200" dirty="0">
              <a:solidFill>
                <a:srgbClr val="FFFF00"/>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3">
            <a:extLst>
              <a:ext uri="{FF2B5EF4-FFF2-40B4-BE49-F238E27FC236}">
                <a16:creationId xmlns:a16="http://schemas.microsoft.com/office/drawing/2014/main" id="{115BEF8B-C844-3AE8-64BC-3E37F612BC1A}"/>
              </a:ext>
            </a:extLst>
          </p:cNvPr>
          <p:cNvSpPr txBox="1">
            <a:spLocks noChangeArrowheads="1"/>
          </p:cNvSpPr>
          <p:nvPr/>
        </p:nvSpPr>
        <p:spPr bwMode="auto">
          <a:xfrm>
            <a:off x="539750" y="1196975"/>
            <a:ext cx="7848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2000">
                <a:solidFill>
                  <a:srgbClr val="000000"/>
                </a:solidFill>
                <a:latin typeface="Arial" panose="020B0604020202020204" pitchFamily="34" charset="0"/>
              </a:rPr>
              <a:t>Some of these potassium ions leak out of the cells via potassium channels in the plasma membrane.</a:t>
            </a:r>
          </a:p>
        </p:txBody>
      </p:sp>
      <p:grpSp>
        <p:nvGrpSpPr>
          <p:cNvPr id="20483" name="Group 19">
            <a:extLst>
              <a:ext uri="{FF2B5EF4-FFF2-40B4-BE49-F238E27FC236}">
                <a16:creationId xmlns:a16="http://schemas.microsoft.com/office/drawing/2014/main" id="{72E236D0-B497-6E5D-C7C7-BFEFFB607664}"/>
              </a:ext>
            </a:extLst>
          </p:cNvPr>
          <p:cNvGrpSpPr>
            <a:grpSpLocks/>
          </p:cNvGrpSpPr>
          <p:nvPr/>
        </p:nvGrpSpPr>
        <p:grpSpPr bwMode="auto">
          <a:xfrm>
            <a:off x="304800" y="2590800"/>
            <a:ext cx="8448675" cy="3846513"/>
            <a:chOff x="228600" y="2590800"/>
            <a:chExt cx="8448857" cy="3846279"/>
          </a:xfrm>
        </p:grpSpPr>
        <p:pic>
          <p:nvPicPr>
            <p:cNvPr id="20484" name="Picture 4" descr="0404">
              <a:extLst>
                <a:ext uri="{FF2B5EF4-FFF2-40B4-BE49-F238E27FC236}">
                  <a16:creationId xmlns:a16="http://schemas.microsoft.com/office/drawing/2014/main" id="{4CFCDD29-2CC8-69EF-E92E-387FD838EB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590800"/>
              <a:ext cx="4578905" cy="3846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F23FDB62-63E0-7593-78C7-7C51130E6CF0}"/>
                </a:ext>
              </a:extLst>
            </p:cNvPr>
            <p:cNvSpPr txBox="1"/>
            <p:nvPr/>
          </p:nvSpPr>
          <p:spPr>
            <a:xfrm>
              <a:off x="381003" y="2666995"/>
              <a:ext cx="1162075" cy="307956"/>
            </a:xfrm>
            <a:prstGeom prst="rect">
              <a:avLst/>
            </a:prstGeom>
            <a:noFill/>
          </p:spPr>
          <p:txBody>
            <a:bodyPr wrap="none">
              <a:spAutoFit/>
            </a:bodyPr>
            <a:lstStyle/>
            <a:p>
              <a:pPr>
                <a:defRPr/>
              </a:pPr>
              <a:r>
                <a:rPr lang="en-US" sz="1400" dirty="0">
                  <a:solidFill>
                    <a:schemeClr val="tx1"/>
                  </a:solidFill>
                  <a:latin typeface="+mn-lt"/>
                  <a:ea typeface="+mn-ea"/>
                </a:rPr>
                <a:t>[K+] = 4 </a:t>
              </a:r>
              <a:r>
                <a:rPr lang="en-US" sz="1400" dirty="0" err="1">
                  <a:solidFill>
                    <a:schemeClr val="tx1"/>
                  </a:solidFill>
                  <a:latin typeface="+mn-lt"/>
                  <a:ea typeface="+mn-ea"/>
                </a:rPr>
                <a:t>mM</a:t>
              </a:r>
              <a:endParaRPr lang="en-US" sz="1400" dirty="0">
                <a:solidFill>
                  <a:schemeClr val="tx1"/>
                </a:solidFill>
                <a:latin typeface="+mn-lt"/>
                <a:ea typeface="+mn-ea"/>
              </a:endParaRPr>
            </a:p>
          </p:txBody>
        </p:sp>
        <p:sp>
          <p:nvSpPr>
            <p:cNvPr id="20486" name="Rectangle 6">
              <a:extLst>
                <a:ext uri="{FF2B5EF4-FFF2-40B4-BE49-F238E27FC236}">
                  <a16:creationId xmlns:a16="http://schemas.microsoft.com/office/drawing/2014/main" id="{99CE6E60-9641-F547-C7DC-8D57329A5E9F}"/>
                </a:ext>
              </a:extLst>
            </p:cNvPr>
            <p:cNvSpPr>
              <a:spLocks noChangeArrowheads="1"/>
            </p:cNvSpPr>
            <p:nvPr/>
          </p:nvSpPr>
          <p:spPr bwMode="auto">
            <a:xfrm>
              <a:off x="304802" y="5410028"/>
              <a:ext cx="1362104" cy="307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[K+] = 150 mM</a:t>
              </a:r>
            </a:p>
          </p:txBody>
        </p:sp>
        <p:sp>
          <p:nvSpPr>
            <p:cNvPr id="20487" name="Rectangle 7">
              <a:extLst>
                <a:ext uri="{FF2B5EF4-FFF2-40B4-BE49-F238E27FC236}">
                  <a16:creationId xmlns:a16="http://schemas.microsoft.com/office/drawing/2014/main" id="{C9A5C6AD-362F-1AB2-F4EE-A0A5E49305B0}"/>
                </a:ext>
              </a:extLst>
            </p:cNvPr>
            <p:cNvSpPr>
              <a:spLocks noChangeArrowheads="1"/>
            </p:cNvSpPr>
            <p:nvPr/>
          </p:nvSpPr>
          <p:spPr bwMode="auto">
            <a:xfrm>
              <a:off x="7239000" y="5410200"/>
              <a:ext cx="13720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20 mM</a:t>
              </a:r>
            </a:p>
          </p:txBody>
        </p:sp>
        <p:sp>
          <p:nvSpPr>
            <p:cNvPr id="20488" name="Rectangle 8">
              <a:extLst>
                <a:ext uri="{FF2B5EF4-FFF2-40B4-BE49-F238E27FC236}">
                  <a16:creationId xmlns:a16="http://schemas.microsoft.com/office/drawing/2014/main" id="{B3F74292-654D-23E8-D9B4-86513E4F2093}"/>
                </a:ext>
              </a:extLst>
            </p:cNvPr>
            <p:cNvSpPr>
              <a:spLocks noChangeArrowheads="1"/>
            </p:cNvSpPr>
            <p:nvPr/>
          </p:nvSpPr>
          <p:spPr bwMode="auto">
            <a:xfrm>
              <a:off x="7162949" y="2666995"/>
              <a:ext cx="1514508" cy="338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140 </a:t>
              </a:r>
              <a:r>
                <a:rPr lang="en-US" altLang="en-US" sz="1600">
                  <a:solidFill>
                    <a:schemeClr val="tx1"/>
                  </a:solidFill>
                  <a:latin typeface="Arial" panose="020B0604020202020204" pitchFamily="34" charset="0"/>
                </a:rPr>
                <a:t>mM</a:t>
              </a:r>
            </a:p>
          </p:txBody>
        </p:sp>
        <p:sp>
          <p:nvSpPr>
            <p:cNvPr id="10" name="Rectangle 9">
              <a:extLst>
                <a:ext uri="{FF2B5EF4-FFF2-40B4-BE49-F238E27FC236}">
                  <a16:creationId xmlns:a16="http://schemas.microsoft.com/office/drawing/2014/main" id="{13048181-8035-6523-5D55-3F0BF395BDF0}"/>
                </a:ext>
              </a:extLst>
            </p:cNvPr>
            <p:cNvSpPr/>
            <p:nvPr/>
          </p:nvSpPr>
          <p:spPr bwMode="auto">
            <a:xfrm>
              <a:off x="228600" y="4190903"/>
              <a:ext cx="1676436" cy="609563"/>
            </a:xfrm>
            <a:prstGeom prst="rect">
              <a:avLst/>
            </a:prstGeom>
            <a:solidFill>
              <a:schemeClr val="bg2">
                <a:lumMod val="60000"/>
                <a:lumOff val="40000"/>
              </a:schemeClr>
            </a:solidFill>
            <a:ln w="12700" cap="flat" cmpd="sng" algn="ctr">
              <a:solidFill>
                <a:schemeClr val="tx1"/>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20490" name="Oval 10">
              <a:extLst>
                <a:ext uri="{FF2B5EF4-FFF2-40B4-BE49-F238E27FC236}">
                  <a16:creationId xmlns:a16="http://schemas.microsoft.com/office/drawing/2014/main" id="{4B29454D-495F-E609-23FF-2EBEDABAA316}"/>
                </a:ext>
              </a:extLst>
            </p:cNvPr>
            <p:cNvSpPr>
              <a:spLocks noChangeArrowheads="1"/>
            </p:cNvSpPr>
            <p:nvPr/>
          </p:nvSpPr>
          <p:spPr bwMode="auto">
            <a:xfrm>
              <a:off x="1676400" y="3962400"/>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20491" name="Oval 11">
              <a:extLst>
                <a:ext uri="{FF2B5EF4-FFF2-40B4-BE49-F238E27FC236}">
                  <a16:creationId xmlns:a16="http://schemas.microsoft.com/office/drawing/2014/main" id="{1200EFBD-26D0-1CC4-07BB-06EF672BB4FC}"/>
                </a:ext>
              </a:extLst>
            </p:cNvPr>
            <p:cNvSpPr>
              <a:spLocks noChangeArrowheads="1"/>
            </p:cNvSpPr>
            <p:nvPr/>
          </p:nvSpPr>
          <p:spPr bwMode="auto">
            <a:xfrm>
              <a:off x="2133600" y="3962400"/>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20492" name="Straight Arrow Connector 15">
              <a:extLst>
                <a:ext uri="{FF2B5EF4-FFF2-40B4-BE49-F238E27FC236}">
                  <a16:creationId xmlns:a16="http://schemas.microsoft.com/office/drawing/2014/main" id="{25B4C1B0-9424-A0DE-97AE-764014F11649}"/>
                </a:ext>
              </a:extLst>
            </p:cNvPr>
            <p:cNvCxnSpPr>
              <a:cxnSpLocks noChangeShapeType="1"/>
            </p:cNvCxnSpPr>
            <p:nvPr/>
          </p:nvCxnSpPr>
          <p:spPr bwMode="auto">
            <a:xfrm rot="5400000" flipH="1" flipV="1">
              <a:off x="838994" y="4418806"/>
              <a:ext cx="2438400" cy="1588"/>
            </a:xfrm>
            <a:prstGeom prst="straightConnector1">
              <a:avLst/>
            </a:prstGeom>
            <a:noFill/>
            <a:ln w="38100">
              <a:solidFill>
                <a:srgbClr val="E0A28C"/>
              </a:solidFill>
              <a:round/>
              <a:headEnd/>
              <a:tailEnd type="arrow" w="med" len="med"/>
            </a:ln>
            <a:extLst>
              <a:ext uri="{909E8E84-426E-40DD-AFC4-6F175D3DCCD1}">
                <a14:hiddenFill xmlns:a14="http://schemas.microsoft.com/office/drawing/2010/main">
                  <a:noFill/>
                </a14:hiddenFill>
              </a:ext>
            </a:extLst>
          </p:spPr>
        </p:cxnSp>
        <p:sp>
          <p:nvSpPr>
            <p:cNvPr id="20493" name="TextBox 18">
              <a:extLst>
                <a:ext uri="{FF2B5EF4-FFF2-40B4-BE49-F238E27FC236}">
                  <a16:creationId xmlns:a16="http://schemas.microsoft.com/office/drawing/2014/main" id="{BE167AE5-B4AD-2A1D-EDB6-030CAB68EFC2}"/>
                </a:ext>
              </a:extLst>
            </p:cNvPr>
            <p:cNvSpPr txBox="1">
              <a:spLocks noChangeArrowheads="1"/>
            </p:cNvSpPr>
            <p:nvPr/>
          </p:nvSpPr>
          <p:spPr bwMode="auto">
            <a:xfrm>
              <a:off x="1905000" y="5715000"/>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grpSp>
      <p:sp>
        <p:nvSpPr>
          <p:cNvPr id="2" name="Rectangle 5">
            <a:extLst>
              <a:ext uri="{FF2B5EF4-FFF2-40B4-BE49-F238E27FC236}">
                <a16:creationId xmlns:a16="http://schemas.microsoft.com/office/drawing/2014/main" id="{32DA83C8-FED1-3EDD-EFF3-50539C890E04}"/>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dirty="0">
                <a:latin typeface="Arial" panose="020B0604020202020204" pitchFamily="34" charset="0"/>
              </a:rPr>
              <a:t>Membrane Potential</a:t>
            </a:r>
            <a:endParaRPr lang="en-GB" altLang="en-US" sz="3200" dirty="0">
              <a:solidFill>
                <a:srgbClr val="FFFF00"/>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3">
            <a:extLst>
              <a:ext uri="{FF2B5EF4-FFF2-40B4-BE49-F238E27FC236}">
                <a16:creationId xmlns:a16="http://schemas.microsoft.com/office/drawing/2014/main" id="{5BB74A50-3606-3003-A1C4-CD3D203F4C8B}"/>
              </a:ext>
            </a:extLst>
          </p:cNvPr>
          <p:cNvSpPr txBox="1">
            <a:spLocks noChangeArrowheads="1"/>
          </p:cNvSpPr>
          <p:nvPr/>
        </p:nvSpPr>
        <p:spPr bwMode="auto">
          <a:xfrm>
            <a:off x="338138" y="1184275"/>
            <a:ext cx="83978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2000">
                <a:solidFill>
                  <a:schemeClr val="tx1"/>
                </a:solidFill>
                <a:latin typeface="Arial" panose="020B0604020202020204" pitchFamily="34" charset="0"/>
              </a:rPr>
              <a:t>However, the membrane is much less permeable to sodium ions (10 – 100 times). So sodium ions are unable to replace all the lost potassium ions. </a:t>
            </a:r>
          </a:p>
        </p:txBody>
      </p:sp>
      <p:grpSp>
        <p:nvGrpSpPr>
          <p:cNvPr id="22531" name="Group 45">
            <a:extLst>
              <a:ext uri="{FF2B5EF4-FFF2-40B4-BE49-F238E27FC236}">
                <a16:creationId xmlns:a16="http://schemas.microsoft.com/office/drawing/2014/main" id="{F41B96C4-F9A2-A193-E798-0A299A8ED947}"/>
              </a:ext>
            </a:extLst>
          </p:cNvPr>
          <p:cNvGrpSpPr>
            <a:grpSpLocks/>
          </p:cNvGrpSpPr>
          <p:nvPr/>
        </p:nvGrpSpPr>
        <p:grpSpPr bwMode="auto">
          <a:xfrm>
            <a:off x="304800" y="2590800"/>
            <a:ext cx="8448675" cy="3846513"/>
            <a:chOff x="304800" y="2590800"/>
            <a:chExt cx="8448857" cy="3846279"/>
          </a:xfrm>
        </p:grpSpPr>
        <p:grpSp>
          <p:nvGrpSpPr>
            <p:cNvPr id="22532" name="Group 43">
              <a:extLst>
                <a:ext uri="{FF2B5EF4-FFF2-40B4-BE49-F238E27FC236}">
                  <a16:creationId xmlns:a16="http://schemas.microsoft.com/office/drawing/2014/main" id="{EA053640-4A15-8554-C090-DF0D4A065121}"/>
                </a:ext>
              </a:extLst>
            </p:cNvPr>
            <p:cNvGrpSpPr>
              <a:grpSpLocks/>
            </p:cNvGrpSpPr>
            <p:nvPr/>
          </p:nvGrpSpPr>
          <p:grpSpPr bwMode="auto">
            <a:xfrm>
              <a:off x="304800" y="2590800"/>
              <a:ext cx="8448857" cy="3846279"/>
              <a:chOff x="304800" y="2590800"/>
              <a:chExt cx="8448857" cy="3846279"/>
            </a:xfrm>
          </p:grpSpPr>
          <p:grpSp>
            <p:nvGrpSpPr>
              <p:cNvPr id="22534" name="Group 5">
                <a:extLst>
                  <a:ext uri="{FF2B5EF4-FFF2-40B4-BE49-F238E27FC236}">
                    <a16:creationId xmlns:a16="http://schemas.microsoft.com/office/drawing/2014/main" id="{B52E7B76-CE9B-F6E4-CEF1-BFE2AF4C599E}"/>
                  </a:ext>
                </a:extLst>
              </p:cNvPr>
              <p:cNvGrpSpPr>
                <a:grpSpLocks/>
              </p:cNvGrpSpPr>
              <p:nvPr/>
            </p:nvGrpSpPr>
            <p:grpSpPr bwMode="auto">
              <a:xfrm>
                <a:off x="304800" y="2590800"/>
                <a:ext cx="8448857" cy="3846279"/>
                <a:chOff x="228600" y="2590800"/>
                <a:chExt cx="8448857" cy="3846279"/>
              </a:xfrm>
            </p:grpSpPr>
            <p:pic>
              <p:nvPicPr>
                <p:cNvPr id="22540" name="Picture 6" descr="0404">
                  <a:extLst>
                    <a:ext uri="{FF2B5EF4-FFF2-40B4-BE49-F238E27FC236}">
                      <a16:creationId xmlns:a16="http://schemas.microsoft.com/office/drawing/2014/main" id="{B9A0E39B-2770-0E33-BA30-4866DED74A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590800"/>
                  <a:ext cx="4578905" cy="3846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91020D5F-52F4-534A-2A78-B53C142CF5DD}"/>
                    </a:ext>
                  </a:extLst>
                </p:cNvPr>
                <p:cNvSpPr txBox="1"/>
                <p:nvPr/>
              </p:nvSpPr>
              <p:spPr>
                <a:xfrm>
                  <a:off x="381003" y="2666995"/>
                  <a:ext cx="1162075" cy="307956"/>
                </a:xfrm>
                <a:prstGeom prst="rect">
                  <a:avLst/>
                </a:prstGeom>
                <a:noFill/>
              </p:spPr>
              <p:txBody>
                <a:bodyPr wrap="none">
                  <a:spAutoFit/>
                </a:bodyPr>
                <a:lstStyle/>
                <a:p>
                  <a:pPr>
                    <a:defRPr/>
                  </a:pPr>
                  <a:r>
                    <a:rPr lang="en-US" sz="1400" dirty="0">
                      <a:solidFill>
                        <a:schemeClr val="tx1"/>
                      </a:solidFill>
                      <a:latin typeface="+mn-lt"/>
                      <a:ea typeface="+mn-ea"/>
                    </a:rPr>
                    <a:t>[K+] = 4 </a:t>
                  </a:r>
                  <a:r>
                    <a:rPr lang="en-US" sz="1400" dirty="0" err="1">
                      <a:solidFill>
                        <a:schemeClr val="tx1"/>
                      </a:solidFill>
                      <a:latin typeface="+mn-lt"/>
                      <a:ea typeface="+mn-ea"/>
                    </a:rPr>
                    <a:t>mM</a:t>
                  </a:r>
                  <a:endParaRPr lang="en-US" sz="1400" dirty="0">
                    <a:solidFill>
                      <a:schemeClr val="tx1"/>
                    </a:solidFill>
                    <a:latin typeface="+mn-lt"/>
                    <a:ea typeface="+mn-ea"/>
                  </a:endParaRPr>
                </a:p>
              </p:txBody>
            </p:sp>
            <p:sp>
              <p:nvSpPr>
                <p:cNvPr id="22542" name="Rectangle 8">
                  <a:extLst>
                    <a:ext uri="{FF2B5EF4-FFF2-40B4-BE49-F238E27FC236}">
                      <a16:creationId xmlns:a16="http://schemas.microsoft.com/office/drawing/2014/main" id="{2450BF8B-A907-F864-95F0-5110A2D5DAC6}"/>
                    </a:ext>
                  </a:extLst>
                </p:cNvPr>
                <p:cNvSpPr>
                  <a:spLocks noChangeArrowheads="1"/>
                </p:cNvSpPr>
                <p:nvPr/>
              </p:nvSpPr>
              <p:spPr bwMode="auto">
                <a:xfrm>
                  <a:off x="304802" y="5410028"/>
                  <a:ext cx="1362104" cy="307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[K+] = 150 mM</a:t>
                  </a:r>
                </a:p>
              </p:txBody>
            </p:sp>
            <p:sp>
              <p:nvSpPr>
                <p:cNvPr id="22543" name="Rectangle 9">
                  <a:extLst>
                    <a:ext uri="{FF2B5EF4-FFF2-40B4-BE49-F238E27FC236}">
                      <a16:creationId xmlns:a16="http://schemas.microsoft.com/office/drawing/2014/main" id="{97B211D7-4022-B485-8068-8DC1788982AF}"/>
                    </a:ext>
                  </a:extLst>
                </p:cNvPr>
                <p:cNvSpPr>
                  <a:spLocks noChangeArrowheads="1"/>
                </p:cNvSpPr>
                <p:nvPr/>
              </p:nvSpPr>
              <p:spPr bwMode="auto">
                <a:xfrm>
                  <a:off x="7239000" y="5410200"/>
                  <a:ext cx="13720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20 mM</a:t>
                  </a:r>
                </a:p>
              </p:txBody>
            </p:sp>
            <p:sp>
              <p:nvSpPr>
                <p:cNvPr id="22544" name="Rectangle 10">
                  <a:extLst>
                    <a:ext uri="{FF2B5EF4-FFF2-40B4-BE49-F238E27FC236}">
                      <a16:creationId xmlns:a16="http://schemas.microsoft.com/office/drawing/2014/main" id="{FECDDA0D-872E-0F9E-FD56-C71270B86E50}"/>
                    </a:ext>
                  </a:extLst>
                </p:cNvPr>
                <p:cNvSpPr>
                  <a:spLocks noChangeArrowheads="1"/>
                </p:cNvSpPr>
                <p:nvPr/>
              </p:nvSpPr>
              <p:spPr bwMode="auto">
                <a:xfrm>
                  <a:off x="7162949" y="2666995"/>
                  <a:ext cx="1514508" cy="338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140 </a:t>
                  </a:r>
                  <a:r>
                    <a:rPr lang="en-US" altLang="en-US" sz="1600">
                      <a:solidFill>
                        <a:schemeClr val="tx1"/>
                      </a:solidFill>
                      <a:latin typeface="Arial" panose="020B0604020202020204" pitchFamily="34" charset="0"/>
                    </a:rPr>
                    <a:t>mM</a:t>
                  </a:r>
                </a:p>
              </p:txBody>
            </p:sp>
            <p:sp>
              <p:nvSpPr>
                <p:cNvPr id="12" name="Rectangle 11">
                  <a:extLst>
                    <a:ext uri="{FF2B5EF4-FFF2-40B4-BE49-F238E27FC236}">
                      <a16:creationId xmlns:a16="http://schemas.microsoft.com/office/drawing/2014/main" id="{FD6687C7-A387-CD6B-98B0-1B98BD5F40CF}"/>
                    </a:ext>
                  </a:extLst>
                </p:cNvPr>
                <p:cNvSpPr/>
                <p:nvPr/>
              </p:nvSpPr>
              <p:spPr bwMode="auto">
                <a:xfrm>
                  <a:off x="228600" y="4190903"/>
                  <a:ext cx="1676436" cy="609563"/>
                </a:xfrm>
                <a:prstGeom prst="rect">
                  <a:avLst/>
                </a:prstGeom>
                <a:solidFill>
                  <a:schemeClr val="bg2">
                    <a:lumMod val="60000"/>
                    <a:lumOff val="40000"/>
                  </a:schemeClr>
                </a:solidFill>
                <a:ln w="12700" cap="flat" cmpd="sng" algn="ctr">
                  <a:solidFill>
                    <a:schemeClr val="tx1"/>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22546" name="Oval 12">
                  <a:extLst>
                    <a:ext uri="{FF2B5EF4-FFF2-40B4-BE49-F238E27FC236}">
                      <a16:creationId xmlns:a16="http://schemas.microsoft.com/office/drawing/2014/main" id="{DE1EED20-12F3-BFAB-005E-E86277C1E8DB}"/>
                    </a:ext>
                  </a:extLst>
                </p:cNvPr>
                <p:cNvSpPr>
                  <a:spLocks noChangeArrowheads="1"/>
                </p:cNvSpPr>
                <p:nvPr/>
              </p:nvSpPr>
              <p:spPr bwMode="auto">
                <a:xfrm>
                  <a:off x="1676400" y="3962400"/>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22547" name="Oval 13">
                  <a:extLst>
                    <a:ext uri="{FF2B5EF4-FFF2-40B4-BE49-F238E27FC236}">
                      <a16:creationId xmlns:a16="http://schemas.microsoft.com/office/drawing/2014/main" id="{4F92999B-A47F-5A25-54D0-B467DD275252}"/>
                    </a:ext>
                  </a:extLst>
                </p:cNvPr>
                <p:cNvSpPr>
                  <a:spLocks noChangeArrowheads="1"/>
                </p:cNvSpPr>
                <p:nvPr/>
              </p:nvSpPr>
              <p:spPr bwMode="auto">
                <a:xfrm>
                  <a:off x="2133600" y="3962400"/>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22548" name="Straight Arrow Connector 14">
                  <a:extLst>
                    <a:ext uri="{FF2B5EF4-FFF2-40B4-BE49-F238E27FC236}">
                      <a16:creationId xmlns:a16="http://schemas.microsoft.com/office/drawing/2014/main" id="{076DFC2B-0F49-D5D7-3E11-A02984B8345F}"/>
                    </a:ext>
                  </a:extLst>
                </p:cNvPr>
                <p:cNvCxnSpPr>
                  <a:cxnSpLocks noChangeShapeType="1"/>
                </p:cNvCxnSpPr>
                <p:nvPr/>
              </p:nvCxnSpPr>
              <p:spPr bwMode="auto">
                <a:xfrm rot="5400000" flipH="1" flipV="1">
                  <a:off x="838994" y="4418806"/>
                  <a:ext cx="2438400" cy="1588"/>
                </a:xfrm>
                <a:prstGeom prst="straightConnector1">
                  <a:avLst/>
                </a:prstGeom>
                <a:noFill/>
                <a:ln w="38100">
                  <a:solidFill>
                    <a:srgbClr val="E0A28C"/>
                  </a:solidFill>
                  <a:round/>
                  <a:headEnd/>
                  <a:tailEnd type="arrow" w="med" len="med"/>
                </a:ln>
                <a:extLst>
                  <a:ext uri="{909E8E84-426E-40DD-AFC4-6F175D3DCCD1}">
                    <a14:hiddenFill xmlns:a14="http://schemas.microsoft.com/office/drawing/2010/main">
                      <a:noFill/>
                    </a14:hiddenFill>
                  </a:ext>
                </a:extLst>
              </p:spPr>
            </p:cxnSp>
            <p:sp>
              <p:nvSpPr>
                <p:cNvPr id="22549" name="TextBox 15">
                  <a:extLst>
                    <a:ext uri="{FF2B5EF4-FFF2-40B4-BE49-F238E27FC236}">
                      <a16:creationId xmlns:a16="http://schemas.microsoft.com/office/drawing/2014/main" id="{DD506432-0A34-CC85-BD4B-5B4432EC4EB0}"/>
                    </a:ext>
                  </a:extLst>
                </p:cNvPr>
                <p:cNvSpPr txBox="1">
                  <a:spLocks noChangeArrowheads="1"/>
                </p:cNvSpPr>
                <p:nvPr/>
              </p:nvSpPr>
              <p:spPr bwMode="auto">
                <a:xfrm>
                  <a:off x="1905000" y="5715000"/>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grpSp>
          <p:sp>
            <p:nvSpPr>
              <p:cNvPr id="17" name="Rectangle 16">
                <a:extLst>
                  <a:ext uri="{FF2B5EF4-FFF2-40B4-BE49-F238E27FC236}">
                    <a16:creationId xmlns:a16="http://schemas.microsoft.com/office/drawing/2014/main" id="{F586E847-AB17-2847-F1FA-4E2668B134D9}"/>
                  </a:ext>
                </a:extLst>
              </p:cNvPr>
              <p:cNvSpPr/>
              <p:nvPr/>
            </p:nvSpPr>
            <p:spPr bwMode="auto">
              <a:xfrm>
                <a:off x="6781940" y="4190903"/>
                <a:ext cx="1905041" cy="609563"/>
              </a:xfrm>
              <a:prstGeom prst="rect">
                <a:avLst/>
              </a:prstGeom>
              <a:solidFill>
                <a:schemeClr val="bg2">
                  <a:lumMod val="60000"/>
                  <a:lumOff val="40000"/>
                </a:schemeClr>
              </a:solidFill>
              <a:ln w="12700" cap="flat" cmpd="sng" algn="ctr">
                <a:solidFill>
                  <a:schemeClr val="tx1"/>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22536" name="Oval 17">
                <a:extLst>
                  <a:ext uri="{FF2B5EF4-FFF2-40B4-BE49-F238E27FC236}">
                    <a16:creationId xmlns:a16="http://schemas.microsoft.com/office/drawing/2014/main" id="{EEA2C7B6-B5AA-8FFF-E0C5-DF522B68D2D3}"/>
                  </a:ext>
                </a:extLst>
              </p:cNvPr>
              <p:cNvSpPr>
                <a:spLocks noChangeArrowheads="1"/>
              </p:cNvSpPr>
              <p:nvPr/>
            </p:nvSpPr>
            <p:spPr bwMode="auto">
              <a:xfrm>
                <a:off x="6553200" y="3962400"/>
                <a:ext cx="381000" cy="1066800"/>
              </a:xfrm>
              <a:prstGeom prst="ellipse">
                <a:avLst/>
              </a:prstGeom>
              <a:solidFill>
                <a:schemeClr val="accent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22537" name="Oval 18">
                <a:extLst>
                  <a:ext uri="{FF2B5EF4-FFF2-40B4-BE49-F238E27FC236}">
                    <a16:creationId xmlns:a16="http://schemas.microsoft.com/office/drawing/2014/main" id="{B8082022-EFD0-CA12-391A-3C0F1A962638}"/>
                  </a:ext>
                </a:extLst>
              </p:cNvPr>
              <p:cNvSpPr>
                <a:spLocks noChangeArrowheads="1"/>
              </p:cNvSpPr>
              <p:nvPr/>
            </p:nvSpPr>
            <p:spPr bwMode="auto">
              <a:xfrm>
                <a:off x="6858000" y="3962400"/>
                <a:ext cx="381000" cy="1066800"/>
              </a:xfrm>
              <a:prstGeom prst="ellipse">
                <a:avLst/>
              </a:prstGeom>
              <a:solidFill>
                <a:schemeClr val="accent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22538" name="Straight Arrow Connector 37">
                <a:extLst>
                  <a:ext uri="{FF2B5EF4-FFF2-40B4-BE49-F238E27FC236}">
                    <a16:creationId xmlns:a16="http://schemas.microsoft.com/office/drawing/2014/main" id="{BA6B5C41-2650-66E0-1D14-D49148E24A44}"/>
                  </a:ext>
                </a:extLst>
              </p:cNvPr>
              <p:cNvCxnSpPr>
                <a:cxnSpLocks noChangeShapeType="1"/>
              </p:cNvCxnSpPr>
              <p:nvPr/>
            </p:nvCxnSpPr>
            <p:spPr bwMode="auto">
              <a:xfrm rot="5400000">
                <a:off x="6604203" y="3682797"/>
                <a:ext cx="583795" cy="8466"/>
              </a:xfrm>
              <a:prstGeom prst="straightConnector1">
                <a:avLst/>
              </a:prstGeom>
              <a:noFill/>
              <a:ln w="38100">
                <a:solidFill>
                  <a:srgbClr val="E0A28C"/>
                </a:solidFill>
                <a:round/>
                <a:headEnd/>
                <a:tailEnd type="arrow" w="med" len="med"/>
              </a:ln>
              <a:extLst>
                <a:ext uri="{909E8E84-426E-40DD-AFC4-6F175D3DCCD1}">
                  <a14:hiddenFill xmlns:a14="http://schemas.microsoft.com/office/drawing/2010/main">
                    <a:noFill/>
                  </a14:hiddenFill>
                </a:ext>
              </a:extLst>
            </p:spPr>
          </p:cxnSp>
          <p:sp>
            <p:nvSpPr>
              <p:cNvPr id="22539" name="Rectangle 41">
                <a:extLst>
                  <a:ext uri="{FF2B5EF4-FFF2-40B4-BE49-F238E27FC236}">
                    <a16:creationId xmlns:a16="http://schemas.microsoft.com/office/drawing/2014/main" id="{4E59BD18-038A-7589-7E48-C0347DF56BD6}"/>
                  </a:ext>
                </a:extLst>
              </p:cNvPr>
              <p:cNvSpPr>
                <a:spLocks noChangeArrowheads="1"/>
              </p:cNvSpPr>
              <p:nvPr/>
            </p:nvSpPr>
            <p:spPr bwMode="auto">
              <a:xfrm>
                <a:off x="6649356" y="3016134"/>
                <a:ext cx="5667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Na+</a:t>
                </a:r>
              </a:p>
            </p:txBody>
          </p:sp>
        </p:grpSp>
        <p:sp>
          <p:nvSpPr>
            <p:cNvPr id="45" name="TextBox 44">
              <a:extLst>
                <a:ext uri="{FF2B5EF4-FFF2-40B4-BE49-F238E27FC236}">
                  <a16:creationId xmlns:a16="http://schemas.microsoft.com/office/drawing/2014/main" id="{0EBA6615-EDCC-140D-F1E5-43076BF1DD49}"/>
                </a:ext>
              </a:extLst>
            </p:cNvPr>
            <p:cNvSpPr txBox="1"/>
            <p:nvPr/>
          </p:nvSpPr>
          <p:spPr>
            <a:xfrm>
              <a:off x="6705600" y="3352800"/>
              <a:ext cx="389951" cy="461665"/>
            </a:xfrm>
            <a:prstGeom prst="rect">
              <a:avLst/>
            </a:prstGeom>
            <a:noFill/>
          </p:spPr>
          <p:txBody>
            <a:bodyPr wrap="none">
              <a:spAutoFit/>
            </a:bodyPr>
            <a:lstStyle/>
            <a:p>
              <a:pPr>
                <a:defRPr/>
              </a:pPr>
              <a:r>
                <a:rPr lang="en-US" dirty="0">
                  <a:ln>
                    <a:solidFill>
                      <a:srgbClr val="FF0000"/>
                    </a:solidFill>
                  </a:ln>
                  <a:solidFill>
                    <a:srgbClr val="FF0000"/>
                  </a:solidFill>
                  <a:latin typeface="Arial"/>
                  <a:ea typeface="+mn-ea"/>
                </a:rPr>
                <a:t>X</a:t>
              </a:r>
            </a:p>
          </p:txBody>
        </p:sp>
      </p:grpSp>
      <p:sp>
        <p:nvSpPr>
          <p:cNvPr id="2" name="Rectangle 5">
            <a:extLst>
              <a:ext uri="{FF2B5EF4-FFF2-40B4-BE49-F238E27FC236}">
                <a16:creationId xmlns:a16="http://schemas.microsoft.com/office/drawing/2014/main" id="{3E8B9CC8-9F6F-7949-47A9-CC6640094122}"/>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dirty="0">
                <a:latin typeface="Arial" panose="020B0604020202020204" pitchFamily="34" charset="0"/>
              </a:rPr>
              <a:t>Membrane Potential</a:t>
            </a:r>
            <a:endParaRPr lang="en-GB" altLang="en-US" sz="3200" dirty="0">
              <a:solidFill>
                <a:srgbClr val="FFFF00"/>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3">
            <a:extLst>
              <a:ext uri="{FF2B5EF4-FFF2-40B4-BE49-F238E27FC236}">
                <a16:creationId xmlns:a16="http://schemas.microsoft.com/office/drawing/2014/main" id="{9481D176-4C4E-E584-3DA5-FE9DD27CD7EB}"/>
              </a:ext>
            </a:extLst>
          </p:cNvPr>
          <p:cNvSpPr txBox="1">
            <a:spLocks noChangeArrowheads="1"/>
          </p:cNvSpPr>
          <p:nvPr/>
        </p:nvSpPr>
        <p:spPr bwMode="auto">
          <a:xfrm>
            <a:off x="539750" y="836613"/>
            <a:ext cx="81629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2000">
                <a:solidFill>
                  <a:srgbClr val="000000"/>
                </a:solidFill>
                <a:latin typeface="Arial" panose="020B0604020202020204" pitchFamily="34" charset="0"/>
              </a:rPr>
              <a:t>As the potassium ions diffuse out of the cell there is a build-up of negative charge inside the cells that can be detected as a potential difference across the plasma  membrane - </a:t>
            </a:r>
            <a:r>
              <a:rPr lang="en-GB" altLang="en-US" sz="2000" b="1">
                <a:solidFill>
                  <a:srgbClr val="000000"/>
                </a:solidFill>
                <a:latin typeface="Arial" panose="020B0604020202020204" pitchFamily="34" charset="0"/>
              </a:rPr>
              <a:t>a membrane potential.</a:t>
            </a:r>
            <a:r>
              <a:rPr lang="en-GB" altLang="en-US" sz="2000">
                <a:solidFill>
                  <a:srgbClr val="000000"/>
                </a:solidFill>
                <a:latin typeface="Arial" panose="020B0604020202020204" pitchFamily="34" charset="0"/>
              </a:rPr>
              <a:t> </a:t>
            </a:r>
          </a:p>
        </p:txBody>
      </p:sp>
      <p:grpSp>
        <p:nvGrpSpPr>
          <p:cNvPr id="24579" name="Group 50">
            <a:extLst>
              <a:ext uri="{FF2B5EF4-FFF2-40B4-BE49-F238E27FC236}">
                <a16:creationId xmlns:a16="http://schemas.microsoft.com/office/drawing/2014/main" id="{D231B50A-DF54-6067-302E-3293A4D6803E}"/>
              </a:ext>
            </a:extLst>
          </p:cNvPr>
          <p:cNvGrpSpPr>
            <a:grpSpLocks/>
          </p:cNvGrpSpPr>
          <p:nvPr/>
        </p:nvGrpSpPr>
        <p:grpSpPr bwMode="auto">
          <a:xfrm>
            <a:off x="304800" y="2590800"/>
            <a:ext cx="8448675" cy="3846513"/>
            <a:chOff x="304800" y="2590800"/>
            <a:chExt cx="8448857" cy="3846279"/>
          </a:xfrm>
        </p:grpSpPr>
        <p:grpSp>
          <p:nvGrpSpPr>
            <p:cNvPr id="24580" name="Group 48">
              <a:extLst>
                <a:ext uri="{FF2B5EF4-FFF2-40B4-BE49-F238E27FC236}">
                  <a16:creationId xmlns:a16="http://schemas.microsoft.com/office/drawing/2014/main" id="{715A9FD3-1C2C-F0F8-3670-2AE27CD3F244}"/>
                </a:ext>
              </a:extLst>
            </p:cNvPr>
            <p:cNvGrpSpPr>
              <a:grpSpLocks/>
            </p:cNvGrpSpPr>
            <p:nvPr/>
          </p:nvGrpSpPr>
          <p:grpSpPr bwMode="auto">
            <a:xfrm>
              <a:off x="304800" y="2590800"/>
              <a:ext cx="8448857" cy="3846279"/>
              <a:chOff x="304800" y="2590800"/>
              <a:chExt cx="8448857" cy="3846279"/>
            </a:xfrm>
          </p:grpSpPr>
          <p:grpSp>
            <p:nvGrpSpPr>
              <p:cNvPr id="24582" name="Group 4">
                <a:extLst>
                  <a:ext uri="{FF2B5EF4-FFF2-40B4-BE49-F238E27FC236}">
                    <a16:creationId xmlns:a16="http://schemas.microsoft.com/office/drawing/2014/main" id="{E2EE729C-B672-612A-7528-ED5EB98EB215}"/>
                  </a:ext>
                </a:extLst>
              </p:cNvPr>
              <p:cNvGrpSpPr>
                <a:grpSpLocks/>
              </p:cNvGrpSpPr>
              <p:nvPr/>
            </p:nvGrpSpPr>
            <p:grpSpPr bwMode="auto">
              <a:xfrm>
                <a:off x="304800" y="2590800"/>
                <a:ext cx="8448857" cy="3846279"/>
                <a:chOff x="304800" y="2590800"/>
                <a:chExt cx="8448857" cy="3846279"/>
              </a:xfrm>
            </p:grpSpPr>
            <p:grpSp>
              <p:nvGrpSpPr>
                <p:cNvPr id="24592" name="Group 5">
                  <a:extLst>
                    <a:ext uri="{FF2B5EF4-FFF2-40B4-BE49-F238E27FC236}">
                      <a16:creationId xmlns:a16="http://schemas.microsoft.com/office/drawing/2014/main" id="{596F610D-1693-0046-DAC6-90C8AF7294EA}"/>
                    </a:ext>
                  </a:extLst>
                </p:cNvPr>
                <p:cNvGrpSpPr>
                  <a:grpSpLocks/>
                </p:cNvGrpSpPr>
                <p:nvPr/>
              </p:nvGrpSpPr>
              <p:grpSpPr bwMode="auto">
                <a:xfrm>
                  <a:off x="304800" y="2590800"/>
                  <a:ext cx="8448857" cy="3846279"/>
                  <a:chOff x="228600" y="2590800"/>
                  <a:chExt cx="8448857" cy="3846279"/>
                </a:xfrm>
              </p:grpSpPr>
              <p:pic>
                <p:nvPicPr>
                  <p:cNvPr id="24598" name="Picture 11" descr="0404">
                    <a:extLst>
                      <a:ext uri="{FF2B5EF4-FFF2-40B4-BE49-F238E27FC236}">
                        <a16:creationId xmlns:a16="http://schemas.microsoft.com/office/drawing/2014/main" id="{BB889BDE-C815-4F04-8115-F6B4FB21C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590800"/>
                    <a:ext cx="4578905" cy="3846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F7EDE4BF-41C6-D553-0D91-FDF8BEE68E95}"/>
                      </a:ext>
                    </a:extLst>
                  </p:cNvPr>
                  <p:cNvSpPr txBox="1"/>
                  <p:nvPr/>
                </p:nvSpPr>
                <p:spPr>
                  <a:xfrm>
                    <a:off x="381003" y="2666995"/>
                    <a:ext cx="1162075" cy="307956"/>
                  </a:xfrm>
                  <a:prstGeom prst="rect">
                    <a:avLst/>
                  </a:prstGeom>
                  <a:noFill/>
                </p:spPr>
                <p:txBody>
                  <a:bodyPr wrap="none">
                    <a:spAutoFit/>
                  </a:bodyPr>
                  <a:lstStyle/>
                  <a:p>
                    <a:pPr>
                      <a:defRPr/>
                    </a:pPr>
                    <a:r>
                      <a:rPr lang="en-US" sz="1400" dirty="0">
                        <a:solidFill>
                          <a:schemeClr val="tx1"/>
                        </a:solidFill>
                        <a:latin typeface="+mn-lt"/>
                        <a:ea typeface="+mn-ea"/>
                      </a:rPr>
                      <a:t>[K+] = 4 </a:t>
                    </a:r>
                    <a:r>
                      <a:rPr lang="en-US" sz="1400" dirty="0" err="1">
                        <a:solidFill>
                          <a:schemeClr val="tx1"/>
                        </a:solidFill>
                        <a:latin typeface="+mn-lt"/>
                        <a:ea typeface="+mn-ea"/>
                      </a:rPr>
                      <a:t>mM</a:t>
                    </a:r>
                    <a:endParaRPr lang="en-US" sz="1400" dirty="0">
                      <a:solidFill>
                        <a:schemeClr val="tx1"/>
                      </a:solidFill>
                      <a:latin typeface="+mn-lt"/>
                      <a:ea typeface="+mn-ea"/>
                    </a:endParaRPr>
                  </a:p>
                </p:txBody>
              </p:sp>
              <p:sp>
                <p:nvSpPr>
                  <p:cNvPr id="24600" name="Rectangle 13">
                    <a:extLst>
                      <a:ext uri="{FF2B5EF4-FFF2-40B4-BE49-F238E27FC236}">
                        <a16:creationId xmlns:a16="http://schemas.microsoft.com/office/drawing/2014/main" id="{59E22A09-9030-9D6F-F465-0DD976E247F5}"/>
                      </a:ext>
                    </a:extLst>
                  </p:cNvPr>
                  <p:cNvSpPr>
                    <a:spLocks noChangeArrowheads="1"/>
                  </p:cNvSpPr>
                  <p:nvPr/>
                </p:nvSpPr>
                <p:spPr bwMode="auto">
                  <a:xfrm>
                    <a:off x="304802" y="5410028"/>
                    <a:ext cx="1362104" cy="307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[K+] = 150 mM</a:t>
                    </a:r>
                  </a:p>
                </p:txBody>
              </p:sp>
              <p:sp>
                <p:nvSpPr>
                  <p:cNvPr id="24601" name="Rectangle 14">
                    <a:extLst>
                      <a:ext uri="{FF2B5EF4-FFF2-40B4-BE49-F238E27FC236}">
                        <a16:creationId xmlns:a16="http://schemas.microsoft.com/office/drawing/2014/main" id="{BE490CCB-02DB-D20B-8325-472441F590D1}"/>
                      </a:ext>
                    </a:extLst>
                  </p:cNvPr>
                  <p:cNvSpPr>
                    <a:spLocks noChangeArrowheads="1"/>
                  </p:cNvSpPr>
                  <p:nvPr/>
                </p:nvSpPr>
                <p:spPr bwMode="auto">
                  <a:xfrm>
                    <a:off x="7239000" y="5410200"/>
                    <a:ext cx="13720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20 mM</a:t>
                    </a:r>
                  </a:p>
                </p:txBody>
              </p:sp>
              <p:sp>
                <p:nvSpPr>
                  <p:cNvPr id="24602" name="Rectangle 15">
                    <a:extLst>
                      <a:ext uri="{FF2B5EF4-FFF2-40B4-BE49-F238E27FC236}">
                        <a16:creationId xmlns:a16="http://schemas.microsoft.com/office/drawing/2014/main" id="{519126B7-17CD-FA67-69E8-7AC3D60DCA83}"/>
                      </a:ext>
                    </a:extLst>
                  </p:cNvPr>
                  <p:cNvSpPr>
                    <a:spLocks noChangeArrowheads="1"/>
                  </p:cNvSpPr>
                  <p:nvPr/>
                </p:nvSpPr>
                <p:spPr bwMode="auto">
                  <a:xfrm>
                    <a:off x="7162949" y="2666995"/>
                    <a:ext cx="1514508" cy="338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140 </a:t>
                    </a:r>
                    <a:r>
                      <a:rPr lang="en-US" altLang="en-US" sz="1600">
                        <a:solidFill>
                          <a:schemeClr val="tx1"/>
                        </a:solidFill>
                        <a:latin typeface="Arial" panose="020B0604020202020204" pitchFamily="34" charset="0"/>
                      </a:rPr>
                      <a:t>mM</a:t>
                    </a:r>
                  </a:p>
                </p:txBody>
              </p:sp>
              <p:sp>
                <p:nvSpPr>
                  <p:cNvPr id="17" name="Rectangle 16">
                    <a:extLst>
                      <a:ext uri="{FF2B5EF4-FFF2-40B4-BE49-F238E27FC236}">
                        <a16:creationId xmlns:a16="http://schemas.microsoft.com/office/drawing/2014/main" id="{2424A2DB-227A-E720-9808-E2661E03C595}"/>
                      </a:ext>
                    </a:extLst>
                  </p:cNvPr>
                  <p:cNvSpPr/>
                  <p:nvPr/>
                </p:nvSpPr>
                <p:spPr bwMode="auto">
                  <a:xfrm>
                    <a:off x="228600" y="4190903"/>
                    <a:ext cx="1676436" cy="609563"/>
                  </a:xfrm>
                  <a:prstGeom prst="rect">
                    <a:avLst/>
                  </a:prstGeom>
                  <a:solidFill>
                    <a:schemeClr val="bg2">
                      <a:lumMod val="60000"/>
                      <a:lumOff val="40000"/>
                    </a:schemeClr>
                  </a:solidFill>
                  <a:ln w="12700" cap="flat" cmpd="sng" algn="ctr">
                    <a:solidFill>
                      <a:schemeClr val="tx1"/>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24604" name="Oval 17">
                    <a:extLst>
                      <a:ext uri="{FF2B5EF4-FFF2-40B4-BE49-F238E27FC236}">
                        <a16:creationId xmlns:a16="http://schemas.microsoft.com/office/drawing/2014/main" id="{A5D9C080-D561-D5D1-99A0-53521B7FAB27}"/>
                      </a:ext>
                    </a:extLst>
                  </p:cNvPr>
                  <p:cNvSpPr>
                    <a:spLocks noChangeArrowheads="1"/>
                  </p:cNvSpPr>
                  <p:nvPr/>
                </p:nvSpPr>
                <p:spPr bwMode="auto">
                  <a:xfrm>
                    <a:off x="1676400" y="3962400"/>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24605" name="Oval 18">
                    <a:extLst>
                      <a:ext uri="{FF2B5EF4-FFF2-40B4-BE49-F238E27FC236}">
                        <a16:creationId xmlns:a16="http://schemas.microsoft.com/office/drawing/2014/main" id="{48EE1DC8-5B34-792A-2882-80387640A73A}"/>
                      </a:ext>
                    </a:extLst>
                  </p:cNvPr>
                  <p:cNvSpPr>
                    <a:spLocks noChangeArrowheads="1"/>
                  </p:cNvSpPr>
                  <p:nvPr/>
                </p:nvSpPr>
                <p:spPr bwMode="auto">
                  <a:xfrm>
                    <a:off x="2133600" y="3962400"/>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24606" name="Straight Arrow Connector 19">
                    <a:extLst>
                      <a:ext uri="{FF2B5EF4-FFF2-40B4-BE49-F238E27FC236}">
                        <a16:creationId xmlns:a16="http://schemas.microsoft.com/office/drawing/2014/main" id="{574120C9-79D8-817C-3A28-7135B4DDFCB5}"/>
                      </a:ext>
                    </a:extLst>
                  </p:cNvPr>
                  <p:cNvCxnSpPr>
                    <a:cxnSpLocks noChangeShapeType="1"/>
                  </p:cNvCxnSpPr>
                  <p:nvPr/>
                </p:nvCxnSpPr>
                <p:spPr bwMode="auto">
                  <a:xfrm rot="5400000" flipH="1" flipV="1">
                    <a:off x="838994" y="4418806"/>
                    <a:ext cx="2438400" cy="1588"/>
                  </a:xfrm>
                  <a:prstGeom prst="straightConnector1">
                    <a:avLst/>
                  </a:prstGeom>
                  <a:noFill/>
                  <a:ln w="38100">
                    <a:solidFill>
                      <a:srgbClr val="E0A28C"/>
                    </a:solidFill>
                    <a:round/>
                    <a:headEnd/>
                    <a:tailEnd type="arrow" w="med" len="med"/>
                  </a:ln>
                  <a:extLst>
                    <a:ext uri="{909E8E84-426E-40DD-AFC4-6F175D3DCCD1}">
                      <a14:hiddenFill xmlns:a14="http://schemas.microsoft.com/office/drawing/2010/main">
                        <a:noFill/>
                      </a14:hiddenFill>
                    </a:ext>
                  </a:extLst>
                </p:spPr>
              </p:cxnSp>
              <p:sp>
                <p:nvSpPr>
                  <p:cNvPr id="24607" name="TextBox 20">
                    <a:extLst>
                      <a:ext uri="{FF2B5EF4-FFF2-40B4-BE49-F238E27FC236}">
                        <a16:creationId xmlns:a16="http://schemas.microsoft.com/office/drawing/2014/main" id="{761EA8EF-672C-D2C6-E600-47E5B8E64D86}"/>
                      </a:ext>
                    </a:extLst>
                  </p:cNvPr>
                  <p:cNvSpPr txBox="1">
                    <a:spLocks noChangeArrowheads="1"/>
                  </p:cNvSpPr>
                  <p:nvPr/>
                </p:nvSpPr>
                <p:spPr bwMode="auto">
                  <a:xfrm>
                    <a:off x="1905000" y="5715000"/>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grpSp>
            <p:sp>
              <p:nvSpPr>
                <p:cNvPr id="7" name="Rectangle 6">
                  <a:extLst>
                    <a:ext uri="{FF2B5EF4-FFF2-40B4-BE49-F238E27FC236}">
                      <a16:creationId xmlns:a16="http://schemas.microsoft.com/office/drawing/2014/main" id="{30A6310E-2139-F26A-00EA-55ED5A507770}"/>
                    </a:ext>
                  </a:extLst>
                </p:cNvPr>
                <p:cNvSpPr/>
                <p:nvPr/>
              </p:nvSpPr>
              <p:spPr bwMode="auto">
                <a:xfrm>
                  <a:off x="6781940" y="4190903"/>
                  <a:ext cx="1905041" cy="609563"/>
                </a:xfrm>
                <a:prstGeom prst="rect">
                  <a:avLst/>
                </a:prstGeom>
                <a:solidFill>
                  <a:schemeClr val="bg2">
                    <a:lumMod val="60000"/>
                    <a:lumOff val="40000"/>
                  </a:schemeClr>
                </a:solidFill>
                <a:ln w="12700" cap="flat" cmpd="sng" algn="ctr">
                  <a:solidFill>
                    <a:schemeClr val="tx1"/>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24594" name="Oval 7">
                  <a:extLst>
                    <a:ext uri="{FF2B5EF4-FFF2-40B4-BE49-F238E27FC236}">
                      <a16:creationId xmlns:a16="http://schemas.microsoft.com/office/drawing/2014/main" id="{0156DCAE-2250-AD8C-906C-92083BC3AEA0}"/>
                    </a:ext>
                  </a:extLst>
                </p:cNvPr>
                <p:cNvSpPr>
                  <a:spLocks noChangeArrowheads="1"/>
                </p:cNvSpPr>
                <p:nvPr/>
              </p:nvSpPr>
              <p:spPr bwMode="auto">
                <a:xfrm>
                  <a:off x="6553200" y="3962400"/>
                  <a:ext cx="381000" cy="1066800"/>
                </a:xfrm>
                <a:prstGeom prst="ellipse">
                  <a:avLst/>
                </a:prstGeom>
                <a:solidFill>
                  <a:schemeClr val="accent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24595" name="Oval 8">
                  <a:extLst>
                    <a:ext uri="{FF2B5EF4-FFF2-40B4-BE49-F238E27FC236}">
                      <a16:creationId xmlns:a16="http://schemas.microsoft.com/office/drawing/2014/main" id="{407D2D74-5B14-C026-22BE-9AB8058A3176}"/>
                    </a:ext>
                  </a:extLst>
                </p:cNvPr>
                <p:cNvSpPr>
                  <a:spLocks noChangeArrowheads="1"/>
                </p:cNvSpPr>
                <p:nvPr/>
              </p:nvSpPr>
              <p:spPr bwMode="auto">
                <a:xfrm>
                  <a:off x="6858000" y="3962400"/>
                  <a:ext cx="381000" cy="1066800"/>
                </a:xfrm>
                <a:prstGeom prst="ellipse">
                  <a:avLst/>
                </a:prstGeom>
                <a:solidFill>
                  <a:schemeClr val="accent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24596" name="Straight Arrow Connector 9">
                  <a:extLst>
                    <a:ext uri="{FF2B5EF4-FFF2-40B4-BE49-F238E27FC236}">
                      <a16:creationId xmlns:a16="http://schemas.microsoft.com/office/drawing/2014/main" id="{38CAAF45-9607-1BBF-37E4-C073F02B585D}"/>
                    </a:ext>
                  </a:extLst>
                </p:cNvPr>
                <p:cNvCxnSpPr>
                  <a:cxnSpLocks noChangeShapeType="1"/>
                </p:cNvCxnSpPr>
                <p:nvPr/>
              </p:nvCxnSpPr>
              <p:spPr bwMode="auto">
                <a:xfrm rot="5400000">
                  <a:off x="6604203" y="3682797"/>
                  <a:ext cx="583795" cy="8466"/>
                </a:xfrm>
                <a:prstGeom prst="straightConnector1">
                  <a:avLst/>
                </a:prstGeom>
                <a:noFill/>
                <a:ln w="38100">
                  <a:solidFill>
                    <a:srgbClr val="E0A28C"/>
                  </a:solidFill>
                  <a:round/>
                  <a:headEnd/>
                  <a:tailEnd type="arrow" w="med" len="med"/>
                </a:ln>
                <a:extLst>
                  <a:ext uri="{909E8E84-426E-40DD-AFC4-6F175D3DCCD1}">
                    <a14:hiddenFill xmlns:a14="http://schemas.microsoft.com/office/drawing/2010/main">
                      <a:noFill/>
                    </a14:hiddenFill>
                  </a:ext>
                </a:extLst>
              </p:spPr>
            </p:cxnSp>
            <p:sp>
              <p:nvSpPr>
                <p:cNvPr id="24597" name="Rectangle 10">
                  <a:extLst>
                    <a:ext uri="{FF2B5EF4-FFF2-40B4-BE49-F238E27FC236}">
                      <a16:creationId xmlns:a16="http://schemas.microsoft.com/office/drawing/2014/main" id="{1F553B9F-BAC8-CF80-2680-E53CA77390F0}"/>
                    </a:ext>
                  </a:extLst>
                </p:cNvPr>
                <p:cNvSpPr>
                  <a:spLocks noChangeArrowheads="1"/>
                </p:cNvSpPr>
                <p:nvPr/>
              </p:nvSpPr>
              <p:spPr bwMode="auto">
                <a:xfrm>
                  <a:off x="6649356" y="3016134"/>
                  <a:ext cx="5667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Na+</a:t>
                  </a:r>
                </a:p>
              </p:txBody>
            </p:sp>
          </p:grpSp>
          <p:sp>
            <p:nvSpPr>
              <p:cNvPr id="24583" name="TextBox 21">
                <a:extLst>
                  <a:ext uri="{FF2B5EF4-FFF2-40B4-BE49-F238E27FC236}">
                    <a16:creationId xmlns:a16="http://schemas.microsoft.com/office/drawing/2014/main" id="{800D1101-0D2D-F8DB-AEFE-7FDA97824C7F}"/>
                  </a:ext>
                </a:extLst>
              </p:cNvPr>
              <p:cNvSpPr txBox="1">
                <a:spLocks noChangeArrowheads="1"/>
              </p:cNvSpPr>
              <p:nvPr/>
            </p:nvSpPr>
            <p:spPr bwMode="auto">
              <a:xfrm>
                <a:off x="1049867" y="3589867"/>
                <a:ext cx="3582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a:t>+</a:t>
                </a:r>
              </a:p>
            </p:txBody>
          </p:sp>
          <p:sp>
            <p:nvSpPr>
              <p:cNvPr id="24584" name="Rectangle 40">
                <a:extLst>
                  <a:ext uri="{FF2B5EF4-FFF2-40B4-BE49-F238E27FC236}">
                    <a16:creationId xmlns:a16="http://schemas.microsoft.com/office/drawing/2014/main" id="{C16666C8-B7E8-6284-3A4D-F7211DA40C8B}"/>
                  </a:ext>
                </a:extLst>
              </p:cNvPr>
              <p:cNvSpPr>
                <a:spLocks noChangeArrowheads="1"/>
              </p:cNvSpPr>
              <p:nvPr/>
            </p:nvSpPr>
            <p:spPr bwMode="auto">
              <a:xfrm>
                <a:off x="1569356" y="3528368"/>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sp>
            <p:nvSpPr>
              <p:cNvPr id="24585" name="Rectangle 41">
                <a:extLst>
                  <a:ext uri="{FF2B5EF4-FFF2-40B4-BE49-F238E27FC236}">
                    <a16:creationId xmlns:a16="http://schemas.microsoft.com/office/drawing/2014/main" id="{54F406D8-91DA-A428-556D-359FB604C8A1}"/>
                  </a:ext>
                </a:extLst>
              </p:cNvPr>
              <p:cNvSpPr>
                <a:spLocks noChangeArrowheads="1"/>
              </p:cNvSpPr>
              <p:nvPr/>
            </p:nvSpPr>
            <p:spPr bwMode="auto">
              <a:xfrm>
                <a:off x="2500689" y="3333636"/>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sp>
            <p:nvSpPr>
              <p:cNvPr id="24586" name="Rectangle 42">
                <a:extLst>
                  <a:ext uri="{FF2B5EF4-FFF2-40B4-BE49-F238E27FC236}">
                    <a16:creationId xmlns:a16="http://schemas.microsoft.com/office/drawing/2014/main" id="{8B25E11B-AD82-9EEC-F86E-8A0901DC526D}"/>
                  </a:ext>
                </a:extLst>
              </p:cNvPr>
              <p:cNvSpPr>
                <a:spLocks noChangeArrowheads="1"/>
              </p:cNvSpPr>
              <p:nvPr/>
            </p:nvSpPr>
            <p:spPr bwMode="auto">
              <a:xfrm>
                <a:off x="1095223" y="3172768"/>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sp>
            <p:nvSpPr>
              <p:cNvPr id="24587" name="Rectangle 43">
                <a:extLst>
                  <a:ext uri="{FF2B5EF4-FFF2-40B4-BE49-F238E27FC236}">
                    <a16:creationId xmlns:a16="http://schemas.microsoft.com/office/drawing/2014/main" id="{D41A92E7-C918-4231-1C4F-0BA5D3F16AE3}"/>
                  </a:ext>
                </a:extLst>
              </p:cNvPr>
              <p:cNvSpPr>
                <a:spLocks noChangeArrowheads="1"/>
              </p:cNvSpPr>
              <p:nvPr/>
            </p:nvSpPr>
            <p:spPr bwMode="auto">
              <a:xfrm>
                <a:off x="1747156" y="2808702"/>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sp>
            <p:nvSpPr>
              <p:cNvPr id="24588" name="Rectangle 44">
                <a:extLst>
                  <a:ext uri="{FF2B5EF4-FFF2-40B4-BE49-F238E27FC236}">
                    <a16:creationId xmlns:a16="http://schemas.microsoft.com/office/drawing/2014/main" id="{5FD86D6C-7DB6-C072-720A-ED4F6E5A0B23}"/>
                  </a:ext>
                </a:extLst>
              </p:cNvPr>
              <p:cNvSpPr>
                <a:spLocks noChangeArrowheads="1"/>
              </p:cNvSpPr>
              <p:nvPr/>
            </p:nvSpPr>
            <p:spPr bwMode="auto">
              <a:xfrm>
                <a:off x="2221289" y="3172768"/>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sp>
            <p:nvSpPr>
              <p:cNvPr id="24589" name="Rectangle 45">
                <a:extLst>
                  <a:ext uri="{FF2B5EF4-FFF2-40B4-BE49-F238E27FC236}">
                    <a16:creationId xmlns:a16="http://schemas.microsoft.com/office/drawing/2014/main" id="{023AFAAC-51F0-4669-A58E-67EE8C758422}"/>
                  </a:ext>
                </a:extLst>
              </p:cNvPr>
              <p:cNvSpPr>
                <a:spLocks noChangeArrowheads="1"/>
              </p:cNvSpPr>
              <p:nvPr/>
            </p:nvSpPr>
            <p:spPr bwMode="auto">
              <a:xfrm>
                <a:off x="1518556" y="3215102"/>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sp>
            <p:nvSpPr>
              <p:cNvPr id="24590" name="Rectangle 46">
                <a:extLst>
                  <a:ext uri="{FF2B5EF4-FFF2-40B4-BE49-F238E27FC236}">
                    <a16:creationId xmlns:a16="http://schemas.microsoft.com/office/drawing/2014/main" id="{E320D4FE-1A9A-2E84-61A8-4D6DC9D2C0C7}"/>
                  </a:ext>
                </a:extLst>
              </p:cNvPr>
              <p:cNvSpPr>
                <a:spLocks noChangeArrowheads="1"/>
              </p:cNvSpPr>
              <p:nvPr/>
            </p:nvSpPr>
            <p:spPr bwMode="auto">
              <a:xfrm>
                <a:off x="2195889" y="3579168"/>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sp>
            <p:nvSpPr>
              <p:cNvPr id="24591" name="Rectangle 47">
                <a:extLst>
                  <a:ext uri="{FF2B5EF4-FFF2-40B4-BE49-F238E27FC236}">
                    <a16:creationId xmlns:a16="http://schemas.microsoft.com/office/drawing/2014/main" id="{9DC5D35F-E187-E6D1-81A4-26DD27E044BC}"/>
                  </a:ext>
                </a:extLst>
              </p:cNvPr>
              <p:cNvSpPr>
                <a:spLocks noChangeArrowheads="1"/>
              </p:cNvSpPr>
              <p:nvPr/>
            </p:nvSpPr>
            <p:spPr bwMode="auto">
              <a:xfrm>
                <a:off x="2128156" y="2800236"/>
                <a:ext cx="441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grpSp>
        <p:sp>
          <p:nvSpPr>
            <p:cNvPr id="50" name="TextBox 49">
              <a:extLst>
                <a:ext uri="{FF2B5EF4-FFF2-40B4-BE49-F238E27FC236}">
                  <a16:creationId xmlns:a16="http://schemas.microsoft.com/office/drawing/2014/main" id="{5EBD9CEF-B2F5-6731-D80B-97982E739808}"/>
                </a:ext>
              </a:extLst>
            </p:cNvPr>
            <p:cNvSpPr txBox="1"/>
            <p:nvPr/>
          </p:nvSpPr>
          <p:spPr>
            <a:xfrm>
              <a:off x="6705600" y="3352800"/>
              <a:ext cx="389951" cy="461665"/>
            </a:xfrm>
            <a:prstGeom prst="rect">
              <a:avLst/>
            </a:prstGeom>
            <a:noFill/>
          </p:spPr>
          <p:txBody>
            <a:bodyPr wrap="none">
              <a:spAutoFit/>
            </a:bodyPr>
            <a:lstStyle/>
            <a:p>
              <a:pPr>
                <a:defRPr/>
              </a:pPr>
              <a:r>
                <a:rPr lang="en-US" dirty="0">
                  <a:ln w="3175" cap="flat" cmpd="sng" algn="ctr">
                    <a:solidFill>
                      <a:srgbClr val="FF0000"/>
                    </a:solidFill>
                    <a:prstDash val="solid"/>
                    <a:round/>
                    <a:headEnd type="none" w="med" len="med"/>
                    <a:tailEnd type="none" w="med" len="med"/>
                  </a:ln>
                  <a:solidFill>
                    <a:srgbClr val="FF0000"/>
                  </a:solidFill>
                  <a:latin typeface="Arial"/>
                  <a:ea typeface="+mn-ea"/>
                </a:rPr>
                <a:t>X</a:t>
              </a:r>
            </a:p>
          </p:txBody>
        </p:sp>
      </p:grpSp>
      <p:sp>
        <p:nvSpPr>
          <p:cNvPr id="2" name="Rectangle 5">
            <a:extLst>
              <a:ext uri="{FF2B5EF4-FFF2-40B4-BE49-F238E27FC236}">
                <a16:creationId xmlns:a16="http://schemas.microsoft.com/office/drawing/2014/main" id="{E95D09F5-F56E-5C2D-CF16-A02E4DBBE22F}"/>
              </a:ext>
            </a:extLst>
          </p:cNvPr>
          <p:cNvSpPr>
            <a:spLocks noChangeArrowheads="1"/>
          </p:cNvSpPr>
          <p:nvPr/>
        </p:nvSpPr>
        <p:spPr bwMode="auto">
          <a:xfrm>
            <a:off x="684213" y="1588"/>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dirty="0">
                <a:latin typeface="Arial" panose="020B0604020202020204" pitchFamily="34" charset="0"/>
              </a:rPr>
              <a:t>Membrane Potential</a:t>
            </a:r>
            <a:endParaRPr lang="en-GB" altLang="en-US" sz="3200" dirty="0">
              <a:solidFill>
                <a:srgbClr val="FFFF00"/>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5" name="Rectangle 3">
            <a:extLst>
              <a:ext uri="{FF2B5EF4-FFF2-40B4-BE49-F238E27FC236}">
                <a16:creationId xmlns:a16="http://schemas.microsoft.com/office/drawing/2014/main" id="{0D8DA1C6-943B-20AE-D5C2-4F0A5EB8F83D}"/>
              </a:ext>
            </a:extLst>
          </p:cNvPr>
          <p:cNvSpPr>
            <a:spLocks noGrp="1" noChangeArrowheads="1"/>
          </p:cNvSpPr>
          <p:nvPr>
            <p:ph type="body" idx="1"/>
          </p:nvPr>
        </p:nvSpPr>
        <p:spPr>
          <a:xfrm>
            <a:off x="627063" y="1236663"/>
            <a:ext cx="8024812" cy="5299075"/>
          </a:xfrm>
        </p:spPr>
        <p:txBody>
          <a:bodyPr/>
          <a:lstStyle/>
          <a:p>
            <a:pPr marL="0" indent="0">
              <a:lnSpc>
                <a:spcPct val="150000"/>
              </a:lnSpc>
              <a:spcBef>
                <a:spcPct val="45000"/>
              </a:spcBef>
              <a:buFontTx/>
              <a:buNone/>
            </a:pPr>
            <a:r>
              <a:rPr lang="en-GB" altLang="en-US" sz="2000" b="1">
                <a:solidFill>
                  <a:srgbClr val="000000"/>
                </a:solidFill>
              </a:rPr>
              <a:t>Summary</a:t>
            </a:r>
            <a:endParaRPr lang="en-GB" altLang="en-US" sz="2000">
              <a:solidFill>
                <a:srgbClr val="000000"/>
              </a:solidFill>
            </a:endParaRPr>
          </a:p>
          <a:p>
            <a:pPr marL="0" indent="0">
              <a:lnSpc>
                <a:spcPct val="90000"/>
              </a:lnSpc>
              <a:spcBef>
                <a:spcPct val="45000"/>
              </a:spcBef>
            </a:pPr>
            <a:r>
              <a:rPr lang="en-GB" altLang="en-US" sz="2000">
                <a:solidFill>
                  <a:srgbClr val="000000"/>
                </a:solidFill>
              </a:rPr>
              <a:t>Potassium ions tend to move down their concentration gradient out of cells.</a:t>
            </a:r>
          </a:p>
          <a:p>
            <a:pPr marL="0" indent="0">
              <a:lnSpc>
                <a:spcPct val="90000"/>
              </a:lnSpc>
              <a:spcBef>
                <a:spcPct val="45000"/>
              </a:spcBef>
            </a:pPr>
            <a:r>
              <a:rPr lang="en-GB" altLang="en-US" sz="2000">
                <a:solidFill>
                  <a:srgbClr val="000000"/>
                </a:solidFill>
              </a:rPr>
              <a:t>This is offset by the negative membrane potential that tends to attract potassium ions back into the cell.</a:t>
            </a:r>
          </a:p>
          <a:p>
            <a:pPr marL="0" indent="0">
              <a:lnSpc>
                <a:spcPct val="90000"/>
              </a:lnSpc>
              <a:spcBef>
                <a:spcPct val="45000"/>
              </a:spcBef>
            </a:pPr>
            <a:r>
              <a:rPr lang="en-GB" altLang="en-US" sz="2000">
                <a:solidFill>
                  <a:srgbClr val="000000"/>
                </a:solidFill>
              </a:rPr>
              <a:t>The potential at which these two tendencies exactly balance is known as the </a:t>
            </a:r>
            <a:r>
              <a:rPr lang="en-GB" altLang="en-US" sz="2000" b="1">
                <a:solidFill>
                  <a:srgbClr val="000000"/>
                </a:solidFill>
              </a:rPr>
              <a:t>potassium equilibrium potential (E</a:t>
            </a:r>
            <a:r>
              <a:rPr lang="en-GB" altLang="en-US" sz="2000" b="1" baseline="-25000">
                <a:solidFill>
                  <a:srgbClr val="000000"/>
                </a:solidFill>
              </a:rPr>
              <a:t>K</a:t>
            </a:r>
            <a:r>
              <a:rPr lang="en-GB" altLang="en-US" sz="2000" b="1">
                <a:solidFill>
                  <a:srgbClr val="000000"/>
                </a:solidFill>
              </a:rPr>
              <a:t>), </a:t>
            </a:r>
            <a:r>
              <a:rPr lang="en-GB" altLang="en-US" sz="2000">
                <a:solidFill>
                  <a:srgbClr val="000000"/>
                </a:solidFill>
              </a:rPr>
              <a:t>which</a:t>
            </a:r>
            <a:r>
              <a:rPr lang="en-GB" altLang="en-US" sz="2000" b="1">
                <a:solidFill>
                  <a:srgbClr val="000000"/>
                </a:solidFill>
              </a:rPr>
              <a:t> </a:t>
            </a:r>
            <a:r>
              <a:rPr lang="en-GB" altLang="en-US" sz="2000">
                <a:solidFill>
                  <a:srgbClr val="000000"/>
                </a:solidFill>
              </a:rPr>
              <a:t>can be calculated using the Nernst equation. </a:t>
            </a:r>
          </a:p>
          <a:p>
            <a:pPr marL="0" indent="0">
              <a:lnSpc>
                <a:spcPct val="90000"/>
              </a:lnSpc>
              <a:spcBef>
                <a:spcPct val="45000"/>
              </a:spcBef>
            </a:pPr>
            <a:r>
              <a:rPr lang="en-GB" altLang="en-US" sz="2000">
                <a:solidFill>
                  <a:srgbClr val="000000"/>
                </a:solidFill>
              </a:rPr>
              <a:t>The potassium equilibrium potential (E</a:t>
            </a:r>
            <a:r>
              <a:rPr lang="en-GB" altLang="en-US" sz="2000" baseline="-25000">
                <a:solidFill>
                  <a:srgbClr val="000000"/>
                </a:solidFill>
              </a:rPr>
              <a:t>K</a:t>
            </a:r>
            <a:r>
              <a:rPr lang="en-GB" altLang="en-US" sz="2000">
                <a:solidFill>
                  <a:srgbClr val="000000"/>
                </a:solidFill>
              </a:rPr>
              <a:t>)  is usually very close to the measured resting membrane potential.</a:t>
            </a:r>
          </a:p>
          <a:p>
            <a:pPr marL="0" indent="0">
              <a:lnSpc>
                <a:spcPct val="90000"/>
              </a:lnSpc>
              <a:spcBef>
                <a:spcPct val="45000"/>
              </a:spcBef>
            </a:pPr>
            <a:r>
              <a:rPr lang="en-GB" altLang="en-US" sz="2000">
                <a:solidFill>
                  <a:srgbClr val="000000"/>
                </a:solidFill>
              </a:rPr>
              <a:t>The Nernst equation can also be used to calculate the equilibrium potential of other ions e.g. sodium.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1955">
                                            <p:txEl>
                                              <p:pRg st="0" end="0"/>
                                            </p:txEl>
                                          </p:spTgt>
                                        </p:tgtEl>
                                        <p:attrNameLst>
                                          <p:attrName>style.visibility</p:attrName>
                                        </p:attrNameLst>
                                      </p:cBhvr>
                                      <p:to>
                                        <p:strVal val="visible"/>
                                      </p:to>
                                    </p:set>
                                    <p:animEffect transition="in" filter="wipe(left)">
                                      <p:cBhvr>
                                        <p:cTn id="7" dur="500"/>
                                        <p:tgtEl>
                                          <p:spTgt spid="3819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1955">
                                            <p:txEl>
                                              <p:pRg st="1" end="1"/>
                                            </p:txEl>
                                          </p:spTgt>
                                        </p:tgtEl>
                                        <p:attrNameLst>
                                          <p:attrName>style.visibility</p:attrName>
                                        </p:attrNameLst>
                                      </p:cBhvr>
                                      <p:to>
                                        <p:strVal val="visible"/>
                                      </p:to>
                                    </p:set>
                                    <p:animEffect transition="in" filter="wipe(left)">
                                      <p:cBhvr>
                                        <p:cTn id="12" dur="500"/>
                                        <p:tgtEl>
                                          <p:spTgt spid="3819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1955">
                                            <p:txEl>
                                              <p:pRg st="2" end="2"/>
                                            </p:txEl>
                                          </p:spTgt>
                                        </p:tgtEl>
                                        <p:attrNameLst>
                                          <p:attrName>style.visibility</p:attrName>
                                        </p:attrNameLst>
                                      </p:cBhvr>
                                      <p:to>
                                        <p:strVal val="visible"/>
                                      </p:to>
                                    </p:set>
                                    <p:animEffect transition="in" filter="wipe(left)">
                                      <p:cBhvr>
                                        <p:cTn id="17" dur="500"/>
                                        <p:tgtEl>
                                          <p:spTgt spid="3819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1955">
                                            <p:txEl>
                                              <p:pRg st="3" end="3"/>
                                            </p:txEl>
                                          </p:spTgt>
                                        </p:tgtEl>
                                        <p:attrNameLst>
                                          <p:attrName>style.visibility</p:attrName>
                                        </p:attrNameLst>
                                      </p:cBhvr>
                                      <p:to>
                                        <p:strVal val="visible"/>
                                      </p:to>
                                    </p:set>
                                    <p:animEffect transition="in" filter="wipe(left)">
                                      <p:cBhvr>
                                        <p:cTn id="22" dur="500"/>
                                        <p:tgtEl>
                                          <p:spTgt spid="3819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1955">
                                            <p:txEl>
                                              <p:pRg st="4" end="4"/>
                                            </p:txEl>
                                          </p:spTgt>
                                        </p:tgtEl>
                                        <p:attrNameLst>
                                          <p:attrName>style.visibility</p:attrName>
                                        </p:attrNameLst>
                                      </p:cBhvr>
                                      <p:to>
                                        <p:strVal val="visible"/>
                                      </p:to>
                                    </p:set>
                                    <p:animEffect transition="in" filter="wipe(left)">
                                      <p:cBhvr>
                                        <p:cTn id="27" dur="500"/>
                                        <p:tgtEl>
                                          <p:spTgt spid="3819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81955">
                                            <p:txEl>
                                              <p:pRg st="5" end="5"/>
                                            </p:txEl>
                                          </p:spTgt>
                                        </p:tgtEl>
                                        <p:attrNameLst>
                                          <p:attrName>style.visibility</p:attrName>
                                        </p:attrNameLst>
                                      </p:cBhvr>
                                      <p:to>
                                        <p:strVal val="visible"/>
                                      </p:to>
                                    </p:set>
                                    <p:animEffect transition="in" filter="wipe(left)">
                                      <p:cBhvr>
                                        <p:cTn id="32" dur="500"/>
                                        <p:tgtEl>
                                          <p:spTgt spid="3819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3" name="Object 2">
            <a:extLst>
              <a:ext uri="{FF2B5EF4-FFF2-40B4-BE49-F238E27FC236}">
                <a16:creationId xmlns:a16="http://schemas.microsoft.com/office/drawing/2014/main" id="{86D36DA0-DED0-0BE6-51C6-C19A1DF820AD}"/>
              </a:ext>
            </a:extLst>
          </p:cNvPr>
          <p:cNvGraphicFramePr>
            <a:graphicFrameLocks noChangeAspect="1"/>
          </p:cNvGraphicFramePr>
          <p:nvPr/>
        </p:nvGraphicFramePr>
        <p:xfrm>
          <a:off x="2843213" y="1052513"/>
          <a:ext cx="3276600" cy="1498600"/>
        </p:xfrm>
        <a:graphic>
          <a:graphicData uri="http://schemas.openxmlformats.org/presentationml/2006/ole">
            <mc:AlternateContent xmlns:mc="http://schemas.openxmlformats.org/markup-compatibility/2006">
              <mc:Choice xmlns:v="urn:schemas-microsoft-com:vml" Requires="v">
                <p:oleObj name="Equation" r:id="rId3" imgW="939800" imgH="431800" progId="Equation.3">
                  <p:embed/>
                </p:oleObj>
              </mc:Choice>
              <mc:Fallback>
                <p:oleObj name="Equation" r:id="rId3" imgW="939800" imgH="431800" progId="Equation.3">
                  <p:embed/>
                  <p:pic>
                    <p:nvPicPr>
                      <p:cNvPr id="28673" name="Object 2">
                        <a:extLst>
                          <a:ext uri="{FF2B5EF4-FFF2-40B4-BE49-F238E27FC236}">
                            <a16:creationId xmlns:a16="http://schemas.microsoft.com/office/drawing/2014/main" id="{86D36DA0-DED0-0BE6-51C6-C19A1DF820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1052513"/>
                        <a:ext cx="3276600" cy="14986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8674" name="Text Box 4">
            <a:extLst>
              <a:ext uri="{FF2B5EF4-FFF2-40B4-BE49-F238E27FC236}">
                <a16:creationId xmlns:a16="http://schemas.microsoft.com/office/drawing/2014/main" id="{1CE25D05-A62F-A602-56E3-5920509A150D}"/>
              </a:ext>
            </a:extLst>
          </p:cNvPr>
          <p:cNvSpPr txBox="1">
            <a:spLocks noChangeArrowheads="1"/>
          </p:cNvSpPr>
          <p:nvPr/>
        </p:nvSpPr>
        <p:spPr bwMode="auto">
          <a:xfrm>
            <a:off x="468313" y="2852738"/>
            <a:ext cx="8424862"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2000" b="1" dirty="0">
                <a:solidFill>
                  <a:srgbClr val="000000"/>
                </a:solidFill>
                <a:latin typeface="Arial" panose="020B0604020202020204" pitchFamily="34" charset="0"/>
              </a:rPr>
              <a:t>E</a:t>
            </a:r>
            <a:r>
              <a:rPr lang="en-GB" altLang="en-US" sz="2000" dirty="0">
                <a:solidFill>
                  <a:srgbClr val="000000"/>
                </a:solidFill>
                <a:latin typeface="Arial" panose="020B0604020202020204" pitchFamily="34" charset="0"/>
              </a:rPr>
              <a:t> is the equilibrium potential; </a:t>
            </a:r>
            <a:r>
              <a:rPr lang="en-GB" altLang="en-US" sz="2000" b="1" dirty="0">
                <a:solidFill>
                  <a:srgbClr val="000000"/>
                </a:solidFill>
                <a:latin typeface="Arial" panose="020B0604020202020204" pitchFamily="34" charset="0"/>
              </a:rPr>
              <a:t>ln</a:t>
            </a:r>
            <a:r>
              <a:rPr lang="en-GB" altLang="en-US" sz="2000" dirty="0">
                <a:solidFill>
                  <a:srgbClr val="000000"/>
                </a:solidFill>
                <a:latin typeface="Arial" panose="020B0604020202020204" pitchFamily="34" charset="0"/>
              </a:rPr>
              <a:t> is the natural logarithm </a:t>
            </a:r>
            <a:r>
              <a:rPr lang="en-GB" altLang="en-US" sz="2000" b="1" dirty="0">
                <a:solidFill>
                  <a:srgbClr val="000000"/>
                </a:solidFill>
                <a:latin typeface="Arial" panose="020B0604020202020204" pitchFamily="34" charset="0"/>
              </a:rPr>
              <a:t>[C]</a:t>
            </a:r>
            <a:r>
              <a:rPr lang="en-GB" altLang="en-US" sz="2000" b="1" baseline="-25000" dirty="0">
                <a:solidFill>
                  <a:srgbClr val="000000"/>
                </a:solidFill>
                <a:latin typeface="Arial" panose="020B0604020202020204" pitchFamily="34" charset="0"/>
              </a:rPr>
              <a:t>o</a:t>
            </a:r>
            <a:r>
              <a:rPr lang="en-GB" altLang="en-US" sz="2000" dirty="0">
                <a:solidFill>
                  <a:srgbClr val="000000"/>
                </a:solidFill>
                <a:latin typeface="Arial" panose="020B0604020202020204" pitchFamily="34" charset="0"/>
              </a:rPr>
              <a:t> and </a:t>
            </a:r>
            <a:r>
              <a:rPr lang="en-GB" altLang="en-US" sz="2000" b="1" dirty="0">
                <a:solidFill>
                  <a:srgbClr val="000000"/>
                </a:solidFill>
                <a:latin typeface="Arial" panose="020B0604020202020204" pitchFamily="34" charset="0"/>
              </a:rPr>
              <a:t>[C]</a:t>
            </a:r>
            <a:r>
              <a:rPr lang="en-GB" altLang="en-US" sz="2000" b="1" baseline="-25000" dirty="0" err="1">
                <a:solidFill>
                  <a:srgbClr val="000000"/>
                </a:solidFill>
                <a:latin typeface="Arial" panose="020B0604020202020204" pitchFamily="34" charset="0"/>
              </a:rPr>
              <a:t>i</a:t>
            </a:r>
            <a:r>
              <a:rPr lang="en-GB" altLang="en-US" sz="2000" dirty="0">
                <a:solidFill>
                  <a:srgbClr val="000000"/>
                </a:solidFill>
                <a:latin typeface="Arial" panose="020B0604020202020204" pitchFamily="34" charset="0"/>
              </a:rPr>
              <a:t> are the extracellular and intracellular concentrations of the ion in question.</a:t>
            </a:r>
          </a:p>
          <a:p>
            <a:pPr>
              <a:lnSpc>
                <a:spcPct val="50000"/>
              </a:lnSpc>
              <a:spcBef>
                <a:spcPct val="50000"/>
              </a:spcBef>
            </a:pPr>
            <a:endParaRPr lang="en-GB" altLang="en-US" sz="2000" dirty="0">
              <a:solidFill>
                <a:srgbClr val="000000"/>
              </a:solidFill>
              <a:latin typeface="Arial" panose="020B0604020202020204" pitchFamily="34" charset="0"/>
            </a:endParaRPr>
          </a:p>
          <a:p>
            <a:pPr>
              <a:spcBef>
                <a:spcPct val="50000"/>
              </a:spcBef>
            </a:pPr>
            <a:r>
              <a:rPr lang="en-GB" altLang="en-US" sz="2000" b="1" dirty="0">
                <a:solidFill>
                  <a:srgbClr val="000000"/>
                </a:solidFill>
                <a:latin typeface="Arial" panose="020B0604020202020204" pitchFamily="34" charset="0"/>
              </a:rPr>
              <a:t>R</a:t>
            </a:r>
            <a:r>
              <a:rPr lang="en-GB" altLang="en-US" sz="2000" dirty="0">
                <a:solidFill>
                  <a:srgbClr val="000000"/>
                </a:solidFill>
                <a:latin typeface="Arial" panose="020B0604020202020204" pitchFamily="34" charset="0"/>
              </a:rPr>
              <a:t> is the gas constant (8.31 Joules </a:t>
            </a:r>
            <a:r>
              <a:rPr lang="en-GB" altLang="en-US" sz="2000" dirty="0">
                <a:solidFill>
                  <a:srgbClr val="000000"/>
                </a:solidFill>
                <a:latin typeface="Arial" panose="020B0604020202020204" pitchFamily="34" charset="0"/>
                <a:sym typeface="Symbol" panose="05050102010706020507" pitchFamily="18" charset="2"/>
              </a:rPr>
              <a:t></a:t>
            </a:r>
            <a:r>
              <a:rPr lang="en-GB" altLang="en-US" sz="2000" dirty="0">
                <a:solidFill>
                  <a:srgbClr val="000000"/>
                </a:solidFill>
                <a:latin typeface="Arial" panose="020B0604020202020204" pitchFamily="34" charset="0"/>
              </a:rPr>
              <a:t>K</a:t>
            </a:r>
            <a:r>
              <a:rPr lang="en-GB" altLang="en-US" sz="2000" baseline="30000" dirty="0">
                <a:solidFill>
                  <a:srgbClr val="000000"/>
                </a:solidFill>
                <a:latin typeface="Arial" panose="020B0604020202020204" pitchFamily="34" charset="0"/>
              </a:rPr>
              <a:t>-1</a:t>
            </a:r>
            <a:r>
              <a:rPr lang="en-GB" altLang="en-US" sz="2000" dirty="0">
                <a:solidFill>
                  <a:srgbClr val="000000"/>
                </a:solidFill>
                <a:latin typeface="Arial" panose="020B0604020202020204" pitchFamily="34" charset="0"/>
              </a:rPr>
              <a:t> mol</a:t>
            </a:r>
            <a:r>
              <a:rPr lang="en-GB" altLang="en-US" sz="2000" baseline="30000" dirty="0">
                <a:solidFill>
                  <a:srgbClr val="000000"/>
                </a:solidFill>
                <a:latin typeface="Arial" panose="020B0604020202020204" pitchFamily="34" charset="0"/>
              </a:rPr>
              <a:t>-1</a:t>
            </a:r>
            <a:r>
              <a:rPr lang="en-GB" altLang="en-US" sz="2000" dirty="0">
                <a:solidFill>
                  <a:srgbClr val="000000"/>
                </a:solidFill>
                <a:latin typeface="Arial" panose="020B0604020202020204" pitchFamily="34" charset="0"/>
              </a:rPr>
              <a:t>) , </a:t>
            </a:r>
            <a:r>
              <a:rPr lang="en-GB" altLang="en-US" sz="2000" b="1" dirty="0">
                <a:solidFill>
                  <a:srgbClr val="000000"/>
                </a:solidFill>
                <a:latin typeface="Arial" panose="020B0604020202020204" pitchFamily="34" charset="0"/>
              </a:rPr>
              <a:t>T</a:t>
            </a:r>
            <a:r>
              <a:rPr lang="en-GB" altLang="en-US" sz="2000" dirty="0">
                <a:solidFill>
                  <a:srgbClr val="000000"/>
                </a:solidFill>
                <a:latin typeface="Arial" panose="020B0604020202020204" pitchFamily="34" charset="0"/>
              </a:rPr>
              <a:t> the absolute temperature, </a:t>
            </a:r>
            <a:r>
              <a:rPr lang="en-GB" altLang="en-US" sz="2000" b="1" dirty="0">
                <a:solidFill>
                  <a:srgbClr val="000000"/>
                </a:solidFill>
                <a:latin typeface="Arial" panose="020B0604020202020204" pitchFamily="34" charset="0"/>
              </a:rPr>
              <a:t>z</a:t>
            </a:r>
            <a:r>
              <a:rPr lang="en-GB" altLang="en-US" sz="2000" dirty="0">
                <a:solidFill>
                  <a:srgbClr val="000000"/>
                </a:solidFill>
                <a:latin typeface="Arial" panose="020B0604020202020204" pitchFamily="34" charset="0"/>
              </a:rPr>
              <a:t> the charge of the ion, </a:t>
            </a:r>
            <a:r>
              <a:rPr lang="en-GB" altLang="en-US" sz="2000" b="1" dirty="0">
                <a:solidFill>
                  <a:srgbClr val="000000"/>
                </a:solidFill>
                <a:latin typeface="Arial" panose="020B0604020202020204" pitchFamily="34" charset="0"/>
              </a:rPr>
              <a:t>F</a:t>
            </a:r>
            <a:r>
              <a:rPr lang="en-GB" altLang="en-US" sz="2000" dirty="0">
                <a:solidFill>
                  <a:srgbClr val="000000"/>
                </a:solidFill>
                <a:latin typeface="Arial" panose="020B0604020202020204" pitchFamily="34" charset="0"/>
              </a:rPr>
              <a:t> the Faraday constant (96,487 coulombs. mol</a:t>
            </a:r>
            <a:r>
              <a:rPr lang="en-GB" altLang="en-US" sz="2000" baseline="30000" dirty="0">
                <a:solidFill>
                  <a:srgbClr val="000000"/>
                </a:solidFill>
                <a:latin typeface="Arial" panose="020B0604020202020204" pitchFamily="34" charset="0"/>
              </a:rPr>
              <a:t>-1</a:t>
            </a:r>
            <a:r>
              <a:rPr lang="en-GB" altLang="en-US" sz="2000" dirty="0">
                <a:solidFill>
                  <a:srgbClr val="000000"/>
                </a:solidFill>
                <a:latin typeface="Arial" panose="020B0604020202020204" pitchFamily="34" charset="0"/>
              </a:rPr>
              <a:t>). </a:t>
            </a:r>
          </a:p>
          <a:p>
            <a:pPr>
              <a:lnSpc>
                <a:spcPct val="50000"/>
              </a:lnSpc>
              <a:spcBef>
                <a:spcPct val="50000"/>
              </a:spcBef>
            </a:pPr>
            <a:endParaRPr lang="en-GB" altLang="en-US" sz="2000" dirty="0">
              <a:solidFill>
                <a:srgbClr val="000000"/>
              </a:solidFill>
              <a:latin typeface="Arial" panose="020B0604020202020204" pitchFamily="34" charset="0"/>
            </a:endParaRPr>
          </a:p>
          <a:p>
            <a:pPr>
              <a:spcBef>
                <a:spcPct val="50000"/>
              </a:spcBef>
            </a:pPr>
            <a:r>
              <a:rPr lang="en-GB" altLang="en-US" sz="2000" dirty="0">
                <a:solidFill>
                  <a:srgbClr val="000000"/>
                </a:solidFill>
                <a:latin typeface="Arial" panose="020B0604020202020204" pitchFamily="34" charset="0"/>
              </a:rPr>
              <a:t>At 37</a:t>
            </a:r>
            <a:r>
              <a:rPr lang="en-GB" altLang="en-US" sz="2000" dirty="0">
                <a:solidFill>
                  <a:srgbClr val="000000"/>
                </a:solidFill>
                <a:latin typeface="Arial" panose="020B0604020202020204" pitchFamily="34" charset="0"/>
                <a:sym typeface="Symbol" panose="05050102010706020507" pitchFamily="18" charset="2"/>
              </a:rPr>
              <a:t></a:t>
            </a:r>
            <a:r>
              <a:rPr lang="en-GB" altLang="en-US" sz="2000" dirty="0">
                <a:solidFill>
                  <a:srgbClr val="000000"/>
                </a:solidFill>
                <a:latin typeface="Arial" panose="020B0604020202020204" pitchFamily="34" charset="0"/>
              </a:rPr>
              <a:t>C the term </a:t>
            </a:r>
            <a:r>
              <a:rPr lang="en-GB" altLang="en-US" sz="2000" i="1" dirty="0">
                <a:solidFill>
                  <a:srgbClr val="000000"/>
                </a:solidFill>
                <a:latin typeface="Arial" panose="020B0604020202020204" pitchFamily="34" charset="0"/>
              </a:rPr>
              <a:t>RT/F</a:t>
            </a:r>
            <a:r>
              <a:rPr lang="en-GB" altLang="en-US" sz="2000" dirty="0">
                <a:solidFill>
                  <a:srgbClr val="000000"/>
                </a:solidFill>
                <a:latin typeface="Arial" panose="020B0604020202020204" pitchFamily="34" charset="0"/>
              </a:rPr>
              <a:t> = 26.7 mV</a:t>
            </a:r>
          </a:p>
          <a:p>
            <a:pPr>
              <a:lnSpc>
                <a:spcPct val="50000"/>
              </a:lnSpc>
              <a:spcBef>
                <a:spcPct val="50000"/>
              </a:spcBef>
            </a:pPr>
            <a:endParaRPr lang="en-GB" altLang="en-US" sz="2000" dirty="0">
              <a:solidFill>
                <a:srgbClr val="000099"/>
              </a:solidFill>
              <a:latin typeface="Arial" panose="020B0604020202020204" pitchFamily="34" charset="0"/>
            </a:endParaRPr>
          </a:p>
          <a:p>
            <a:pPr>
              <a:spcBef>
                <a:spcPct val="50000"/>
              </a:spcBef>
            </a:pPr>
            <a:r>
              <a:rPr lang="en-US" altLang="en-US" sz="2000" dirty="0">
                <a:solidFill>
                  <a:schemeClr val="hlink"/>
                </a:solidFill>
                <a:latin typeface="Arial" panose="020B0604020202020204" pitchFamily="34" charset="0"/>
              </a:rPr>
              <a:t>E=-61mV.log([C]</a:t>
            </a:r>
            <a:r>
              <a:rPr lang="en-US" altLang="en-US" sz="2000" baseline="-25000" dirty="0" err="1">
                <a:solidFill>
                  <a:schemeClr val="hlink"/>
                </a:solidFill>
                <a:latin typeface="Arial" panose="020B0604020202020204" pitchFamily="34" charset="0"/>
              </a:rPr>
              <a:t>i</a:t>
            </a:r>
            <a:r>
              <a:rPr lang="en-US" altLang="en-US" sz="2000" dirty="0">
                <a:solidFill>
                  <a:schemeClr val="hlink"/>
                </a:solidFill>
                <a:latin typeface="Arial" panose="020B0604020202020204" pitchFamily="34" charset="0"/>
              </a:rPr>
              <a:t>/ [C]</a:t>
            </a:r>
            <a:r>
              <a:rPr lang="en-US" altLang="en-US" sz="2000" baseline="-25000" dirty="0">
                <a:solidFill>
                  <a:schemeClr val="hlink"/>
                </a:solidFill>
                <a:latin typeface="Arial" panose="020B0604020202020204" pitchFamily="34" charset="0"/>
              </a:rPr>
              <a:t>o</a:t>
            </a:r>
            <a:r>
              <a:rPr lang="en-US" altLang="en-US" sz="2000" dirty="0">
                <a:solidFill>
                  <a:schemeClr val="hlink"/>
                </a:solidFill>
                <a:latin typeface="Arial" panose="020B0604020202020204" pitchFamily="34" charset="0"/>
              </a:rPr>
              <a:t>)</a:t>
            </a:r>
            <a:endParaRPr lang="en-GB" altLang="en-US" sz="2000" dirty="0">
              <a:solidFill>
                <a:schemeClr val="tx1"/>
              </a:solidFill>
              <a:latin typeface="Arial" panose="020B0604020202020204" pitchFamily="34" charset="0"/>
            </a:endParaRPr>
          </a:p>
        </p:txBody>
      </p:sp>
      <p:sp>
        <p:nvSpPr>
          <p:cNvPr id="28675" name="Rectangle 5">
            <a:extLst>
              <a:ext uri="{FF2B5EF4-FFF2-40B4-BE49-F238E27FC236}">
                <a16:creationId xmlns:a16="http://schemas.microsoft.com/office/drawing/2014/main" id="{4934B123-AD3E-7AC5-D129-A4A47C4D7F1C}"/>
              </a:ext>
            </a:extLst>
          </p:cNvPr>
          <p:cNvSpPr>
            <a:spLocks noChangeArrowheads="1"/>
          </p:cNvSpPr>
          <p:nvPr/>
        </p:nvSpPr>
        <p:spPr bwMode="auto">
          <a:xfrm>
            <a:off x="468313" y="0"/>
            <a:ext cx="4894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The Nernst Equation</a:t>
            </a:r>
            <a:endParaRPr lang="en-GB" altLang="en-US">
              <a:solidFill>
                <a:srgbClr val="FFFF00"/>
              </a:solidFill>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3">
            <a:extLst>
              <a:ext uri="{FF2B5EF4-FFF2-40B4-BE49-F238E27FC236}">
                <a16:creationId xmlns:a16="http://schemas.microsoft.com/office/drawing/2014/main" id="{EA57E73B-C9FF-F550-DA6C-FC9862DC02D7}"/>
              </a:ext>
            </a:extLst>
          </p:cNvPr>
          <p:cNvSpPr txBox="1">
            <a:spLocks noChangeArrowheads="1"/>
          </p:cNvSpPr>
          <p:nvPr/>
        </p:nvSpPr>
        <p:spPr bwMode="auto">
          <a:xfrm>
            <a:off x="457200" y="2057400"/>
            <a:ext cx="7483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solidFill>
                <a:schemeClr val="tx1"/>
              </a:solidFill>
            </a:endParaRPr>
          </a:p>
        </p:txBody>
      </p:sp>
      <p:graphicFrame>
        <p:nvGraphicFramePr>
          <p:cNvPr id="30722" name="Object 2">
            <a:extLst>
              <a:ext uri="{FF2B5EF4-FFF2-40B4-BE49-F238E27FC236}">
                <a16:creationId xmlns:a16="http://schemas.microsoft.com/office/drawing/2014/main" id="{BFC85A5A-8D17-B927-949C-EB488D9EBC08}"/>
              </a:ext>
            </a:extLst>
          </p:cNvPr>
          <p:cNvGraphicFramePr>
            <a:graphicFrameLocks noChangeAspect="1"/>
          </p:cNvGraphicFramePr>
          <p:nvPr>
            <p:extLst>
              <p:ext uri="{D42A27DB-BD31-4B8C-83A1-F6EECF244321}">
                <p14:modId xmlns:p14="http://schemas.microsoft.com/office/powerpoint/2010/main" val="4148814584"/>
              </p:ext>
            </p:extLst>
          </p:nvPr>
        </p:nvGraphicFramePr>
        <p:xfrm>
          <a:off x="933450" y="1382713"/>
          <a:ext cx="7321550" cy="2568575"/>
        </p:xfrm>
        <a:graphic>
          <a:graphicData uri="http://schemas.openxmlformats.org/presentationml/2006/ole">
            <mc:AlternateContent xmlns:mc="http://schemas.openxmlformats.org/markup-compatibility/2006">
              <mc:Choice xmlns:v="urn:schemas-microsoft-com:vml" Requires="v">
                <p:oleObj name="Document" r:id="rId3" imgW="8409125" imgH="2788346" progId="Word.Document.8">
                  <p:embed/>
                </p:oleObj>
              </mc:Choice>
              <mc:Fallback>
                <p:oleObj name="Document" r:id="rId3" imgW="8409125" imgH="2788346" progId="Word.Document.8">
                  <p:embed/>
                  <p:pic>
                    <p:nvPicPr>
                      <p:cNvPr id="30722" name="Object 2">
                        <a:extLst>
                          <a:ext uri="{FF2B5EF4-FFF2-40B4-BE49-F238E27FC236}">
                            <a16:creationId xmlns:a16="http://schemas.microsoft.com/office/drawing/2014/main" id="{BFC85A5A-8D17-B927-949C-EB488D9EBC08}"/>
                          </a:ext>
                        </a:extLst>
                      </p:cNvPr>
                      <p:cNvPicPr>
                        <a:picLocks noChangeAspect="1" noChangeArrowheads="1"/>
                      </p:cNvPicPr>
                      <p:nvPr/>
                    </p:nvPicPr>
                    <p:blipFill>
                      <a:blip r:embed="rId4"/>
                      <a:srcRect/>
                      <a:stretch>
                        <a:fillRect/>
                      </a:stretch>
                    </p:blipFill>
                    <p:spPr bwMode="auto">
                      <a:xfrm>
                        <a:off x="933450" y="1382713"/>
                        <a:ext cx="732155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3" name="Text Box 5">
            <a:extLst>
              <a:ext uri="{FF2B5EF4-FFF2-40B4-BE49-F238E27FC236}">
                <a16:creationId xmlns:a16="http://schemas.microsoft.com/office/drawing/2014/main" id="{64BB1345-0772-4E49-7FCD-4535211C40BE}"/>
              </a:ext>
            </a:extLst>
          </p:cNvPr>
          <p:cNvSpPr txBox="1">
            <a:spLocks noChangeArrowheads="1"/>
          </p:cNvSpPr>
          <p:nvPr/>
        </p:nvSpPr>
        <p:spPr bwMode="auto">
          <a:xfrm>
            <a:off x="668338" y="3851275"/>
            <a:ext cx="76120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2000">
                <a:solidFill>
                  <a:srgbClr val="000000"/>
                </a:solidFill>
                <a:latin typeface="Arial" panose="020B0604020202020204" pitchFamily="34" charset="0"/>
              </a:rPr>
              <a:t>This data is for mammalian skeletal muscle which has a resting membrane potential of about -90 mV.</a:t>
            </a:r>
          </a:p>
        </p:txBody>
      </p:sp>
      <p:sp>
        <p:nvSpPr>
          <p:cNvPr id="30724" name="Rectangle 6">
            <a:extLst>
              <a:ext uri="{FF2B5EF4-FFF2-40B4-BE49-F238E27FC236}">
                <a16:creationId xmlns:a16="http://schemas.microsoft.com/office/drawing/2014/main" id="{AA1116FA-AC3B-E0B7-ACEC-E1161437B50C}"/>
              </a:ext>
            </a:extLst>
          </p:cNvPr>
          <p:cNvSpPr>
            <a:spLocks noChangeArrowheads="1"/>
          </p:cNvSpPr>
          <p:nvPr/>
        </p:nvSpPr>
        <p:spPr bwMode="auto">
          <a:xfrm>
            <a:off x="539750" y="0"/>
            <a:ext cx="51117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Equilibrium Potentials</a:t>
            </a:r>
            <a:endParaRPr lang="en-GB" altLang="en-US">
              <a:solidFill>
                <a:srgbClr val="FFFF00"/>
              </a:solidFill>
              <a:latin typeface="Arial" panose="020B0604020202020204" pitchFamily="34" charset="0"/>
            </a:endParaRPr>
          </a:p>
        </p:txBody>
      </p:sp>
      <p:sp>
        <p:nvSpPr>
          <p:cNvPr id="2" name="TextBox 1">
            <a:extLst>
              <a:ext uri="{FF2B5EF4-FFF2-40B4-BE49-F238E27FC236}">
                <a16:creationId xmlns:a16="http://schemas.microsoft.com/office/drawing/2014/main" id="{2C758398-3E0A-876D-E228-D002765022C4}"/>
              </a:ext>
            </a:extLst>
          </p:cNvPr>
          <p:cNvSpPr txBox="1">
            <a:spLocks noChangeArrowheads="1"/>
          </p:cNvSpPr>
          <p:nvPr/>
        </p:nvSpPr>
        <p:spPr bwMode="auto">
          <a:xfrm>
            <a:off x="688975" y="4860925"/>
            <a:ext cx="7773988"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2000">
                <a:solidFill>
                  <a:srgbClr val="FF0000"/>
                </a:solidFill>
                <a:latin typeface="Arial" panose="020B0604020202020204" pitchFamily="34" charset="0"/>
              </a:rPr>
              <a:t>Why is the resting membrane potential different from the </a:t>
            </a:r>
            <a:r>
              <a:rPr lang="en-GB" altLang="en-US" sz="2000">
                <a:solidFill>
                  <a:srgbClr val="FF0000"/>
                </a:solidFill>
                <a:latin typeface="Arial" panose="020B0604020202020204" pitchFamily="34" charset="0"/>
              </a:rPr>
              <a:t>potassium equilibrium potential (E</a:t>
            </a:r>
            <a:r>
              <a:rPr lang="en-GB" altLang="en-US" sz="2000" baseline="-25000">
                <a:solidFill>
                  <a:srgbClr val="FF0000"/>
                </a:solidFill>
                <a:latin typeface="Arial" panose="020B0604020202020204" pitchFamily="34" charset="0"/>
              </a:rPr>
              <a:t>K</a:t>
            </a:r>
            <a:r>
              <a:rPr lang="en-GB" altLang="en-US" sz="2000">
                <a:solidFill>
                  <a:srgbClr val="FF0000"/>
                </a:solidFill>
                <a:latin typeface="Arial" panose="020B0604020202020204" pitchFamily="34" charset="0"/>
              </a:rPr>
              <a:t>)?</a:t>
            </a:r>
          </a:p>
          <a:p>
            <a:r>
              <a:rPr lang="en-US" altLang="en-US">
                <a:solidFill>
                  <a:srgbClr val="000000"/>
                </a:solidFill>
              </a:rPr>
              <a:t> </a:t>
            </a:r>
          </a:p>
        </p:txBody>
      </p:sp>
      <p:sp>
        <p:nvSpPr>
          <p:cNvPr id="3" name="Oval 2">
            <a:extLst>
              <a:ext uri="{FF2B5EF4-FFF2-40B4-BE49-F238E27FC236}">
                <a16:creationId xmlns:a16="http://schemas.microsoft.com/office/drawing/2014/main" id="{479C7B57-7476-269D-6CF3-4B3A78CF6562}"/>
              </a:ext>
            </a:extLst>
          </p:cNvPr>
          <p:cNvSpPr>
            <a:spLocks noChangeArrowheads="1"/>
          </p:cNvSpPr>
          <p:nvPr/>
        </p:nvSpPr>
        <p:spPr bwMode="auto">
          <a:xfrm>
            <a:off x="6496050" y="2314575"/>
            <a:ext cx="771525" cy="5476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sz="3600">
              <a:solidFill>
                <a:srgbClr val="000099"/>
              </a:solidFill>
            </a:endParaRPr>
          </a:p>
        </p:txBody>
      </p:sp>
      <p:sp>
        <p:nvSpPr>
          <p:cNvPr id="8" name="Oval 7">
            <a:extLst>
              <a:ext uri="{FF2B5EF4-FFF2-40B4-BE49-F238E27FC236}">
                <a16:creationId xmlns:a16="http://schemas.microsoft.com/office/drawing/2014/main" id="{5DF683D8-3D28-1186-46A5-787B4ED71923}"/>
              </a:ext>
            </a:extLst>
          </p:cNvPr>
          <p:cNvSpPr>
            <a:spLocks noChangeArrowheads="1"/>
          </p:cNvSpPr>
          <p:nvPr/>
        </p:nvSpPr>
        <p:spPr bwMode="auto">
          <a:xfrm>
            <a:off x="3943350" y="4108450"/>
            <a:ext cx="1077913" cy="59055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sz="3600">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4">
            <a:extLst>
              <a:ext uri="{FF2B5EF4-FFF2-40B4-BE49-F238E27FC236}">
                <a16:creationId xmlns:a16="http://schemas.microsoft.com/office/drawing/2014/main" id="{5DCFFEBD-6FEE-E011-5D71-D9443350668C}"/>
              </a:ext>
            </a:extLst>
          </p:cNvPr>
          <p:cNvSpPr>
            <a:spLocks noChangeArrowheads="1"/>
          </p:cNvSpPr>
          <p:nvPr/>
        </p:nvSpPr>
        <p:spPr bwMode="auto">
          <a:xfrm>
            <a:off x="34925" y="0"/>
            <a:ext cx="48228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Membrane Potential</a:t>
            </a:r>
            <a:endParaRPr lang="en-GB" altLang="en-US">
              <a:solidFill>
                <a:srgbClr val="FFFF00"/>
              </a:solidFill>
              <a:latin typeface="Arial" panose="020B0604020202020204" pitchFamily="34" charset="0"/>
            </a:endParaRPr>
          </a:p>
        </p:txBody>
      </p:sp>
      <p:sp>
        <p:nvSpPr>
          <p:cNvPr id="32770" name="Rectangle 14">
            <a:extLst>
              <a:ext uri="{FF2B5EF4-FFF2-40B4-BE49-F238E27FC236}">
                <a16:creationId xmlns:a16="http://schemas.microsoft.com/office/drawing/2014/main" id="{0729F7D7-7262-DFE8-D4AF-BB32616ECA9B}"/>
              </a:ext>
            </a:extLst>
          </p:cNvPr>
          <p:cNvSpPr>
            <a:spLocks noChangeArrowheads="1"/>
          </p:cNvSpPr>
          <p:nvPr/>
        </p:nvSpPr>
        <p:spPr bwMode="auto">
          <a:xfrm>
            <a:off x="3995738" y="5876925"/>
            <a:ext cx="1371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20 mM</a:t>
            </a:r>
          </a:p>
        </p:txBody>
      </p:sp>
      <p:sp>
        <p:nvSpPr>
          <p:cNvPr id="32771" name="Rectangle 15">
            <a:extLst>
              <a:ext uri="{FF2B5EF4-FFF2-40B4-BE49-F238E27FC236}">
                <a16:creationId xmlns:a16="http://schemas.microsoft.com/office/drawing/2014/main" id="{17EE0900-8A90-DDEC-C290-22E6EC372E30}"/>
              </a:ext>
            </a:extLst>
          </p:cNvPr>
          <p:cNvSpPr>
            <a:spLocks noChangeArrowheads="1"/>
          </p:cNvSpPr>
          <p:nvPr/>
        </p:nvSpPr>
        <p:spPr bwMode="auto">
          <a:xfrm>
            <a:off x="3924300" y="2420938"/>
            <a:ext cx="15144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140 </a:t>
            </a:r>
            <a:r>
              <a:rPr lang="en-US" altLang="en-US" sz="1600">
                <a:solidFill>
                  <a:schemeClr val="tx1"/>
                </a:solidFill>
                <a:latin typeface="Arial" panose="020B0604020202020204" pitchFamily="34" charset="0"/>
              </a:rPr>
              <a:t>mM</a:t>
            </a:r>
          </a:p>
        </p:txBody>
      </p:sp>
      <p:sp>
        <p:nvSpPr>
          <p:cNvPr id="7" name="Rectangle 6">
            <a:extLst>
              <a:ext uri="{FF2B5EF4-FFF2-40B4-BE49-F238E27FC236}">
                <a16:creationId xmlns:a16="http://schemas.microsoft.com/office/drawing/2014/main" id="{A862C046-BD1F-4799-0612-4CE0A218C443}"/>
              </a:ext>
            </a:extLst>
          </p:cNvPr>
          <p:cNvSpPr/>
          <p:nvPr/>
        </p:nvSpPr>
        <p:spPr bwMode="auto">
          <a:xfrm>
            <a:off x="3563938" y="4005263"/>
            <a:ext cx="4824412" cy="576262"/>
          </a:xfrm>
          <a:prstGeom prst="rect">
            <a:avLst/>
          </a:prstGeom>
          <a:solidFill>
            <a:schemeClr val="bg2">
              <a:lumMod val="60000"/>
              <a:lumOff val="40000"/>
            </a:schemeClr>
          </a:solidFill>
          <a:ln w="12700" cap="flat" cmpd="sng" algn="ctr">
            <a:solidFill>
              <a:schemeClr val="tx1"/>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32773" name="Rectangle 66">
            <a:extLst>
              <a:ext uri="{FF2B5EF4-FFF2-40B4-BE49-F238E27FC236}">
                <a16:creationId xmlns:a16="http://schemas.microsoft.com/office/drawing/2014/main" id="{25586BE2-121E-D4B9-4E73-73C21C40528E}"/>
              </a:ext>
            </a:extLst>
          </p:cNvPr>
          <p:cNvSpPr>
            <a:spLocks noChangeArrowheads="1"/>
          </p:cNvSpPr>
          <p:nvPr/>
        </p:nvSpPr>
        <p:spPr bwMode="auto">
          <a:xfrm>
            <a:off x="5886450" y="3965575"/>
            <a:ext cx="288925" cy="720725"/>
          </a:xfrm>
          <a:prstGeom prst="rect">
            <a:avLst/>
          </a:pr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sz="3600">
              <a:solidFill>
                <a:srgbClr val="000099"/>
              </a:solidFill>
            </a:endParaRPr>
          </a:p>
        </p:txBody>
      </p:sp>
      <p:sp>
        <p:nvSpPr>
          <p:cNvPr id="32774" name="Rectangle 10">
            <a:extLst>
              <a:ext uri="{FF2B5EF4-FFF2-40B4-BE49-F238E27FC236}">
                <a16:creationId xmlns:a16="http://schemas.microsoft.com/office/drawing/2014/main" id="{C27717AC-ECEF-59D1-A6F5-14CBFB1CAD5E}"/>
              </a:ext>
            </a:extLst>
          </p:cNvPr>
          <p:cNvSpPr>
            <a:spLocks noChangeArrowheads="1"/>
          </p:cNvSpPr>
          <p:nvPr/>
        </p:nvSpPr>
        <p:spPr bwMode="auto">
          <a:xfrm>
            <a:off x="4427538" y="2781300"/>
            <a:ext cx="5667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Na+</a:t>
            </a:r>
          </a:p>
        </p:txBody>
      </p:sp>
      <p:sp>
        <p:nvSpPr>
          <p:cNvPr id="32775" name="Rectangle 2">
            <a:extLst>
              <a:ext uri="{FF2B5EF4-FFF2-40B4-BE49-F238E27FC236}">
                <a16:creationId xmlns:a16="http://schemas.microsoft.com/office/drawing/2014/main" id="{3940E7F4-BFB6-37F0-7371-C20470DE3181}"/>
              </a:ext>
            </a:extLst>
          </p:cNvPr>
          <p:cNvSpPr>
            <a:spLocks noChangeArrowheads="1"/>
          </p:cNvSpPr>
          <p:nvPr/>
        </p:nvSpPr>
        <p:spPr bwMode="auto">
          <a:xfrm>
            <a:off x="4591050" y="3965575"/>
            <a:ext cx="287338" cy="720725"/>
          </a:xfrm>
          <a:prstGeom prst="rect">
            <a:avLst/>
          </a:pr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sz="3600">
              <a:solidFill>
                <a:srgbClr val="000099"/>
              </a:solidFill>
            </a:endParaRPr>
          </a:p>
        </p:txBody>
      </p:sp>
      <p:sp>
        <p:nvSpPr>
          <p:cNvPr id="32776" name="Oval 7">
            <a:extLst>
              <a:ext uri="{FF2B5EF4-FFF2-40B4-BE49-F238E27FC236}">
                <a16:creationId xmlns:a16="http://schemas.microsoft.com/office/drawing/2014/main" id="{A5D2A797-8B61-45AB-6F7B-1ADE9D963F8E}"/>
              </a:ext>
            </a:extLst>
          </p:cNvPr>
          <p:cNvSpPr>
            <a:spLocks noChangeArrowheads="1"/>
          </p:cNvSpPr>
          <p:nvPr/>
        </p:nvSpPr>
        <p:spPr bwMode="auto">
          <a:xfrm>
            <a:off x="4230688" y="3749675"/>
            <a:ext cx="381000" cy="1066800"/>
          </a:xfrm>
          <a:prstGeom prst="ellipse">
            <a:avLst/>
          </a:prstGeom>
          <a:solidFill>
            <a:schemeClr val="accent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32777" name="Straight Arrow Connector 9">
            <a:extLst>
              <a:ext uri="{FF2B5EF4-FFF2-40B4-BE49-F238E27FC236}">
                <a16:creationId xmlns:a16="http://schemas.microsoft.com/office/drawing/2014/main" id="{BD0CFECE-E005-6656-C072-62A164F3CB78}"/>
              </a:ext>
            </a:extLst>
          </p:cNvPr>
          <p:cNvCxnSpPr>
            <a:cxnSpLocks noChangeShapeType="1"/>
          </p:cNvCxnSpPr>
          <p:nvPr/>
        </p:nvCxnSpPr>
        <p:spPr bwMode="auto">
          <a:xfrm flipH="1">
            <a:off x="4618038" y="3157538"/>
            <a:ext cx="33337" cy="2298700"/>
          </a:xfrm>
          <a:prstGeom prst="straightConnector1">
            <a:avLst/>
          </a:prstGeom>
          <a:noFill/>
          <a:ln w="19050">
            <a:solidFill>
              <a:srgbClr val="E0A28C"/>
            </a:solidFill>
            <a:round/>
            <a:headEnd/>
            <a:tailEnd type="arrow" w="med" len="med"/>
          </a:ln>
          <a:extLst>
            <a:ext uri="{909E8E84-426E-40DD-AFC4-6F175D3DCCD1}">
              <a14:hiddenFill xmlns:a14="http://schemas.microsoft.com/office/drawing/2010/main">
                <a:noFill/>
              </a14:hiddenFill>
            </a:ext>
          </a:extLst>
        </p:spPr>
      </p:cxnSp>
      <p:sp>
        <p:nvSpPr>
          <p:cNvPr id="32778" name="Oval 8">
            <a:extLst>
              <a:ext uri="{FF2B5EF4-FFF2-40B4-BE49-F238E27FC236}">
                <a16:creationId xmlns:a16="http://schemas.microsoft.com/office/drawing/2014/main" id="{644D23F8-7938-F9F6-E7F0-1B71D21EB67C}"/>
              </a:ext>
            </a:extLst>
          </p:cNvPr>
          <p:cNvSpPr>
            <a:spLocks noChangeArrowheads="1"/>
          </p:cNvSpPr>
          <p:nvPr/>
        </p:nvSpPr>
        <p:spPr bwMode="auto">
          <a:xfrm>
            <a:off x="4668838" y="3756025"/>
            <a:ext cx="381000" cy="1066800"/>
          </a:xfrm>
          <a:prstGeom prst="ellipse">
            <a:avLst/>
          </a:prstGeom>
          <a:solidFill>
            <a:schemeClr val="accent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32779" name="Oval 7">
            <a:extLst>
              <a:ext uri="{FF2B5EF4-FFF2-40B4-BE49-F238E27FC236}">
                <a16:creationId xmlns:a16="http://schemas.microsoft.com/office/drawing/2014/main" id="{60D07812-A4CC-644B-89DC-650F323F46CF}"/>
              </a:ext>
            </a:extLst>
          </p:cNvPr>
          <p:cNvSpPr>
            <a:spLocks noChangeArrowheads="1"/>
          </p:cNvSpPr>
          <p:nvPr/>
        </p:nvSpPr>
        <p:spPr bwMode="auto">
          <a:xfrm>
            <a:off x="5599113" y="3749675"/>
            <a:ext cx="381000" cy="1066800"/>
          </a:xfrm>
          <a:prstGeom prst="ellipse">
            <a:avLst/>
          </a:prstGeom>
          <a:solidFill>
            <a:srgbClr val="FF0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32780" name="Oval 8">
            <a:extLst>
              <a:ext uri="{FF2B5EF4-FFF2-40B4-BE49-F238E27FC236}">
                <a16:creationId xmlns:a16="http://schemas.microsoft.com/office/drawing/2014/main" id="{A578909F-7AB7-0F1E-05B6-56313DE23482}"/>
              </a:ext>
            </a:extLst>
          </p:cNvPr>
          <p:cNvSpPr>
            <a:spLocks noChangeArrowheads="1"/>
          </p:cNvSpPr>
          <p:nvPr/>
        </p:nvSpPr>
        <p:spPr bwMode="auto">
          <a:xfrm>
            <a:off x="6030913" y="3749675"/>
            <a:ext cx="381000" cy="1066800"/>
          </a:xfrm>
          <a:prstGeom prst="ellipse">
            <a:avLst/>
          </a:prstGeom>
          <a:solidFill>
            <a:srgbClr val="FF0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32781" name="Straight Arrow Connector 9">
            <a:extLst>
              <a:ext uri="{FF2B5EF4-FFF2-40B4-BE49-F238E27FC236}">
                <a16:creationId xmlns:a16="http://schemas.microsoft.com/office/drawing/2014/main" id="{4856FBA6-99C0-7128-7EBE-5FB5741A7538}"/>
              </a:ext>
            </a:extLst>
          </p:cNvPr>
          <p:cNvCxnSpPr>
            <a:cxnSpLocks noChangeShapeType="1"/>
          </p:cNvCxnSpPr>
          <p:nvPr/>
        </p:nvCxnSpPr>
        <p:spPr bwMode="auto">
          <a:xfrm>
            <a:off x="6011863" y="3141663"/>
            <a:ext cx="0" cy="2303462"/>
          </a:xfrm>
          <a:prstGeom prst="straightConnector1">
            <a:avLst/>
          </a:prstGeom>
          <a:noFill/>
          <a:ln w="19050">
            <a:solidFill>
              <a:srgbClr val="E0A28C"/>
            </a:solidFill>
            <a:round/>
            <a:headEnd type="arrow" w="med" len="med"/>
            <a:tailEnd type="arrow" w="med" len="med"/>
          </a:ln>
          <a:extLst>
            <a:ext uri="{909E8E84-426E-40DD-AFC4-6F175D3DCCD1}">
              <a14:hiddenFill xmlns:a14="http://schemas.microsoft.com/office/drawing/2010/main">
                <a:noFill/>
              </a14:hiddenFill>
            </a:ext>
          </a:extLst>
        </p:spPr>
      </p:cxnSp>
      <p:sp>
        <p:nvSpPr>
          <p:cNvPr id="32782" name="TextBox 3">
            <a:extLst>
              <a:ext uri="{FF2B5EF4-FFF2-40B4-BE49-F238E27FC236}">
                <a16:creationId xmlns:a16="http://schemas.microsoft.com/office/drawing/2014/main" id="{DD466EC3-5CA6-AFA9-DAFE-EC60929ACCE5}"/>
              </a:ext>
            </a:extLst>
          </p:cNvPr>
          <p:cNvSpPr txBox="1">
            <a:spLocks noChangeArrowheads="1"/>
          </p:cNvSpPr>
          <p:nvPr/>
        </p:nvSpPr>
        <p:spPr bwMode="auto">
          <a:xfrm>
            <a:off x="5867400" y="2781300"/>
            <a:ext cx="530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Cl</a:t>
            </a:r>
            <a:r>
              <a:rPr lang="en-US" altLang="en-US" sz="1600" baseline="30000">
                <a:solidFill>
                  <a:srgbClr val="000000"/>
                </a:solidFill>
                <a:latin typeface="Arial" panose="020B0604020202020204" pitchFamily="34" charset="0"/>
              </a:rPr>
              <a:t>-</a:t>
            </a:r>
          </a:p>
        </p:txBody>
      </p:sp>
      <p:sp>
        <p:nvSpPr>
          <p:cNvPr id="32783" name="Rectangle 4">
            <a:extLst>
              <a:ext uri="{FF2B5EF4-FFF2-40B4-BE49-F238E27FC236}">
                <a16:creationId xmlns:a16="http://schemas.microsoft.com/office/drawing/2014/main" id="{9A9CEC34-EB57-570F-82EC-1DB524E5372D}"/>
              </a:ext>
            </a:extLst>
          </p:cNvPr>
          <p:cNvSpPr>
            <a:spLocks noChangeArrowheads="1"/>
          </p:cNvSpPr>
          <p:nvPr/>
        </p:nvSpPr>
        <p:spPr bwMode="auto">
          <a:xfrm>
            <a:off x="5786438" y="5486400"/>
            <a:ext cx="4238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Cl</a:t>
            </a:r>
            <a:r>
              <a:rPr lang="en-US" altLang="en-US" sz="1600" baseline="30000">
                <a:solidFill>
                  <a:srgbClr val="000000"/>
                </a:solidFill>
                <a:latin typeface="Arial" panose="020B0604020202020204" pitchFamily="34" charset="0"/>
              </a:rPr>
              <a:t>-</a:t>
            </a:r>
          </a:p>
        </p:txBody>
      </p:sp>
      <p:sp>
        <p:nvSpPr>
          <p:cNvPr id="32784" name="Rectangle 5">
            <a:extLst>
              <a:ext uri="{FF2B5EF4-FFF2-40B4-BE49-F238E27FC236}">
                <a16:creationId xmlns:a16="http://schemas.microsoft.com/office/drawing/2014/main" id="{D6D8059D-93D6-03E4-9127-4EF30D7CCEC3}"/>
              </a:ext>
            </a:extLst>
          </p:cNvPr>
          <p:cNvSpPr>
            <a:spLocks noChangeArrowheads="1"/>
          </p:cNvSpPr>
          <p:nvPr/>
        </p:nvSpPr>
        <p:spPr bwMode="auto">
          <a:xfrm>
            <a:off x="4356100" y="5445125"/>
            <a:ext cx="5667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Na+</a:t>
            </a:r>
          </a:p>
        </p:txBody>
      </p:sp>
      <p:sp>
        <p:nvSpPr>
          <p:cNvPr id="32785" name="Rectangle 14">
            <a:extLst>
              <a:ext uri="{FF2B5EF4-FFF2-40B4-BE49-F238E27FC236}">
                <a16:creationId xmlns:a16="http://schemas.microsoft.com/office/drawing/2014/main" id="{063F0CDB-9A25-EAC8-E0E6-1A9D64580B80}"/>
              </a:ext>
            </a:extLst>
          </p:cNvPr>
          <p:cNvSpPr>
            <a:spLocks noChangeArrowheads="1"/>
          </p:cNvSpPr>
          <p:nvPr/>
        </p:nvSpPr>
        <p:spPr bwMode="auto">
          <a:xfrm>
            <a:off x="5427663" y="2436813"/>
            <a:ext cx="13335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[Cl</a:t>
            </a:r>
            <a:r>
              <a:rPr lang="en-US" altLang="en-US" sz="1400" baseline="30000">
                <a:solidFill>
                  <a:schemeClr val="tx1"/>
                </a:solidFill>
                <a:latin typeface="Arial" panose="020B0604020202020204" pitchFamily="34" charset="0"/>
              </a:rPr>
              <a:t>-</a:t>
            </a:r>
            <a:r>
              <a:rPr lang="en-US" altLang="en-US" sz="1400">
                <a:solidFill>
                  <a:schemeClr val="tx1"/>
                </a:solidFill>
                <a:latin typeface="Arial" panose="020B0604020202020204" pitchFamily="34" charset="0"/>
              </a:rPr>
              <a:t>] = 114 mM</a:t>
            </a:r>
          </a:p>
        </p:txBody>
      </p:sp>
      <p:sp>
        <p:nvSpPr>
          <p:cNvPr id="32786" name="Rectangle 15">
            <a:extLst>
              <a:ext uri="{FF2B5EF4-FFF2-40B4-BE49-F238E27FC236}">
                <a16:creationId xmlns:a16="http://schemas.microsoft.com/office/drawing/2014/main" id="{B334715F-3E4B-4DC5-FC95-164FDADE4B86}"/>
              </a:ext>
            </a:extLst>
          </p:cNvPr>
          <p:cNvSpPr>
            <a:spLocks noChangeArrowheads="1"/>
          </p:cNvSpPr>
          <p:nvPr/>
        </p:nvSpPr>
        <p:spPr bwMode="auto">
          <a:xfrm>
            <a:off x="5453063" y="5876925"/>
            <a:ext cx="11461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[Cl</a:t>
            </a:r>
            <a:r>
              <a:rPr lang="en-US" altLang="en-US" sz="1400" baseline="30000">
                <a:solidFill>
                  <a:schemeClr val="tx1"/>
                </a:solidFill>
                <a:latin typeface="Arial" panose="020B0604020202020204" pitchFamily="34" charset="0"/>
              </a:rPr>
              <a:t>-</a:t>
            </a:r>
            <a:r>
              <a:rPr lang="en-US" altLang="en-US" sz="1400">
                <a:solidFill>
                  <a:schemeClr val="tx1"/>
                </a:solidFill>
                <a:latin typeface="Arial" panose="020B0604020202020204" pitchFamily="34" charset="0"/>
              </a:rPr>
              <a:t>] = 3 mM</a:t>
            </a:r>
          </a:p>
        </p:txBody>
      </p:sp>
      <p:sp>
        <p:nvSpPr>
          <p:cNvPr id="32787" name="TextBox 18">
            <a:extLst>
              <a:ext uri="{FF2B5EF4-FFF2-40B4-BE49-F238E27FC236}">
                <a16:creationId xmlns:a16="http://schemas.microsoft.com/office/drawing/2014/main" id="{FFF1D0B5-035A-A5CA-2441-FAA216AEF5A0}"/>
              </a:ext>
            </a:extLst>
          </p:cNvPr>
          <p:cNvSpPr txBox="1">
            <a:spLocks noChangeArrowheads="1"/>
          </p:cNvSpPr>
          <p:nvPr/>
        </p:nvSpPr>
        <p:spPr bwMode="auto">
          <a:xfrm>
            <a:off x="179388" y="981075"/>
            <a:ext cx="88217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2000">
                <a:solidFill>
                  <a:srgbClr val="000000"/>
                </a:solidFill>
                <a:latin typeface="Arial" panose="020B0604020202020204" pitchFamily="34" charset="0"/>
              </a:rPr>
              <a:t>The exact membrane potential is determined by the ion gradients across the plasma membrane and by the number and type of channels that are open.</a:t>
            </a:r>
          </a:p>
          <a:p>
            <a:r>
              <a:rPr lang="en-US" altLang="en-US" sz="2000">
                <a:solidFill>
                  <a:srgbClr val="000000"/>
                </a:solidFill>
                <a:latin typeface="Arial" panose="020B0604020202020204" pitchFamily="34" charset="0"/>
              </a:rPr>
              <a:t>  </a:t>
            </a:r>
          </a:p>
        </p:txBody>
      </p:sp>
      <p:sp>
        <p:nvSpPr>
          <p:cNvPr id="13" name="TextBox 12">
            <a:extLst>
              <a:ext uri="{FF2B5EF4-FFF2-40B4-BE49-F238E27FC236}">
                <a16:creationId xmlns:a16="http://schemas.microsoft.com/office/drawing/2014/main" id="{3EDE0D40-E894-FFE6-D17F-0C3AE1DF5B8D}"/>
              </a:ext>
            </a:extLst>
          </p:cNvPr>
          <p:cNvSpPr txBox="1"/>
          <p:nvPr/>
        </p:nvSpPr>
        <p:spPr bwMode="auto">
          <a:xfrm>
            <a:off x="2627313" y="2435225"/>
            <a:ext cx="1162050" cy="307975"/>
          </a:xfrm>
          <a:prstGeom prst="rect">
            <a:avLst/>
          </a:prstGeom>
          <a:noFill/>
        </p:spPr>
        <p:txBody>
          <a:bodyPr wrap="none">
            <a:spAutoFit/>
          </a:bodyPr>
          <a:lstStyle/>
          <a:p>
            <a:pPr>
              <a:defRPr/>
            </a:pPr>
            <a:r>
              <a:rPr lang="en-US" sz="1400" dirty="0">
                <a:solidFill>
                  <a:schemeClr val="tx1"/>
                </a:solidFill>
                <a:latin typeface="+mn-lt"/>
                <a:ea typeface="+mn-ea"/>
              </a:rPr>
              <a:t>[K+] = 4 </a:t>
            </a:r>
            <a:r>
              <a:rPr lang="en-US" sz="1400" dirty="0" err="1">
                <a:solidFill>
                  <a:schemeClr val="tx1"/>
                </a:solidFill>
                <a:latin typeface="+mn-lt"/>
                <a:ea typeface="+mn-ea"/>
              </a:rPr>
              <a:t>mM</a:t>
            </a:r>
            <a:endParaRPr lang="en-US" sz="1400" dirty="0">
              <a:solidFill>
                <a:schemeClr val="tx1"/>
              </a:solidFill>
              <a:latin typeface="+mn-lt"/>
              <a:ea typeface="+mn-ea"/>
            </a:endParaRPr>
          </a:p>
        </p:txBody>
      </p:sp>
      <p:sp>
        <p:nvSpPr>
          <p:cNvPr id="32789" name="Rectangle 13">
            <a:extLst>
              <a:ext uri="{FF2B5EF4-FFF2-40B4-BE49-F238E27FC236}">
                <a16:creationId xmlns:a16="http://schemas.microsoft.com/office/drawing/2014/main" id="{ABEE3622-9DC1-20BF-39D4-F17AF922FCA3}"/>
              </a:ext>
            </a:extLst>
          </p:cNvPr>
          <p:cNvSpPr>
            <a:spLocks noChangeArrowheads="1"/>
          </p:cNvSpPr>
          <p:nvPr/>
        </p:nvSpPr>
        <p:spPr bwMode="auto">
          <a:xfrm>
            <a:off x="2484438" y="5876925"/>
            <a:ext cx="13620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[K+] = 150 mM</a:t>
            </a:r>
          </a:p>
        </p:txBody>
      </p:sp>
      <p:sp>
        <p:nvSpPr>
          <p:cNvPr id="17" name="Rectangle 16">
            <a:extLst>
              <a:ext uri="{FF2B5EF4-FFF2-40B4-BE49-F238E27FC236}">
                <a16:creationId xmlns:a16="http://schemas.microsoft.com/office/drawing/2014/main" id="{28CC8FF0-6124-3910-D936-F265CC7895BF}"/>
              </a:ext>
            </a:extLst>
          </p:cNvPr>
          <p:cNvSpPr>
            <a:spLocks/>
          </p:cNvSpPr>
          <p:nvPr/>
        </p:nvSpPr>
        <p:spPr bwMode="auto">
          <a:xfrm>
            <a:off x="539750" y="4005263"/>
            <a:ext cx="2447925" cy="576262"/>
          </a:xfrm>
          <a:prstGeom prst="rect">
            <a:avLst/>
          </a:prstGeom>
          <a:solidFill>
            <a:schemeClr val="bg2">
              <a:lumMod val="60000"/>
              <a:lumOff val="40000"/>
            </a:schemeClr>
          </a:solidFill>
          <a:ln w="12700" cap="flat" cmpd="sng" algn="ctr">
            <a:solidFill>
              <a:schemeClr val="tx1"/>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32791" name="Oval 17">
            <a:extLst>
              <a:ext uri="{FF2B5EF4-FFF2-40B4-BE49-F238E27FC236}">
                <a16:creationId xmlns:a16="http://schemas.microsoft.com/office/drawing/2014/main" id="{9BB9B0AE-C8AE-797A-C96C-4F5EAB5147D9}"/>
              </a:ext>
            </a:extLst>
          </p:cNvPr>
          <p:cNvSpPr>
            <a:spLocks noChangeArrowheads="1"/>
          </p:cNvSpPr>
          <p:nvPr/>
        </p:nvSpPr>
        <p:spPr bwMode="auto">
          <a:xfrm>
            <a:off x="2873375" y="3752850"/>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32792" name="Oval 18">
            <a:extLst>
              <a:ext uri="{FF2B5EF4-FFF2-40B4-BE49-F238E27FC236}">
                <a16:creationId xmlns:a16="http://schemas.microsoft.com/office/drawing/2014/main" id="{542DA0BE-4B56-BCD4-1C06-8B7070FE769D}"/>
              </a:ext>
            </a:extLst>
          </p:cNvPr>
          <p:cNvSpPr>
            <a:spLocks noChangeArrowheads="1"/>
          </p:cNvSpPr>
          <p:nvPr/>
        </p:nvSpPr>
        <p:spPr bwMode="auto">
          <a:xfrm>
            <a:off x="3365500" y="3760788"/>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32793" name="Straight Arrow Connector 19">
            <a:extLst>
              <a:ext uri="{FF2B5EF4-FFF2-40B4-BE49-F238E27FC236}">
                <a16:creationId xmlns:a16="http://schemas.microsoft.com/office/drawing/2014/main" id="{DB063CF7-EE76-5737-32B9-0C659C627A35}"/>
              </a:ext>
            </a:extLst>
          </p:cNvPr>
          <p:cNvCxnSpPr>
            <a:cxnSpLocks noChangeShapeType="1"/>
            <a:stCxn id="32794" idx="0"/>
          </p:cNvCxnSpPr>
          <p:nvPr/>
        </p:nvCxnSpPr>
        <p:spPr bwMode="auto">
          <a:xfrm flipH="1" flipV="1">
            <a:off x="3276600" y="3141663"/>
            <a:ext cx="3175" cy="2303462"/>
          </a:xfrm>
          <a:prstGeom prst="straightConnector1">
            <a:avLst/>
          </a:prstGeom>
          <a:noFill/>
          <a:ln w="127000">
            <a:solidFill>
              <a:srgbClr val="E0A28C"/>
            </a:solidFill>
            <a:round/>
            <a:headEnd/>
            <a:tailEnd type="arrow" w="med" len="med"/>
          </a:ln>
          <a:extLst>
            <a:ext uri="{909E8E84-426E-40DD-AFC4-6F175D3DCCD1}">
              <a14:hiddenFill xmlns:a14="http://schemas.microsoft.com/office/drawing/2010/main">
                <a:noFill/>
              </a14:hiddenFill>
            </a:ext>
          </a:extLst>
        </p:spPr>
      </p:cxnSp>
      <p:sp>
        <p:nvSpPr>
          <p:cNvPr id="32794" name="TextBox 20">
            <a:extLst>
              <a:ext uri="{FF2B5EF4-FFF2-40B4-BE49-F238E27FC236}">
                <a16:creationId xmlns:a16="http://schemas.microsoft.com/office/drawing/2014/main" id="{D0472EE4-6893-1A2E-6F6F-F952FA2C2CDA}"/>
              </a:ext>
            </a:extLst>
          </p:cNvPr>
          <p:cNvSpPr txBox="1">
            <a:spLocks noChangeArrowheads="1"/>
          </p:cNvSpPr>
          <p:nvPr/>
        </p:nvSpPr>
        <p:spPr bwMode="auto">
          <a:xfrm>
            <a:off x="3059113" y="5445125"/>
            <a:ext cx="441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sp>
        <p:nvSpPr>
          <p:cNvPr id="32795" name="TextBox 21">
            <a:extLst>
              <a:ext uri="{FF2B5EF4-FFF2-40B4-BE49-F238E27FC236}">
                <a16:creationId xmlns:a16="http://schemas.microsoft.com/office/drawing/2014/main" id="{BF652F51-0C98-B26A-1C2C-35D52575FE34}"/>
              </a:ext>
            </a:extLst>
          </p:cNvPr>
          <p:cNvSpPr txBox="1">
            <a:spLocks noChangeArrowheads="1"/>
          </p:cNvSpPr>
          <p:nvPr/>
        </p:nvSpPr>
        <p:spPr bwMode="auto">
          <a:xfrm>
            <a:off x="2119313" y="3378200"/>
            <a:ext cx="358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a:t>+</a:t>
            </a:r>
          </a:p>
        </p:txBody>
      </p:sp>
      <p:sp>
        <p:nvSpPr>
          <p:cNvPr id="32796" name="Rectangle 42">
            <a:extLst>
              <a:ext uri="{FF2B5EF4-FFF2-40B4-BE49-F238E27FC236}">
                <a16:creationId xmlns:a16="http://schemas.microsoft.com/office/drawing/2014/main" id="{123326B2-E5F1-CE10-2F81-85E874FFD036}"/>
              </a:ext>
            </a:extLst>
          </p:cNvPr>
          <p:cNvSpPr>
            <a:spLocks noChangeArrowheads="1"/>
          </p:cNvSpPr>
          <p:nvPr/>
        </p:nvSpPr>
        <p:spPr bwMode="auto">
          <a:xfrm>
            <a:off x="3051175" y="2781300"/>
            <a:ext cx="442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grpSp>
        <p:nvGrpSpPr>
          <p:cNvPr id="32797" name="Group 5">
            <a:extLst>
              <a:ext uri="{FF2B5EF4-FFF2-40B4-BE49-F238E27FC236}">
                <a16:creationId xmlns:a16="http://schemas.microsoft.com/office/drawing/2014/main" id="{DDACC59A-F932-8FF1-EF34-24DDE7A8829F}"/>
              </a:ext>
            </a:extLst>
          </p:cNvPr>
          <p:cNvGrpSpPr>
            <a:grpSpLocks/>
          </p:cNvGrpSpPr>
          <p:nvPr/>
        </p:nvGrpSpPr>
        <p:grpSpPr bwMode="auto">
          <a:xfrm>
            <a:off x="684213" y="4797425"/>
            <a:ext cx="2043112" cy="1328738"/>
            <a:chOff x="107504" y="4581128"/>
            <a:chExt cx="2043838" cy="1328385"/>
          </a:xfrm>
        </p:grpSpPr>
        <p:grpSp>
          <p:nvGrpSpPr>
            <p:cNvPr id="32801" name="Group 3">
              <a:extLst>
                <a:ext uri="{FF2B5EF4-FFF2-40B4-BE49-F238E27FC236}">
                  <a16:creationId xmlns:a16="http://schemas.microsoft.com/office/drawing/2014/main" id="{965451F9-7565-0841-D001-FC44A1847480}"/>
                </a:ext>
              </a:extLst>
            </p:cNvPr>
            <p:cNvGrpSpPr>
              <a:grpSpLocks/>
            </p:cNvGrpSpPr>
            <p:nvPr/>
          </p:nvGrpSpPr>
          <p:grpSpPr bwMode="auto">
            <a:xfrm>
              <a:off x="107504" y="4581128"/>
              <a:ext cx="1711449" cy="990600"/>
              <a:chOff x="1403648" y="4946600"/>
              <a:chExt cx="1711449" cy="990600"/>
            </a:xfrm>
          </p:grpSpPr>
          <p:sp>
            <p:nvSpPr>
              <p:cNvPr id="32808" name="Rectangle 27">
                <a:extLst>
                  <a:ext uri="{FF2B5EF4-FFF2-40B4-BE49-F238E27FC236}">
                    <a16:creationId xmlns:a16="http://schemas.microsoft.com/office/drawing/2014/main" id="{8CF0E138-96F8-D3BB-A0CC-87D698350055}"/>
                  </a:ext>
                </a:extLst>
              </p:cNvPr>
              <p:cNvSpPr>
                <a:spLocks noChangeArrowheads="1"/>
              </p:cNvSpPr>
              <p:nvPr/>
            </p:nvSpPr>
            <p:spPr bwMode="auto">
              <a:xfrm>
                <a:off x="1403648" y="5445224"/>
                <a:ext cx="252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2809" name="Oval 21">
                <a:extLst>
                  <a:ext uri="{FF2B5EF4-FFF2-40B4-BE49-F238E27FC236}">
                    <a16:creationId xmlns:a16="http://schemas.microsoft.com/office/drawing/2014/main" id="{DDA409CC-224E-37BC-97A2-BD614AAF1A61}"/>
                  </a:ext>
                </a:extLst>
              </p:cNvPr>
              <p:cNvSpPr>
                <a:spLocks noChangeArrowheads="1"/>
              </p:cNvSpPr>
              <p:nvPr/>
            </p:nvSpPr>
            <p:spPr bwMode="auto">
              <a:xfrm>
                <a:off x="1638722" y="5116463"/>
                <a:ext cx="1476375" cy="820737"/>
              </a:xfrm>
              <a:prstGeom prst="ellipse">
                <a:avLst/>
              </a:prstGeom>
              <a:solidFill>
                <a:srgbClr val="E8898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sz="3600">
                  <a:solidFill>
                    <a:srgbClr val="000099"/>
                  </a:solidFill>
                </a:endParaRPr>
              </a:p>
            </p:txBody>
          </p:sp>
          <p:sp>
            <p:nvSpPr>
              <p:cNvPr id="32810" name="TextBox 19">
                <a:extLst>
                  <a:ext uri="{FF2B5EF4-FFF2-40B4-BE49-F238E27FC236}">
                    <a16:creationId xmlns:a16="http://schemas.microsoft.com/office/drawing/2014/main" id="{2E500691-7D9A-E244-A311-A2DCFACE2407}"/>
                  </a:ext>
                </a:extLst>
              </p:cNvPr>
              <p:cNvSpPr txBox="1">
                <a:spLocks noChangeArrowheads="1"/>
              </p:cNvSpPr>
              <p:nvPr/>
            </p:nvSpPr>
            <p:spPr bwMode="auto">
              <a:xfrm>
                <a:off x="1691680" y="5306509"/>
                <a:ext cx="13646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800">
                    <a:solidFill>
                      <a:srgbClr val="000000"/>
                    </a:solidFill>
                    <a:latin typeface="Arial" panose="020B0604020202020204" pitchFamily="34" charset="0"/>
                  </a:rPr>
                  <a:t>PROTEINS</a:t>
                </a:r>
                <a:endParaRPr lang="en-US" altLang="en-US" sz="1800" baseline="30000">
                  <a:solidFill>
                    <a:srgbClr val="000000"/>
                  </a:solidFill>
                  <a:latin typeface="Arial" panose="020B0604020202020204" pitchFamily="34" charset="0"/>
                </a:endParaRPr>
              </a:p>
            </p:txBody>
          </p:sp>
          <p:sp>
            <p:nvSpPr>
              <p:cNvPr id="32811" name="TextBox 22">
                <a:extLst>
                  <a:ext uri="{FF2B5EF4-FFF2-40B4-BE49-F238E27FC236}">
                    <a16:creationId xmlns:a16="http://schemas.microsoft.com/office/drawing/2014/main" id="{4F1DD5E8-47AC-ACF1-0938-A0DC406A19A7}"/>
                  </a:ext>
                </a:extLst>
              </p:cNvPr>
              <p:cNvSpPr txBox="1">
                <a:spLocks noChangeArrowheads="1"/>
              </p:cNvSpPr>
              <p:nvPr/>
            </p:nvSpPr>
            <p:spPr bwMode="auto">
              <a:xfrm>
                <a:off x="1903835" y="4949775"/>
                <a:ext cx="25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2812" name="Rectangle 23">
                <a:extLst>
                  <a:ext uri="{FF2B5EF4-FFF2-40B4-BE49-F238E27FC236}">
                    <a16:creationId xmlns:a16="http://schemas.microsoft.com/office/drawing/2014/main" id="{8192E168-C5B5-57C9-70C7-14F350D487CE}"/>
                  </a:ext>
                </a:extLst>
              </p:cNvPr>
              <p:cNvSpPr>
                <a:spLocks noChangeArrowheads="1"/>
              </p:cNvSpPr>
              <p:nvPr/>
            </p:nvSpPr>
            <p:spPr bwMode="auto">
              <a:xfrm>
                <a:off x="2832522" y="5025975"/>
                <a:ext cx="252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p>
            </p:txBody>
          </p:sp>
          <p:sp>
            <p:nvSpPr>
              <p:cNvPr id="32813" name="Rectangle 24">
                <a:extLst>
                  <a:ext uri="{FF2B5EF4-FFF2-40B4-BE49-F238E27FC236}">
                    <a16:creationId xmlns:a16="http://schemas.microsoft.com/office/drawing/2014/main" id="{1A555BA2-69FF-C7D1-179E-EB93AEAB9193}"/>
                  </a:ext>
                </a:extLst>
              </p:cNvPr>
              <p:cNvSpPr>
                <a:spLocks noChangeArrowheads="1"/>
              </p:cNvSpPr>
              <p:nvPr/>
            </p:nvSpPr>
            <p:spPr bwMode="auto">
              <a:xfrm>
                <a:off x="2362622" y="4946600"/>
                <a:ext cx="25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p>
            </p:txBody>
          </p:sp>
          <p:sp>
            <p:nvSpPr>
              <p:cNvPr id="32814" name="Rectangle 25">
                <a:extLst>
                  <a:ext uri="{FF2B5EF4-FFF2-40B4-BE49-F238E27FC236}">
                    <a16:creationId xmlns:a16="http://schemas.microsoft.com/office/drawing/2014/main" id="{97327D7B-48A4-DF17-2712-E2E0D90BF466}"/>
                  </a:ext>
                </a:extLst>
              </p:cNvPr>
              <p:cNvSpPr>
                <a:spLocks noChangeArrowheads="1"/>
              </p:cNvSpPr>
              <p:nvPr/>
            </p:nvSpPr>
            <p:spPr bwMode="auto">
              <a:xfrm>
                <a:off x="1678410" y="5016450"/>
                <a:ext cx="254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p>
            </p:txBody>
          </p:sp>
        </p:grpSp>
        <p:sp>
          <p:nvSpPr>
            <p:cNvPr id="32802" name="Rectangle 26">
              <a:extLst>
                <a:ext uri="{FF2B5EF4-FFF2-40B4-BE49-F238E27FC236}">
                  <a16:creationId xmlns:a16="http://schemas.microsoft.com/office/drawing/2014/main" id="{2A941D7E-EF97-1D59-FF05-F15CD73FA62D}"/>
                </a:ext>
              </a:extLst>
            </p:cNvPr>
            <p:cNvSpPr>
              <a:spLocks noChangeArrowheads="1"/>
            </p:cNvSpPr>
            <p:nvPr/>
          </p:nvSpPr>
          <p:spPr bwMode="auto">
            <a:xfrm flipH="1">
              <a:off x="1763688" y="5013176"/>
              <a:ext cx="38765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2803" name="Rectangle 28">
              <a:extLst>
                <a:ext uri="{FF2B5EF4-FFF2-40B4-BE49-F238E27FC236}">
                  <a16:creationId xmlns:a16="http://schemas.microsoft.com/office/drawing/2014/main" id="{890141B2-6A1E-23E5-C879-BBFD0777516F}"/>
                </a:ext>
              </a:extLst>
            </p:cNvPr>
            <p:cNvSpPr>
              <a:spLocks noChangeArrowheads="1"/>
            </p:cNvSpPr>
            <p:nvPr/>
          </p:nvSpPr>
          <p:spPr bwMode="auto">
            <a:xfrm>
              <a:off x="251520" y="5373216"/>
              <a:ext cx="2524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2804" name="Rectangle 29">
              <a:extLst>
                <a:ext uri="{FF2B5EF4-FFF2-40B4-BE49-F238E27FC236}">
                  <a16:creationId xmlns:a16="http://schemas.microsoft.com/office/drawing/2014/main" id="{199685BD-27A0-2D9A-64EB-298FFBEAB451}"/>
                </a:ext>
              </a:extLst>
            </p:cNvPr>
            <p:cNvSpPr>
              <a:spLocks noChangeArrowheads="1"/>
            </p:cNvSpPr>
            <p:nvPr/>
          </p:nvSpPr>
          <p:spPr bwMode="auto">
            <a:xfrm flipH="1">
              <a:off x="903872" y="5570959"/>
              <a:ext cx="3128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2805" name="Rectangle 30">
              <a:extLst>
                <a:ext uri="{FF2B5EF4-FFF2-40B4-BE49-F238E27FC236}">
                  <a16:creationId xmlns:a16="http://schemas.microsoft.com/office/drawing/2014/main" id="{A6893BE4-3B4C-0B8B-696C-A37D2668312F}"/>
                </a:ext>
              </a:extLst>
            </p:cNvPr>
            <p:cNvSpPr>
              <a:spLocks noChangeArrowheads="1"/>
            </p:cNvSpPr>
            <p:nvPr/>
          </p:nvSpPr>
          <p:spPr bwMode="auto">
            <a:xfrm flipH="1">
              <a:off x="1547664" y="5373216"/>
              <a:ext cx="3148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2806" name="Rectangle 31">
              <a:extLst>
                <a:ext uri="{FF2B5EF4-FFF2-40B4-BE49-F238E27FC236}">
                  <a16:creationId xmlns:a16="http://schemas.microsoft.com/office/drawing/2014/main" id="{10E66FF2-5F50-5671-E1AF-96401504FF47}"/>
                </a:ext>
              </a:extLst>
            </p:cNvPr>
            <p:cNvSpPr>
              <a:spLocks noChangeArrowheads="1"/>
            </p:cNvSpPr>
            <p:nvPr/>
          </p:nvSpPr>
          <p:spPr bwMode="auto">
            <a:xfrm flipH="1">
              <a:off x="1259632" y="5517232"/>
              <a:ext cx="3128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2807" name="Rectangle 32">
              <a:extLst>
                <a:ext uri="{FF2B5EF4-FFF2-40B4-BE49-F238E27FC236}">
                  <a16:creationId xmlns:a16="http://schemas.microsoft.com/office/drawing/2014/main" id="{4720433C-EF9B-6370-4094-D2002AAECA36}"/>
                </a:ext>
              </a:extLst>
            </p:cNvPr>
            <p:cNvSpPr>
              <a:spLocks noChangeArrowheads="1"/>
            </p:cNvSpPr>
            <p:nvPr/>
          </p:nvSpPr>
          <p:spPr bwMode="auto">
            <a:xfrm flipH="1">
              <a:off x="640347" y="5531272"/>
              <a:ext cx="3128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grpSp>
      <p:sp>
        <p:nvSpPr>
          <p:cNvPr id="32798" name="TextBox 14">
            <a:extLst>
              <a:ext uri="{FF2B5EF4-FFF2-40B4-BE49-F238E27FC236}">
                <a16:creationId xmlns:a16="http://schemas.microsoft.com/office/drawing/2014/main" id="{5FEF5F9B-B5C6-4CDE-C300-CD0F91BCA816}"/>
              </a:ext>
            </a:extLst>
          </p:cNvPr>
          <p:cNvSpPr txBox="1">
            <a:spLocks noChangeArrowheads="1"/>
          </p:cNvSpPr>
          <p:nvPr/>
        </p:nvSpPr>
        <p:spPr bwMode="auto">
          <a:xfrm>
            <a:off x="6875463" y="4581525"/>
            <a:ext cx="1377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800">
                <a:solidFill>
                  <a:schemeClr val="tx1"/>
                </a:solidFill>
                <a:latin typeface="Arial" panose="020B0604020202020204" pitchFamily="34" charset="0"/>
              </a:rPr>
              <a:t>Intracellular</a:t>
            </a:r>
          </a:p>
        </p:txBody>
      </p:sp>
      <p:sp>
        <p:nvSpPr>
          <p:cNvPr id="32799" name="Rectangle 15">
            <a:extLst>
              <a:ext uri="{FF2B5EF4-FFF2-40B4-BE49-F238E27FC236}">
                <a16:creationId xmlns:a16="http://schemas.microsoft.com/office/drawing/2014/main" id="{17B974CF-5247-D762-792B-12F067FA304C}"/>
              </a:ext>
            </a:extLst>
          </p:cNvPr>
          <p:cNvSpPr>
            <a:spLocks noChangeArrowheads="1"/>
          </p:cNvSpPr>
          <p:nvPr/>
        </p:nvSpPr>
        <p:spPr bwMode="auto">
          <a:xfrm>
            <a:off x="6875463" y="3573463"/>
            <a:ext cx="1455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800">
                <a:solidFill>
                  <a:schemeClr val="tx1"/>
                </a:solidFill>
                <a:latin typeface="Arial" panose="020B0604020202020204" pitchFamily="34" charset="0"/>
              </a:rPr>
              <a:t>Extracellular</a:t>
            </a:r>
          </a:p>
        </p:txBody>
      </p:sp>
      <p:sp>
        <p:nvSpPr>
          <p:cNvPr id="32800" name="TextBox 2">
            <a:extLst>
              <a:ext uri="{FF2B5EF4-FFF2-40B4-BE49-F238E27FC236}">
                <a16:creationId xmlns:a16="http://schemas.microsoft.com/office/drawing/2014/main" id="{C62E1738-691D-C62B-EA5E-7D88965C270D}"/>
              </a:ext>
            </a:extLst>
          </p:cNvPr>
          <p:cNvSpPr txBox="1">
            <a:spLocks noChangeArrowheads="1"/>
          </p:cNvSpPr>
          <p:nvPr/>
        </p:nvSpPr>
        <p:spPr bwMode="auto">
          <a:xfrm>
            <a:off x="1970088" y="6457950"/>
            <a:ext cx="5300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2000">
                <a:solidFill>
                  <a:srgbClr val="FF0000"/>
                </a:solidFill>
                <a:latin typeface="Arial" panose="020B0604020202020204" pitchFamily="34" charset="0"/>
              </a:rPr>
              <a:t>Resting membrane potential of about -90 mV</a:t>
            </a:r>
            <a:endParaRPr lang="en-US" altLang="en-US" sz="200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4">
            <a:extLst>
              <a:ext uri="{FF2B5EF4-FFF2-40B4-BE49-F238E27FC236}">
                <a16:creationId xmlns:a16="http://schemas.microsoft.com/office/drawing/2014/main" id="{71F5CB4E-01DC-4811-9DF0-1CB3D799C873}"/>
              </a:ext>
            </a:extLst>
          </p:cNvPr>
          <p:cNvSpPr>
            <a:spLocks noChangeArrowheads="1"/>
          </p:cNvSpPr>
          <p:nvPr/>
        </p:nvSpPr>
        <p:spPr bwMode="auto">
          <a:xfrm>
            <a:off x="34925" y="0"/>
            <a:ext cx="48228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Membrane Potential</a:t>
            </a:r>
            <a:endParaRPr lang="en-GB" altLang="en-US">
              <a:solidFill>
                <a:srgbClr val="FFFF00"/>
              </a:solidFill>
              <a:latin typeface="Arial" panose="020B0604020202020204" pitchFamily="34" charset="0"/>
            </a:endParaRPr>
          </a:p>
        </p:txBody>
      </p:sp>
      <p:sp>
        <p:nvSpPr>
          <p:cNvPr id="36866" name="Rectangle 14">
            <a:extLst>
              <a:ext uri="{FF2B5EF4-FFF2-40B4-BE49-F238E27FC236}">
                <a16:creationId xmlns:a16="http://schemas.microsoft.com/office/drawing/2014/main" id="{0BFE629A-7DED-06F6-F9C5-F07E41A6AD86}"/>
              </a:ext>
            </a:extLst>
          </p:cNvPr>
          <p:cNvSpPr>
            <a:spLocks noChangeArrowheads="1"/>
          </p:cNvSpPr>
          <p:nvPr/>
        </p:nvSpPr>
        <p:spPr bwMode="auto">
          <a:xfrm>
            <a:off x="3995738" y="5876925"/>
            <a:ext cx="1371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20 mM</a:t>
            </a:r>
          </a:p>
        </p:txBody>
      </p:sp>
      <p:sp>
        <p:nvSpPr>
          <p:cNvPr id="36867" name="Rectangle 15">
            <a:extLst>
              <a:ext uri="{FF2B5EF4-FFF2-40B4-BE49-F238E27FC236}">
                <a16:creationId xmlns:a16="http://schemas.microsoft.com/office/drawing/2014/main" id="{3CC9C451-93ED-128F-38CD-38ED54150082}"/>
              </a:ext>
            </a:extLst>
          </p:cNvPr>
          <p:cNvSpPr>
            <a:spLocks noChangeArrowheads="1"/>
          </p:cNvSpPr>
          <p:nvPr/>
        </p:nvSpPr>
        <p:spPr bwMode="auto">
          <a:xfrm>
            <a:off x="3924300" y="2420938"/>
            <a:ext cx="15144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[Na+] = 140 </a:t>
            </a:r>
            <a:r>
              <a:rPr lang="en-US" altLang="en-US" sz="1600">
                <a:solidFill>
                  <a:schemeClr val="tx1"/>
                </a:solidFill>
                <a:latin typeface="Arial" panose="020B0604020202020204" pitchFamily="34" charset="0"/>
              </a:rPr>
              <a:t>mM</a:t>
            </a:r>
          </a:p>
        </p:txBody>
      </p:sp>
      <p:sp>
        <p:nvSpPr>
          <p:cNvPr id="7" name="Rectangle 6">
            <a:extLst>
              <a:ext uri="{FF2B5EF4-FFF2-40B4-BE49-F238E27FC236}">
                <a16:creationId xmlns:a16="http://schemas.microsoft.com/office/drawing/2014/main" id="{5C56A0DA-C979-E5E7-3E18-85C65A09CC95}"/>
              </a:ext>
            </a:extLst>
          </p:cNvPr>
          <p:cNvSpPr/>
          <p:nvPr/>
        </p:nvSpPr>
        <p:spPr bwMode="auto">
          <a:xfrm>
            <a:off x="3563938" y="4005263"/>
            <a:ext cx="4824412" cy="576262"/>
          </a:xfrm>
          <a:prstGeom prst="rect">
            <a:avLst/>
          </a:prstGeom>
          <a:solidFill>
            <a:schemeClr val="bg2">
              <a:lumMod val="60000"/>
              <a:lumOff val="40000"/>
            </a:schemeClr>
          </a:solidFill>
          <a:ln w="12700" cap="flat" cmpd="sng" algn="ctr">
            <a:solidFill>
              <a:schemeClr val="tx1"/>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36869" name="Rectangle 66">
            <a:extLst>
              <a:ext uri="{FF2B5EF4-FFF2-40B4-BE49-F238E27FC236}">
                <a16:creationId xmlns:a16="http://schemas.microsoft.com/office/drawing/2014/main" id="{B5BCAAC4-0AA3-452C-C946-C19249D4E033}"/>
              </a:ext>
            </a:extLst>
          </p:cNvPr>
          <p:cNvSpPr>
            <a:spLocks noChangeArrowheads="1"/>
          </p:cNvSpPr>
          <p:nvPr/>
        </p:nvSpPr>
        <p:spPr bwMode="auto">
          <a:xfrm>
            <a:off x="5886450" y="3965575"/>
            <a:ext cx="288925" cy="720725"/>
          </a:xfrm>
          <a:prstGeom prst="rect">
            <a:avLst/>
          </a:pr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sz="3600">
              <a:solidFill>
                <a:srgbClr val="000099"/>
              </a:solidFill>
            </a:endParaRPr>
          </a:p>
        </p:txBody>
      </p:sp>
      <p:sp>
        <p:nvSpPr>
          <p:cNvPr id="36870" name="Rectangle 10">
            <a:extLst>
              <a:ext uri="{FF2B5EF4-FFF2-40B4-BE49-F238E27FC236}">
                <a16:creationId xmlns:a16="http://schemas.microsoft.com/office/drawing/2014/main" id="{7D36D32A-C415-69ED-C66F-44982F960529}"/>
              </a:ext>
            </a:extLst>
          </p:cNvPr>
          <p:cNvSpPr>
            <a:spLocks noChangeArrowheads="1"/>
          </p:cNvSpPr>
          <p:nvPr/>
        </p:nvSpPr>
        <p:spPr bwMode="auto">
          <a:xfrm>
            <a:off x="4427538" y="2781300"/>
            <a:ext cx="5667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Na+</a:t>
            </a:r>
          </a:p>
        </p:txBody>
      </p:sp>
      <p:sp>
        <p:nvSpPr>
          <p:cNvPr id="36871" name="Rectangle 2">
            <a:extLst>
              <a:ext uri="{FF2B5EF4-FFF2-40B4-BE49-F238E27FC236}">
                <a16:creationId xmlns:a16="http://schemas.microsoft.com/office/drawing/2014/main" id="{6E7106CF-11FE-08C4-602B-E9894ACA5E40}"/>
              </a:ext>
            </a:extLst>
          </p:cNvPr>
          <p:cNvSpPr>
            <a:spLocks noChangeArrowheads="1"/>
          </p:cNvSpPr>
          <p:nvPr/>
        </p:nvSpPr>
        <p:spPr bwMode="auto">
          <a:xfrm>
            <a:off x="4591050" y="3965575"/>
            <a:ext cx="287338" cy="720725"/>
          </a:xfrm>
          <a:prstGeom prst="rect">
            <a:avLst/>
          </a:pr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sz="3600">
              <a:solidFill>
                <a:srgbClr val="000099"/>
              </a:solidFill>
            </a:endParaRPr>
          </a:p>
        </p:txBody>
      </p:sp>
      <p:sp>
        <p:nvSpPr>
          <p:cNvPr id="36872" name="Oval 7">
            <a:extLst>
              <a:ext uri="{FF2B5EF4-FFF2-40B4-BE49-F238E27FC236}">
                <a16:creationId xmlns:a16="http://schemas.microsoft.com/office/drawing/2014/main" id="{A1426DDB-9DC7-A69A-F7C5-283A307F8837}"/>
              </a:ext>
            </a:extLst>
          </p:cNvPr>
          <p:cNvSpPr>
            <a:spLocks noChangeArrowheads="1"/>
          </p:cNvSpPr>
          <p:nvPr/>
        </p:nvSpPr>
        <p:spPr bwMode="auto">
          <a:xfrm>
            <a:off x="4230688" y="3749675"/>
            <a:ext cx="381000" cy="1066800"/>
          </a:xfrm>
          <a:prstGeom prst="ellipse">
            <a:avLst/>
          </a:prstGeom>
          <a:solidFill>
            <a:schemeClr val="accent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36873" name="Oval 8">
            <a:extLst>
              <a:ext uri="{FF2B5EF4-FFF2-40B4-BE49-F238E27FC236}">
                <a16:creationId xmlns:a16="http://schemas.microsoft.com/office/drawing/2014/main" id="{1E33BF65-0BAA-F15B-38BE-620FA12226EF}"/>
              </a:ext>
            </a:extLst>
          </p:cNvPr>
          <p:cNvSpPr>
            <a:spLocks noChangeArrowheads="1"/>
          </p:cNvSpPr>
          <p:nvPr/>
        </p:nvSpPr>
        <p:spPr bwMode="auto">
          <a:xfrm>
            <a:off x="4848225" y="3781425"/>
            <a:ext cx="381000" cy="1066800"/>
          </a:xfrm>
          <a:prstGeom prst="ellipse">
            <a:avLst/>
          </a:prstGeom>
          <a:solidFill>
            <a:schemeClr val="accent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36874" name="Oval 7">
            <a:extLst>
              <a:ext uri="{FF2B5EF4-FFF2-40B4-BE49-F238E27FC236}">
                <a16:creationId xmlns:a16="http://schemas.microsoft.com/office/drawing/2014/main" id="{4CDC88D7-1DF0-5A99-5F09-E2B1CA159672}"/>
              </a:ext>
            </a:extLst>
          </p:cNvPr>
          <p:cNvSpPr>
            <a:spLocks noChangeArrowheads="1"/>
          </p:cNvSpPr>
          <p:nvPr/>
        </p:nvSpPr>
        <p:spPr bwMode="auto">
          <a:xfrm>
            <a:off x="5599113" y="3749675"/>
            <a:ext cx="381000" cy="1066800"/>
          </a:xfrm>
          <a:prstGeom prst="ellipse">
            <a:avLst/>
          </a:prstGeom>
          <a:solidFill>
            <a:srgbClr val="FF0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36875" name="Oval 8">
            <a:extLst>
              <a:ext uri="{FF2B5EF4-FFF2-40B4-BE49-F238E27FC236}">
                <a16:creationId xmlns:a16="http://schemas.microsoft.com/office/drawing/2014/main" id="{829FAD21-24A4-2CFA-661E-A4B21D0593A5}"/>
              </a:ext>
            </a:extLst>
          </p:cNvPr>
          <p:cNvSpPr>
            <a:spLocks noChangeArrowheads="1"/>
          </p:cNvSpPr>
          <p:nvPr/>
        </p:nvSpPr>
        <p:spPr bwMode="auto">
          <a:xfrm>
            <a:off x="6030913" y="3749675"/>
            <a:ext cx="381000" cy="1066800"/>
          </a:xfrm>
          <a:prstGeom prst="ellipse">
            <a:avLst/>
          </a:prstGeom>
          <a:solidFill>
            <a:srgbClr val="FF0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36876" name="Straight Arrow Connector 9">
            <a:extLst>
              <a:ext uri="{FF2B5EF4-FFF2-40B4-BE49-F238E27FC236}">
                <a16:creationId xmlns:a16="http://schemas.microsoft.com/office/drawing/2014/main" id="{C369CEA9-2384-9F71-4DA3-53594A9F42D6}"/>
              </a:ext>
            </a:extLst>
          </p:cNvPr>
          <p:cNvCxnSpPr>
            <a:cxnSpLocks noChangeShapeType="1"/>
          </p:cNvCxnSpPr>
          <p:nvPr/>
        </p:nvCxnSpPr>
        <p:spPr bwMode="auto">
          <a:xfrm>
            <a:off x="6011863" y="3141663"/>
            <a:ext cx="0" cy="2303462"/>
          </a:xfrm>
          <a:prstGeom prst="straightConnector1">
            <a:avLst/>
          </a:prstGeom>
          <a:noFill/>
          <a:ln w="19050">
            <a:solidFill>
              <a:srgbClr val="E0A28C"/>
            </a:solidFill>
            <a:round/>
            <a:headEnd type="arrow" w="med" len="med"/>
            <a:tailEnd type="arrow" w="med" len="med"/>
          </a:ln>
          <a:extLst>
            <a:ext uri="{909E8E84-426E-40DD-AFC4-6F175D3DCCD1}">
              <a14:hiddenFill xmlns:a14="http://schemas.microsoft.com/office/drawing/2010/main">
                <a:noFill/>
              </a14:hiddenFill>
            </a:ext>
          </a:extLst>
        </p:spPr>
      </p:cxnSp>
      <p:sp>
        <p:nvSpPr>
          <p:cNvPr id="36877" name="TextBox 3">
            <a:extLst>
              <a:ext uri="{FF2B5EF4-FFF2-40B4-BE49-F238E27FC236}">
                <a16:creationId xmlns:a16="http://schemas.microsoft.com/office/drawing/2014/main" id="{380EA20F-B678-B866-8525-798F8AF60CE9}"/>
              </a:ext>
            </a:extLst>
          </p:cNvPr>
          <p:cNvSpPr txBox="1">
            <a:spLocks noChangeArrowheads="1"/>
          </p:cNvSpPr>
          <p:nvPr/>
        </p:nvSpPr>
        <p:spPr bwMode="auto">
          <a:xfrm>
            <a:off x="5867400" y="2781300"/>
            <a:ext cx="530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Cl</a:t>
            </a:r>
            <a:r>
              <a:rPr lang="en-US" altLang="en-US" sz="1600" baseline="30000">
                <a:solidFill>
                  <a:srgbClr val="000000"/>
                </a:solidFill>
                <a:latin typeface="Arial" panose="020B0604020202020204" pitchFamily="34" charset="0"/>
              </a:rPr>
              <a:t>-</a:t>
            </a:r>
          </a:p>
        </p:txBody>
      </p:sp>
      <p:sp>
        <p:nvSpPr>
          <p:cNvPr id="36878" name="Rectangle 4">
            <a:extLst>
              <a:ext uri="{FF2B5EF4-FFF2-40B4-BE49-F238E27FC236}">
                <a16:creationId xmlns:a16="http://schemas.microsoft.com/office/drawing/2014/main" id="{8F21F04C-BACE-F4A3-658D-8C5AB5DF038A}"/>
              </a:ext>
            </a:extLst>
          </p:cNvPr>
          <p:cNvSpPr>
            <a:spLocks noChangeArrowheads="1"/>
          </p:cNvSpPr>
          <p:nvPr/>
        </p:nvSpPr>
        <p:spPr bwMode="auto">
          <a:xfrm>
            <a:off x="5786438" y="5486400"/>
            <a:ext cx="4238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Cl</a:t>
            </a:r>
            <a:r>
              <a:rPr lang="en-US" altLang="en-US" sz="1600" baseline="30000">
                <a:solidFill>
                  <a:srgbClr val="000000"/>
                </a:solidFill>
                <a:latin typeface="Arial" panose="020B0604020202020204" pitchFamily="34" charset="0"/>
              </a:rPr>
              <a:t>-</a:t>
            </a:r>
          </a:p>
        </p:txBody>
      </p:sp>
      <p:sp>
        <p:nvSpPr>
          <p:cNvPr id="36879" name="Rectangle 5">
            <a:extLst>
              <a:ext uri="{FF2B5EF4-FFF2-40B4-BE49-F238E27FC236}">
                <a16:creationId xmlns:a16="http://schemas.microsoft.com/office/drawing/2014/main" id="{FBE56EF4-EFA4-230F-5CCB-E77B7DD9CF49}"/>
              </a:ext>
            </a:extLst>
          </p:cNvPr>
          <p:cNvSpPr>
            <a:spLocks noChangeArrowheads="1"/>
          </p:cNvSpPr>
          <p:nvPr/>
        </p:nvSpPr>
        <p:spPr bwMode="auto">
          <a:xfrm>
            <a:off x="4356100" y="5445125"/>
            <a:ext cx="5667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Na+</a:t>
            </a:r>
          </a:p>
        </p:txBody>
      </p:sp>
      <p:sp>
        <p:nvSpPr>
          <p:cNvPr id="36880" name="Rectangle 14">
            <a:extLst>
              <a:ext uri="{FF2B5EF4-FFF2-40B4-BE49-F238E27FC236}">
                <a16:creationId xmlns:a16="http://schemas.microsoft.com/office/drawing/2014/main" id="{D3EC7875-A949-3AB1-D061-FBB80B65957F}"/>
              </a:ext>
            </a:extLst>
          </p:cNvPr>
          <p:cNvSpPr>
            <a:spLocks noChangeArrowheads="1"/>
          </p:cNvSpPr>
          <p:nvPr/>
        </p:nvSpPr>
        <p:spPr bwMode="auto">
          <a:xfrm>
            <a:off x="5427663" y="2436813"/>
            <a:ext cx="13335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[Cl</a:t>
            </a:r>
            <a:r>
              <a:rPr lang="en-US" altLang="en-US" sz="1400" baseline="30000">
                <a:solidFill>
                  <a:schemeClr val="tx1"/>
                </a:solidFill>
                <a:latin typeface="Arial" panose="020B0604020202020204" pitchFamily="34" charset="0"/>
              </a:rPr>
              <a:t>-</a:t>
            </a:r>
            <a:r>
              <a:rPr lang="en-US" altLang="en-US" sz="1400">
                <a:solidFill>
                  <a:schemeClr val="tx1"/>
                </a:solidFill>
                <a:latin typeface="Arial" panose="020B0604020202020204" pitchFamily="34" charset="0"/>
              </a:rPr>
              <a:t>] = 114 mM</a:t>
            </a:r>
          </a:p>
        </p:txBody>
      </p:sp>
      <p:sp>
        <p:nvSpPr>
          <p:cNvPr id="36881" name="Rectangle 15">
            <a:extLst>
              <a:ext uri="{FF2B5EF4-FFF2-40B4-BE49-F238E27FC236}">
                <a16:creationId xmlns:a16="http://schemas.microsoft.com/office/drawing/2014/main" id="{FF4ED241-21BF-EA90-B686-B3BED7088E43}"/>
              </a:ext>
            </a:extLst>
          </p:cNvPr>
          <p:cNvSpPr>
            <a:spLocks noChangeArrowheads="1"/>
          </p:cNvSpPr>
          <p:nvPr/>
        </p:nvSpPr>
        <p:spPr bwMode="auto">
          <a:xfrm>
            <a:off x="5453063" y="5876925"/>
            <a:ext cx="11461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[Cl</a:t>
            </a:r>
            <a:r>
              <a:rPr lang="en-US" altLang="en-US" sz="1400" baseline="30000">
                <a:solidFill>
                  <a:schemeClr val="tx1"/>
                </a:solidFill>
                <a:latin typeface="Arial" panose="020B0604020202020204" pitchFamily="34" charset="0"/>
              </a:rPr>
              <a:t>-</a:t>
            </a:r>
            <a:r>
              <a:rPr lang="en-US" altLang="en-US" sz="1400">
                <a:solidFill>
                  <a:schemeClr val="tx1"/>
                </a:solidFill>
                <a:latin typeface="Arial" panose="020B0604020202020204" pitchFamily="34" charset="0"/>
              </a:rPr>
              <a:t>] = 3 mM</a:t>
            </a:r>
          </a:p>
        </p:txBody>
      </p:sp>
      <p:sp>
        <p:nvSpPr>
          <p:cNvPr id="36882" name="TextBox 18">
            <a:extLst>
              <a:ext uri="{FF2B5EF4-FFF2-40B4-BE49-F238E27FC236}">
                <a16:creationId xmlns:a16="http://schemas.microsoft.com/office/drawing/2014/main" id="{2FDBD4B3-AB1B-24A9-4406-92117F489BE1}"/>
              </a:ext>
            </a:extLst>
          </p:cNvPr>
          <p:cNvSpPr txBox="1">
            <a:spLocks noChangeArrowheads="1"/>
          </p:cNvSpPr>
          <p:nvPr/>
        </p:nvSpPr>
        <p:spPr bwMode="auto">
          <a:xfrm>
            <a:off x="179388" y="981075"/>
            <a:ext cx="8821737"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2000">
                <a:solidFill>
                  <a:srgbClr val="000000"/>
                </a:solidFill>
                <a:latin typeface="Arial" panose="020B0604020202020204" pitchFamily="34" charset="0"/>
              </a:rPr>
              <a:t>The exact membrane potential is determined by the ion gradients across the plasma membrane and by the number and type of channels that are open.</a:t>
            </a:r>
          </a:p>
          <a:p>
            <a:r>
              <a:rPr lang="en-US" altLang="en-US" sz="2000">
                <a:solidFill>
                  <a:srgbClr val="000000"/>
                </a:solidFill>
                <a:latin typeface="Arial" panose="020B0604020202020204" pitchFamily="34" charset="0"/>
              </a:rPr>
              <a:t>  </a:t>
            </a:r>
          </a:p>
        </p:txBody>
      </p:sp>
      <p:sp>
        <p:nvSpPr>
          <p:cNvPr id="13" name="TextBox 12">
            <a:extLst>
              <a:ext uri="{FF2B5EF4-FFF2-40B4-BE49-F238E27FC236}">
                <a16:creationId xmlns:a16="http://schemas.microsoft.com/office/drawing/2014/main" id="{A2ADBE45-4602-EEDC-6585-D0C9D62F30D0}"/>
              </a:ext>
            </a:extLst>
          </p:cNvPr>
          <p:cNvSpPr txBox="1"/>
          <p:nvPr/>
        </p:nvSpPr>
        <p:spPr bwMode="auto">
          <a:xfrm>
            <a:off x="2627313" y="2435225"/>
            <a:ext cx="1162050" cy="307975"/>
          </a:xfrm>
          <a:prstGeom prst="rect">
            <a:avLst/>
          </a:prstGeom>
          <a:noFill/>
        </p:spPr>
        <p:txBody>
          <a:bodyPr wrap="none">
            <a:spAutoFit/>
          </a:bodyPr>
          <a:lstStyle/>
          <a:p>
            <a:pPr>
              <a:defRPr/>
            </a:pPr>
            <a:r>
              <a:rPr lang="en-US" sz="1400" dirty="0">
                <a:solidFill>
                  <a:schemeClr val="tx1"/>
                </a:solidFill>
                <a:latin typeface="+mn-lt"/>
                <a:ea typeface="+mn-ea"/>
              </a:rPr>
              <a:t>[K+] = 4 </a:t>
            </a:r>
            <a:r>
              <a:rPr lang="en-US" sz="1400" dirty="0" err="1">
                <a:solidFill>
                  <a:schemeClr val="tx1"/>
                </a:solidFill>
                <a:latin typeface="+mn-lt"/>
                <a:ea typeface="+mn-ea"/>
              </a:rPr>
              <a:t>mM</a:t>
            </a:r>
            <a:endParaRPr lang="en-US" sz="1400" dirty="0">
              <a:solidFill>
                <a:schemeClr val="tx1"/>
              </a:solidFill>
              <a:latin typeface="+mn-lt"/>
              <a:ea typeface="+mn-ea"/>
            </a:endParaRPr>
          </a:p>
        </p:txBody>
      </p:sp>
      <p:sp>
        <p:nvSpPr>
          <p:cNvPr id="36884" name="Rectangle 13">
            <a:extLst>
              <a:ext uri="{FF2B5EF4-FFF2-40B4-BE49-F238E27FC236}">
                <a16:creationId xmlns:a16="http://schemas.microsoft.com/office/drawing/2014/main" id="{E7D2B920-A050-A4A0-6BC1-3083A74463B5}"/>
              </a:ext>
            </a:extLst>
          </p:cNvPr>
          <p:cNvSpPr>
            <a:spLocks noChangeArrowheads="1"/>
          </p:cNvSpPr>
          <p:nvPr/>
        </p:nvSpPr>
        <p:spPr bwMode="auto">
          <a:xfrm>
            <a:off x="2484438" y="5876925"/>
            <a:ext cx="13620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[K+] = 150 mM</a:t>
            </a:r>
          </a:p>
        </p:txBody>
      </p:sp>
      <p:sp>
        <p:nvSpPr>
          <p:cNvPr id="17" name="Rectangle 16">
            <a:extLst>
              <a:ext uri="{FF2B5EF4-FFF2-40B4-BE49-F238E27FC236}">
                <a16:creationId xmlns:a16="http://schemas.microsoft.com/office/drawing/2014/main" id="{D0DFE9E1-88A6-A1D2-1E8D-9A12A035FD60}"/>
              </a:ext>
            </a:extLst>
          </p:cNvPr>
          <p:cNvSpPr>
            <a:spLocks/>
          </p:cNvSpPr>
          <p:nvPr/>
        </p:nvSpPr>
        <p:spPr bwMode="auto">
          <a:xfrm>
            <a:off x="539750" y="4005263"/>
            <a:ext cx="2447925" cy="576262"/>
          </a:xfrm>
          <a:prstGeom prst="rect">
            <a:avLst/>
          </a:prstGeom>
          <a:solidFill>
            <a:schemeClr val="bg2">
              <a:lumMod val="60000"/>
              <a:lumOff val="40000"/>
            </a:schemeClr>
          </a:solidFill>
          <a:ln w="12700" cap="flat" cmpd="sng" algn="ctr">
            <a:solidFill>
              <a:schemeClr val="tx1"/>
            </a:solidFill>
            <a:prstDash val="solid"/>
            <a:round/>
            <a:headEnd type="none" w="med" len="med"/>
            <a:tailEnd type="none" w="med" len="med"/>
          </a:ln>
          <a:effectLst/>
        </p:spPr>
        <p:txBody>
          <a:bodyPr/>
          <a:lstStyle/>
          <a:p>
            <a:pPr>
              <a:defRPr/>
            </a:pPr>
            <a:endParaRPr lang="en-US">
              <a:latin typeface="Times New Roman" charset="0"/>
              <a:ea typeface="ＭＳ Ｐゴシック" charset="0"/>
              <a:cs typeface="ＭＳ Ｐゴシック" charset="0"/>
            </a:endParaRPr>
          </a:p>
        </p:txBody>
      </p:sp>
      <p:sp>
        <p:nvSpPr>
          <p:cNvPr id="36886" name="Oval 17">
            <a:extLst>
              <a:ext uri="{FF2B5EF4-FFF2-40B4-BE49-F238E27FC236}">
                <a16:creationId xmlns:a16="http://schemas.microsoft.com/office/drawing/2014/main" id="{9A485630-CACB-05A0-4DDA-BB1C23609FB0}"/>
              </a:ext>
            </a:extLst>
          </p:cNvPr>
          <p:cNvSpPr>
            <a:spLocks noChangeArrowheads="1"/>
          </p:cNvSpPr>
          <p:nvPr/>
        </p:nvSpPr>
        <p:spPr bwMode="auto">
          <a:xfrm>
            <a:off x="2873375" y="3752850"/>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36887" name="Oval 18">
            <a:extLst>
              <a:ext uri="{FF2B5EF4-FFF2-40B4-BE49-F238E27FC236}">
                <a16:creationId xmlns:a16="http://schemas.microsoft.com/office/drawing/2014/main" id="{F323B497-070C-2017-74C1-A4A4DEAD8AB2}"/>
              </a:ext>
            </a:extLst>
          </p:cNvPr>
          <p:cNvSpPr>
            <a:spLocks noChangeArrowheads="1"/>
          </p:cNvSpPr>
          <p:nvPr/>
        </p:nvSpPr>
        <p:spPr bwMode="auto">
          <a:xfrm>
            <a:off x="3365500" y="3760788"/>
            <a:ext cx="304800" cy="1066800"/>
          </a:xfrm>
          <a:prstGeom prst="ellipse">
            <a:avLst/>
          </a:prstGeom>
          <a:solidFill>
            <a:srgbClr val="008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cxnSp>
        <p:nvCxnSpPr>
          <p:cNvPr id="36888" name="Straight Arrow Connector 19">
            <a:extLst>
              <a:ext uri="{FF2B5EF4-FFF2-40B4-BE49-F238E27FC236}">
                <a16:creationId xmlns:a16="http://schemas.microsoft.com/office/drawing/2014/main" id="{80DECF26-AD77-2214-AD86-7E08149664ED}"/>
              </a:ext>
            </a:extLst>
          </p:cNvPr>
          <p:cNvCxnSpPr>
            <a:cxnSpLocks noChangeShapeType="1"/>
            <a:stCxn id="36889" idx="0"/>
          </p:cNvCxnSpPr>
          <p:nvPr/>
        </p:nvCxnSpPr>
        <p:spPr bwMode="auto">
          <a:xfrm flipH="1" flipV="1">
            <a:off x="3276600" y="3141663"/>
            <a:ext cx="3175" cy="2303462"/>
          </a:xfrm>
          <a:prstGeom prst="straightConnector1">
            <a:avLst/>
          </a:prstGeom>
          <a:noFill/>
          <a:ln w="127000">
            <a:solidFill>
              <a:srgbClr val="E0A28C"/>
            </a:solidFill>
            <a:round/>
            <a:headEnd/>
            <a:tailEnd type="arrow" w="med" len="med"/>
          </a:ln>
          <a:extLst>
            <a:ext uri="{909E8E84-426E-40DD-AFC4-6F175D3DCCD1}">
              <a14:hiddenFill xmlns:a14="http://schemas.microsoft.com/office/drawing/2010/main">
                <a:noFill/>
              </a14:hiddenFill>
            </a:ext>
          </a:extLst>
        </p:spPr>
      </p:cxnSp>
      <p:sp>
        <p:nvSpPr>
          <p:cNvPr id="36889" name="TextBox 20">
            <a:extLst>
              <a:ext uri="{FF2B5EF4-FFF2-40B4-BE49-F238E27FC236}">
                <a16:creationId xmlns:a16="http://schemas.microsoft.com/office/drawing/2014/main" id="{17408917-7847-D8CF-A9D6-1253C6C64816}"/>
              </a:ext>
            </a:extLst>
          </p:cNvPr>
          <p:cNvSpPr txBox="1">
            <a:spLocks noChangeArrowheads="1"/>
          </p:cNvSpPr>
          <p:nvPr/>
        </p:nvSpPr>
        <p:spPr bwMode="auto">
          <a:xfrm>
            <a:off x="3059113" y="5445125"/>
            <a:ext cx="441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sp>
        <p:nvSpPr>
          <p:cNvPr id="36890" name="TextBox 21">
            <a:extLst>
              <a:ext uri="{FF2B5EF4-FFF2-40B4-BE49-F238E27FC236}">
                <a16:creationId xmlns:a16="http://schemas.microsoft.com/office/drawing/2014/main" id="{D289AAFD-F01A-B238-1AE4-58FB64A6BCB8}"/>
              </a:ext>
            </a:extLst>
          </p:cNvPr>
          <p:cNvSpPr txBox="1">
            <a:spLocks noChangeArrowheads="1"/>
          </p:cNvSpPr>
          <p:nvPr/>
        </p:nvSpPr>
        <p:spPr bwMode="auto">
          <a:xfrm>
            <a:off x="2119313" y="3378200"/>
            <a:ext cx="358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a:t>+</a:t>
            </a:r>
          </a:p>
        </p:txBody>
      </p:sp>
      <p:sp>
        <p:nvSpPr>
          <p:cNvPr id="36891" name="Rectangle 42">
            <a:extLst>
              <a:ext uri="{FF2B5EF4-FFF2-40B4-BE49-F238E27FC236}">
                <a16:creationId xmlns:a16="http://schemas.microsoft.com/office/drawing/2014/main" id="{12465661-E791-4024-EEDE-18606EEA825D}"/>
              </a:ext>
            </a:extLst>
          </p:cNvPr>
          <p:cNvSpPr>
            <a:spLocks noChangeArrowheads="1"/>
          </p:cNvSpPr>
          <p:nvPr/>
        </p:nvSpPr>
        <p:spPr bwMode="auto">
          <a:xfrm>
            <a:off x="3051175" y="2781300"/>
            <a:ext cx="442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K+</a:t>
            </a:r>
          </a:p>
        </p:txBody>
      </p:sp>
      <p:grpSp>
        <p:nvGrpSpPr>
          <p:cNvPr id="36892" name="Group 5">
            <a:extLst>
              <a:ext uri="{FF2B5EF4-FFF2-40B4-BE49-F238E27FC236}">
                <a16:creationId xmlns:a16="http://schemas.microsoft.com/office/drawing/2014/main" id="{EFEF1705-04EA-7ED8-D2A6-B4A420C66F7E}"/>
              </a:ext>
            </a:extLst>
          </p:cNvPr>
          <p:cNvGrpSpPr>
            <a:grpSpLocks/>
          </p:cNvGrpSpPr>
          <p:nvPr/>
        </p:nvGrpSpPr>
        <p:grpSpPr bwMode="auto">
          <a:xfrm>
            <a:off x="684213" y="4797425"/>
            <a:ext cx="2043112" cy="1328738"/>
            <a:chOff x="107504" y="4581128"/>
            <a:chExt cx="2043838" cy="1328385"/>
          </a:xfrm>
        </p:grpSpPr>
        <p:grpSp>
          <p:nvGrpSpPr>
            <p:cNvPr id="36897" name="Group 3">
              <a:extLst>
                <a:ext uri="{FF2B5EF4-FFF2-40B4-BE49-F238E27FC236}">
                  <a16:creationId xmlns:a16="http://schemas.microsoft.com/office/drawing/2014/main" id="{042DF6F5-A4E1-D0B1-7055-33B61598921D}"/>
                </a:ext>
              </a:extLst>
            </p:cNvPr>
            <p:cNvGrpSpPr>
              <a:grpSpLocks/>
            </p:cNvGrpSpPr>
            <p:nvPr/>
          </p:nvGrpSpPr>
          <p:grpSpPr bwMode="auto">
            <a:xfrm>
              <a:off x="107504" y="4581128"/>
              <a:ext cx="1711449" cy="990600"/>
              <a:chOff x="1403648" y="4946600"/>
              <a:chExt cx="1711449" cy="990600"/>
            </a:xfrm>
          </p:grpSpPr>
          <p:sp>
            <p:nvSpPr>
              <p:cNvPr id="36904" name="Rectangle 27">
                <a:extLst>
                  <a:ext uri="{FF2B5EF4-FFF2-40B4-BE49-F238E27FC236}">
                    <a16:creationId xmlns:a16="http://schemas.microsoft.com/office/drawing/2014/main" id="{AA924A4E-A215-6E19-D141-7C2A6996D147}"/>
                  </a:ext>
                </a:extLst>
              </p:cNvPr>
              <p:cNvSpPr>
                <a:spLocks noChangeArrowheads="1"/>
              </p:cNvSpPr>
              <p:nvPr/>
            </p:nvSpPr>
            <p:spPr bwMode="auto">
              <a:xfrm>
                <a:off x="1403648" y="5445224"/>
                <a:ext cx="252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6905" name="Oval 21">
                <a:extLst>
                  <a:ext uri="{FF2B5EF4-FFF2-40B4-BE49-F238E27FC236}">
                    <a16:creationId xmlns:a16="http://schemas.microsoft.com/office/drawing/2014/main" id="{B04270A7-1252-DEC5-0A47-1B78A5A96657}"/>
                  </a:ext>
                </a:extLst>
              </p:cNvPr>
              <p:cNvSpPr>
                <a:spLocks noChangeArrowheads="1"/>
              </p:cNvSpPr>
              <p:nvPr/>
            </p:nvSpPr>
            <p:spPr bwMode="auto">
              <a:xfrm>
                <a:off x="1638722" y="5116463"/>
                <a:ext cx="1476375" cy="820737"/>
              </a:xfrm>
              <a:prstGeom prst="ellipse">
                <a:avLst/>
              </a:prstGeom>
              <a:solidFill>
                <a:srgbClr val="E88981"/>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sz="3600">
                  <a:solidFill>
                    <a:srgbClr val="000099"/>
                  </a:solidFill>
                </a:endParaRPr>
              </a:p>
            </p:txBody>
          </p:sp>
          <p:sp>
            <p:nvSpPr>
              <p:cNvPr id="36906" name="TextBox 19">
                <a:extLst>
                  <a:ext uri="{FF2B5EF4-FFF2-40B4-BE49-F238E27FC236}">
                    <a16:creationId xmlns:a16="http://schemas.microsoft.com/office/drawing/2014/main" id="{0CF95A3A-8453-966B-1EF8-F8B3878710AE}"/>
                  </a:ext>
                </a:extLst>
              </p:cNvPr>
              <p:cNvSpPr txBox="1">
                <a:spLocks noChangeArrowheads="1"/>
              </p:cNvSpPr>
              <p:nvPr/>
            </p:nvSpPr>
            <p:spPr bwMode="auto">
              <a:xfrm>
                <a:off x="1691680" y="5306509"/>
                <a:ext cx="13646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800">
                    <a:solidFill>
                      <a:srgbClr val="000000"/>
                    </a:solidFill>
                    <a:latin typeface="Arial" panose="020B0604020202020204" pitchFamily="34" charset="0"/>
                  </a:rPr>
                  <a:t>PROTEINS</a:t>
                </a:r>
                <a:endParaRPr lang="en-US" altLang="en-US" sz="1800" baseline="30000">
                  <a:solidFill>
                    <a:srgbClr val="000000"/>
                  </a:solidFill>
                  <a:latin typeface="Arial" panose="020B0604020202020204" pitchFamily="34" charset="0"/>
                </a:endParaRPr>
              </a:p>
            </p:txBody>
          </p:sp>
          <p:sp>
            <p:nvSpPr>
              <p:cNvPr id="36907" name="TextBox 22">
                <a:extLst>
                  <a:ext uri="{FF2B5EF4-FFF2-40B4-BE49-F238E27FC236}">
                    <a16:creationId xmlns:a16="http://schemas.microsoft.com/office/drawing/2014/main" id="{15E026C3-7E27-6824-9432-54577F496CAB}"/>
                  </a:ext>
                </a:extLst>
              </p:cNvPr>
              <p:cNvSpPr txBox="1">
                <a:spLocks noChangeArrowheads="1"/>
              </p:cNvSpPr>
              <p:nvPr/>
            </p:nvSpPr>
            <p:spPr bwMode="auto">
              <a:xfrm>
                <a:off x="1903835" y="4949775"/>
                <a:ext cx="25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6908" name="Rectangle 23">
                <a:extLst>
                  <a:ext uri="{FF2B5EF4-FFF2-40B4-BE49-F238E27FC236}">
                    <a16:creationId xmlns:a16="http://schemas.microsoft.com/office/drawing/2014/main" id="{0865F12E-08E7-5C7C-7EA1-5DC767183265}"/>
                  </a:ext>
                </a:extLst>
              </p:cNvPr>
              <p:cNvSpPr>
                <a:spLocks noChangeArrowheads="1"/>
              </p:cNvSpPr>
              <p:nvPr/>
            </p:nvSpPr>
            <p:spPr bwMode="auto">
              <a:xfrm>
                <a:off x="2832522" y="5025975"/>
                <a:ext cx="252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p>
            </p:txBody>
          </p:sp>
          <p:sp>
            <p:nvSpPr>
              <p:cNvPr id="36909" name="Rectangle 24">
                <a:extLst>
                  <a:ext uri="{FF2B5EF4-FFF2-40B4-BE49-F238E27FC236}">
                    <a16:creationId xmlns:a16="http://schemas.microsoft.com/office/drawing/2014/main" id="{B87D2D9A-B55F-6956-AB09-90E4F3EBC04D}"/>
                  </a:ext>
                </a:extLst>
              </p:cNvPr>
              <p:cNvSpPr>
                <a:spLocks noChangeArrowheads="1"/>
              </p:cNvSpPr>
              <p:nvPr/>
            </p:nvSpPr>
            <p:spPr bwMode="auto">
              <a:xfrm>
                <a:off x="2362622" y="4946600"/>
                <a:ext cx="25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p>
            </p:txBody>
          </p:sp>
          <p:sp>
            <p:nvSpPr>
              <p:cNvPr id="36910" name="Rectangle 25">
                <a:extLst>
                  <a:ext uri="{FF2B5EF4-FFF2-40B4-BE49-F238E27FC236}">
                    <a16:creationId xmlns:a16="http://schemas.microsoft.com/office/drawing/2014/main" id="{85ABFAB2-EA70-4E63-2A75-492F1D4CA13B}"/>
                  </a:ext>
                </a:extLst>
              </p:cNvPr>
              <p:cNvSpPr>
                <a:spLocks noChangeArrowheads="1"/>
              </p:cNvSpPr>
              <p:nvPr/>
            </p:nvSpPr>
            <p:spPr bwMode="auto">
              <a:xfrm>
                <a:off x="1678410" y="5016450"/>
                <a:ext cx="254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p>
            </p:txBody>
          </p:sp>
        </p:grpSp>
        <p:sp>
          <p:nvSpPr>
            <p:cNvPr id="36898" name="Rectangle 26">
              <a:extLst>
                <a:ext uri="{FF2B5EF4-FFF2-40B4-BE49-F238E27FC236}">
                  <a16:creationId xmlns:a16="http://schemas.microsoft.com/office/drawing/2014/main" id="{A6198A31-87B0-5DA5-3469-38A4CE5CF58D}"/>
                </a:ext>
              </a:extLst>
            </p:cNvPr>
            <p:cNvSpPr>
              <a:spLocks noChangeArrowheads="1"/>
            </p:cNvSpPr>
            <p:nvPr/>
          </p:nvSpPr>
          <p:spPr bwMode="auto">
            <a:xfrm flipH="1">
              <a:off x="1763688" y="5013176"/>
              <a:ext cx="38765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6899" name="Rectangle 28">
              <a:extLst>
                <a:ext uri="{FF2B5EF4-FFF2-40B4-BE49-F238E27FC236}">
                  <a16:creationId xmlns:a16="http://schemas.microsoft.com/office/drawing/2014/main" id="{B6A122EB-1E86-136A-2165-7A2970612C34}"/>
                </a:ext>
              </a:extLst>
            </p:cNvPr>
            <p:cNvSpPr>
              <a:spLocks noChangeArrowheads="1"/>
            </p:cNvSpPr>
            <p:nvPr/>
          </p:nvSpPr>
          <p:spPr bwMode="auto">
            <a:xfrm>
              <a:off x="251520" y="5373216"/>
              <a:ext cx="2524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6900" name="Rectangle 29">
              <a:extLst>
                <a:ext uri="{FF2B5EF4-FFF2-40B4-BE49-F238E27FC236}">
                  <a16:creationId xmlns:a16="http://schemas.microsoft.com/office/drawing/2014/main" id="{9DDA1FF8-F8A8-4D40-E835-57652377FE9E}"/>
                </a:ext>
              </a:extLst>
            </p:cNvPr>
            <p:cNvSpPr>
              <a:spLocks noChangeArrowheads="1"/>
            </p:cNvSpPr>
            <p:nvPr/>
          </p:nvSpPr>
          <p:spPr bwMode="auto">
            <a:xfrm flipH="1">
              <a:off x="903872" y="5570959"/>
              <a:ext cx="3128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6901" name="Rectangle 30">
              <a:extLst>
                <a:ext uri="{FF2B5EF4-FFF2-40B4-BE49-F238E27FC236}">
                  <a16:creationId xmlns:a16="http://schemas.microsoft.com/office/drawing/2014/main" id="{1D90811A-FC83-49F4-AFC8-04C5FE94E0B1}"/>
                </a:ext>
              </a:extLst>
            </p:cNvPr>
            <p:cNvSpPr>
              <a:spLocks noChangeArrowheads="1"/>
            </p:cNvSpPr>
            <p:nvPr/>
          </p:nvSpPr>
          <p:spPr bwMode="auto">
            <a:xfrm flipH="1">
              <a:off x="1547664" y="5373216"/>
              <a:ext cx="3148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6902" name="Rectangle 31">
              <a:extLst>
                <a:ext uri="{FF2B5EF4-FFF2-40B4-BE49-F238E27FC236}">
                  <a16:creationId xmlns:a16="http://schemas.microsoft.com/office/drawing/2014/main" id="{DC76247E-65EF-0F04-1F64-8A5D92ECCC79}"/>
                </a:ext>
              </a:extLst>
            </p:cNvPr>
            <p:cNvSpPr>
              <a:spLocks noChangeArrowheads="1"/>
            </p:cNvSpPr>
            <p:nvPr/>
          </p:nvSpPr>
          <p:spPr bwMode="auto">
            <a:xfrm flipH="1">
              <a:off x="1259632" y="5517232"/>
              <a:ext cx="3128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sp>
          <p:nvSpPr>
            <p:cNvPr id="36903" name="Rectangle 32">
              <a:extLst>
                <a:ext uri="{FF2B5EF4-FFF2-40B4-BE49-F238E27FC236}">
                  <a16:creationId xmlns:a16="http://schemas.microsoft.com/office/drawing/2014/main" id="{CEFED33F-FE74-A34C-DAD0-0925A9022CDF}"/>
                </a:ext>
              </a:extLst>
            </p:cNvPr>
            <p:cNvSpPr>
              <a:spLocks noChangeArrowheads="1"/>
            </p:cNvSpPr>
            <p:nvPr/>
          </p:nvSpPr>
          <p:spPr bwMode="auto">
            <a:xfrm flipH="1">
              <a:off x="640347" y="5531272"/>
              <a:ext cx="3128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baseline="30000">
                  <a:solidFill>
                    <a:srgbClr val="000000"/>
                  </a:solidFill>
                  <a:latin typeface="Arial" panose="020B0604020202020204" pitchFamily="34" charset="0"/>
                </a:rPr>
                <a:t>-</a:t>
              </a:r>
              <a:endParaRPr lang="en-US" altLang="en-US">
                <a:solidFill>
                  <a:srgbClr val="000000"/>
                </a:solidFill>
              </a:endParaRPr>
            </a:p>
          </p:txBody>
        </p:sp>
      </p:grpSp>
      <p:sp>
        <p:nvSpPr>
          <p:cNvPr id="36893" name="TextBox 14">
            <a:extLst>
              <a:ext uri="{FF2B5EF4-FFF2-40B4-BE49-F238E27FC236}">
                <a16:creationId xmlns:a16="http://schemas.microsoft.com/office/drawing/2014/main" id="{A73CAAFC-2127-EE16-857D-6683DB86F502}"/>
              </a:ext>
            </a:extLst>
          </p:cNvPr>
          <p:cNvSpPr txBox="1">
            <a:spLocks noChangeArrowheads="1"/>
          </p:cNvSpPr>
          <p:nvPr/>
        </p:nvSpPr>
        <p:spPr bwMode="auto">
          <a:xfrm>
            <a:off x="6875463" y="4581525"/>
            <a:ext cx="1377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800">
                <a:solidFill>
                  <a:schemeClr val="tx1"/>
                </a:solidFill>
                <a:latin typeface="Arial" panose="020B0604020202020204" pitchFamily="34" charset="0"/>
              </a:rPr>
              <a:t>Intracellular</a:t>
            </a:r>
          </a:p>
        </p:txBody>
      </p:sp>
      <p:sp>
        <p:nvSpPr>
          <p:cNvPr id="36894" name="Rectangle 15">
            <a:extLst>
              <a:ext uri="{FF2B5EF4-FFF2-40B4-BE49-F238E27FC236}">
                <a16:creationId xmlns:a16="http://schemas.microsoft.com/office/drawing/2014/main" id="{F44634F0-EDA0-35BF-618E-6C2113FBD5FF}"/>
              </a:ext>
            </a:extLst>
          </p:cNvPr>
          <p:cNvSpPr>
            <a:spLocks noChangeArrowheads="1"/>
          </p:cNvSpPr>
          <p:nvPr/>
        </p:nvSpPr>
        <p:spPr bwMode="auto">
          <a:xfrm>
            <a:off x="6875463" y="3573463"/>
            <a:ext cx="1455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800">
                <a:solidFill>
                  <a:schemeClr val="tx1"/>
                </a:solidFill>
                <a:latin typeface="Arial" panose="020B0604020202020204" pitchFamily="34" charset="0"/>
              </a:rPr>
              <a:t>Extracellular</a:t>
            </a:r>
          </a:p>
        </p:txBody>
      </p:sp>
      <p:cxnSp>
        <p:nvCxnSpPr>
          <p:cNvPr id="36895" name="Straight Arrow Connector 9">
            <a:extLst>
              <a:ext uri="{FF2B5EF4-FFF2-40B4-BE49-F238E27FC236}">
                <a16:creationId xmlns:a16="http://schemas.microsoft.com/office/drawing/2014/main" id="{72A863B2-AB7D-08A5-5534-0758877BE617}"/>
              </a:ext>
            </a:extLst>
          </p:cNvPr>
          <p:cNvCxnSpPr>
            <a:cxnSpLocks noChangeShapeType="1"/>
          </p:cNvCxnSpPr>
          <p:nvPr/>
        </p:nvCxnSpPr>
        <p:spPr bwMode="auto">
          <a:xfrm flipH="1">
            <a:off x="4708525" y="3195638"/>
            <a:ext cx="33338" cy="2298700"/>
          </a:xfrm>
          <a:prstGeom prst="straightConnector1">
            <a:avLst/>
          </a:prstGeom>
          <a:noFill/>
          <a:ln w="203200">
            <a:solidFill>
              <a:srgbClr val="E0A28C"/>
            </a:solidFill>
            <a:round/>
            <a:headEnd/>
            <a:tailEnd type="arrow" w="med" len="med"/>
          </a:ln>
          <a:extLst>
            <a:ext uri="{909E8E84-426E-40DD-AFC4-6F175D3DCCD1}">
              <a14:hiddenFill xmlns:a14="http://schemas.microsoft.com/office/drawing/2010/main">
                <a:noFill/>
              </a14:hiddenFill>
            </a:ext>
          </a:extLst>
        </p:spPr>
      </p:cxnSp>
      <p:sp>
        <p:nvSpPr>
          <p:cNvPr id="36896" name="TextBox 2">
            <a:extLst>
              <a:ext uri="{FF2B5EF4-FFF2-40B4-BE49-F238E27FC236}">
                <a16:creationId xmlns:a16="http://schemas.microsoft.com/office/drawing/2014/main" id="{5DA0765B-9C80-1F6F-615C-543671756C24}"/>
              </a:ext>
            </a:extLst>
          </p:cNvPr>
          <p:cNvSpPr txBox="1">
            <a:spLocks noChangeArrowheads="1"/>
          </p:cNvSpPr>
          <p:nvPr/>
        </p:nvSpPr>
        <p:spPr bwMode="auto">
          <a:xfrm>
            <a:off x="2244725" y="6457950"/>
            <a:ext cx="4416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2000">
                <a:solidFill>
                  <a:srgbClr val="FF0000"/>
                </a:solidFill>
                <a:latin typeface="Arial" panose="020B0604020202020204" pitchFamily="34" charset="0"/>
              </a:rPr>
              <a:t>Membrane potential of about +75 mV</a:t>
            </a:r>
            <a:endParaRPr lang="en-US" altLang="en-US" sz="200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a:extLst>
              <a:ext uri="{FF2B5EF4-FFF2-40B4-BE49-F238E27FC236}">
                <a16:creationId xmlns:a16="http://schemas.microsoft.com/office/drawing/2014/main" id="{813BFB6D-ED29-8306-8101-719F735E327C}"/>
              </a:ext>
            </a:extLst>
          </p:cNvPr>
          <p:cNvSpPr>
            <a:spLocks noGrp="1" noChangeArrowheads="1"/>
          </p:cNvSpPr>
          <p:nvPr>
            <p:ph type="body" idx="1"/>
          </p:nvPr>
        </p:nvSpPr>
        <p:spPr>
          <a:xfrm>
            <a:off x="598488" y="1377950"/>
            <a:ext cx="7948612" cy="4800600"/>
          </a:xfrm>
        </p:spPr>
        <p:txBody>
          <a:bodyPr/>
          <a:lstStyle/>
          <a:p>
            <a:r>
              <a:rPr lang="en-US" altLang="en-US" sz="2000">
                <a:solidFill>
                  <a:srgbClr val="000000"/>
                </a:solidFill>
              </a:rPr>
              <a:t>The resting membrane potential is not an equilibrium potential because it relies on the constant expenditure of energy via ion pumps - it is a dynamic</a:t>
            </a:r>
            <a:r>
              <a:rPr lang="en-US" altLang="en-US" sz="2000" b="1">
                <a:solidFill>
                  <a:srgbClr val="000000"/>
                </a:solidFill>
              </a:rPr>
              <a:t> diffusion potentia</a:t>
            </a:r>
            <a:r>
              <a:rPr lang="en-US" altLang="en-US" sz="2000">
                <a:solidFill>
                  <a:srgbClr val="000000"/>
                </a:solidFill>
              </a:rPr>
              <a:t>l.</a:t>
            </a:r>
          </a:p>
          <a:p>
            <a:pPr>
              <a:buFontTx/>
              <a:buNone/>
            </a:pPr>
            <a:endParaRPr lang="en-GB" altLang="en-US" sz="2000">
              <a:solidFill>
                <a:srgbClr val="000099"/>
              </a:solidFill>
            </a:endParaRPr>
          </a:p>
          <a:p>
            <a:r>
              <a:rPr lang="en-GB" altLang="en-US" sz="2000">
                <a:solidFill>
                  <a:srgbClr val="000000"/>
                </a:solidFill>
              </a:rPr>
              <a:t>The measured membrane potential depends both on the ionic gradients across the cell membrane and the permeability of the membrane (how many channels are open) to the different kinds of ion present.  </a:t>
            </a:r>
          </a:p>
          <a:p>
            <a:endParaRPr lang="en-GB" altLang="en-US" sz="2000">
              <a:solidFill>
                <a:srgbClr val="000099"/>
              </a:solidFill>
            </a:endParaRPr>
          </a:p>
          <a:p>
            <a:r>
              <a:rPr lang="en-GB" altLang="en-US" sz="2000">
                <a:solidFill>
                  <a:srgbClr val="000000"/>
                </a:solidFill>
              </a:rPr>
              <a:t>The precise relationship is given by the Goldman equation (also known as </a:t>
            </a:r>
            <a:r>
              <a:rPr lang="en-US" altLang="en-US" sz="2000">
                <a:solidFill>
                  <a:srgbClr val="000000"/>
                </a:solidFill>
              </a:rPr>
              <a:t>Goldman–Hodgkin–Katz voltage equation) </a:t>
            </a:r>
            <a:r>
              <a:rPr lang="en-GB" altLang="en-US" sz="2000">
                <a:solidFill>
                  <a:srgbClr val="000000"/>
                </a:solidFill>
              </a:rPr>
              <a:t>which takes into account both the ionic gradients that exist across the membrane and the permeability of the membrane to the different ions.</a:t>
            </a:r>
          </a:p>
        </p:txBody>
      </p:sp>
      <p:sp>
        <p:nvSpPr>
          <p:cNvPr id="34818" name="Rectangle 6">
            <a:extLst>
              <a:ext uri="{FF2B5EF4-FFF2-40B4-BE49-F238E27FC236}">
                <a16:creationId xmlns:a16="http://schemas.microsoft.com/office/drawing/2014/main" id="{AD560905-D8EE-F5BD-D6D3-F5DF9399E535}"/>
              </a:ext>
            </a:extLst>
          </p:cNvPr>
          <p:cNvSpPr>
            <a:spLocks noChangeArrowheads="1"/>
          </p:cNvSpPr>
          <p:nvPr/>
        </p:nvSpPr>
        <p:spPr bwMode="auto">
          <a:xfrm>
            <a:off x="611188" y="1588"/>
            <a:ext cx="49672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Membrane Potential</a:t>
            </a:r>
            <a:endParaRPr lang="en-GB" altLang="en-US">
              <a:solidFill>
                <a:srgbClr val="FFFF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96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96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D77FB3-5C87-1A41-053B-CF3CCB515C62}"/>
              </a:ext>
            </a:extLst>
          </p:cNvPr>
          <p:cNvSpPr txBox="1"/>
          <p:nvPr/>
        </p:nvSpPr>
        <p:spPr>
          <a:xfrm>
            <a:off x="774834" y="1713076"/>
            <a:ext cx="7733899" cy="3170099"/>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tx1"/>
                </a:solidFill>
                <a:latin typeface="+mn-lt"/>
              </a:rPr>
              <a:t>The Nernst equation helps in calculating the equilibrium potential for each ion individually.</a:t>
            </a:r>
          </a:p>
          <a:p>
            <a:pPr marL="342900" indent="-342900">
              <a:buFont typeface="Arial" panose="020B0604020202020204" pitchFamily="34" charset="0"/>
              <a:buChar char="•"/>
            </a:pPr>
            <a:endParaRPr lang="en-US" sz="2000" dirty="0">
              <a:solidFill>
                <a:schemeClr val="tx1"/>
              </a:solidFill>
              <a:latin typeface="+mn-lt"/>
            </a:endParaRPr>
          </a:p>
          <a:p>
            <a:pPr marL="342900" indent="-342900">
              <a:buFont typeface="Arial" panose="020B0604020202020204" pitchFamily="34" charset="0"/>
              <a:buChar char="•"/>
            </a:pPr>
            <a:r>
              <a:rPr lang="en-US" sz="2000" dirty="0">
                <a:solidFill>
                  <a:schemeClr val="tx1"/>
                </a:solidFill>
                <a:latin typeface="+mn-lt"/>
              </a:rPr>
              <a:t>However, the magnitude of membrane potential at any given time depends on distribution and permeability of Na</a:t>
            </a:r>
            <a:r>
              <a:rPr lang="en-US" sz="2000" baseline="30000" dirty="0">
                <a:solidFill>
                  <a:schemeClr val="tx1"/>
                </a:solidFill>
                <a:latin typeface="+mn-lt"/>
              </a:rPr>
              <a:t>+</a:t>
            </a:r>
            <a:r>
              <a:rPr lang="en-US" sz="2000" dirty="0">
                <a:solidFill>
                  <a:schemeClr val="tx1"/>
                </a:solidFill>
                <a:latin typeface="+mn-lt"/>
              </a:rPr>
              <a:t>, K</a:t>
            </a:r>
            <a:r>
              <a:rPr lang="en-US" sz="2000" baseline="30000" dirty="0">
                <a:solidFill>
                  <a:schemeClr val="tx1"/>
                </a:solidFill>
                <a:latin typeface="+mn-lt"/>
              </a:rPr>
              <a:t>+</a:t>
            </a:r>
            <a:r>
              <a:rPr lang="en-US" sz="2000" dirty="0">
                <a:solidFill>
                  <a:schemeClr val="tx1"/>
                </a:solidFill>
                <a:latin typeface="+mn-lt"/>
              </a:rPr>
              <a:t> and Cl</a:t>
            </a:r>
            <a:r>
              <a:rPr lang="en-US" sz="2000" baseline="30000" dirty="0">
                <a:solidFill>
                  <a:schemeClr val="tx1"/>
                </a:solidFill>
                <a:latin typeface="+mn-lt"/>
              </a:rPr>
              <a:t>- </a:t>
            </a:r>
            <a:r>
              <a:rPr lang="en-US" sz="2000" dirty="0">
                <a:solidFill>
                  <a:schemeClr val="tx1"/>
                </a:solidFill>
                <a:latin typeface="+mn-lt"/>
              </a:rPr>
              <a:t>ions.</a:t>
            </a:r>
          </a:p>
          <a:p>
            <a:pPr marL="342900" indent="-342900">
              <a:buFont typeface="Arial" panose="020B0604020202020204" pitchFamily="34" charset="0"/>
              <a:buChar char="•"/>
            </a:pPr>
            <a:endParaRPr lang="en-US" sz="2000" dirty="0">
              <a:solidFill>
                <a:schemeClr val="tx1"/>
              </a:solidFill>
              <a:latin typeface="+mn-lt"/>
            </a:endParaRPr>
          </a:p>
          <a:p>
            <a:pPr marL="342900" indent="-342900">
              <a:buFont typeface="Arial" panose="020B0604020202020204" pitchFamily="34" charset="0"/>
              <a:buChar char="•"/>
            </a:pPr>
            <a:r>
              <a:rPr lang="en-US" sz="2000" dirty="0">
                <a:solidFill>
                  <a:schemeClr val="tx1"/>
                </a:solidFill>
                <a:latin typeface="+mn-lt"/>
              </a:rPr>
              <a:t>The integrated role of different ions in the generation of membrane potential can be described accurately by the GOLDMANN-HODGKIN-KATZ (GHK) equation.</a:t>
            </a:r>
          </a:p>
        </p:txBody>
      </p:sp>
    </p:spTree>
    <p:extLst>
      <p:ext uri="{BB962C8B-B14F-4D97-AF65-F5344CB8AC3E}">
        <p14:creationId xmlns:p14="http://schemas.microsoft.com/office/powerpoint/2010/main" val="1778353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1">
            <a:extLst>
              <a:ext uri="{FF2B5EF4-FFF2-40B4-BE49-F238E27FC236}">
                <a16:creationId xmlns:a16="http://schemas.microsoft.com/office/drawing/2014/main" id="{5D0C387B-E464-15D7-3E14-C4479EF186C5}"/>
              </a:ext>
            </a:extLst>
          </p:cNvPr>
          <p:cNvSpPr>
            <a:spLocks noChangeArrowheads="1"/>
          </p:cNvSpPr>
          <p:nvPr/>
        </p:nvSpPr>
        <p:spPr bwMode="auto">
          <a:xfrm>
            <a:off x="1116013" y="1125538"/>
            <a:ext cx="6913562" cy="1800225"/>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sp>
        <p:nvSpPr>
          <p:cNvPr id="38914" name="Rectangle 4">
            <a:extLst>
              <a:ext uri="{FF2B5EF4-FFF2-40B4-BE49-F238E27FC236}">
                <a16:creationId xmlns:a16="http://schemas.microsoft.com/office/drawing/2014/main" id="{EAAB1256-BECA-2D91-EB21-BC3A34CABD8F}"/>
              </a:ext>
            </a:extLst>
          </p:cNvPr>
          <p:cNvSpPr>
            <a:spLocks noChangeArrowheads="1"/>
          </p:cNvSpPr>
          <p:nvPr/>
        </p:nvSpPr>
        <p:spPr bwMode="auto">
          <a:xfrm>
            <a:off x="827088" y="1588"/>
            <a:ext cx="47513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Goldman Equation</a:t>
            </a:r>
            <a:endParaRPr lang="en-GB" altLang="en-US">
              <a:solidFill>
                <a:srgbClr val="FFFF00"/>
              </a:solidFill>
              <a:latin typeface="Arial" panose="020B0604020202020204" pitchFamily="34" charset="0"/>
            </a:endParaRPr>
          </a:p>
        </p:txBody>
      </p:sp>
      <p:sp>
        <p:nvSpPr>
          <p:cNvPr id="38915" name="Rectangle 5">
            <a:extLst>
              <a:ext uri="{FF2B5EF4-FFF2-40B4-BE49-F238E27FC236}">
                <a16:creationId xmlns:a16="http://schemas.microsoft.com/office/drawing/2014/main" id="{24BBA924-053A-5101-8D72-577705831B12}"/>
              </a:ext>
            </a:extLst>
          </p:cNvPr>
          <p:cNvSpPr>
            <a:spLocks noGrp="1" noChangeArrowheads="1"/>
          </p:cNvSpPr>
          <p:nvPr>
            <p:ph type="body" idx="1"/>
          </p:nvPr>
        </p:nvSpPr>
        <p:spPr>
          <a:xfrm>
            <a:off x="395288" y="3141663"/>
            <a:ext cx="8424862" cy="3106737"/>
          </a:xfrm>
        </p:spPr>
        <p:txBody>
          <a:bodyPr/>
          <a:lstStyle/>
          <a:p>
            <a:pPr>
              <a:buFontTx/>
              <a:buNone/>
            </a:pPr>
            <a:r>
              <a:rPr lang="en-GB" altLang="en-US" sz="2000">
                <a:solidFill>
                  <a:srgbClr val="000000"/>
                </a:solidFill>
              </a:rPr>
              <a:t>	</a:t>
            </a:r>
            <a:r>
              <a:rPr lang="en-GB" altLang="en-US" sz="2000" b="1">
                <a:solidFill>
                  <a:srgbClr val="000000"/>
                </a:solidFill>
              </a:rPr>
              <a:t>R</a:t>
            </a:r>
            <a:r>
              <a:rPr lang="en-GB" altLang="en-US" sz="2000">
                <a:solidFill>
                  <a:srgbClr val="000000"/>
                </a:solidFill>
              </a:rPr>
              <a:t>, </a:t>
            </a:r>
            <a:r>
              <a:rPr lang="en-GB" altLang="en-US" sz="2000" b="1">
                <a:solidFill>
                  <a:srgbClr val="000000"/>
                </a:solidFill>
              </a:rPr>
              <a:t>T</a:t>
            </a:r>
            <a:r>
              <a:rPr lang="en-GB" altLang="en-US" sz="2000">
                <a:solidFill>
                  <a:srgbClr val="000000"/>
                </a:solidFill>
              </a:rPr>
              <a:t> and </a:t>
            </a:r>
            <a:r>
              <a:rPr lang="en-GB" altLang="en-US" sz="2000" b="1">
                <a:solidFill>
                  <a:srgbClr val="000000"/>
                </a:solidFill>
              </a:rPr>
              <a:t>F</a:t>
            </a:r>
            <a:r>
              <a:rPr lang="en-GB" altLang="en-US" sz="2000">
                <a:solidFill>
                  <a:srgbClr val="000000"/>
                </a:solidFill>
              </a:rPr>
              <a:t> are physical constants (the gas constant, the absolute temperature and the Faraday constant) while </a:t>
            </a:r>
            <a:r>
              <a:rPr lang="en-GB" altLang="en-US" sz="2000" b="1">
                <a:solidFill>
                  <a:srgbClr val="000000"/>
                </a:solidFill>
              </a:rPr>
              <a:t>P</a:t>
            </a:r>
            <a:r>
              <a:rPr lang="en-GB" altLang="en-US" sz="2000" b="1" baseline="-25000">
                <a:solidFill>
                  <a:srgbClr val="000000"/>
                </a:solidFill>
              </a:rPr>
              <a:t>Na</a:t>
            </a:r>
            <a:r>
              <a:rPr lang="en-GB" altLang="en-US" sz="2000">
                <a:solidFill>
                  <a:srgbClr val="000000"/>
                </a:solidFill>
              </a:rPr>
              <a:t>, </a:t>
            </a:r>
            <a:r>
              <a:rPr lang="en-GB" altLang="en-US" sz="2000" b="1">
                <a:solidFill>
                  <a:srgbClr val="000000"/>
                </a:solidFill>
              </a:rPr>
              <a:t>P</a:t>
            </a:r>
            <a:r>
              <a:rPr lang="en-GB" altLang="en-US" sz="2000" b="1" baseline="-25000">
                <a:solidFill>
                  <a:srgbClr val="000000"/>
                </a:solidFill>
              </a:rPr>
              <a:t>K</a:t>
            </a:r>
            <a:r>
              <a:rPr lang="en-GB" altLang="en-US" sz="2000">
                <a:solidFill>
                  <a:srgbClr val="000000"/>
                </a:solidFill>
              </a:rPr>
              <a:t> and </a:t>
            </a:r>
            <a:r>
              <a:rPr lang="en-GB" altLang="en-US" sz="2000" b="1">
                <a:solidFill>
                  <a:srgbClr val="000000"/>
                </a:solidFill>
              </a:rPr>
              <a:t>P</a:t>
            </a:r>
            <a:r>
              <a:rPr lang="en-GB" altLang="en-US" sz="2000" b="1" baseline="-25000">
                <a:solidFill>
                  <a:srgbClr val="000000"/>
                </a:solidFill>
              </a:rPr>
              <a:t>Cl</a:t>
            </a:r>
            <a:r>
              <a:rPr lang="en-GB" altLang="en-US" sz="2000">
                <a:solidFill>
                  <a:srgbClr val="000000"/>
                </a:solidFill>
              </a:rPr>
              <a:t> are the permeability coefficients of the membrane to Na</a:t>
            </a:r>
            <a:r>
              <a:rPr lang="en-GB" altLang="en-US" sz="2000" baseline="30000">
                <a:solidFill>
                  <a:srgbClr val="000000"/>
                </a:solidFill>
              </a:rPr>
              <a:t>+</a:t>
            </a:r>
            <a:r>
              <a:rPr lang="en-GB" altLang="en-US" sz="2000">
                <a:solidFill>
                  <a:srgbClr val="000000"/>
                </a:solidFill>
              </a:rPr>
              <a:t>, K</a:t>
            </a:r>
            <a:r>
              <a:rPr lang="en-GB" altLang="en-US" sz="2000" baseline="30000">
                <a:solidFill>
                  <a:srgbClr val="000000"/>
                </a:solidFill>
              </a:rPr>
              <a:t>+</a:t>
            </a:r>
            <a:r>
              <a:rPr lang="en-GB" altLang="en-US" sz="2000">
                <a:solidFill>
                  <a:srgbClr val="000000"/>
                </a:solidFill>
              </a:rPr>
              <a:t> and Cl</a:t>
            </a:r>
            <a:r>
              <a:rPr lang="en-GB" altLang="en-US" sz="2000" baseline="30000">
                <a:solidFill>
                  <a:srgbClr val="000000"/>
                </a:solidFill>
              </a:rPr>
              <a:t>-</a:t>
            </a:r>
            <a:r>
              <a:rPr lang="en-GB" altLang="en-US" sz="2000">
                <a:solidFill>
                  <a:srgbClr val="000000"/>
                </a:solidFill>
              </a:rPr>
              <a:t> respectively.  [Na</a:t>
            </a:r>
            <a:r>
              <a:rPr lang="en-GB" altLang="en-US" sz="2000" baseline="30000">
                <a:solidFill>
                  <a:srgbClr val="000000"/>
                </a:solidFill>
              </a:rPr>
              <a:t>+</a:t>
            </a:r>
            <a:r>
              <a:rPr lang="en-GB" altLang="en-US" sz="2000">
                <a:solidFill>
                  <a:srgbClr val="000000"/>
                </a:solidFill>
              </a:rPr>
              <a:t>]</a:t>
            </a:r>
            <a:r>
              <a:rPr lang="en-GB" altLang="en-US" sz="2000" baseline="-25000">
                <a:solidFill>
                  <a:srgbClr val="000000"/>
                </a:solidFill>
              </a:rPr>
              <a:t>o</a:t>
            </a:r>
            <a:r>
              <a:rPr lang="en-GB" altLang="en-US" sz="2000">
                <a:solidFill>
                  <a:srgbClr val="000000"/>
                </a:solidFill>
              </a:rPr>
              <a:t>, [Na</a:t>
            </a:r>
            <a:r>
              <a:rPr lang="en-GB" altLang="en-US" sz="2000" baseline="30000">
                <a:solidFill>
                  <a:srgbClr val="000000"/>
                </a:solidFill>
              </a:rPr>
              <a:t>+</a:t>
            </a:r>
            <a:r>
              <a:rPr lang="en-GB" altLang="en-US" sz="2000">
                <a:solidFill>
                  <a:srgbClr val="000000"/>
                </a:solidFill>
              </a:rPr>
              <a:t>]</a:t>
            </a:r>
            <a:r>
              <a:rPr lang="en-GB" altLang="en-US" sz="2000" baseline="-25000">
                <a:solidFill>
                  <a:srgbClr val="000000"/>
                </a:solidFill>
              </a:rPr>
              <a:t>i</a:t>
            </a:r>
            <a:r>
              <a:rPr lang="en-GB" altLang="en-US" sz="2000">
                <a:solidFill>
                  <a:srgbClr val="000000"/>
                </a:solidFill>
              </a:rPr>
              <a:t> etc. are the extracellular and intracellular concentrations of Na</a:t>
            </a:r>
            <a:r>
              <a:rPr lang="en-GB" altLang="en-US" sz="2000" baseline="30000">
                <a:solidFill>
                  <a:srgbClr val="000000"/>
                </a:solidFill>
              </a:rPr>
              <a:t>+</a:t>
            </a:r>
            <a:r>
              <a:rPr lang="en-GB" altLang="en-US" sz="2000">
                <a:solidFill>
                  <a:srgbClr val="000000"/>
                </a:solidFill>
              </a:rPr>
              <a:t>, K</a:t>
            </a:r>
            <a:r>
              <a:rPr lang="en-GB" altLang="en-US" sz="2000" baseline="30000">
                <a:solidFill>
                  <a:srgbClr val="000000"/>
                </a:solidFill>
              </a:rPr>
              <a:t>+</a:t>
            </a:r>
            <a:r>
              <a:rPr lang="en-GB" altLang="en-US" sz="2000">
                <a:solidFill>
                  <a:srgbClr val="000000"/>
                </a:solidFill>
              </a:rPr>
              <a:t> and Cl</a:t>
            </a:r>
            <a:r>
              <a:rPr lang="en-GB" altLang="en-US" sz="2000" baseline="30000">
                <a:solidFill>
                  <a:srgbClr val="000000"/>
                </a:solidFill>
              </a:rPr>
              <a:t>-</a:t>
            </a:r>
            <a:r>
              <a:rPr lang="en-GB" altLang="en-US" sz="2000">
                <a:solidFill>
                  <a:srgbClr val="000000"/>
                </a:solidFill>
              </a:rPr>
              <a:t>.  </a:t>
            </a:r>
          </a:p>
          <a:p>
            <a:pPr>
              <a:buFontTx/>
              <a:buNone/>
            </a:pPr>
            <a:endParaRPr lang="en-GB" altLang="en-US" sz="2000">
              <a:solidFill>
                <a:srgbClr val="000000"/>
              </a:solidFill>
            </a:endParaRPr>
          </a:p>
          <a:p>
            <a:pPr>
              <a:buFontTx/>
              <a:buNone/>
            </a:pPr>
            <a:r>
              <a:rPr lang="en-GB" altLang="en-US" sz="2000">
                <a:solidFill>
                  <a:srgbClr val="000000"/>
                </a:solidFill>
              </a:rPr>
              <a:t>	Note that [Cl</a:t>
            </a:r>
            <a:r>
              <a:rPr lang="en-GB" altLang="en-US" sz="2000" baseline="30000">
                <a:solidFill>
                  <a:srgbClr val="000000"/>
                </a:solidFill>
              </a:rPr>
              <a:t>-</a:t>
            </a:r>
            <a:r>
              <a:rPr lang="en-GB" altLang="en-US" sz="2000">
                <a:solidFill>
                  <a:srgbClr val="000000"/>
                </a:solidFill>
              </a:rPr>
              <a:t>]</a:t>
            </a:r>
            <a:r>
              <a:rPr lang="en-GB" altLang="en-US" sz="2000" baseline="-25000">
                <a:solidFill>
                  <a:srgbClr val="000000"/>
                </a:solidFill>
              </a:rPr>
              <a:t>i</a:t>
            </a:r>
            <a:r>
              <a:rPr lang="en-GB" altLang="en-US" sz="2000">
                <a:solidFill>
                  <a:srgbClr val="000000"/>
                </a:solidFill>
              </a:rPr>
              <a:t> and [Cl</a:t>
            </a:r>
            <a:r>
              <a:rPr lang="en-GB" altLang="en-US" sz="2000" baseline="30000">
                <a:solidFill>
                  <a:srgbClr val="000000"/>
                </a:solidFill>
              </a:rPr>
              <a:t>-</a:t>
            </a:r>
            <a:r>
              <a:rPr lang="en-GB" altLang="en-US" sz="2000">
                <a:solidFill>
                  <a:srgbClr val="000000"/>
                </a:solidFill>
              </a:rPr>
              <a:t>]</a:t>
            </a:r>
            <a:r>
              <a:rPr lang="en-GB" altLang="en-US" sz="2000" baseline="-25000">
                <a:solidFill>
                  <a:srgbClr val="000000"/>
                </a:solidFill>
              </a:rPr>
              <a:t>o</a:t>
            </a:r>
            <a:r>
              <a:rPr lang="en-GB" altLang="en-US" sz="2000">
                <a:solidFill>
                  <a:srgbClr val="000000"/>
                </a:solidFill>
              </a:rPr>
              <a:t> are reversed compared to [Na</a:t>
            </a:r>
            <a:r>
              <a:rPr lang="en-GB" altLang="en-US" sz="2000" baseline="30000">
                <a:solidFill>
                  <a:srgbClr val="000000"/>
                </a:solidFill>
              </a:rPr>
              <a:t>+</a:t>
            </a:r>
            <a:r>
              <a:rPr lang="en-GB" altLang="en-US" sz="2000">
                <a:solidFill>
                  <a:srgbClr val="000000"/>
                </a:solidFill>
              </a:rPr>
              <a:t>]</a:t>
            </a:r>
            <a:r>
              <a:rPr lang="en-GB" altLang="en-US" sz="2000" baseline="-25000">
                <a:solidFill>
                  <a:srgbClr val="000000"/>
                </a:solidFill>
              </a:rPr>
              <a:t>i</a:t>
            </a:r>
            <a:r>
              <a:rPr lang="en-GB" altLang="en-US" sz="2000">
                <a:solidFill>
                  <a:srgbClr val="000000"/>
                </a:solidFill>
              </a:rPr>
              <a:t>, [Na</a:t>
            </a:r>
            <a:r>
              <a:rPr lang="en-GB" altLang="en-US" sz="2000" baseline="30000">
                <a:solidFill>
                  <a:srgbClr val="000000"/>
                </a:solidFill>
              </a:rPr>
              <a:t>+</a:t>
            </a:r>
            <a:r>
              <a:rPr lang="en-GB" altLang="en-US" sz="2000">
                <a:solidFill>
                  <a:srgbClr val="000000"/>
                </a:solidFill>
              </a:rPr>
              <a:t>]</a:t>
            </a:r>
            <a:r>
              <a:rPr lang="en-GB" altLang="en-US" sz="2000" baseline="-25000">
                <a:solidFill>
                  <a:srgbClr val="000000"/>
                </a:solidFill>
              </a:rPr>
              <a:t>o</a:t>
            </a:r>
            <a:r>
              <a:rPr lang="en-GB" altLang="en-US" sz="2000">
                <a:solidFill>
                  <a:srgbClr val="000000"/>
                </a:solidFill>
              </a:rPr>
              <a:t> and [K</a:t>
            </a:r>
            <a:r>
              <a:rPr lang="en-GB" altLang="en-US" sz="2000" baseline="30000">
                <a:solidFill>
                  <a:srgbClr val="000000"/>
                </a:solidFill>
              </a:rPr>
              <a:t>+</a:t>
            </a:r>
            <a:r>
              <a:rPr lang="en-GB" altLang="en-US" sz="2000">
                <a:solidFill>
                  <a:srgbClr val="000000"/>
                </a:solidFill>
              </a:rPr>
              <a:t>]</a:t>
            </a:r>
            <a:r>
              <a:rPr lang="en-GB" altLang="en-US" sz="2000" baseline="-25000">
                <a:solidFill>
                  <a:srgbClr val="000000"/>
                </a:solidFill>
              </a:rPr>
              <a:t>i</a:t>
            </a:r>
            <a:r>
              <a:rPr lang="en-GB" altLang="en-US" sz="2000">
                <a:solidFill>
                  <a:srgbClr val="000000"/>
                </a:solidFill>
              </a:rPr>
              <a:t> , [K</a:t>
            </a:r>
            <a:r>
              <a:rPr lang="en-GB" altLang="en-US" sz="2000" baseline="30000">
                <a:solidFill>
                  <a:srgbClr val="000000"/>
                </a:solidFill>
              </a:rPr>
              <a:t>+</a:t>
            </a:r>
            <a:r>
              <a:rPr lang="en-GB" altLang="en-US" sz="2000">
                <a:solidFill>
                  <a:srgbClr val="000000"/>
                </a:solidFill>
              </a:rPr>
              <a:t>]</a:t>
            </a:r>
            <a:r>
              <a:rPr lang="en-GB" altLang="en-US" sz="2000" baseline="-25000">
                <a:solidFill>
                  <a:srgbClr val="000000"/>
                </a:solidFill>
              </a:rPr>
              <a:t>o</a:t>
            </a:r>
            <a:r>
              <a:rPr lang="en-GB" altLang="en-US" sz="2000">
                <a:solidFill>
                  <a:srgbClr val="000000"/>
                </a:solidFill>
              </a:rPr>
              <a:t> as chloride has a negative charge.</a:t>
            </a:r>
            <a:br>
              <a:rPr lang="en-GB" altLang="en-US" sz="2000">
                <a:solidFill>
                  <a:srgbClr val="000099"/>
                </a:solidFill>
              </a:rPr>
            </a:br>
            <a:endParaRPr lang="en-GB" altLang="en-US" sz="2000">
              <a:solidFill>
                <a:srgbClr val="000099"/>
              </a:solidFill>
            </a:endParaRPr>
          </a:p>
        </p:txBody>
      </p:sp>
      <p:sp>
        <p:nvSpPr>
          <p:cNvPr id="38916" name="Rectangle 7">
            <a:extLst>
              <a:ext uri="{FF2B5EF4-FFF2-40B4-BE49-F238E27FC236}">
                <a16:creationId xmlns:a16="http://schemas.microsoft.com/office/drawing/2014/main" id="{45F1F9D0-795B-8BD1-A796-C54FA088C63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graphicFrame>
        <p:nvGraphicFramePr>
          <p:cNvPr id="38917" name="Object 2">
            <a:extLst>
              <a:ext uri="{FF2B5EF4-FFF2-40B4-BE49-F238E27FC236}">
                <a16:creationId xmlns:a16="http://schemas.microsoft.com/office/drawing/2014/main" id="{C5082818-B37C-7939-73B9-0F93C6C757CF}"/>
              </a:ext>
            </a:extLst>
          </p:cNvPr>
          <p:cNvGraphicFramePr>
            <a:graphicFrameLocks noChangeAspect="1"/>
          </p:cNvGraphicFramePr>
          <p:nvPr/>
        </p:nvGraphicFramePr>
        <p:xfrm>
          <a:off x="1619250" y="1412875"/>
          <a:ext cx="5969000" cy="1041400"/>
        </p:xfrm>
        <a:graphic>
          <a:graphicData uri="http://schemas.openxmlformats.org/presentationml/2006/ole">
            <mc:AlternateContent xmlns:mc="http://schemas.openxmlformats.org/markup-compatibility/2006">
              <mc:Choice xmlns:v="urn:schemas-microsoft-com:vml" Requires="v">
                <p:oleObj name="Equation" r:id="rId3" imgW="5969000" imgH="1041400" progId="Equation.3">
                  <p:embed/>
                </p:oleObj>
              </mc:Choice>
              <mc:Fallback>
                <p:oleObj name="Equation" r:id="rId3" imgW="5969000" imgH="1041400" progId="Equation.3">
                  <p:embed/>
                  <p:pic>
                    <p:nvPicPr>
                      <p:cNvPr id="38917" name="Object 2">
                        <a:extLst>
                          <a:ext uri="{FF2B5EF4-FFF2-40B4-BE49-F238E27FC236}">
                            <a16:creationId xmlns:a16="http://schemas.microsoft.com/office/drawing/2014/main" id="{C5082818-B37C-7939-73B9-0F93C6C757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412875"/>
                        <a:ext cx="59690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0931" name="Rectangle 3">
            <a:extLst>
              <a:ext uri="{FF2B5EF4-FFF2-40B4-BE49-F238E27FC236}">
                <a16:creationId xmlns:a16="http://schemas.microsoft.com/office/drawing/2014/main" id="{37AB9C1C-0EB8-DD22-4572-4696A9194CAB}"/>
              </a:ext>
            </a:extLst>
          </p:cNvPr>
          <p:cNvSpPr>
            <a:spLocks noGrp="1" noChangeArrowheads="1"/>
          </p:cNvSpPr>
          <p:nvPr>
            <p:ph type="body" idx="1"/>
          </p:nvPr>
        </p:nvSpPr>
        <p:spPr>
          <a:xfrm>
            <a:off x="395288" y="1484313"/>
            <a:ext cx="3529012" cy="1368425"/>
          </a:xfrm>
        </p:spPr>
        <p:txBody>
          <a:bodyPr/>
          <a:lstStyle/>
          <a:p>
            <a:pPr marL="0" indent="0">
              <a:spcBef>
                <a:spcPct val="60000"/>
              </a:spcBef>
              <a:buFontTx/>
              <a:buNone/>
            </a:pPr>
            <a:r>
              <a:rPr lang="en-GB" altLang="en-US" sz="2000">
                <a:solidFill>
                  <a:srgbClr val="000000"/>
                </a:solidFill>
              </a:rPr>
              <a:t>When a cell is quiescent, the membrane potential is called the </a:t>
            </a:r>
            <a:r>
              <a:rPr lang="en-GB" altLang="en-US" sz="2000" b="1">
                <a:solidFill>
                  <a:srgbClr val="000000"/>
                </a:solidFill>
              </a:rPr>
              <a:t>resting membrane potential</a:t>
            </a:r>
            <a:r>
              <a:rPr lang="en-GB" altLang="en-US" sz="2000">
                <a:solidFill>
                  <a:srgbClr val="000000"/>
                </a:solidFill>
              </a:rPr>
              <a:t>.</a:t>
            </a:r>
          </a:p>
        </p:txBody>
      </p:sp>
      <p:sp>
        <p:nvSpPr>
          <p:cNvPr id="40962" name="Rectangle 4">
            <a:extLst>
              <a:ext uri="{FF2B5EF4-FFF2-40B4-BE49-F238E27FC236}">
                <a16:creationId xmlns:a16="http://schemas.microsoft.com/office/drawing/2014/main" id="{75AF0249-17FF-A756-FC47-8E06D76F5DAB}"/>
              </a:ext>
            </a:extLst>
          </p:cNvPr>
          <p:cNvSpPr>
            <a:spLocks noChangeArrowheads="1"/>
          </p:cNvSpPr>
          <p:nvPr/>
        </p:nvSpPr>
        <p:spPr bwMode="auto">
          <a:xfrm>
            <a:off x="395288" y="0"/>
            <a:ext cx="53990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Terminology</a:t>
            </a:r>
            <a:endParaRPr lang="en-GB" altLang="en-US">
              <a:solidFill>
                <a:srgbClr val="FFFF00"/>
              </a:solidFill>
              <a:latin typeface="Arial" panose="020B0604020202020204" pitchFamily="34" charset="0"/>
            </a:endParaRPr>
          </a:p>
        </p:txBody>
      </p:sp>
      <p:grpSp>
        <p:nvGrpSpPr>
          <p:cNvPr id="2" name="Group 21">
            <a:extLst>
              <a:ext uri="{FF2B5EF4-FFF2-40B4-BE49-F238E27FC236}">
                <a16:creationId xmlns:a16="http://schemas.microsoft.com/office/drawing/2014/main" id="{5260AC84-52B3-9040-6EDE-C6A12EB51665}"/>
              </a:ext>
            </a:extLst>
          </p:cNvPr>
          <p:cNvGrpSpPr>
            <a:grpSpLocks/>
          </p:cNvGrpSpPr>
          <p:nvPr/>
        </p:nvGrpSpPr>
        <p:grpSpPr bwMode="auto">
          <a:xfrm>
            <a:off x="3851275" y="1125538"/>
            <a:ext cx="4872038" cy="2159000"/>
            <a:chOff x="-696700" y="2209800"/>
            <a:chExt cx="8469808" cy="3318934"/>
          </a:xfrm>
        </p:grpSpPr>
        <p:cxnSp>
          <p:nvCxnSpPr>
            <p:cNvPr id="40979" name="Straight Arrow Connector 4">
              <a:extLst>
                <a:ext uri="{FF2B5EF4-FFF2-40B4-BE49-F238E27FC236}">
                  <a16:creationId xmlns:a16="http://schemas.microsoft.com/office/drawing/2014/main" id="{0856E2B4-64AB-3FBB-A633-892020DB4EAF}"/>
                </a:ext>
              </a:extLst>
            </p:cNvPr>
            <p:cNvCxnSpPr>
              <a:cxnSpLocks noChangeShapeType="1"/>
            </p:cNvCxnSpPr>
            <p:nvPr/>
          </p:nvCxnSpPr>
          <p:spPr bwMode="auto">
            <a:xfrm flipV="1">
              <a:off x="1828800" y="4572000"/>
              <a:ext cx="5588000" cy="25400"/>
            </a:xfrm>
            <a:prstGeom prst="straightConnector1">
              <a:avLst/>
            </a:prstGeom>
            <a:noFill/>
            <a:ln w="19050">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40980" name="Straight Connector 6">
              <a:extLst>
                <a:ext uri="{FF2B5EF4-FFF2-40B4-BE49-F238E27FC236}">
                  <a16:creationId xmlns:a16="http://schemas.microsoft.com/office/drawing/2014/main" id="{8C11E261-1F53-7540-E94A-18CDE24FF840}"/>
                </a:ext>
              </a:extLst>
            </p:cNvPr>
            <p:cNvCxnSpPr>
              <a:cxnSpLocks noChangeShapeType="1"/>
            </p:cNvCxnSpPr>
            <p:nvPr/>
          </p:nvCxnSpPr>
          <p:spPr bwMode="auto">
            <a:xfrm rot="16200000" flipH="1">
              <a:off x="177800" y="3860800"/>
              <a:ext cx="3318934" cy="169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40981" name="Straight Connector 11">
              <a:extLst>
                <a:ext uri="{FF2B5EF4-FFF2-40B4-BE49-F238E27FC236}">
                  <a16:creationId xmlns:a16="http://schemas.microsoft.com/office/drawing/2014/main" id="{A24A74BC-6F83-8431-8D58-7D57032524D5}"/>
                </a:ext>
              </a:extLst>
            </p:cNvPr>
            <p:cNvCxnSpPr>
              <a:cxnSpLocks noChangeShapeType="1"/>
            </p:cNvCxnSpPr>
            <p:nvPr/>
          </p:nvCxnSpPr>
          <p:spPr bwMode="auto">
            <a:xfrm>
              <a:off x="1828800" y="2971799"/>
              <a:ext cx="5486492" cy="124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40982" name="TextBox 13">
              <a:extLst>
                <a:ext uri="{FF2B5EF4-FFF2-40B4-BE49-F238E27FC236}">
                  <a16:creationId xmlns:a16="http://schemas.microsoft.com/office/drawing/2014/main" id="{22C1E09E-A782-EB47-F389-571774DCBB04}"/>
                </a:ext>
              </a:extLst>
            </p:cNvPr>
            <p:cNvSpPr txBox="1">
              <a:spLocks noChangeArrowheads="1"/>
            </p:cNvSpPr>
            <p:nvPr/>
          </p:nvSpPr>
          <p:spPr bwMode="auto">
            <a:xfrm>
              <a:off x="4495800" y="2971800"/>
              <a:ext cx="6330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Time</a:t>
              </a:r>
            </a:p>
          </p:txBody>
        </p:sp>
        <p:sp>
          <p:nvSpPr>
            <p:cNvPr id="40983" name="TextBox 14">
              <a:extLst>
                <a:ext uri="{FF2B5EF4-FFF2-40B4-BE49-F238E27FC236}">
                  <a16:creationId xmlns:a16="http://schemas.microsoft.com/office/drawing/2014/main" id="{E6D6099A-3A8F-AF29-83A3-BB690DD0820E}"/>
                </a:ext>
              </a:extLst>
            </p:cNvPr>
            <p:cNvSpPr txBox="1">
              <a:spLocks noChangeArrowheads="1"/>
            </p:cNvSpPr>
            <p:nvPr/>
          </p:nvSpPr>
          <p:spPr bwMode="auto">
            <a:xfrm>
              <a:off x="-696700" y="3316111"/>
              <a:ext cx="2520364" cy="80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lgn="ctr"/>
              <a:r>
                <a:rPr lang="en-US" altLang="en-US" sz="1400">
                  <a:solidFill>
                    <a:srgbClr val="000000"/>
                  </a:solidFill>
                  <a:latin typeface="Arial" panose="020B0604020202020204" pitchFamily="34" charset="0"/>
                </a:rPr>
                <a:t>Membrane</a:t>
              </a:r>
            </a:p>
            <a:p>
              <a:pPr algn="ctr"/>
              <a:r>
                <a:rPr lang="en-US" altLang="en-US" sz="1400">
                  <a:solidFill>
                    <a:srgbClr val="000000"/>
                  </a:solidFill>
                  <a:latin typeface="Arial" panose="020B0604020202020204" pitchFamily="34" charset="0"/>
                </a:rPr>
                <a:t> potential (mV)</a:t>
              </a:r>
            </a:p>
          </p:txBody>
        </p:sp>
        <p:sp>
          <p:nvSpPr>
            <p:cNvPr id="40984" name="TextBox 15">
              <a:extLst>
                <a:ext uri="{FF2B5EF4-FFF2-40B4-BE49-F238E27FC236}">
                  <a16:creationId xmlns:a16="http://schemas.microsoft.com/office/drawing/2014/main" id="{1FF3E095-704C-452C-001E-DA31E5FBE950}"/>
                </a:ext>
              </a:extLst>
            </p:cNvPr>
            <p:cNvSpPr txBox="1">
              <a:spLocks noChangeArrowheads="1"/>
            </p:cNvSpPr>
            <p:nvPr/>
          </p:nvSpPr>
          <p:spPr bwMode="auto">
            <a:xfrm>
              <a:off x="1181113" y="2762954"/>
              <a:ext cx="500749" cy="52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0</a:t>
              </a:r>
            </a:p>
          </p:txBody>
        </p:sp>
        <p:sp>
          <p:nvSpPr>
            <p:cNvPr id="40985" name="TextBox 16">
              <a:extLst>
                <a:ext uri="{FF2B5EF4-FFF2-40B4-BE49-F238E27FC236}">
                  <a16:creationId xmlns:a16="http://schemas.microsoft.com/office/drawing/2014/main" id="{DA6497B7-FBB2-3105-FF15-268D94F9E9CF}"/>
                </a:ext>
              </a:extLst>
            </p:cNvPr>
            <p:cNvSpPr txBox="1">
              <a:spLocks noChangeArrowheads="1"/>
            </p:cNvSpPr>
            <p:nvPr/>
          </p:nvSpPr>
          <p:spPr bwMode="auto">
            <a:xfrm>
              <a:off x="1055924" y="4311792"/>
              <a:ext cx="481221" cy="707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-70</a:t>
              </a:r>
            </a:p>
            <a:p>
              <a:endParaRPr lang="en-US" altLang="en-US"/>
            </a:p>
          </p:txBody>
        </p:sp>
        <p:sp>
          <p:nvSpPr>
            <p:cNvPr id="40986" name="Rectangle 19">
              <a:extLst>
                <a:ext uri="{FF2B5EF4-FFF2-40B4-BE49-F238E27FC236}">
                  <a16:creationId xmlns:a16="http://schemas.microsoft.com/office/drawing/2014/main" id="{534D7033-E9F8-30A4-AEE5-AA4403D06300}"/>
                </a:ext>
              </a:extLst>
            </p:cNvPr>
            <p:cNvSpPr>
              <a:spLocks noChangeArrowheads="1"/>
            </p:cNvSpPr>
            <p:nvPr/>
          </p:nvSpPr>
          <p:spPr bwMode="auto">
            <a:xfrm>
              <a:off x="2432984" y="3979898"/>
              <a:ext cx="5340124" cy="56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1800">
                  <a:solidFill>
                    <a:srgbClr val="000099"/>
                  </a:solidFill>
                  <a:latin typeface="Arial" panose="020B0604020202020204" pitchFamily="34" charset="0"/>
                </a:rPr>
                <a:t>Resting membrane potential</a:t>
              </a:r>
              <a:endParaRPr lang="en-US" altLang="en-US" sz="1800">
                <a:latin typeface="Arial" panose="020B0604020202020204" pitchFamily="34" charset="0"/>
              </a:endParaRPr>
            </a:p>
          </p:txBody>
        </p:sp>
      </p:grpSp>
      <p:grpSp>
        <p:nvGrpSpPr>
          <p:cNvPr id="25" name="Group 21">
            <a:extLst>
              <a:ext uri="{FF2B5EF4-FFF2-40B4-BE49-F238E27FC236}">
                <a16:creationId xmlns:a16="http://schemas.microsoft.com/office/drawing/2014/main" id="{8B998761-0041-1885-28EC-74DF634A78B0}"/>
              </a:ext>
            </a:extLst>
          </p:cNvPr>
          <p:cNvGrpSpPr>
            <a:grpSpLocks/>
          </p:cNvGrpSpPr>
          <p:nvPr/>
        </p:nvGrpSpPr>
        <p:grpSpPr bwMode="auto">
          <a:xfrm>
            <a:off x="3851275" y="3716338"/>
            <a:ext cx="4667250" cy="2160587"/>
            <a:chOff x="-696700" y="2209802"/>
            <a:chExt cx="8113499" cy="3318934"/>
          </a:xfrm>
        </p:grpSpPr>
        <p:cxnSp>
          <p:nvCxnSpPr>
            <p:cNvPr id="40971" name="Straight Arrow Connector 4">
              <a:extLst>
                <a:ext uri="{FF2B5EF4-FFF2-40B4-BE49-F238E27FC236}">
                  <a16:creationId xmlns:a16="http://schemas.microsoft.com/office/drawing/2014/main" id="{927B0899-89D2-C9D8-7578-441A180D46CA}"/>
                </a:ext>
              </a:extLst>
            </p:cNvPr>
            <p:cNvCxnSpPr>
              <a:cxnSpLocks noChangeShapeType="1"/>
            </p:cNvCxnSpPr>
            <p:nvPr/>
          </p:nvCxnSpPr>
          <p:spPr bwMode="auto">
            <a:xfrm flipV="1">
              <a:off x="1828799" y="4572000"/>
              <a:ext cx="5588000" cy="25399"/>
            </a:xfrm>
            <a:prstGeom prst="straightConnector1">
              <a:avLst/>
            </a:prstGeom>
            <a:noFill/>
            <a:ln w="19050">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40972" name="Straight Connector 6">
              <a:extLst>
                <a:ext uri="{FF2B5EF4-FFF2-40B4-BE49-F238E27FC236}">
                  <a16:creationId xmlns:a16="http://schemas.microsoft.com/office/drawing/2014/main" id="{DBCB694F-0059-A183-E69D-B8D116C5C307}"/>
                </a:ext>
              </a:extLst>
            </p:cNvPr>
            <p:cNvCxnSpPr>
              <a:cxnSpLocks noChangeShapeType="1"/>
            </p:cNvCxnSpPr>
            <p:nvPr/>
          </p:nvCxnSpPr>
          <p:spPr bwMode="auto">
            <a:xfrm rot="16200000" flipH="1">
              <a:off x="177799" y="3860802"/>
              <a:ext cx="3318934" cy="169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40973" name="Straight Connector 11">
              <a:extLst>
                <a:ext uri="{FF2B5EF4-FFF2-40B4-BE49-F238E27FC236}">
                  <a16:creationId xmlns:a16="http://schemas.microsoft.com/office/drawing/2014/main" id="{0E11F5A8-31BA-C635-34A2-CB6E220D3E1B}"/>
                </a:ext>
              </a:extLst>
            </p:cNvPr>
            <p:cNvCxnSpPr>
              <a:cxnSpLocks noChangeShapeType="1"/>
            </p:cNvCxnSpPr>
            <p:nvPr/>
          </p:nvCxnSpPr>
          <p:spPr bwMode="auto">
            <a:xfrm>
              <a:off x="1828800" y="2971799"/>
              <a:ext cx="5486492" cy="124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40974" name="TextBox 13">
              <a:extLst>
                <a:ext uri="{FF2B5EF4-FFF2-40B4-BE49-F238E27FC236}">
                  <a16:creationId xmlns:a16="http://schemas.microsoft.com/office/drawing/2014/main" id="{1EB01DAF-4855-C765-0181-86E8DFBF74B0}"/>
                </a:ext>
              </a:extLst>
            </p:cNvPr>
            <p:cNvSpPr txBox="1">
              <a:spLocks noChangeArrowheads="1"/>
            </p:cNvSpPr>
            <p:nvPr/>
          </p:nvSpPr>
          <p:spPr bwMode="auto">
            <a:xfrm>
              <a:off x="4495800" y="2971800"/>
              <a:ext cx="6330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Time</a:t>
              </a:r>
            </a:p>
          </p:txBody>
        </p:sp>
        <p:sp>
          <p:nvSpPr>
            <p:cNvPr id="40975" name="TextBox 14">
              <a:extLst>
                <a:ext uri="{FF2B5EF4-FFF2-40B4-BE49-F238E27FC236}">
                  <a16:creationId xmlns:a16="http://schemas.microsoft.com/office/drawing/2014/main" id="{DE3A4EDB-9993-CDB1-04EB-130A24F0D410}"/>
                </a:ext>
              </a:extLst>
            </p:cNvPr>
            <p:cNvSpPr txBox="1">
              <a:spLocks noChangeArrowheads="1"/>
            </p:cNvSpPr>
            <p:nvPr/>
          </p:nvSpPr>
          <p:spPr bwMode="auto">
            <a:xfrm>
              <a:off x="-696700" y="3316111"/>
              <a:ext cx="2520364" cy="80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lgn="ctr"/>
              <a:r>
                <a:rPr lang="en-US" altLang="en-US" sz="1400">
                  <a:solidFill>
                    <a:srgbClr val="000000"/>
                  </a:solidFill>
                  <a:latin typeface="Arial" panose="020B0604020202020204" pitchFamily="34" charset="0"/>
                </a:rPr>
                <a:t>Membrane</a:t>
              </a:r>
            </a:p>
            <a:p>
              <a:pPr algn="ctr"/>
              <a:r>
                <a:rPr lang="en-US" altLang="en-US" sz="1400">
                  <a:solidFill>
                    <a:srgbClr val="000000"/>
                  </a:solidFill>
                  <a:latin typeface="Arial" panose="020B0604020202020204" pitchFamily="34" charset="0"/>
                </a:rPr>
                <a:t> potential (mV)</a:t>
              </a:r>
            </a:p>
          </p:txBody>
        </p:sp>
        <p:sp>
          <p:nvSpPr>
            <p:cNvPr id="40976" name="TextBox 15">
              <a:extLst>
                <a:ext uri="{FF2B5EF4-FFF2-40B4-BE49-F238E27FC236}">
                  <a16:creationId xmlns:a16="http://schemas.microsoft.com/office/drawing/2014/main" id="{C4BE7840-691D-FF2E-96A4-7E342B062DC6}"/>
                </a:ext>
              </a:extLst>
            </p:cNvPr>
            <p:cNvSpPr txBox="1">
              <a:spLocks noChangeArrowheads="1"/>
            </p:cNvSpPr>
            <p:nvPr/>
          </p:nvSpPr>
          <p:spPr bwMode="auto">
            <a:xfrm>
              <a:off x="1181113" y="2762954"/>
              <a:ext cx="500749" cy="52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0</a:t>
              </a:r>
            </a:p>
          </p:txBody>
        </p:sp>
        <p:sp>
          <p:nvSpPr>
            <p:cNvPr id="40977" name="TextBox 16">
              <a:extLst>
                <a:ext uri="{FF2B5EF4-FFF2-40B4-BE49-F238E27FC236}">
                  <a16:creationId xmlns:a16="http://schemas.microsoft.com/office/drawing/2014/main" id="{AC38D97B-04CF-0BAF-2622-959ABB9DCCBC}"/>
                </a:ext>
              </a:extLst>
            </p:cNvPr>
            <p:cNvSpPr txBox="1">
              <a:spLocks noChangeArrowheads="1"/>
            </p:cNvSpPr>
            <p:nvPr/>
          </p:nvSpPr>
          <p:spPr bwMode="auto">
            <a:xfrm>
              <a:off x="1055925" y="4311792"/>
              <a:ext cx="481221" cy="707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600">
                  <a:solidFill>
                    <a:srgbClr val="000000"/>
                  </a:solidFill>
                  <a:latin typeface="Arial" panose="020B0604020202020204" pitchFamily="34" charset="0"/>
                </a:rPr>
                <a:t>-70</a:t>
              </a:r>
            </a:p>
            <a:p>
              <a:endParaRPr lang="en-US" altLang="en-US"/>
            </a:p>
          </p:txBody>
        </p:sp>
        <p:sp>
          <p:nvSpPr>
            <p:cNvPr id="40978" name="Rectangle 19">
              <a:extLst>
                <a:ext uri="{FF2B5EF4-FFF2-40B4-BE49-F238E27FC236}">
                  <a16:creationId xmlns:a16="http://schemas.microsoft.com/office/drawing/2014/main" id="{A136BE8B-C0FC-6C3E-1F7F-B64C49C40DA7}"/>
                </a:ext>
              </a:extLst>
            </p:cNvPr>
            <p:cNvSpPr>
              <a:spLocks noChangeArrowheads="1"/>
            </p:cNvSpPr>
            <p:nvPr/>
          </p:nvSpPr>
          <p:spPr bwMode="auto">
            <a:xfrm>
              <a:off x="2683359" y="4090529"/>
              <a:ext cx="321046" cy="52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sz="1600">
                <a:latin typeface="Arial" panose="020B0604020202020204" pitchFamily="34" charset="0"/>
              </a:endParaRPr>
            </a:p>
          </p:txBody>
        </p:sp>
      </p:grpSp>
      <p:cxnSp>
        <p:nvCxnSpPr>
          <p:cNvPr id="43029" name="Curved Connector 43028">
            <a:extLst>
              <a:ext uri="{FF2B5EF4-FFF2-40B4-BE49-F238E27FC236}">
                <a16:creationId xmlns:a16="http://schemas.microsoft.com/office/drawing/2014/main" id="{43FE37EB-5812-4EE2-E8B0-2382DB0105CF}"/>
              </a:ext>
            </a:extLst>
          </p:cNvPr>
          <p:cNvCxnSpPr>
            <a:cxnSpLocks noChangeShapeType="1"/>
          </p:cNvCxnSpPr>
          <p:nvPr/>
        </p:nvCxnSpPr>
        <p:spPr bwMode="auto">
          <a:xfrm>
            <a:off x="5724525" y="5300663"/>
            <a:ext cx="1439863" cy="576262"/>
          </a:xfrm>
          <a:prstGeom prst="curvedConnector3">
            <a:avLst>
              <a:gd name="adj1" fmla="val 144"/>
            </a:avLst>
          </a:prstGeom>
          <a:noFill/>
          <a:ln w="19050">
            <a:solidFill>
              <a:srgbClr val="032794"/>
            </a:solidFill>
            <a:round/>
            <a:headEnd/>
            <a:tailEnd type="arrow" w="med" len="med"/>
          </a:ln>
          <a:extLst>
            <a:ext uri="{909E8E84-426E-40DD-AFC4-6F175D3DCCD1}">
              <a14:hiddenFill xmlns:a14="http://schemas.microsoft.com/office/drawing/2010/main">
                <a:noFill/>
              </a14:hiddenFill>
            </a:ext>
          </a:extLst>
        </p:spPr>
      </p:cxnSp>
      <p:cxnSp>
        <p:nvCxnSpPr>
          <p:cNvPr id="67" name="Curved Connector 66">
            <a:extLst>
              <a:ext uri="{FF2B5EF4-FFF2-40B4-BE49-F238E27FC236}">
                <a16:creationId xmlns:a16="http://schemas.microsoft.com/office/drawing/2014/main" id="{EF675D9B-017C-F1DB-5C5A-FF67C2C074B6}"/>
              </a:ext>
            </a:extLst>
          </p:cNvPr>
          <p:cNvCxnSpPr/>
          <p:nvPr/>
        </p:nvCxnSpPr>
        <p:spPr bwMode="auto">
          <a:xfrm rot="5400000" flipH="1" flipV="1">
            <a:off x="5688806" y="3680619"/>
            <a:ext cx="1655763" cy="1584325"/>
          </a:xfrm>
          <a:prstGeom prst="curvedConnector3">
            <a:avLst>
              <a:gd name="adj1" fmla="val 99511"/>
            </a:avLst>
          </a:prstGeom>
          <a:solidFill>
            <a:schemeClr val="accent1"/>
          </a:solidFill>
          <a:ln w="19050" cap="flat" cmpd="sng" algn="ctr">
            <a:solidFill>
              <a:schemeClr val="bg1">
                <a:lumMod val="50000"/>
              </a:schemeClr>
            </a:solidFill>
            <a:prstDash val="solid"/>
            <a:round/>
            <a:headEnd type="none" w="med" len="med"/>
            <a:tailEnd type="arrow"/>
          </a:ln>
          <a:effectLst/>
        </p:spPr>
      </p:cxnSp>
      <p:sp>
        <p:nvSpPr>
          <p:cNvPr id="36" name="TextBox 35">
            <a:extLst>
              <a:ext uri="{FF2B5EF4-FFF2-40B4-BE49-F238E27FC236}">
                <a16:creationId xmlns:a16="http://schemas.microsoft.com/office/drawing/2014/main" id="{4007E36A-D18E-D21B-724D-558FACCF0214}"/>
              </a:ext>
            </a:extLst>
          </p:cNvPr>
          <p:cNvSpPr txBox="1">
            <a:spLocks noChangeArrowheads="1"/>
          </p:cNvSpPr>
          <p:nvPr/>
        </p:nvSpPr>
        <p:spPr bwMode="auto">
          <a:xfrm>
            <a:off x="5940425" y="3213100"/>
            <a:ext cx="16605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1800">
                <a:solidFill>
                  <a:srgbClr val="000099"/>
                </a:solidFill>
                <a:latin typeface="Arial" panose="020B0604020202020204" pitchFamily="34" charset="0"/>
              </a:rPr>
              <a:t>Depolarization</a:t>
            </a:r>
            <a:endParaRPr lang="en-US" altLang="en-US" sz="1800">
              <a:latin typeface="Arial" panose="020B0604020202020204" pitchFamily="34" charset="0"/>
            </a:endParaRPr>
          </a:p>
          <a:p>
            <a:endParaRPr lang="en-US" altLang="en-US"/>
          </a:p>
        </p:txBody>
      </p:sp>
      <p:sp>
        <p:nvSpPr>
          <p:cNvPr id="37" name="TextBox 36">
            <a:extLst>
              <a:ext uri="{FF2B5EF4-FFF2-40B4-BE49-F238E27FC236}">
                <a16:creationId xmlns:a16="http://schemas.microsoft.com/office/drawing/2014/main" id="{BD306B32-73A4-371E-675C-D74883996C61}"/>
              </a:ext>
            </a:extLst>
          </p:cNvPr>
          <p:cNvSpPr txBox="1">
            <a:spLocks noChangeArrowheads="1"/>
          </p:cNvSpPr>
          <p:nvPr/>
        </p:nvSpPr>
        <p:spPr bwMode="auto">
          <a:xfrm>
            <a:off x="395288" y="3500438"/>
            <a:ext cx="3529012" cy="169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2000" dirty="0">
                <a:solidFill>
                  <a:srgbClr val="000000"/>
                </a:solidFill>
                <a:latin typeface="Arial" panose="020B0604020202020204" pitchFamily="34" charset="0"/>
              </a:rPr>
              <a:t>During physiological activity, the membrane potential may become less negative than it was at rest. </a:t>
            </a:r>
          </a:p>
          <a:p>
            <a:endParaRPr lang="en-US" altLang="en-US" dirty="0"/>
          </a:p>
        </p:txBody>
      </p:sp>
      <p:sp>
        <p:nvSpPr>
          <p:cNvPr id="38" name="Rectangle 37">
            <a:extLst>
              <a:ext uri="{FF2B5EF4-FFF2-40B4-BE49-F238E27FC236}">
                <a16:creationId xmlns:a16="http://schemas.microsoft.com/office/drawing/2014/main" id="{3C6726C1-4E32-98C6-F406-63022F7BF21F}"/>
              </a:ext>
            </a:extLst>
          </p:cNvPr>
          <p:cNvSpPr>
            <a:spLocks noChangeArrowheads="1"/>
          </p:cNvSpPr>
          <p:nvPr/>
        </p:nvSpPr>
        <p:spPr bwMode="auto">
          <a:xfrm>
            <a:off x="395288" y="5229225"/>
            <a:ext cx="3455987"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60000"/>
              </a:spcBef>
            </a:pPr>
            <a:r>
              <a:rPr lang="en-GB" altLang="en-US" sz="2000">
                <a:solidFill>
                  <a:srgbClr val="000000"/>
                </a:solidFill>
                <a:latin typeface="Arial" panose="020B0604020202020204" pitchFamily="34" charset="0"/>
              </a:rPr>
              <a:t>In some cells, it may become more negative than the resting membrane potential.</a:t>
            </a:r>
          </a:p>
        </p:txBody>
      </p:sp>
      <p:sp>
        <p:nvSpPr>
          <p:cNvPr id="39" name="TextBox 38">
            <a:extLst>
              <a:ext uri="{FF2B5EF4-FFF2-40B4-BE49-F238E27FC236}">
                <a16:creationId xmlns:a16="http://schemas.microsoft.com/office/drawing/2014/main" id="{032FE8BA-B52E-DBF7-A0FC-2E6671CB4983}"/>
              </a:ext>
            </a:extLst>
          </p:cNvPr>
          <p:cNvSpPr txBox="1">
            <a:spLocks noChangeArrowheads="1"/>
          </p:cNvSpPr>
          <p:nvPr/>
        </p:nvSpPr>
        <p:spPr bwMode="auto">
          <a:xfrm>
            <a:off x="5940425" y="6165850"/>
            <a:ext cx="1981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1800">
                <a:solidFill>
                  <a:srgbClr val="000099"/>
                </a:solidFill>
                <a:latin typeface="Arial" panose="020B0604020202020204" pitchFamily="34" charset="0"/>
              </a:rPr>
              <a:t>Hyperpolarisation</a:t>
            </a: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093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0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1" grpId="0" build="p" autoUpdateAnimBg="0"/>
      <p:bldP spid="36" grpId="0"/>
      <p:bldP spid="37" grpId="0"/>
      <p:bldP spid="38" grpId="0"/>
      <p:bldP spid="3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5027" name="Picture 3">
            <a:extLst>
              <a:ext uri="{FF2B5EF4-FFF2-40B4-BE49-F238E27FC236}">
                <a16:creationId xmlns:a16="http://schemas.microsoft.com/office/drawing/2014/main" id="{0EF13F58-910E-F4C0-3627-E5658786F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775" y="1908175"/>
            <a:ext cx="139845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5028" name="Picture 4">
            <a:extLst>
              <a:ext uri="{FF2B5EF4-FFF2-40B4-BE49-F238E27FC236}">
                <a16:creationId xmlns:a16="http://schemas.microsoft.com/office/drawing/2014/main" id="{F2EF20E1-F082-4536-027D-2EB470246F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8239" y="2294020"/>
            <a:ext cx="1505459" cy="2833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Rectangle 5">
            <a:extLst>
              <a:ext uri="{FF2B5EF4-FFF2-40B4-BE49-F238E27FC236}">
                <a16:creationId xmlns:a16="http://schemas.microsoft.com/office/drawing/2014/main" id="{C7E42B96-9844-3730-8477-CBBE4F3279D8}"/>
              </a:ext>
            </a:extLst>
          </p:cNvPr>
          <p:cNvSpPr>
            <a:spLocks noChangeArrowheads="1"/>
          </p:cNvSpPr>
          <p:nvPr/>
        </p:nvSpPr>
        <p:spPr bwMode="auto">
          <a:xfrm>
            <a:off x="755650" y="1588"/>
            <a:ext cx="504031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a:latin typeface="Arial" panose="020B0604020202020204" pitchFamily="34" charset="0"/>
              </a:rPr>
              <a:t>Ion Channels</a:t>
            </a:r>
            <a:endParaRPr lang="en-GB" altLang="en-US" sz="3200">
              <a:solidFill>
                <a:srgbClr val="FFFF00"/>
              </a:solidFill>
              <a:latin typeface="Arial" panose="020B0604020202020204" pitchFamily="34" charset="0"/>
            </a:endParaRPr>
          </a:p>
        </p:txBody>
      </p:sp>
      <p:sp>
        <p:nvSpPr>
          <p:cNvPr id="385030" name="Rectangle 6">
            <a:extLst>
              <a:ext uri="{FF2B5EF4-FFF2-40B4-BE49-F238E27FC236}">
                <a16:creationId xmlns:a16="http://schemas.microsoft.com/office/drawing/2014/main" id="{8405EA2A-EFCD-646F-E721-3158274A9888}"/>
              </a:ext>
            </a:extLst>
          </p:cNvPr>
          <p:cNvSpPr>
            <a:spLocks noChangeArrowheads="1"/>
          </p:cNvSpPr>
          <p:nvPr/>
        </p:nvSpPr>
        <p:spPr bwMode="auto">
          <a:xfrm>
            <a:off x="3160713" y="1363663"/>
            <a:ext cx="5715000" cy="495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rgbClr val="FFFFFF"/>
                </a:solidFill>
                <a:latin typeface="Times New Roman" panose="02020603050405020304" pitchFamily="18" charset="0"/>
                <a:ea typeface="MS PGothic" panose="020B0600070205080204" pitchFamily="34" charset="-128"/>
              </a:defRPr>
            </a:lvl1pPr>
            <a:lvl2pPr>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buFont typeface="Arial" panose="020B0604020202020204" pitchFamily="34" charset="0"/>
              <a:buChar char="•"/>
            </a:pPr>
            <a:r>
              <a:rPr lang="en-GB" altLang="en-US" sz="2000">
                <a:solidFill>
                  <a:srgbClr val="000000"/>
                </a:solidFill>
                <a:latin typeface="Arial" panose="020B0604020202020204" pitchFamily="34" charset="0"/>
              </a:rPr>
              <a:t>Have a central pore that provides a pathway for ions to diffuse down their electrochemical gradient.</a:t>
            </a:r>
          </a:p>
          <a:p>
            <a:pPr>
              <a:spcBef>
                <a:spcPct val="50000"/>
              </a:spcBef>
              <a:buFont typeface="Arial" panose="020B0604020202020204" pitchFamily="34" charset="0"/>
              <a:buChar char="•"/>
            </a:pPr>
            <a:r>
              <a:rPr lang="en-GB" altLang="en-US" sz="2000">
                <a:solidFill>
                  <a:srgbClr val="000000"/>
                </a:solidFill>
                <a:latin typeface="Arial" panose="020B0604020202020204" pitchFamily="34" charset="0"/>
              </a:rPr>
              <a:t>Are selective for particular ions.</a:t>
            </a:r>
          </a:p>
          <a:p>
            <a:pPr>
              <a:spcBef>
                <a:spcPct val="50000"/>
              </a:spcBef>
              <a:buFont typeface="Arial" panose="020B0604020202020204" pitchFamily="34" charset="0"/>
              <a:buChar char="•"/>
            </a:pPr>
            <a:r>
              <a:rPr lang="en-GB" altLang="en-US" sz="2000">
                <a:solidFill>
                  <a:srgbClr val="000000"/>
                </a:solidFill>
                <a:latin typeface="Arial" panose="020B0604020202020204" pitchFamily="34" charset="0"/>
              </a:rPr>
              <a:t>Generally have a high capacity for transport.</a:t>
            </a:r>
          </a:p>
          <a:p>
            <a:pPr lvl="1">
              <a:spcBef>
                <a:spcPct val="50000"/>
              </a:spcBef>
            </a:pPr>
            <a:r>
              <a:rPr lang="en-GB" altLang="en-US" sz="2000">
                <a:solidFill>
                  <a:srgbClr val="000000"/>
                </a:solidFill>
                <a:latin typeface="Arial" panose="020B0604020202020204" pitchFamily="34" charset="0"/>
              </a:rPr>
              <a:t>K+ channel up to 10</a:t>
            </a:r>
            <a:r>
              <a:rPr lang="en-GB" altLang="en-US" sz="2000" baseline="30000">
                <a:solidFill>
                  <a:srgbClr val="000000"/>
                </a:solidFill>
                <a:latin typeface="Arial" panose="020B0604020202020204" pitchFamily="34" charset="0"/>
              </a:rPr>
              <a:t>8 </a:t>
            </a:r>
            <a:r>
              <a:rPr lang="en-GB" altLang="en-US" sz="2000">
                <a:solidFill>
                  <a:srgbClr val="000000"/>
                </a:solidFill>
                <a:latin typeface="Arial" panose="020B0604020202020204" pitchFamily="34" charset="0"/>
              </a:rPr>
              <a:t>ions/sec compared to</a:t>
            </a:r>
            <a:r>
              <a:rPr lang="en-GB" altLang="en-US" sz="2000" baseline="30000">
                <a:solidFill>
                  <a:srgbClr val="000000"/>
                </a:solidFill>
                <a:latin typeface="Arial" panose="020B0604020202020204" pitchFamily="34" charset="0"/>
              </a:rPr>
              <a:t> </a:t>
            </a:r>
            <a:r>
              <a:rPr lang="en-GB" altLang="en-US" sz="2000">
                <a:solidFill>
                  <a:srgbClr val="000000"/>
                </a:solidFill>
                <a:latin typeface="Arial" panose="020B0604020202020204" pitchFamily="34" charset="0"/>
              </a:rPr>
              <a:t>10</a:t>
            </a:r>
            <a:r>
              <a:rPr lang="en-GB" altLang="en-US" sz="2000" baseline="30000">
                <a:solidFill>
                  <a:srgbClr val="000000"/>
                </a:solidFill>
                <a:latin typeface="Arial" panose="020B0604020202020204" pitchFamily="34" charset="0"/>
              </a:rPr>
              <a:t>2</a:t>
            </a:r>
            <a:r>
              <a:rPr lang="en-GB" altLang="en-US" sz="2000">
                <a:solidFill>
                  <a:srgbClr val="000000"/>
                </a:solidFill>
                <a:latin typeface="Arial" panose="020B0604020202020204" pitchFamily="34" charset="0"/>
              </a:rPr>
              <a:t>-10</a:t>
            </a:r>
            <a:r>
              <a:rPr lang="en-GB" altLang="en-US" sz="2000" baseline="30000">
                <a:solidFill>
                  <a:srgbClr val="000000"/>
                </a:solidFill>
                <a:latin typeface="Arial" panose="020B0604020202020204" pitchFamily="34" charset="0"/>
              </a:rPr>
              <a:t>4 </a:t>
            </a:r>
            <a:r>
              <a:rPr lang="en-GB" altLang="en-US" sz="2000">
                <a:solidFill>
                  <a:srgbClr val="000000"/>
                </a:solidFill>
                <a:latin typeface="Arial" panose="020B0604020202020204" pitchFamily="34" charset="0"/>
              </a:rPr>
              <a:t>ions/sec via carriers.</a:t>
            </a:r>
          </a:p>
          <a:p>
            <a:pPr>
              <a:spcBef>
                <a:spcPct val="50000"/>
              </a:spcBef>
              <a:buFont typeface="Arial" panose="020B0604020202020204" pitchFamily="34" charset="0"/>
              <a:buChar char="•"/>
            </a:pPr>
            <a:r>
              <a:rPr lang="en-GB" altLang="en-US" sz="2000">
                <a:solidFill>
                  <a:srgbClr val="000000"/>
                </a:solidFill>
                <a:latin typeface="Arial" panose="020B0604020202020204" pitchFamily="34" charset="0"/>
              </a:rPr>
              <a:t>Are often named after the principal ion they transport.</a:t>
            </a:r>
          </a:p>
          <a:p>
            <a:pPr>
              <a:spcBef>
                <a:spcPct val="50000"/>
              </a:spcBef>
              <a:buFont typeface="Arial" panose="020B0604020202020204" pitchFamily="34" charset="0"/>
              <a:buChar char="•"/>
            </a:pPr>
            <a:r>
              <a:rPr lang="en-GB" altLang="en-US" sz="2000">
                <a:solidFill>
                  <a:srgbClr val="000000"/>
                </a:solidFill>
                <a:latin typeface="Arial" panose="020B0604020202020204" pitchFamily="34" charset="0"/>
              </a:rPr>
              <a:t>Ion channels exist in two basic states: open and closed.</a:t>
            </a:r>
          </a:p>
          <a:p>
            <a:pPr>
              <a:spcBef>
                <a:spcPct val="50000"/>
              </a:spcBef>
              <a:buFont typeface="Arial" panose="020B0604020202020204" pitchFamily="34" charset="0"/>
              <a:buChar char="•"/>
            </a:pPr>
            <a:endParaRPr lang="en-US" altLang="en-US">
              <a:solidFill>
                <a:srgbClr val="00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85027"/>
                                        </p:tgtEl>
                                        <p:attrNameLst>
                                          <p:attrName>style.visibility</p:attrName>
                                        </p:attrNameLst>
                                      </p:cBhvr>
                                      <p:to>
                                        <p:strVal val="visible"/>
                                      </p:to>
                                    </p:set>
                                    <p:animEffect transition="in" filter="fade">
                                      <p:cBhvr>
                                        <p:cTn id="7" dur="500"/>
                                        <p:tgtEl>
                                          <p:spTgt spid="38502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38502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85030">
                                            <p:txEl>
                                              <p:pRg st="0" end="0"/>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85030">
                                            <p:txEl>
                                              <p:pRg st="1" end="1"/>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85030">
                                            <p:txEl>
                                              <p:pRg st="2" end="2"/>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85030">
                                            <p:txEl>
                                              <p:pRg st="3" end="3"/>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85030">
                                            <p:txEl>
                                              <p:pRg st="4" end="4"/>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850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3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Picture 3" descr="Ligand-gated channel">
            <a:extLst>
              <a:ext uri="{FF2B5EF4-FFF2-40B4-BE49-F238E27FC236}">
                <a16:creationId xmlns:a16="http://schemas.microsoft.com/office/drawing/2014/main" id="{58A27ADD-905E-F004-0783-DB12C2E08E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86000"/>
            <a:ext cx="7696200"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8" name="Rectangle 4">
            <a:extLst>
              <a:ext uri="{FF2B5EF4-FFF2-40B4-BE49-F238E27FC236}">
                <a16:creationId xmlns:a16="http://schemas.microsoft.com/office/drawing/2014/main" id="{2281A10E-A9C5-6414-C311-80A5E6A53E5B}"/>
              </a:ext>
            </a:extLst>
          </p:cNvPr>
          <p:cNvSpPr>
            <a:spLocks noChangeArrowheads="1"/>
          </p:cNvSpPr>
          <p:nvPr/>
        </p:nvSpPr>
        <p:spPr bwMode="auto">
          <a:xfrm>
            <a:off x="684213" y="1588"/>
            <a:ext cx="54721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a:latin typeface="Arial" panose="020B0604020202020204" pitchFamily="34" charset="0"/>
              </a:rPr>
              <a:t>Ligand-Gated Chan</a:t>
            </a:r>
            <a:r>
              <a:rPr lang="en-GB" altLang="en-US" sz="3600" b="1">
                <a:latin typeface="Arial" panose="020B0604020202020204" pitchFamily="34" charset="0"/>
              </a:rPr>
              <a:t>nels</a:t>
            </a:r>
            <a:endParaRPr lang="en-GB" altLang="en-US" sz="3600" b="1">
              <a:solidFill>
                <a:srgbClr val="FFFF00"/>
              </a:solidFill>
              <a:latin typeface="Arial" panose="020B0604020202020204" pitchFamily="34" charset="0"/>
            </a:endParaRPr>
          </a:p>
        </p:txBody>
      </p:sp>
      <p:sp>
        <p:nvSpPr>
          <p:cNvPr id="45059" name="TextBox 1">
            <a:extLst>
              <a:ext uri="{FF2B5EF4-FFF2-40B4-BE49-F238E27FC236}">
                <a16:creationId xmlns:a16="http://schemas.microsoft.com/office/drawing/2014/main" id="{4D8B9328-F818-345F-BAB0-0043ED3D96CB}"/>
              </a:ext>
            </a:extLst>
          </p:cNvPr>
          <p:cNvSpPr txBox="1">
            <a:spLocks noChangeArrowheads="1"/>
          </p:cNvSpPr>
          <p:nvPr/>
        </p:nvSpPr>
        <p:spPr bwMode="auto">
          <a:xfrm>
            <a:off x="987425" y="1044575"/>
            <a:ext cx="73358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2000" b="1">
                <a:solidFill>
                  <a:srgbClr val="000000"/>
                </a:solidFill>
                <a:latin typeface="Arial" panose="020B0604020202020204" pitchFamily="34" charset="0"/>
              </a:rPr>
              <a:t>Ligand gated channels </a:t>
            </a:r>
            <a:r>
              <a:rPr lang="en-GB" altLang="en-US" sz="2000">
                <a:solidFill>
                  <a:srgbClr val="000000"/>
                </a:solidFill>
                <a:latin typeface="Arial" panose="020B0604020202020204" pitchFamily="34" charset="0"/>
              </a:rPr>
              <a:t>open in response to specific chemical signals e.g. nicotinic acetlycholine receptor.</a:t>
            </a:r>
            <a:endParaRPr lang="en-US" altLang="en-US" sz="2000">
              <a:solidFill>
                <a:srgbClr val="000000"/>
              </a:solidFill>
              <a:hlinkClick r:id="rId4"/>
            </a:endParaRPr>
          </a:p>
          <a:p>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Picture 3" descr="voltage-gated channel">
            <a:extLst>
              <a:ext uri="{FF2B5EF4-FFF2-40B4-BE49-F238E27FC236}">
                <a16:creationId xmlns:a16="http://schemas.microsoft.com/office/drawing/2014/main" id="{8A5DB10C-71AE-AAB1-E8F3-AAF972E2D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0538" y="1987550"/>
            <a:ext cx="5527675"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6" name="Rectangle 4">
            <a:extLst>
              <a:ext uri="{FF2B5EF4-FFF2-40B4-BE49-F238E27FC236}">
                <a16:creationId xmlns:a16="http://schemas.microsoft.com/office/drawing/2014/main" id="{ACE834F1-2E74-03D5-BC82-307D14610822}"/>
              </a:ext>
            </a:extLst>
          </p:cNvPr>
          <p:cNvSpPr>
            <a:spLocks noChangeArrowheads="1"/>
          </p:cNvSpPr>
          <p:nvPr/>
        </p:nvSpPr>
        <p:spPr bwMode="auto">
          <a:xfrm>
            <a:off x="755650" y="1588"/>
            <a:ext cx="55451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a:latin typeface="Arial" panose="020B0604020202020204" pitchFamily="34" charset="0"/>
              </a:rPr>
              <a:t>Voltage-Gated Channels</a:t>
            </a:r>
            <a:endParaRPr lang="en-GB" altLang="en-US" sz="3200">
              <a:solidFill>
                <a:srgbClr val="FFFF00"/>
              </a:solidFill>
              <a:latin typeface="Arial" panose="020B0604020202020204" pitchFamily="34" charset="0"/>
            </a:endParaRPr>
          </a:p>
        </p:txBody>
      </p:sp>
      <p:sp>
        <p:nvSpPr>
          <p:cNvPr id="47107" name="Rectangle 1">
            <a:extLst>
              <a:ext uri="{FF2B5EF4-FFF2-40B4-BE49-F238E27FC236}">
                <a16:creationId xmlns:a16="http://schemas.microsoft.com/office/drawing/2014/main" id="{1738A26D-BE34-A6C1-FD35-C522CEE951D7}"/>
              </a:ext>
            </a:extLst>
          </p:cNvPr>
          <p:cNvSpPr>
            <a:spLocks noChangeArrowheads="1"/>
          </p:cNvSpPr>
          <p:nvPr/>
        </p:nvSpPr>
        <p:spPr bwMode="auto">
          <a:xfrm>
            <a:off x="790575" y="1063625"/>
            <a:ext cx="78454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buFontTx/>
              <a:buChar char="•"/>
            </a:pPr>
            <a:r>
              <a:rPr lang="en-GB" altLang="en-US" sz="2000" b="1">
                <a:solidFill>
                  <a:srgbClr val="000000"/>
                </a:solidFill>
                <a:latin typeface="Arial" panose="020B0604020202020204" pitchFamily="34" charset="0"/>
              </a:rPr>
              <a:t>Voltage-gated channels </a:t>
            </a:r>
            <a:r>
              <a:rPr lang="en-GB" altLang="en-US" sz="2000">
                <a:solidFill>
                  <a:srgbClr val="000000"/>
                </a:solidFill>
                <a:latin typeface="Arial" panose="020B0604020202020204" pitchFamily="34" charset="0"/>
              </a:rPr>
              <a:t>open in responses to changes in the membrane potential e.g. sodium and potassium channels in the axon of a neuron.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1109C408-1498-6E31-152A-91DE65C758E3}"/>
              </a:ext>
            </a:extLst>
          </p:cNvPr>
          <p:cNvSpPr txBox="1">
            <a:spLocks noChangeArrowheads="1"/>
          </p:cNvSpPr>
          <p:nvPr/>
        </p:nvSpPr>
        <p:spPr bwMode="auto">
          <a:xfrm>
            <a:off x="900113" y="188913"/>
            <a:ext cx="2336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dirty="0">
                <a:latin typeface="Arial" panose="020B0604020202020204" pitchFamily="34" charset="0"/>
              </a:rPr>
              <a:t>Action Potential</a:t>
            </a:r>
            <a:endParaRPr lang="en-GB" altLang="en-US" dirty="0">
              <a:solidFill>
                <a:srgbClr val="FFFF00"/>
              </a:solidFill>
              <a:latin typeface="Arial" panose="020B0604020202020204" pitchFamily="34" charset="0"/>
            </a:endParaRPr>
          </a:p>
        </p:txBody>
      </p:sp>
      <p:sp>
        <p:nvSpPr>
          <p:cNvPr id="3" name="Rectangle 2">
            <a:extLst>
              <a:ext uri="{FF2B5EF4-FFF2-40B4-BE49-F238E27FC236}">
                <a16:creationId xmlns:a16="http://schemas.microsoft.com/office/drawing/2014/main" id="{AA30A70E-E778-9D5E-1434-A5AD750A71CE}"/>
              </a:ext>
            </a:extLst>
          </p:cNvPr>
          <p:cNvSpPr/>
          <p:nvPr/>
        </p:nvSpPr>
        <p:spPr>
          <a:xfrm>
            <a:off x="849745" y="923144"/>
            <a:ext cx="7444510" cy="1938992"/>
          </a:xfrm>
          <a:prstGeom prst="rect">
            <a:avLst/>
          </a:prstGeom>
        </p:spPr>
        <p:txBody>
          <a:bodyPr wrap="square">
            <a:spAutoFit/>
          </a:bodyPr>
          <a:lstStyle/>
          <a:p>
            <a:pPr algn="just"/>
            <a:r>
              <a:rPr lang="en-US" sz="2000" dirty="0">
                <a:solidFill>
                  <a:schemeClr val="tx1"/>
                </a:solidFill>
                <a:latin typeface="+mn-lt"/>
                <a:cs typeface="Arial" panose="020B0604020202020204" pitchFamily="34" charset="0"/>
              </a:rPr>
              <a:t>An action potential is a rapid rise and subsequent fall in voltage or membrane potential across a cellular membrane with a characteristic pattern.</a:t>
            </a:r>
          </a:p>
          <a:p>
            <a:pPr algn="just"/>
            <a:endParaRPr lang="en-US" sz="2000" dirty="0">
              <a:solidFill>
                <a:schemeClr val="tx1"/>
              </a:solidFill>
              <a:latin typeface="+mn-lt"/>
              <a:cs typeface="Arial" panose="020B0604020202020204" pitchFamily="34" charset="0"/>
            </a:endParaRPr>
          </a:p>
          <a:p>
            <a:pPr algn="just"/>
            <a:r>
              <a:rPr lang="en-US" sz="2000" dirty="0">
                <a:solidFill>
                  <a:schemeClr val="tx1"/>
                </a:solidFill>
                <a:latin typeface="+mn-lt"/>
                <a:cs typeface="Arial" panose="020B0604020202020204" pitchFamily="34" charset="0"/>
              </a:rPr>
              <a:t>It occurs in different cells, called excitable cells, which include neurons, muscle cells, endocrine cells etc. </a:t>
            </a:r>
          </a:p>
        </p:txBody>
      </p:sp>
      <p:sp>
        <p:nvSpPr>
          <p:cNvPr id="4" name="TextBox 3">
            <a:extLst>
              <a:ext uri="{FF2B5EF4-FFF2-40B4-BE49-F238E27FC236}">
                <a16:creationId xmlns:a16="http://schemas.microsoft.com/office/drawing/2014/main" id="{89A5E3C2-B038-B51A-39A3-AB93623348BC}"/>
              </a:ext>
            </a:extLst>
          </p:cNvPr>
          <p:cNvSpPr txBox="1"/>
          <p:nvPr/>
        </p:nvSpPr>
        <p:spPr>
          <a:xfrm>
            <a:off x="849745" y="3519307"/>
            <a:ext cx="7444510" cy="2554545"/>
          </a:xfrm>
          <a:prstGeom prst="rect">
            <a:avLst/>
          </a:prstGeom>
          <a:noFill/>
        </p:spPr>
        <p:txBody>
          <a:bodyPr wrap="square" rtlCol="0">
            <a:spAutoFit/>
          </a:bodyPr>
          <a:lstStyle/>
          <a:p>
            <a:r>
              <a:rPr lang="en-US" sz="2000" b="1" dirty="0">
                <a:solidFill>
                  <a:schemeClr val="tx1"/>
                </a:solidFill>
                <a:latin typeface="+mn-lt"/>
                <a:cs typeface="Arial" panose="020B0604020202020204" pitchFamily="34" charset="0"/>
              </a:rPr>
              <a:t>5 Steps of Action Potential  </a:t>
            </a:r>
          </a:p>
          <a:p>
            <a:endParaRPr lang="en-US" sz="2000" i="1" dirty="0">
              <a:solidFill>
                <a:schemeClr val="tx1"/>
              </a:solidFill>
              <a:latin typeface="+mn-lt"/>
              <a:cs typeface="Arial" panose="020B0604020202020204" pitchFamily="34" charset="0"/>
            </a:endParaRPr>
          </a:p>
          <a:p>
            <a:pPr marL="342900" indent="-342900">
              <a:buAutoNum type="arabicPeriod"/>
            </a:pPr>
            <a:r>
              <a:rPr lang="en-US" sz="2000" i="1" dirty="0">
                <a:solidFill>
                  <a:schemeClr val="tx1"/>
                </a:solidFill>
                <a:latin typeface="+mn-lt"/>
                <a:cs typeface="Arial" panose="020B0604020202020204" pitchFamily="34" charset="0"/>
              </a:rPr>
              <a:t>Resting Membrane potential </a:t>
            </a:r>
          </a:p>
          <a:p>
            <a:pPr marL="342900" indent="-342900">
              <a:buAutoNum type="arabicPeriod"/>
            </a:pPr>
            <a:r>
              <a:rPr lang="en-US" sz="2000" i="1" dirty="0">
                <a:solidFill>
                  <a:schemeClr val="tx1"/>
                </a:solidFill>
                <a:latin typeface="+mn-lt"/>
                <a:cs typeface="Arial" panose="020B0604020202020204" pitchFamily="34" charset="0"/>
              </a:rPr>
              <a:t>Threshold (early depolarization) </a:t>
            </a:r>
          </a:p>
          <a:p>
            <a:pPr marL="342900" indent="-342900">
              <a:buAutoNum type="arabicPeriod"/>
            </a:pPr>
            <a:r>
              <a:rPr lang="en-US" sz="2000" i="1" dirty="0">
                <a:solidFill>
                  <a:schemeClr val="tx1"/>
                </a:solidFill>
                <a:latin typeface="+mn-lt"/>
                <a:cs typeface="Arial" panose="020B0604020202020204" pitchFamily="34" charset="0"/>
              </a:rPr>
              <a:t>Depolarization </a:t>
            </a:r>
          </a:p>
          <a:p>
            <a:pPr marL="342900" indent="-342900">
              <a:buAutoNum type="arabicPeriod"/>
            </a:pPr>
            <a:r>
              <a:rPr lang="en-US" sz="2000" i="1" dirty="0">
                <a:solidFill>
                  <a:schemeClr val="tx1"/>
                </a:solidFill>
                <a:latin typeface="+mn-lt"/>
                <a:cs typeface="Arial" panose="020B0604020202020204" pitchFamily="34" charset="0"/>
              </a:rPr>
              <a:t>Repolarization </a:t>
            </a:r>
          </a:p>
          <a:p>
            <a:pPr marL="342900" indent="-342900">
              <a:buAutoNum type="arabicPeriod"/>
            </a:pPr>
            <a:r>
              <a:rPr lang="en-US" sz="2000" i="1" dirty="0">
                <a:solidFill>
                  <a:schemeClr val="tx1"/>
                </a:solidFill>
                <a:latin typeface="+mn-lt"/>
                <a:cs typeface="Arial" panose="020B0604020202020204" pitchFamily="34" charset="0"/>
              </a:rPr>
              <a:t>Hyperpolarization (Undershoot) &amp;  </a:t>
            </a:r>
          </a:p>
          <a:p>
            <a:r>
              <a:rPr lang="en-US" sz="2000" i="1" dirty="0">
                <a:solidFill>
                  <a:schemeClr val="tx1"/>
                </a:solidFill>
                <a:latin typeface="+mn-lt"/>
                <a:cs typeface="Arial" panose="020B0604020202020204" pitchFamily="34" charset="0"/>
              </a:rPr>
              <a:t>    Refractory period (Na⁺/K⁺ Pumps) </a:t>
            </a:r>
          </a:p>
        </p:txBody>
      </p:sp>
      <p:sp>
        <p:nvSpPr>
          <p:cNvPr id="5" name="Arrow: Down 4">
            <a:extLst>
              <a:ext uri="{FF2B5EF4-FFF2-40B4-BE49-F238E27FC236}">
                <a16:creationId xmlns:a16="http://schemas.microsoft.com/office/drawing/2014/main" id="{88C29A2E-1E15-7693-E8D2-B7D95C9E639B}"/>
              </a:ext>
            </a:extLst>
          </p:cNvPr>
          <p:cNvSpPr/>
          <p:nvPr/>
        </p:nvSpPr>
        <p:spPr bwMode="auto">
          <a:xfrm>
            <a:off x="4148488" y="2916455"/>
            <a:ext cx="211756" cy="512545"/>
          </a:xfrm>
          <a:prstGeom prst="down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3600" b="0" i="0" u="none" strike="noStrike" cap="none" normalizeH="0" baseline="0">
              <a:ln>
                <a:noFill/>
              </a:ln>
              <a:solidFill>
                <a:srgbClr val="000099"/>
              </a:solidFill>
              <a:effectLst/>
              <a:latin typeface="Times New Roman" charset="0"/>
              <a:ea typeface="ＭＳ Ｐゴシック" charset="0"/>
            </a:endParaRPr>
          </a:p>
        </p:txBody>
      </p:sp>
    </p:spTree>
    <p:extLst>
      <p:ext uri="{BB962C8B-B14F-4D97-AF65-F5344CB8AC3E}">
        <p14:creationId xmlns:p14="http://schemas.microsoft.com/office/powerpoint/2010/main" val="193555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4"/>
                                        </p:tgtEl>
                                      </p:cBhvr>
                                    </p:animEffect>
                                    <p:animScale>
                                      <p:cBhvr>
                                        <p:cTn id="22"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E0B8D2-79EA-4454-F92F-F80B8A9E7C66}"/>
              </a:ext>
            </a:extLst>
          </p:cNvPr>
          <p:cNvSpPr/>
          <p:nvPr/>
        </p:nvSpPr>
        <p:spPr>
          <a:xfrm>
            <a:off x="0" y="-80773"/>
            <a:ext cx="9076623" cy="584775"/>
          </a:xfrm>
          <a:prstGeom prst="rect">
            <a:avLst/>
          </a:prstGeom>
        </p:spPr>
        <p:txBody>
          <a:bodyPr wrap="square">
            <a:spAutoFit/>
          </a:bodyPr>
          <a:lstStyle/>
          <a:p>
            <a:r>
              <a:rPr lang="en-US" sz="3200" b="1" dirty="0">
                <a:latin typeface="Arial" panose="020B0604020202020204" pitchFamily="34" charset="0"/>
                <a:cs typeface="Arial" panose="020B0604020202020204" pitchFamily="34" charset="0"/>
              </a:rPr>
              <a:t>Step-1</a:t>
            </a:r>
            <a:r>
              <a:rPr lang="en-US" sz="3200"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Resting Membrane Potential </a:t>
            </a:r>
            <a:endParaRPr lang="en-US" sz="3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2597C1A-13DF-455B-AD19-0C726F39B047}"/>
              </a:ext>
            </a:extLst>
          </p:cNvPr>
          <p:cNvSpPr txBox="1"/>
          <p:nvPr/>
        </p:nvSpPr>
        <p:spPr>
          <a:xfrm>
            <a:off x="236139" y="858471"/>
            <a:ext cx="4201107" cy="2123658"/>
          </a:xfrm>
          <a:prstGeom prst="rect">
            <a:avLst/>
          </a:prstGeom>
          <a:noFill/>
        </p:spPr>
        <p:txBody>
          <a:bodyPr wrap="square" rtlCol="0">
            <a:spAutoFit/>
          </a:bodyPr>
          <a:lstStyle/>
          <a:p>
            <a:pPr algn="just"/>
            <a:r>
              <a:rPr lang="en-US" sz="2200" dirty="0">
                <a:solidFill>
                  <a:schemeClr val="tx1"/>
                </a:solidFill>
                <a:latin typeface="Arial" panose="020B0604020202020204" pitchFamily="34" charset="0"/>
                <a:cs typeface="Arial" panose="020B0604020202020204" pitchFamily="34" charset="0"/>
              </a:rPr>
              <a:t>During resting state of neuron,</a:t>
            </a:r>
            <a:r>
              <a:rPr lang="en-US" sz="2200" i="1" dirty="0">
                <a:solidFill>
                  <a:schemeClr val="tx1"/>
                </a:solidFill>
                <a:latin typeface="Arial" panose="020B0604020202020204" pitchFamily="34" charset="0"/>
                <a:cs typeface="Arial" panose="020B0604020202020204" pitchFamily="34" charset="0"/>
              </a:rPr>
              <a:t> </a:t>
            </a:r>
          </a:p>
          <a:p>
            <a:pPr algn="just"/>
            <a:r>
              <a:rPr lang="en-US" sz="2200" b="1" dirty="0">
                <a:solidFill>
                  <a:schemeClr val="tx1"/>
                </a:solidFill>
                <a:latin typeface="Arial" panose="020B0604020202020204" pitchFamily="34" charset="0"/>
                <a:cs typeface="Arial" panose="020B0604020202020204" pitchFamily="34" charset="0"/>
              </a:rPr>
              <a:t>K⁺ </a:t>
            </a:r>
            <a:r>
              <a:rPr lang="en-US" sz="2200" dirty="0">
                <a:solidFill>
                  <a:schemeClr val="tx1"/>
                </a:solidFill>
                <a:latin typeface="Arial" panose="020B0604020202020204" pitchFamily="34" charset="0"/>
                <a:cs typeface="Arial" panose="020B0604020202020204" pitchFamily="34" charset="0"/>
              </a:rPr>
              <a:t>concentration is higher inside the cell membrane with anionic proteins &amp;</a:t>
            </a:r>
          </a:p>
          <a:p>
            <a:pPr algn="just"/>
            <a:r>
              <a:rPr lang="en-US" sz="2200" b="1" dirty="0">
                <a:solidFill>
                  <a:schemeClr val="tx1"/>
                </a:solidFill>
                <a:latin typeface="Arial" panose="020B0604020202020204" pitchFamily="34" charset="0"/>
                <a:cs typeface="Arial" panose="020B0604020202020204" pitchFamily="34" charset="0"/>
              </a:rPr>
              <a:t>Na⁺ &amp; Clˉ </a:t>
            </a:r>
            <a:r>
              <a:rPr lang="en-US" sz="2200" dirty="0">
                <a:solidFill>
                  <a:schemeClr val="tx1"/>
                </a:solidFill>
                <a:latin typeface="Arial" panose="020B0604020202020204" pitchFamily="34" charset="0"/>
                <a:cs typeface="Arial" panose="020B0604020202020204" pitchFamily="34" charset="0"/>
              </a:rPr>
              <a:t>concentration is higher outside the membrane.  </a:t>
            </a:r>
          </a:p>
        </p:txBody>
      </p:sp>
      <p:sp>
        <p:nvSpPr>
          <p:cNvPr id="4" name="Rectangle 3">
            <a:extLst>
              <a:ext uri="{FF2B5EF4-FFF2-40B4-BE49-F238E27FC236}">
                <a16:creationId xmlns:a16="http://schemas.microsoft.com/office/drawing/2014/main" id="{FCEE325D-6165-50E6-8D33-2107105C1F33}"/>
              </a:ext>
            </a:extLst>
          </p:cNvPr>
          <p:cNvSpPr/>
          <p:nvPr/>
        </p:nvSpPr>
        <p:spPr>
          <a:xfrm>
            <a:off x="236139" y="3709327"/>
            <a:ext cx="8686480" cy="1107996"/>
          </a:xfrm>
          <a:prstGeom prst="rect">
            <a:avLst/>
          </a:prstGeom>
        </p:spPr>
        <p:txBody>
          <a:bodyPr wrap="square">
            <a:spAutoFit/>
          </a:bodyPr>
          <a:lstStyle/>
          <a:p>
            <a:pPr algn="just"/>
            <a:r>
              <a:rPr lang="en-US" sz="2200" dirty="0">
                <a:solidFill>
                  <a:schemeClr val="tx1"/>
                </a:solidFill>
                <a:latin typeface="Arial" panose="020B0604020202020204" pitchFamily="34" charset="0"/>
                <a:cs typeface="Arial" panose="020B0604020202020204" pitchFamily="34" charset="0"/>
              </a:rPr>
              <a:t>The resting membrane potential of a neuron is about </a:t>
            </a:r>
            <a:r>
              <a:rPr lang="en-US" sz="2200" b="1" dirty="0">
                <a:solidFill>
                  <a:schemeClr val="tx1"/>
                </a:solidFill>
                <a:latin typeface="Arial" panose="020B0604020202020204" pitchFamily="34" charset="0"/>
                <a:cs typeface="Arial" panose="020B0604020202020204" pitchFamily="34" charset="0"/>
              </a:rPr>
              <a:t>-70 mV </a:t>
            </a:r>
            <a:r>
              <a:rPr lang="en-US" sz="2200" dirty="0">
                <a:solidFill>
                  <a:schemeClr val="tx1"/>
                </a:solidFill>
                <a:latin typeface="Arial" panose="020B0604020202020204" pitchFamily="34" charset="0"/>
                <a:cs typeface="Arial" panose="020B0604020202020204" pitchFamily="34" charset="0"/>
              </a:rPr>
              <a:t>(mV means millivolt). It means that the inside of the neuron is 70 mV less than the outside.</a:t>
            </a:r>
          </a:p>
        </p:txBody>
      </p:sp>
      <p:grpSp>
        <p:nvGrpSpPr>
          <p:cNvPr id="5" name="Group 9">
            <a:extLst>
              <a:ext uri="{FF2B5EF4-FFF2-40B4-BE49-F238E27FC236}">
                <a16:creationId xmlns:a16="http://schemas.microsoft.com/office/drawing/2014/main" id="{28E86AF5-0DD7-44DC-185F-D55DB056C0AE}"/>
              </a:ext>
            </a:extLst>
          </p:cNvPr>
          <p:cNvGrpSpPr>
            <a:grpSpLocks/>
          </p:cNvGrpSpPr>
          <p:nvPr/>
        </p:nvGrpSpPr>
        <p:grpSpPr bwMode="auto">
          <a:xfrm>
            <a:off x="4572000" y="938236"/>
            <a:ext cx="4071486" cy="2043893"/>
            <a:chOff x="1475656" y="1700808"/>
            <a:chExt cx="6252209" cy="3084575"/>
          </a:xfrm>
        </p:grpSpPr>
        <p:pic>
          <p:nvPicPr>
            <p:cNvPr id="6" name="Picture 2">
              <a:extLst>
                <a:ext uri="{FF2B5EF4-FFF2-40B4-BE49-F238E27FC236}">
                  <a16:creationId xmlns:a16="http://schemas.microsoft.com/office/drawing/2014/main" id="{5A112D7C-F2DF-B6F9-9D41-5F3D2D6C0E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060848"/>
              <a:ext cx="6211121" cy="27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4">
              <a:extLst>
                <a:ext uri="{FF2B5EF4-FFF2-40B4-BE49-F238E27FC236}">
                  <a16:creationId xmlns:a16="http://schemas.microsoft.com/office/drawing/2014/main" id="{C57FF8DF-C002-32CE-AE27-69D8B73E2C46}"/>
                </a:ext>
              </a:extLst>
            </p:cNvPr>
            <p:cNvSpPr txBox="1">
              <a:spLocks noChangeArrowheads="1"/>
            </p:cNvSpPr>
            <p:nvPr/>
          </p:nvSpPr>
          <p:spPr bwMode="auto">
            <a:xfrm>
              <a:off x="2987824" y="2564904"/>
              <a:ext cx="653670"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Soma</a:t>
              </a:r>
            </a:p>
          </p:txBody>
        </p:sp>
        <p:sp>
          <p:nvSpPr>
            <p:cNvPr id="8" name="TextBox 5">
              <a:extLst>
                <a:ext uri="{FF2B5EF4-FFF2-40B4-BE49-F238E27FC236}">
                  <a16:creationId xmlns:a16="http://schemas.microsoft.com/office/drawing/2014/main" id="{CF4469C2-B07A-50BB-8D02-BC1A88E3E584}"/>
                </a:ext>
              </a:extLst>
            </p:cNvPr>
            <p:cNvSpPr txBox="1">
              <a:spLocks noChangeArrowheads="1"/>
            </p:cNvSpPr>
            <p:nvPr/>
          </p:nvSpPr>
          <p:spPr bwMode="auto">
            <a:xfrm>
              <a:off x="1547664" y="1700808"/>
              <a:ext cx="8632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Dendrite</a:t>
              </a:r>
            </a:p>
          </p:txBody>
        </p:sp>
        <p:sp>
          <p:nvSpPr>
            <p:cNvPr id="9" name="TextBox 6">
              <a:extLst>
                <a:ext uri="{FF2B5EF4-FFF2-40B4-BE49-F238E27FC236}">
                  <a16:creationId xmlns:a16="http://schemas.microsoft.com/office/drawing/2014/main" id="{6F7026FA-1296-63BE-21F2-31B37D55B048}"/>
                </a:ext>
              </a:extLst>
            </p:cNvPr>
            <p:cNvSpPr txBox="1">
              <a:spLocks noChangeArrowheads="1"/>
            </p:cNvSpPr>
            <p:nvPr/>
          </p:nvSpPr>
          <p:spPr bwMode="auto">
            <a:xfrm>
              <a:off x="4644008" y="2780928"/>
              <a:ext cx="596450"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Axon</a:t>
              </a:r>
            </a:p>
          </p:txBody>
        </p:sp>
        <p:sp>
          <p:nvSpPr>
            <p:cNvPr id="10" name="Rectangle 7">
              <a:extLst>
                <a:ext uri="{FF2B5EF4-FFF2-40B4-BE49-F238E27FC236}">
                  <a16:creationId xmlns:a16="http://schemas.microsoft.com/office/drawing/2014/main" id="{19585791-5092-2240-DF6A-A8C9EC041ED4}"/>
                </a:ext>
              </a:extLst>
            </p:cNvPr>
            <p:cNvSpPr>
              <a:spLocks noChangeArrowheads="1"/>
            </p:cNvSpPr>
            <p:nvPr/>
          </p:nvSpPr>
          <p:spPr bwMode="auto">
            <a:xfrm>
              <a:off x="5004048" y="3861048"/>
              <a:ext cx="1282310"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Axon terminal</a:t>
              </a:r>
            </a:p>
          </p:txBody>
        </p:sp>
        <p:sp>
          <p:nvSpPr>
            <p:cNvPr id="11" name="Rectangle 8">
              <a:extLst>
                <a:ext uri="{FF2B5EF4-FFF2-40B4-BE49-F238E27FC236}">
                  <a16:creationId xmlns:a16="http://schemas.microsoft.com/office/drawing/2014/main" id="{424650BD-A884-31AE-B75E-7CCF06CD9B5E}"/>
                </a:ext>
              </a:extLst>
            </p:cNvPr>
            <p:cNvSpPr>
              <a:spLocks noChangeArrowheads="1"/>
            </p:cNvSpPr>
            <p:nvPr/>
          </p:nvSpPr>
          <p:spPr bwMode="auto">
            <a:xfrm>
              <a:off x="6156176" y="2924944"/>
              <a:ext cx="1571689"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Post synaptic cell</a:t>
              </a:r>
            </a:p>
          </p:txBody>
        </p:sp>
      </p:grpSp>
    </p:spTree>
    <p:extLst>
      <p:ext uri="{BB962C8B-B14F-4D97-AF65-F5344CB8AC3E}">
        <p14:creationId xmlns:p14="http://schemas.microsoft.com/office/powerpoint/2010/main" val="2856460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C2163-659E-D2FC-2704-CCE7C94BDDE9}"/>
              </a:ext>
            </a:extLst>
          </p:cNvPr>
          <p:cNvSpPr/>
          <p:nvPr/>
        </p:nvSpPr>
        <p:spPr>
          <a:xfrm>
            <a:off x="0" y="-80773"/>
            <a:ext cx="9076623" cy="584775"/>
          </a:xfrm>
          <a:prstGeom prst="rect">
            <a:avLst/>
          </a:prstGeom>
        </p:spPr>
        <p:txBody>
          <a:bodyPr wrap="square">
            <a:spAutoFit/>
          </a:bodyPr>
          <a:lstStyle/>
          <a:p>
            <a:r>
              <a:rPr lang="en-US" sz="3200" b="1" dirty="0">
                <a:latin typeface="Arial" panose="020B0604020202020204" pitchFamily="34" charset="0"/>
                <a:cs typeface="Arial" panose="020B0604020202020204" pitchFamily="34" charset="0"/>
              </a:rPr>
              <a:t>Step-2 </a:t>
            </a:r>
            <a:r>
              <a:rPr lang="en-US" sz="3200"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Threshold </a:t>
            </a:r>
            <a:endParaRPr lang="en-US" sz="3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94F6FD1F-F0BC-C1BD-E6A5-66CBB15A299E}"/>
              </a:ext>
            </a:extLst>
          </p:cNvPr>
          <p:cNvSpPr txBox="1"/>
          <p:nvPr/>
        </p:nvSpPr>
        <p:spPr>
          <a:xfrm>
            <a:off x="178067" y="975026"/>
            <a:ext cx="8787865" cy="2862322"/>
          </a:xfrm>
          <a:prstGeom prst="rect">
            <a:avLst/>
          </a:prstGeom>
          <a:noFill/>
        </p:spPr>
        <p:txBody>
          <a:bodyPr wrap="square">
            <a:spAutoFit/>
          </a:bodyPr>
          <a:lstStyle/>
          <a:p>
            <a:pPr>
              <a:buNone/>
            </a:pPr>
            <a:r>
              <a:rPr lang="en-GB" sz="2000" dirty="0">
                <a:solidFill>
                  <a:schemeClr val="tx1"/>
                </a:solidFill>
                <a:latin typeface="+mn-lt"/>
                <a:cs typeface="Times New Roman" panose="02020603050405020304" pitchFamily="18" charset="0"/>
              </a:rPr>
              <a:t>The </a:t>
            </a:r>
            <a:r>
              <a:rPr lang="en-GB" sz="2000" b="1" dirty="0">
                <a:solidFill>
                  <a:schemeClr val="tx1"/>
                </a:solidFill>
                <a:latin typeface="+mn-lt"/>
                <a:cs typeface="Times New Roman" panose="02020603050405020304" pitchFamily="18" charset="0"/>
              </a:rPr>
              <a:t>threshold</a:t>
            </a:r>
            <a:r>
              <a:rPr lang="en-GB" sz="2000" dirty="0">
                <a:solidFill>
                  <a:schemeClr val="tx1"/>
                </a:solidFill>
                <a:latin typeface="+mn-lt"/>
                <a:cs typeface="Times New Roman" panose="02020603050405020304" pitchFamily="18" charset="0"/>
              </a:rPr>
              <a:t> refers to the critical level of membrane depolarization required to initiate an action potential. At rest, a neuron typically maintains a membrane potential of approximately </a:t>
            </a:r>
            <a:r>
              <a:rPr lang="en-GB" sz="2000" b="1" dirty="0">
                <a:solidFill>
                  <a:schemeClr val="tx1"/>
                </a:solidFill>
                <a:latin typeface="+mn-lt"/>
                <a:cs typeface="Times New Roman" panose="02020603050405020304" pitchFamily="18" charset="0"/>
              </a:rPr>
              <a:t>–70 mV</a:t>
            </a:r>
            <a:r>
              <a:rPr lang="en-GB" sz="2000" dirty="0">
                <a:solidFill>
                  <a:schemeClr val="tx1"/>
                </a:solidFill>
                <a:latin typeface="+mn-lt"/>
                <a:cs typeface="Times New Roman" panose="02020603050405020304" pitchFamily="18" charset="0"/>
              </a:rPr>
              <a:t>. When a stimulus is applied, this potential begins to rise toward zero.</a:t>
            </a:r>
          </a:p>
          <a:p>
            <a:pPr>
              <a:buNone/>
            </a:pPr>
            <a:endParaRPr lang="en-GB" sz="2000" dirty="0">
              <a:solidFill>
                <a:schemeClr val="tx1"/>
              </a:solidFill>
              <a:latin typeface="+mn-lt"/>
              <a:cs typeface="Times New Roman" panose="02020603050405020304" pitchFamily="18" charset="0"/>
            </a:endParaRPr>
          </a:p>
          <a:p>
            <a:pPr>
              <a:buNone/>
            </a:pPr>
            <a:r>
              <a:rPr lang="en-GB" sz="2000" dirty="0">
                <a:solidFill>
                  <a:schemeClr val="tx1"/>
                </a:solidFill>
                <a:latin typeface="+mn-lt"/>
                <a:cs typeface="Times New Roman" panose="02020603050405020304" pitchFamily="18" charset="0"/>
              </a:rPr>
              <a:t>If the membrane potential reaches around </a:t>
            </a:r>
            <a:r>
              <a:rPr lang="en-GB" sz="2000" b="1" dirty="0">
                <a:solidFill>
                  <a:schemeClr val="tx1"/>
                </a:solidFill>
                <a:latin typeface="+mn-lt"/>
                <a:cs typeface="Times New Roman" panose="02020603050405020304" pitchFamily="18" charset="0"/>
              </a:rPr>
              <a:t>–55 mV</a:t>
            </a:r>
            <a:r>
              <a:rPr lang="en-GB" sz="2000" dirty="0">
                <a:solidFill>
                  <a:schemeClr val="tx1"/>
                </a:solidFill>
                <a:latin typeface="+mn-lt"/>
                <a:cs typeface="Times New Roman" panose="02020603050405020304" pitchFamily="18" charset="0"/>
              </a:rPr>
              <a:t>, voltage-gated sodium (Na⁺) channels open. This marks the </a:t>
            </a:r>
            <a:r>
              <a:rPr lang="en-GB" sz="2000" b="1" dirty="0">
                <a:solidFill>
                  <a:schemeClr val="tx1"/>
                </a:solidFill>
                <a:latin typeface="+mn-lt"/>
                <a:cs typeface="Times New Roman" panose="02020603050405020304" pitchFamily="18" charset="0"/>
              </a:rPr>
              <a:t>threshold level</a:t>
            </a:r>
            <a:r>
              <a:rPr lang="en-GB" sz="2000" dirty="0">
                <a:solidFill>
                  <a:schemeClr val="tx1"/>
                </a:solidFill>
                <a:latin typeface="+mn-lt"/>
                <a:cs typeface="Times New Roman" panose="02020603050405020304" pitchFamily="18" charset="0"/>
              </a:rPr>
              <a:t>, and once it is reached, an </a:t>
            </a:r>
            <a:r>
              <a:rPr lang="en-GB" sz="2000" b="1" dirty="0">
                <a:solidFill>
                  <a:schemeClr val="tx1"/>
                </a:solidFill>
                <a:latin typeface="+mn-lt"/>
                <a:cs typeface="Times New Roman" panose="02020603050405020304" pitchFamily="18" charset="0"/>
              </a:rPr>
              <a:t>action potential</a:t>
            </a:r>
            <a:r>
              <a:rPr lang="en-GB" sz="2000" dirty="0">
                <a:solidFill>
                  <a:schemeClr val="tx1"/>
                </a:solidFill>
                <a:latin typeface="+mn-lt"/>
                <a:cs typeface="Times New Roman" panose="02020603050405020304" pitchFamily="18" charset="0"/>
              </a:rPr>
              <a:t> is triggered. If the depolarization does not reach this threshold, no action potential will occur.</a:t>
            </a:r>
          </a:p>
        </p:txBody>
      </p:sp>
      <p:sp>
        <p:nvSpPr>
          <p:cNvPr id="6" name="TextBox 5">
            <a:extLst>
              <a:ext uri="{FF2B5EF4-FFF2-40B4-BE49-F238E27FC236}">
                <a16:creationId xmlns:a16="http://schemas.microsoft.com/office/drawing/2014/main" id="{C571A533-AC13-0A4E-3814-E5EB2D11DEBD}"/>
              </a:ext>
            </a:extLst>
          </p:cNvPr>
          <p:cNvSpPr txBox="1"/>
          <p:nvPr/>
        </p:nvSpPr>
        <p:spPr>
          <a:xfrm>
            <a:off x="178067" y="3952238"/>
            <a:ext cx="8898556" cy="2246769"/>
          </a:xfrm>
          <a:prstGeom prst="rect">
            <a:avLst/>
          </a:prstGeom>
          <a:noFill/>
        </p:spPr>
        <p:txBody>
          <a:bodyPr wrap="square">
            <a:spAutoFit/>
          </a:bodyPr>
          <a:lstStyle/>
          <a:p>
            <a:r>
              <a:rPr lang="en-GB" sz="2000" dirty="0">
                <a:solidFill>
                  <a:schemeClr val="tx1"/>
                </a:solidFill>
                <a:latin typeface="+mn-lt"/>
                <a:cs typeface="Times New Roman" panose="02020603050405020304" pitchFamily="18" charset="0"/>
              </a:rPr>
              <a:t>Upon reaching threshold, </a:t>
            </a:r>
            <a:r>
              <a:rPr lang="en-GB" sz="2000" b="1" dirty="0">
                <a:solidFill>
                  <a:schemeClr val="tx1"/>
                </a:solidFill>
                <a:latin typeface="+mn-lt"/>
                <a:cs typeface="Times New Roman" panose="02020603050405020304" pitchFamily="18" charset="0"/>
              </a:rPr>
              <a:t>Na⁺</a:t>
            </a:r>
            <a:r>
              <a:rPr lang="en-GB" sz="2000" dirty="0">
                <a:solidFill>
                  <a:schemeClr val="tx1"/>
                </a:solidFill>
                <a:latin typeface="+mn-lt"/>
                <a:cs typeface="Times New Roman" panose="02020603050405020304" pitchFamily="18" charset="0"/>
              </a:rPr>
              <a:t> ions rapidly enter the neuron through open sodium channels, driven by both concentration and electrical gradients. </a:t>
            </a:r>
          </a:p>
          <a:p>
            <a:endParaRPr lang="en-GB" sz="2000" dirty="0">
              <a:solidFill>
                <a:schemeClr val="tx1"/>
              </a:solidFill>
              <a:latin typeface="+mn-lt"/>
              <a:cs typeface="Times New Roman" panose="02020603050405020304" pitchFamily="18" charset="0"/>
            </a:endParaRPr>
          </a:p>
          <a:p>
            <a:r>
              <a:rPr lang="en-GB" sz="2000" dirty="0">
                <a:solidFill>
                  <a:schemeClr val="tx1"/>
                </a:solidFill>
                <a:latin typeface="+mn-lt"/>
                <a:cs typeface="Times New Roman" panose="02020603050405020304" pitchFamily="18" charset="0"/>
              </a:rPr>
              <a:t>Since sodium carries a positive charge, its influx causes the </a:t>
            </a:r>
            <a:r>
              <a:rPr lang="en-GB" sz="2000" b="1" dirty="0">
                <a:solidFill>
                  <a:schemeClr val="tx1"/>
                </a:solidFill>
                <a:latin typeface="+mn-lt"/>
                <a:cs typeface="Times New Roman" panose="02020603050405020304" pitchFamily="18" charset="0"/>
              </a:rPr>
              <a:t>inside of the neuron to become more positive</a:t>
            </a:r>
            <a:r>
              <a:rPr lang="en-GB" sz="2000" dirty="0">
                <a:solidFill>
                  <a:schemeClr val="tx1"/>
                </a:solidFill>
                <a:latin typeface="+mn-lt"/>
                <a:cs typeface="Times New Roman" panose="02020603050405020304" pitchFamily="18" charset="0"/>
              </a:rPr>
              <a:t>, leading to further depolarization. Simultaneously, the </a:t>
            </a:r>
            <a:r>
              <a:rPr lang="en-GB" sz="2000" b="1" dirty="0">
                <a:solidFill>
                  <a:schemeClr val="tx1"/>
                </a:solidFill>
                <a:latin typeface="+mn-lt"/>
                <a:cs typeface="Times New Roman" panose="02020603050405020304" pitchFamily="18" charset="0"/>
              </a:rPr>
              <a:t>outside of the neuron becomes relatively negative</a:t>
            </a:r>
            <a:r>
              <a:rPr lang="en-GB" sz="2000" dirty="0">
                <a:solidFill>
                  <a:schemeClr val="tx1"/>
                </a:solidFill>
                <a:latin typeface="+mn-lt"/>
                <a:cs typeface="Times New Roman" panose="02020603050405020304" pitchFamily="18" charset="0"/>
              </a:rPr>
              <a:t>, reinforcing the electrical polarity change.</a:t>
            </a:r>
          </a:p>
        </p:txBody>
      </p:sp>
    </p:spTree>
    <p:extLst>
      <p:ext uri="{BB962C8B-B14F-4D97-AF65-F5344CB8AC3E}">
        <p14:creationId xmlns:p14="http://schemas.microsoft.com/office/powerpoint/2010/main" val="337073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5C985D-D9F5-27BB-92F0-93CA16C1EACF}"/>
              </a:ext>
            </a:extLst>
          </p:cNvPr>
          <p:cNvSpPr/>
          <p:nvPr/>
        </p:nvSpPr>
        <p:spPr>
          <a:xfrm>
            <a:off x="0" y="-80773"/>
            <a:ext cx="9076623" cy="584775"/>
          </a:xfrm>
          <a:prstGeom prst="rect">
            <a:avLst/>
          </a:prstGeom>
        </p:spPr>
        <p:txBody>
          <a:bodyPr wrap="square">
            <a:spAutoFit/>
          </a:bodyPr>
          <a:lstStyle/>
          <a:p>
            <a:r>
              <a:rPr lang="en-US" sz="3200" b="1" dirty="0">
                <a:latin typeface="Arial" panose="020B0604020202020204" pitchFamily="34" charset="0"/>
                <a:cs typeface="Arial" panose="020B0604020202020204" pitchFamily="34" charset="0"/>
              </a:rPr>
              <a:t>Step-3 </a:t>
            </a:r>
            <a:r>
              <a:rPr lang="en-US" sz="3200"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Depolarization </a:t>
            </a:r>
            <a:endParaRPr lang="en-US" sz="3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2EEA41A-91EF-0EFB-F097-C68ADCD699EB}"/>
              </a:ext>
            </a:extLst>
          </p:cNvPr>
          <p:cNvSpPr txBox="1"/>
          <p:nvPr/>
        </p:nvSpPr>
        <p:spPr>
          <a:xfrm>
            <a:off x="187693" y="1074509"/>
            <a:ext cx="5876224" cy="4708981"/>
          </a:xfrm>
          <a:prstGeom prst="rect">
            <a:avLst/>
          </a:prstGeom>
          <a:noFill/>
        </p:spPr>
        <p:txBody>
          <a:bodyPr wrap="square">
            <a:spAutoFit/>
          </a:bodyPr>
          <a:lstStyle/>
          <a:p>
            <a:r>
              <a:rPr lang="en-GB" sz="2000" dirty="0">
                <a:solidFill>
                  <a:schemeClr val="tx1"/>
                </a:solidFill>
                <a:latin typeface="+mn-lt"/>
                <a:cs typeface="Times New Roman" panose="02020603050405020304" pitchFamily="18" charset="0"/>
              </a:rPr>
              <a:t>Once the membrane potential reaches the threshold level (</a:t>
            </a:r>
            <a:r>
              <a:rPr lang="en-GB" sz="2000" b="1" dirty="0">
                <a:solidFill>
                  <a:schemeClr val="tx1"/>
                </a:solidFill>
                <a:latin typeface="+mn-lt"/>
                <a:cs typeface="Times New Roman" panose="02020603050405020304" pitchFamily="18" charset="0"/>
              </a:rPr>
              <a:t>approximately –55 mV</a:t>
            </a:r>
            <a:r>
              <a:rPr lang="en-GB" sz="2000" dirty="0">
                <a:solidFill>
                  <a:schemeClr val="tx1"/>
                </a:solidFill>
                <a:latin typeface="+mn-lt"/>
                <a:cs typeface="Times New Roman" panose="02020603050405020304" pitchFamily="18" charset="0"/>
              </a:rPr>
              <a:t>), additional voltage-gated sodium channels open. </a:t>
            </a:r>
          </a:p>
          <a:p>
            <a:endParaRPr lang="en-GB" sz="2000" dirty="0">
              <a:solidFill>
                <a:schemeClr val="tx1"/>
              </a:solidFill>
              <a:latin typeface="+mn-lt"/>
              <a:cs typeface="Times New Roman" panose="02020603050405020304" pitchFamily="18" charset="0"/>
            </a:endParaRPr>
          </a:p>
          <a:p>
            <a:r>
              <a:rPr lang="en-GB" sz="2000" dirty="0">
                <a:solidFill>
                  <a:schemeClr val="tx1"/>
                </a:solidFill>
                <a:latin typeface="+mn-lt"/>
                <a:cs typeface="Times New Roman" panose="02020603050405020304" pitchFamily="18" charset="0"/>
              </a:rPr>
              <a:t>This leads to </a:t>
            </a:r>
            <a:r>
              <a:rPr lang="en-GB" sz="2000" b="1" dirty="0">
                <a:solidFill>
                  <a:schemeClr val="tx1"/>
                </a:solidFill>
                <a:latin typeface="+mn-lt"/>
                <a:cs typeface="Times New Roman" panose="02020603050405020304" pitchFamily="18" charset="0"/>
              </a:rPr>
              <a:t>a rapid influx of Na⁺ </a:t>
            </a:r>
            <a:r>
              <a:rPr lang="en-GB" sz="2000" dirty="0">
                <a:solidFill>
                  <a:schemeClr val="tx1"/>
                </a:solidFill>
                <a:latin typeface="+mn-lt"/>
                <a:cs typeface="Times New Roman" panose="02020603050405020304" pitchFamily="18" charset="0"/>
              </a:rPr>
              <a:t>ions into the neuron, driven by both the concentration gradient and the electrical gradient. </a:t>
            </a:r>
          </a:p>
          <a:p>
            <a:endParaRPr lang="en-GB" sz="2000" dirty="0">
              <a:solidFill>
                <a:schemeClr val="tx1"/>
              </a:solidFill>
              <a:latin typeface="+mn-lt"/>
              <a:cs typeface="Times New Roman" panose="02020603050405020304" pitchFamily="18" charset="0"/>
            </a:endParaRPr>
          </a:p>
          <a:p>
            <a:r>
              <a:rPr lang="en-GB" sz="2000" dirty="0">
                <a:solidFill>
                  <a:schemeClr val="tx1"/>
                </a:solidFill>
                <a:latin typeface="+mn-lt"/>
                <a:cs typeface="Times New Roman" panose="02020603050405020304" pitchFamily="18" charset="0"/>
              </a:rPr>
              <a:t>As positively charged sodium ions enter the cell, the </a:t>
            </a:r>
            <a:r>
              <a:rPr lang="en-GB" sz="2000" b="1" dirty="0">
                <a:solidFill>
                  <a:schemeClr val="tx1"/>
                </a:solidFill>
                <a:latin typeface="+mn-lt"/>
                <a:cs typeface="Times New Roman" panose="02020603050405020304" pitchFamily="18" charset="0"/>
              </a:rPr>
              <a:t>intracellular environment becomes increasingly positive</a:t>
            </a:r>
            <a:r>
              <a:rPr lang="en-GB" sz="2000" dirty="0">
                <a:solidFill>
                  <a:schemeClr val="tx1"/>
                </a:solidFill>
                <a:latin typeface="+mn-lt"/>
                <a:cs typeface="Times New Roman" panose="02020603050405020304" pitchFamily="18" charset="0"/>
              </a:rPr>
              <a:t>, resulting in further </a:t>
            </a:r>
            <a:r>
              <a:rPr lang="en-GB" sz="2000" b="1" dirty="0">
                <a:solidFill>
                  <a:schemeClr val="tx1"/>
                </a:solidFill>
                <a:latin typeface="+mn-lt"/>
                <a:cs typeface="Times New Roman" panose="02020603050405020304" pitchFamily="18" charset="0"/>
              </a:rPr>
              <a:t>depolarization</a:t>
            </a:r>
            <a:r>
              <a:rPr lang="en-GB" sz="2000" dirty="0">
                <a:solidFill>
                  <a:schemeClr val="tx1"/>
                </a:solidFill>
                <a:latin typeface="+mn-lt"/>
                <a:cs typeface="Times New Roman" panose="02020603050405020304" pitchFamily="18" charset="0"/>
              </a:rPr>
              <a:t>. </a:t>
            </a:r>
          </a:p>
          <a:p>
            <a:endParaRPr lang="en-GB" sz="2000" dirty="0">
              <a:solidFill>
                <a:schemeClr val="tx1"/>
              </a:solidFill>
              <a:latin typeface="+mn-lt"/>
              <a:cs typeface="Times New Roman" panose="02020603050405020304" pitchFamily="18" charset="0"/>
            </a:endParaRPr>
          </a:p>
          <a:p>
            <a:r>
              <a:rPr lang="en-GB" sz="2000" dirty="0">
                <a:solidFill>
                  <a:schemeClr val="tx1"/>
                </a:solidFill>
                <a:latin typeface="+mn-lt"/>
                <a:cs typeface="Times New Roman" panose="02020603050405020304" pitchFamily="18" charset="0"/>
              </a:rPr>
              <a:t>This phase continues until the membrane potential peaks at around +40 mV.</a:t>
            </a:r>
          </a:p>
        </p:txBody>
      </p:sp>
      <p:pic>
        <p:nvPicPr>
          <p:cNvPr id="5" name="Picture 4">
            <a:extLst>
              <a:ext uri="{FF2B5EF4-FFF2-40B4-BE49-F238E27FC236}">
                <a16:creationId xmlns:a16="http://schemas.microsoft.com/office/drawing/2014/main" id="{3B1096E6-8D2A-7EBA-BC00-8D68BC1F5D4C}"/>
              </a:ext>
            </a:extLst>
          </p:cNvPr>
          <p:cNvPicPr>
            <a:picLocks noChangeAspect="1"/>
          </p:cNvPicPr>
          <p:nvPr/>
        </p:nvPicPr>
        <p:blipFill rotWithShape="1">
          <a:blip r:embed="rId2">
            <a:extLst>
              <a:ext uri="{28A0092B-C50C-407E-A947-70E740481C1C}">
                <a14:useLocalDpi xmlns:a14="http://schemas.microsoft.com/office/drawing/2010/main" val="0"/>
              </a:ext>
            </a:extLst>
          </a:blip>
          <a:srcRect l="1009" t="1251" r="62816" b="74550"/>
          <a:stretch/>
        </p:blipFill>
        <p:spPr>
          <a:xfrm>
            <a:off x="5914338" y="2647592"/>
            <a:ext cx="3162285" cy="1562813"/>
          </a:xfrm>
          <a:prstGeom prst="rect">
            <a:avLst/>
          </a:prstGeom>
        </p:spPr>
      </p:pic>
    </p:spTree>
    <p:extLst>
      <p:ext uri="{BB962C8B-B14F-4D97-AF65-F5344CB8AC3E}">
        <p14:creationId xmlns:p14="http://schemas.microsoft.com/office/powerpoint/2010/main" val="4324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500"/>
                                        <p:tgtEl>
                                          <p:spTgt spid="4">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B2CB-E7CF-2DEE-1A42-9237947F3F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2C41C69-13B1-EE23-EFAF-4A348BA424D3}"/>
              </a:ext>
            </a:extLst>
          </p:cNvPr>
          <p:cNvSpPr/>
          <p:nvPr/>
        </p:nvSpPr>
        <p:spPr>
          <a:xfrm>
            <a:off x="0" y="-80773"/>
            <a:ext cx="9076623" cy="584775"/>
          </a:xfrm>
          <a:prstGeom prst="rect">
            <a:avLst/>
          </a:prstGeom>
        </p:spPr>
        <p:txBody>
          <a:bodyPr wrap="square">
            <a:spAutoFit/>
          </a:bodyPr>
          <a:lstStyle/>
          <a:p>
            <a:r>
              <a:rPr lang="en-US" sz="3200" b="1" dirty="0">
                <a:latin typeface="Arial" panose="020B0604020202020204" pitchFamily="34" charset="0"/>
                <a:cs typeface="Arial" panose="020B0604020202020204" pitchFamily="34" charset="0"/>
              </a:rPr>
              <a:t>Step-4 </a:t>
            </a:r>
            <a:r>
              <a:rPr lang="en-US" sz="3200"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Repolarization </a:t>
            </a:r>
            <a:endParaRPr lang="en-US" sz="3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5B504B9-B7A1-72D8-BF58-26183F8F5FD4}"/>
              </a:ext>
            </a:extLst>
          </p:cNvPr>
          <p:cNvSpPr txBox="1"/>
          <p:nvPr/>
        </p:nvSpPr>
        <p:spPr>
          <a:xfrm>
            <a:off x="0" y="677815"/>
            <a:ext cx="6261235" cy="6247864"/>
          </a:xfrm>
          <a:prstGeom prst="rect">
            <a:avLst/>
          </a:prstGeom>
          <a:noFill/>
        </p:spPr>
        <p:txBody>
          <a:bodyPr wrap="square">
            <a:spAutoFit/>
          </a:bodyPr>
          <a:lstStyle/>
          <a:p>
            <a:r>
              <a:rPr lang="en-GB" sz="2000" dirty="0">
                <a:solidFill>
                  <a:schemeClr val="tx1"/>
                </a:solidFill>
                <a:latin typeface="+mn-lt"/>
                <a:cs typeface="Times New Roman" panose="02020603050405020304" pitchFamily="18" charset="0"/>
              </a:rPr>
              <a:t>Following depolarization, when the membrane potential peaks at approximately </a:t>
            </a:r>
            <a:r>
              <a:rPr lang="en-GB" sz="2000" b="1" dirty="0">
                <a:solidFill>
                  <a:schemeClr val="tx1"/>
                </a:solidFill>
                <a:latin typeface="+mn-lt"/>
                <a:cs typeface="Times New Roman" panose="02020603050405020304" pitchFamily="18" charset="0"/>
              </a:rPr>
              <a:t>+40 to +50 mV</a:t>
            </a:r>
            <a:r>
              <a:rPr lang="en-GB" sz="2000" dirty="0">
                <a:solidFill>
                  <a:schemeClr val="tx1"/>
                </a:solidFill>
                <a:latin typeface="+mn-lt"/>
                <a:cs typeface="Times New Roman" panose="02020603050405020304" pitchFamily="18" charset="0"/>
              </a:rPr>
              <a:t> due to the influx of Na⁺ ions, </a:t>
            </a:r>
            <a:r>
              <a:rPr lang="en-GB" sz="2000" b="1" dirty="0">
                <a:solidFill>
                  <a:schemeClr val="tx1"/>
                </a:solidFill>
                <a:latin typeface="+mn-lt"/>
                <a:cs typeface="Times New Roman" panose="02020603050405020304" pitchFamily="18" charset="0"/>
              </a:rPr>
              <a:t>voltage-gated sodium channels become inactivated</a:t>
            </a:r>
            <a:r>
              <a:rPr lang="en-GB" sz="2000" dirty="0">
                <a:solidFill>
                  <a:schemeClr val="tx1"/>
                </a:solidFill>
                <a:latin typeface="+mn-lt"/>
                <a:cs typeface="Times New Roman" panose="02020603050405020304" pitchFamily="18" charset="0"/>
              </a:rPr>
              <a:t>. </a:t>
            </a:r>
          </a:p>
          <a:p>
            <a:endParaRPr lang="en-GB" sz="2000" dirty="0">
              <a:solidFill>
                <a:schemeClr val="tx1"/>
              </a:solidFill>
              <a:latin typeface="+mn-lt"/>
              <a:cs typeface="Times New Roman" panose="02020603050405020304" pitchFamily="18" charset="0"/>
            </a:endParaRPr>
          </a:p>
          <a:p>
            <a:r>
              <a:rPr lang="en-GB" sz="2000" dirty="0">
                <a:solidFill>
                  <a:schemeClr val="tx1"/>
                </a:solidFill>
                <a:latin typeface="+mn-lt"/>
                <a:cs typeface="Times New Roman" panose="02020603050405020304" pitchFamily="18" charset="0"/>
              </a:rPr>
              <a:t>Simultaneously, </a:t>
            </a:r>
            <a:r>
              <a:rPr lang="en-GB" sz="2000" b="1" dirty="0">
                <a:solidFill>
                  <a:schemeClr val="tx1"/>
                </a:solidFill>
                <a:latin typeface="+mn-lt"/>
                <a:cs typeface="Times New Roman" panose="02020603050405020304" pitchFamily="18" charset="0"/>
              </a:rPr>
              <a:t>voltage-gated potassium channels open</a:t>
            </a:r>
            <a:r>
              <a:rPr lang="en-GB" sz="2000" dirty="0">
                <a:solidFill>
                  <a:schemeClr val="tx1"/>
                </a:solidFill>
                <a:latin typeface="+mn-lt"/>
                <a:cs typeface="Times New Roman" panose="02020603050405020304" pitchFamily="18" charset="0"/>
              </a:rPr>
              <a:t>, allowing </a:t>
            </a:r>
            <a:r>
              <a:rPr lang="en-GB" sz="2000" b="1" dirty="0">
                <a:solidFill>
                  <a:schemeClr val="tx1"/>
                </a:solidFill>
                <a:latin typeface="+mn-lt"/>
                <a:cs typeface="Times New Roman" panose="02020603050405020304" pitchFamily="18" charset="0"/>
              </a:rPr>
              <a:t>K⁺ ions to exit the neuron</a:t>
            </a:r>
            <a:r>
              <a:rPr lang="en-GB" sz="2000" dirty="0">
                <a:solidFill>
                  <a:schemeClr val="tx1"/>
                </a:solidFill>
                <a:latin typeface="+mn-lt"/>
                <a:cs typeface="Times New Roman" panose="02020603050405020304" pitchFamily="18" charset="0"/>
              </a:rPr>
              <a:t> down their electrochemical gradient. </a:t>
            </a:r>
          </a:p>
          <a:p>
            <a:endParaRPr lang="en-GB" sz="2000" dirty="0">
              <a:solidFill>
                <a:schemeClr val="tx1"/>
              </a:solidFill>
              <a:latin typeface="+mn-lt"/>
              <a:cs typeface="Times New Roman" panose="02020603050405020304" pitchFamily="18" charset="0"/>
            </a:endParaRPr>
          </a:p>
          <a:p>
            <a:r>
              <a:rPr lang="en-GB" sz="2000" dirty="0">
                <a:solidFill>
                  <a:schemeClr val="tx1"/>
                </a:solidFill>
                <a:latin typeface="+mn-lt"/>
                <a:cs typeface="Times New Roman" panose="02020603050405020304" pitchFamily="18" charset="0"/>
              </a:rPr>
              <a:t>Causes the </a:t>
            </a:r>
            <a:r>
              <a:rPr lang="en-GB" sz="2000" b="1" dirty="0">
                <a:solidFill>
                  <a:schemeClr val="tx1"/>
                </a:solidFill>
                <a:latin typeface="+mn-lt"/>
                <a:cs typeface="Times New Roman" panose="02020603050405020304" pitchFamily="18" charset="0"/>
              </a:rPr>
              <a:t>intracellular environment to become less positive</a:t>
            </a:r>
            <a:r>
              <a:rPr lang="en-GB" sz="2000" dirty="0">
                <a:solidFill>
                  <a:schemeClr val="tx1"/>
                </a:solidFill>
                <a:latin typeface="+mn-lt"/>
                <a:cs typeface="Times New Roman" panose="02020603050405020304" pitchFamily="18" charset="0"/>
              </a:rPr>
              <a:t>, initiating </a:t>
            </a:r>
            <a:r>
              <a:rPr lang="en-GB" sz="2000" b="1" dirty="0">
                <a:solidFill>
                  <a:schemeClr val="tx1"/>
                </a:solidFill>
                <a:latin typeface="+mn-lt"/>
                <a:cs typeface="Times New Roman" panose="02020603050405020304" pitchFamily="18" charset="0"/>
              </a:rPr>
              <a:t>repolarization</a:t>
            </a:r>
            <a:r>
              <a:rPr lang="en-GB" sz="2000" dirty="0">
                <a:solidFill>
                  <a:schemeClr val="tx1"/>
                </a:solidFill>
                <a:latin typeface="+mn-lt"/>
                <a:cs typeface="Times New Roman" panose="02020603050405020304" pitchFamily="18" charset="0"/>
              </a:rPr>
              <a:t> of the membrane.</a:t>
            </a:r>
          </a:p>
          <a:p>
            <a:endParaRPr lang="en-GB" sz="2000" dirty="0">
              <a:solidFill>
                <a:schemeClr val="tx1"/>
              </a:solidFill>
              <a:latin typeface="+mn-lt"/>
              <a:cs typeface="Times New Roman" panose="02020603050405020304" pitchFamily="18" charset="0"/>
            </a:endParaRPr>
          </a:p>
          <a:p>
            <a:r>
              <a:rPr lang="en-GB" sz="2000" dirty="0">
                <a:solidFill>
                  <a:schemeClr val="tx1"/>
                </a:solidFill>
                <a:latin typeface="+mn-lt"/>
                <a:cs typeface="Times New Roman" panose="02020603050405020304" pitchFamily="18" charset="0"/>
              </a:rPr>
              <a:t>Additionally, </a:t>
            </a:r>
            <a:r>
              <a:rPr lang="en-GB" sz="2000" b="1" dirty="0">
                <a:solidFill>
                  <a:schemeClr val="tx1"/>
                </a:solidFill>
                <a:latin typeface="+mn-lt"/>
                <a:cs typeface="Times New Roman" panose="02020603050405020304" pitchFamily="18" charset="0"/>
              </a:rPr>
              <a:t>chloride ions (Cl⁻)</a:t>
            </a:r>
            <a:r>
              <a:rPr lang="en-GB" sz="2000" dirty="0">
                <a:solidFill>
                  <a:schemeClr val="tx1"/>
                </a:solidFill>
                <a:latin typeface="+mn-lt"/>
                <a:cs typeface="Times New Roman" panose="02020603050405020304" pitchFamily="18" charset="0"/>
              </a:rPr>
              <a:t> may enter the cell, contributing further to the </a:t>
            </a:r>
            <a:r>
              <a:rPr lang="en-GB" sz="2000" b="1" dirty="0">
                <a:solidFill>
                  <a:schemeClr val="tx1"/>
                </a:solidFill>
                <a:latin typeface="+mn-lt"/>
                <a:cs typeface="Times New Roman" panose="02020603050405020304" pitchFamily="18" charset="0"/>
              </a:rPr>
              <a:t>restoration of a negative internal charge</a:t>
            </a:r>
            <a:r>
              <a:rPr lang="en-GB" sz="2000" dirty="0">
                <a:solidFill>
                  <a:schemeClr val="tx1"/>
                </a:solidFill>
                <a:latin typeface="+mn-lt"/>
                <a:cs typeface="Times New Roman" panose="02020603050405020304" pitchFamily="18" charset="0"/>
              </a:rPr>
              <a:t>. </a:t>
            </a:r>
          </a:p>
          <a:p>
            <a:endParaRPr lang="en-GB" sz="2000" dirty="0">
              <a:solidFill>
                <a:schemeClr val="tx1"/>
              </a:solidFill>
              <a:latin typeface="+mn-lt"/>
              <a:cs typeface="Times New Roman" panose="02020603050405020304" pitchFamily="18" charset="0"/>
            </a:endParaRPr>
          </a:p>
          <a:p>
            <a:r>
              <a:rPr lang="en-GB" sz="2000" dirty="0">
                <a:solidFill>
                  <a:schemeClr val="tx1"/>
                </a:solidFill>
                <a:latin typeface="+mn-lt"/>
                <a:cs typeface="Times New Roman" panose="02020603050405020304" pitchFamily="18" charset="0"/>
              </a:rPr>
              <a:t>As a result, the membrane potential gradually returns to its resting level, falling from </a:t>
            </a:r>
            <a:r>
              <a:rPr lang="en-GB" sz="2000" b="1" dirty="0">
                <a:solidFill>
                  <a:schemeClr val="tx1"/>
                </a:solidFill>
                <a:latin typeface="+mn-lt"/>
                <a:cs typeface="Times New Roman" panose="02020603050405020304" pitchFamily="18" charset="0"/>
              </a:rPr>
              <a:t>+40 mV back to approximately –70 mV</a:t>
            </a:r>
            <a:r>
              <a:rPr lang="en-GB" sz="2000" dirty="0">
                <a:solidFill>
                  <a:schemeClr val="tx1"/>
                </a:solidFill>
                <a:latin typeface="+mn-lt"/>
                <a:cs typeface="Times New Roman" panose="02020603050405020304" pitchFamily="18" charset="0"/>
              </a:rPr>
              <a:t>.</a:t>
            </a:r>
          </a:p>
        </p:txBody>
      </p:sp>
      <p:pic>
        <p:nvPicPr>
          <p:cNvPr id="3" name="Picture 2">
            <a:extLst>
              <a:ext uri="{FF2B5EF4-FFF2-40B4-BE49-F238E27FC236}">
                <a16:creationId xmlns:a16="http://schemas.microsoft.com/office/drawing/2014/main" id="{3FDC962B-B39C-1705-A79E-83A4573D3307}"/>
              </a:ext>
            </a:extLst>
          </p:cNvPr>
          <p:cNvPicPr>
            <a:picLocks noChangeAspect="1"/>
          </p:cNvPicPr>
          <p:nvPr/>
        </p:nvPicPr>
        <p:blipFill rotWithShape="1">
          <a:blip r:embed="rId2">
            <a:extLst>
              <a:ext uri="{28A0092B-C50C-407E-A947-70E740481C1C}">
                <a14:useLocalDpi xmlns:a14="http://schemas.microsoft.com/office/drawing/2010/main" val="0"/>
              </a:ext>
            </a:extLst>
          </a:blip>
          <a:srcRect l="57918" t="1308" r="5435" b="74418"/>
          <a:stretch/>
        </p:blipFill>
        <p:spPr>
          <a:xfrm>
            <a:off x="6045045" y="3001070"/>
            <a:ext cx="3031578" cy="1397676"/>
          </a:xfrm>
          <a:prstGeom prst="rect">
            <a:avLst/>
          </a:prstGeom>
        </p:spPr>
      </p:pic>
    </p:spTree>
    <p:extLst>
      <p:ext uri="{BB962C8B-B14F-4D97-AF65-F5344CB8AC3E}">
        <p14:creationId xmlns:p14="http://schemas.microsoft.com/office/powerpoint/2010/main" val="232415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500"/>
                                        <p:tgtEl>
                                          <p:spTgt spid="4">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B722D-CC86-1F65-D389-0EA9364448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283CB1-BA39-9CBC-5475-A69BFFC3BC4B}"/>
              </a:ext>
            </a:extLst>
          </p:cNvPr>
          <p:cNvSpPr/>
          <p:nvPr/>
        </p:nvSpPr>
        <p:spPr>
          <a:xfrm>
            <a:off x="-91440" y="93040"/>
            <a:ext cx="9076623" cy="584775"/>
          </a:xfrm>
          <a:prstGeom prst="rect">
            <a:avLst/>
          </a:prstGeom>
        </p:spPr>
        <p:txBody>
          <a:bodyPr wrap="square">
            <a:spAutoFit/>
          </a:bodyPr>
          <a:lstStyle/>
          <a:p>
            <a:r>
              <a:rPr lang="en-US" sz="3200" b="1" dirty="0">
                <a:latin typeface="Arial" panose="020B0604020202020204" pitchFamily="34" charset="0"/>
                <a:cs typeface="Arial" panose="020B0604020202020204" pitchFamily="34" charset="0"/>
              </a:rPr>
              <a:t>Step-5 </a:t>
            </a:r>
            <a:r>
              <a:rPr lang="en-US" sz="3200" dirty="0">
                <a:latin typeface="Arial" panose="020B0604020202020204" pitchFamily="34" charset="0"/>
                <a:cs typeface="Arial" panose="020B0604020202020204" pitchFamily="34" charset="0"/>
              </a:rPr>
              <a:t> Hyper</a:t>
            </a:r>
            <a:r>
              <a:rPr lang="en-US" sz="2800" dirty="0">
                <a:latin typeface="Arial" panose="020B0604020202020204" pitchFamily="34" charset="0"/>
                <a:cs typeface="Arial" panose="020B0604020202020204" pitchFamily="34" charset="0"/>
              </a:rPr>
              <a:t>polarization&amp; Undershoot </a:t>
            </a:r>
            <a:endParaRPr lang="en-US" sz="3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EDAB7DA-4348-A605-92D3-D504D0B83D60}"/>
              </a:ext>
            </a:extLst>
          </p:cNvPr>
          <p:cNvSpPr txBox="1"/>
          <p:nvPr/>
        </p:nvSpPr>
        <p:spPr>
          <a:xfrm>
            <a:off x="0" y="677815"/>
            <a:ext cx="6261235" cy="4093428"/>
          </a:xfrm>
          <a:prstGeom prst="rect">
            <a:avLst/>
          </a:prstGeom>
          <a:noFill/>
        </p:spPr>
        <p:txBody>
          <a:bodyPr wrap="square">
            <a:spAutoFit/>
          </a:bodyPr>
          <a:lstStyle/>
          <a:p>
            <a:r>
              <a:rPr lang="en-GB" sz="2000" dirty="0">
                <a:solidFill>
                  <a:schemeClr val="tx1"/>
                </a:solidFill>
                <a:latin typeface="+mn-lt"/>
                <a:cs typeface="Times New Roman" panose="02020603050405020304" pitchFamily="18" charset="0"/>
              </a:rPr>
              <a:t>During </a:t>
            </a:r>
            <a:r>
              <a:rPr lang="en-GB" sz="2000" b="1" dirty="0">
                <a:solidFill>
                  <a:schemeClr val="tx1"/>
                </a:solidFill>
                <a:latin typeface="+mn-lt"/>
                <a:cs typeface="Times New Roman" panose="02020603050405020304" pitchFamily="18" charset="0"/>
              </a:rPr>
              <a:t>hyperpolarization</a:t>
            </a:r>
            <a:r>
              <a:rPr lang="en-GB" sz="2000" dirty="0">
                <a:solidFill>
                  <a:schemeClr val="tx1"/>
                </a:solidFill>
                <a:latin typeface="+mn-lt"/>
                <a:cs typeface="Times New Roman" panose="02020603050405020304" pitchFamily="18" charset="0"/>
              </a:rPr>
              <a:t>, the </a:t>
            </a:r>
            <a:r>
              <a:rPr lang="en-GB" sz="2000" b="1" dirty="0">
                <a:solidFill>
                  <a:schemeClr val="tx1"/>
                </a:solidFill>
                <a:latin typeface="+mn-lt"/>
                <a:cs typeface="Times New Roman" panose="02020603050405020304" pitchFamily="18" charset="0"/>
              </a:rPr>
              <a:t>voltage-gated potassium (K⁺) channels</a:t>
            </a:r>
            <a:r>
              <a:rPr lang="en-GB" sz="2000" dirty="0">
                <a:solidFill>
                  <a:schemeClr val="tx1"/>
                </a:solidFill>
                <a:latin typeface="+mn-lt"/>
                <a:cs typeface="Times New Roman" panose="02020603050405020304" pitchFamily="18" charset="0"/>
              </a:rPr>
              <a:t> remain open slightly longer than necessary to restore the membrane to its resting potential. </a:t>
            </a:r>
          </a:p>
          <a:p>
            <a:endParaRPr lang="en-GB" sz="2000" dirty="0">
              <a:solidFill>
                <a:schemeClr val="tx1"/>
              </a:solidFill>
              <a:latin typeface="+mn-lt"/>
              <a:cs typeface="Times New Roman" panose="02020603050405020304" pitchFamily="18" charset="0"/>
            </a:endParaRPr>
          </a:p>
          <a:p>
            <a:r>
              <a:rPr lang="en-GB" sz="2000" dirty="0">
                <a:solidFill>
                  <a:schemeClr val="tx1"/>
                </a:solidFill>
                <a:latin typeface="+mn-lt"/>
                <a:cs typeface="Times New Roman" panose="02020603050405020304" pitchFamily="18" charset="0"/>
              </a:rPr>
              <a:t>Meanwhile, </a:t>
            </a:r>
            <a:r>
              <a:rPr lang="en-GB" sz="2000" b="1" dirty="0">
                <a:solidFill>
                  <a:schemeClr val="tx1"/>
                </a:solidFill>
                <a:latin typeface="+mn-lt"/>
                <a:cs typeface="Times New Roman" panose="02020603050405020304" pitchFamily="18" charset="0"/>
              </a:rPr>
              <a:t>sodium (Na⁺) channels are closed</a:t>
            </a:r>
            <a:r>
              <a:rPr lang="en-GB" sz="2000" dirty="0">
                <a:solidFill>
                  <a:schemeClr val="tx1"/>
                </a:solidFill>
                <a:latin typeface="+mn-lt"/>
                <a:cs typeface="Times New Roman" panose="02020603050405020304" pitchFamily="18" charset="0"/>
              </a:rPr>
              <a:t>, preventing further Na⁺ influx.</a:t>
            </a:r>
          </a:p>
          <a:p>
            <a:r>
              <a:rPr lang="en-GB" sz="2000" dirty="0">
                <a:solidFill>
                  <a:schemeClr val="tx1"/>
                </a:solidFill>
                <a:latin typeface="+mn-lt"/>
                <a:cs typeface="Times New Roman" panose="02020603050405020304" pitchFamily="18" charset="0"/>
              </a:rPr>
              <a:t>As a result, excess K⁺ continues to exit the cell, causing the </a:t>
            </a:r>
            <a:r>
              <a:rPr lang="en-GB" sz="2000" b="1" dirty="0">
                <a:solidFill>
                  <a:schemeClr val="tx1"/>
                </a:solidFill>
                <a:latin typeface="+mn-lt"/>
                <a:cs typeface="Times New Roman" panose="02020603050405020304" pitchFamily="18" charset="0"/>
              </a:rPr>
              <a:t>membrane potential to become more negative than the resting level</a:t>
            </a:r>
            <a:r>
              <a:rPr lang="en-GB" sz="2000" dirty="0">
                <a:solidFill>
                  <a:schemeClr val="tx1"/>
                </a:solidFill>
                <a:latin typeface="+mn-lt"/>
                <a:cs typeface="Times New Roman" panose="02020603050405020304" pitchFamily="18" charset="0"/>
              </a:rPr>
              <a:t>—typically dropping to around </a:t>
            </a:r>
            <a:r>
              <a:rPr lang="en-GB" sz="2000" b="1" dirty="0">
                <a:solidFill>
                  <a:schemeClr val="tx1"/>
                </a:solidFill>
                <a:latin typeface="+mn-lt"/>
                <a:cs typeface="Times New Roman" panose="02020603050405020304" pitchFamily="18" charset="0"/>
              </a:rPr>
              <a:t>–75 mV</a:t>
            </a:r>
            <a:r>
              <a:rPr lang="en-GB" sz="2000" dirty="0">
                <a:solidFill>
                  <a:schemeClr val="tx1"/>
                </a:solidFill>
                <a:latin typeface="+mn-lt"/>
                <a:cs typeface="Times New Roman" panose="02020603050405020304" pitchFamily="18" charset="0"/>
              </a:rPr>
              <a:t>. This phase is known as the </a:t>
            </a:r>
            <a:r>
              <a:rPr lang="en-GB" sz="2000" b="1" dirty="0">
                <a:solidFill>
                  <a:schemeClr val="tx1"/>
                </a:solidFill>
                <a:latin typeface="+mn-lt"/>
                <a:cs typeface="Times New Roman" panose="02020603050405020304" pitchFamily="18" charset="0"/>
              </a:rPr>
              <a:t>undershoot</a:t>
            </a:r>
            <a:r>
              <a:rPr lang="en-GB" sz="2000" dirty="0">
                <a:solidFill>
                  <a:schemeClr val="tx1"/>
                </a:solidFill>
                <a:latin typeface="+mn-lt"/>
                <a:cs typeface="Times New Roman" panose="02020603050405020304" pitchFamily="18" charset="0"/>
              </a:rPr>
              <a:t>.</a:t>
            </a:r>
          </a:p>
          <a:p>
            <a:endParaRPr lang="en-GB" sz="2000" dirty="0">
              <a:solidFill>
                <a:schemeClr val="tx1"/>
              </a:solidFill>
              <a:latin typeface="+mn-lt"/>
              <a:cs typeface="Times New Roman" panose="02020603050405020304" pitchFamily="18" charset="0"/>
            </a:endParaRPr>
          </a:p>
        </p:txBody>
      </p:sp>
      <p:pic>
        <p:nvPicPr>
          <p:cNvPr id="5" name="Picture 4">
            <a:extLst>
              <a:ext uri="{FF2B5EF4-FFF2-40B4-BE49-F238E27FC236}">
                <a16:creationId xmlns:a16="http://schemas.microsoft.com/office/drawing/2014/main" id="{81F30624-9612-9B36-6BA8-4B69D21F89DC}"/>
              </a:ext>
            </a:extLst>
          </p:cNvPr>
          <p:cNvPicPr>
            <a:picLocks noChangeAspect="1"/>
          </p:cNvPicPr>
          <p:nvPr/>
        </p:nvPicPr>
        <p:blipFill rotWithShape="1">
          <a:blip r:embed="rId2">
            <a:extLst>
              <a:ext uri="{28A0092B-C50C-407E-A947-70E740481C1C}">
                <a14:useLocalDpi xmlns:a14="http://schemas.microsoft.com/office/drawing/2010/main" val="0"/>
              </a:ext>
            </a:extLst>
          </a:blip>
          <a:srcRect l="57812" t="66860" r="5436" b="8140"/>
          <a:stretch/>
        </p:blipFill>
        <p:spPr>
          <a:xfrm>
            <a:off x="5926926" y="2732020"/>
            <a:ext cx="3149697" cy="1553276"/>
          </a:xfrm>
          <a:prstGeom prst="rect">
            <a:avLst/>
          </a:prstGeom>
        </p:spPr>
      </p:pic>
      <p:sp>
        <p:nvSpPr>
          <p:cNvPr id="7" name="TextBox 6">
            <a:extLst>
              <a:ext uri="{FF2B5EF4-FFF2-40B4-BE49-F238E27FC236}">
                <a16:creationId xmlns:a16="http://schemas.microsoft.com/office/drawing/2014/main" id="{A793889A-3367-5C4F-FE98-845DCFAF2C93}"/>
              </a:ext>
            </a:extLst>
          </p:cNvPr>
          <p:cNvSpPr txBox="1"/>
          <p:nvPr/>
        </p:nvSpPr>
        <p:spPr>
          <a:xfrm>
            <a:off x="-1" y="5703131"/>
            <a:ext cx="9076622" cy="954107"/>
          </a:xfrm>
          <a:prstGeom prst="rect">
            <a:avLst/>
          </a:prstGeom>
          <a:noFill/>
        </p:spPr>
        <p:txBody>
          <a:bodyPr wrap="square">
            <a:spAutoFit/>
          </a:bodyPr>
          <a:lstStyle/>
          <a:p>
            <a:pPr>
              <a:buNone/>
            </a:pPr>
            <a:r>
              <a:rPr lang="en-GB" sz="2000" b="1" dirty="0">
                <a:solidFill>
                  <a:srgbClr val="0070C0"/>
                </a:solidFill>
                <a:latin typeface="+mj-lt"/>
              </a:rPr>
              <a:t>Refractory Period and Directionality of Action Potentials</a:t>
            </a:r>
          </a:p>
          <a:p>
            <a:pPr>
              <a:buNone/>
            </a:pPr>
            <a:r>
              <a:rPr lang="en-GB" sz="1800" dirty="0">
                <a:solidFill>
                  <a:srgbClr val="0070C0"/>
                </a:solidFill>
                <a:latin typeface="+mj-lt"/>
              </a:rPr>
              <a:t>During the refractory period, both voltage-gated sodium (Na⁺) and potassium (K⁺) channels are closed or inactivated, preventing the initiation of another action potential.</a:t>
            </a:r>
          </a:p>
        </p:txBody>
      </p:sp>
      <p:sp>
        <p:nvSpPr>
          <p:cNvPr id="9" name="TextBox 8">
            <a:extLst>
              <a:ext uri="{FF2B5EF4-FFF2-40B4-BE49-F238E27FC236}">
                <a16:creationId xmlns:a16="http://schemas.microsoft.com/office/drawing/2014/main" id="{8E17D40E-146F-821D-2C41-25232E97251F}"/>
              </a:ext>
            </a:extLst>
          </p:cNvPr>
          <p:cNvSpPr txBox="1"/>
          <p:nvPr/>
        </p:nvSpPr>
        <p:spPr>
          <a:xfrm>
            <a:off x="-1" y="4370738"/>
            <a:ext cx="9076623" cy="1015663"/>
          </a:xfrm>
          <a:prstGeom prst="rect">
            <a:avLst/>
          </a:prstGeom>
          <a:noFill/>
        </p:spPr>
        <p:txBody>
          <a:bodyPr wrap="square">
            <a:spAutoFit/>
          </a:bodyPr>
          <a:lstStyle/>
          <a:p>
            <a:r>
              <a:rPr lang="en-GB" sz="2000" dirty="0">
                <a:solidFill>
                  <a:schemeClr val="tx1"/>
                </a:solidFill>
                <a:latin typeface="+mn-lt"/>
                <a:cs typeface="Times New Roman" panose="02020603050405020304" pitchFamily="18" charset="0"/>
              </a:rPr>
              <a:t>Eventually, the K⁺ channels close, halting further potassium efflux. The membrane potential then stabilizes and returns to its </a:t>
            </a:r>
            <a:r>
              <a:rPr lang="en-GB" sz="2000" b="1" dirty="0">
                <a:solidFill>
                  <a:schemeClr val="tx1"/>
                </a:solidFill>
                <a:latin typeface="+mn-lt"/>
                <a:cs typeface="Times New Roman" panose="02020603050405020304" pitchFamily="18" charset="0"/>
              </a:rPr>
              <a:t>resting value of approximately –70 mV</a:t>
            </a:r>
            <a:r>
              <a:rPr lang="en-GB" sz="2000" dirty="0">
                <a:solidFill>
                  <a:schemeClr val="tx1"/>
                </a:solidFill>
                <a:latin typeface="+mn-lt"/>
                <a:cs typeface="Times New Roman" panose="02020603050405020304" pitchFamily="18" charset="0"/>
              </a:rPr>
              <a:t>, completing the action potential cycle.</a:t>
            </a:r>
          </a:p>
        </p:txBody>
      </p:sp>
    </p:spTree>
    <p:extLst>
      <p:ext uri="{BB962C8B-B14F-4D97-AF65-F5344CB8AC3E}">
        <p14:creationId xmlns:p14="http://schemas.microsoft.com/office/powerpoint/2010/main" val="188012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animEffect transition="in" filter="fade">
                                      <p:cBhvr>
                                        <p:cTn id="29" dur="500"/>
                                        <p:tgtEl>
                                          <p:spTgt spid="9">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1000" fill="hold"/>
                                        <p:tgtEl>
                                          <p:spTgt spid="7"/>
                                        </p:tgtEl>
                                        <p:attrNameLst>
                                          <p:attrName>ppt_w</p:attrName>
                                        </p:attrNameLst>
                                      </p:cBhvr>
                                      <p:tavLst>
                                        <p:tav tm="0">
                                          <p:val>
                                            <p:fltVal val="0"/>
                                          </p:val>
                                        </p:tav>
                                        <p:tav tm="100000">
                                          <p:val>
                                            <p:strVal val="#ppt_w"/>
                                          </p:val>
                                        </p:tav>
                                      </p:tavLst>
                                    </p:anim>
                                    <p:anim calcmode="lin" valueType="num">
                                      <p:cBhvr>
                                        <p:cTn id="35" dur="1000" fill="hold"/>
                                        <p:tgtEl>
                                          <p:spTgt spid="7"/>
                                        </p:tgtEl>
                                        <p:attrNameLst>
                                          <p:attrName>ppt_h</p:attrName>
                                        </p:attrNameLst>
                                      </p:cBhvr>
                                      <p:tavLst>
                                        <p:tav tm="0">
                                          <p:val>
                                            <p:fltVal val="0"/>
                                          </p:val>
                                        </p:tav>
                                        <p:tav tm="100000">
                                          <p:val>
                                            <p:strVal val="#ppt_h"/>
                                          </p:val>
                                        </p:tav>
                                      </p:tavLst>
                                    </p:anim>
                                    <p:anim calcmode="lin" valueType="num">
                                      <p:cBhvr>
                                        <p:cTn id="36" dur="1000" fill="hold"/>
                                        <p:tgtEl>
                                          <p:spTgt spid="7"/>
                                        </p:tgtEl>
                                        <p:attrNameLst>
                                          <p:attrName>style.rotation</p:attrName>
                                        </p:attrNameLst>
                                      </p:cBhvr>
                                      <p:tavLst>
                                        <p:tav tm="0">
                                          <p:val>
                                            <p:fltVal val="90"/>
                                          </p:val>
                                        </p:tav>
                                        <p:tav tm="100000">
                                          <p:val>
                                            <p:fltVal val="0"/>
                                          </p:val>
                                        </p:tav>
                                      </p:tavLst>
                                    </p:anim>
                                    <p:animEffect transition="in" filter="fade">
                                      <p:cBhvr>
                                        <p:cTn id="3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ABE2A6-5EC9-BE45-8E79-A338472A39BA}"/>
              </a:ext>
            </a:extLst>
          </p:cNvPr>
          <p:cNvPicPr>
            <a:picLocks noChangeAspect="1"/>
          </p:cNvPicPr>
          <p:nvPr/>
        </p:nvPicPr>
        <p:blipFill>
          <a:blip r:embed="rId2"/>
          <a:stretch>
            <a:fillRect/>
          </a:stretch>
        </p:blipFill>
        <p:spPr>
          <a:xfrm>
            <a:off x="1020562" y="1232034"/>
            <a:ext cx="6924900" cy="5014761"/>
          </a:xfrm>
          <a:prstGeom prst="rect">
            <a:avLst/>
          </a:prstGeom>
        </p:spPr>
      </p:pic>
    </p:spTree>
    <p:extLst>
      <p:ext uri="{BB962C8B-B14F-4D97-AF65-F5344CB8AC3E}">
        <p14:creationId xmlns:p14="http://schemas.microsoft.com/office/powerpoint/2010/main" val="1768198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extBox 3">
            <a:extLst>
              <a:ext uri="{FF2B5EF4-FFF2-40B4-BE49-F238E27FC236}">
                <a16:creationId xmlns:a16="http://schemas.microsoft.com/office/drawing/2014/main" id="{BDF34223-2011-488E-F3A5-B9C120EE478A}"/>
              </a:ext>
            </a:extLst>
          </p:cNvPr>
          <p:cNvSpPr txBox="1">
            <a:spLocks noChangeArrowheads="1"/>
          </p:cNvSpPr>
          <p:nvPr/>
        </p:nvSpPr>
        <p:spPr bwMode="auto">
          <a:xfrm>
            <a:off x="900113" y="188913"/>
            <a:ext cx="2336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dirty="0">
                <a:latin typeface="Arial" panose="020B0604020202020204" pitchFamily="34" charset="0"/>
              </a:rPr>
              <a:t>Action Potential</a:t>
            </a:r>
            <a:endParaRPr lang="en-GB" altLang="en-US" dirty="0">
              <a:solidFill>
                <a:srgbClr val="FFFF00"/>
              </a:solidFill>
              <a:latin typeface="Arial" panose="020B0604020202020204" pitchFamily="34" charset="0"/>
            </a:endParaRPr>
          </a:p>
        </p:txBody>
      </p:sp>
      <p:grpSp>
        <p:nvGrpSpPr>
          <p:cNvPr id="49154" name="Group 9">
            <a:extLst>
              <a:ext uri="{FF2B5EF4-FFF2-40B4-BE49-F238E27FC236}">
                <a16:creationId xmlns:a16="http://schemas.microsoft.com/office/drawing/2014/main" id="{6E35E6A9-4141-7516-4D01-8AD4409FE8E1}"/>
              </a:ext>
            </a:extLst>
          </p:cNvPr>
          <p:cNvGrpSpPr>
            <a:grpSpLocks/>
          </p:cNvGrpSpPr>
          <p:nvPr/>
        </p:nvGrpSpPr>
        <p:grpSpPr bwMode="auto">
          <a:xfrm>
            <a:off x="1606550" y="1919288"/>
            <a:ext cx="6253163" cy="3084512"/>
            <a:chOff x="1475656" y="1700808"/>
            <a:chExt cx="6252209" cy="3084575"/>
          </a:xfrm>
        </p:grpSpPr>
        <p:pic>
          <p:nvPicPr>
            <p:cNvPr id="49160" name="Picture 2">
              <a:extLst>
                <a:ext uri="{FF2B5EF4-FFF2-40B4-BE49-F238E27FC236}">
                  <a16:creationId xmlns:a16="http://schemas.microsoft.com/office/drawing/2014/main" id="{4534F6C4-B419-4C7E-39E5-A848AD1D42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060848"/>
              <a:ext cx="6211121" cy="27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1" name="TextBox 4">
              <a:extLst>
                <a:ext uri="{FF2B5EF4-FFF2-40B4-BE49-F238E27FC236}">
                  <a16:creationId xmlns:a16="http://schemas.microsoft.com/office/drawing/2014/main" id="{23AFC850-59CF-2334-3A73-4826855EBE92}"/>
                </a:ext>
              </a:extLst>
            </p:cNvPr>
            <p:cNvSpPr txBox="1">
              <a:spLocks noChangeArrowheads="1"/>
            </p:cNvSpPr>
            <p:nvPr/>
          </p:nvSpPr>
          <p:spPr bwMode="auto">
            <a:xfrm>
              <a:off x="2987824" y="2564904"/>
              <a:ext cx="653670"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Soma</a:t>
              </a:r>
            </a:p>
          </p:txBody>
        </p:sp>
        <p:sp>
          <p:nvSpPr>
            <p:cNvPr id="49162" name="TextBox 5">
              <a:extLst>
                <a:ext uri="{FF2B5EF4-FFF2-40B4-BE49-F238E27FC236}">
                  <a16:creationId xmlns:a16="http://schemas.microsoft.com/office/drawing/2014/main" id="{EC07FDFE-5260-848B-9D6B-9CA78E499FCE}"/>
                </a:ext>
              </a:extLst>
            </p:cNvPr>
            <p:cNvSpPr txBox="1">
              <a:spLocks noChangeArrowheads="1"/>
            </p:cNvSpPr>
            <p:nvPr/>
          </p:nvSpPr>
          <p:spPr bwMode="auto">
            <a:xfrm>
              <a:off x="1547664" y="1700808"/>
              <a:ext cx="8632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Dendrite</a:t>
              </a:r>
            </a:p>
          </p:txBody>
        </p:sp>
        <p:sp>
          <p:nvSpPr>
            <p:cNvPr id="49163" name="TextBox 6">
              <a:extLst>
                <a:ext uri="{FF2B5EF4-FFF2-40B4-BE49-F238E27FC236}">
                  <a16:creationId xmlns:a16="http://schemas.microsoft.com/office/drawing/2014/main" id="{A3C12446-3146-147E-BD8B-EFFDB97D8A6C}"/>
                </a:ext>
              </a:extLst>
            </p:cNvPr>
            <p:cNvSpPr txBox="1">
              <a:spLocks noChangeArrowheads="1"/>
            </p:cNvSpPr>
            <p:nvPr/>
          </p:nvSpPr>
          <p:spPr bwMode="auto">
            <a:xfrm>
              <a:off x="4644008" y="2780928"/>
              <a:ext cx="596450"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Axon</a:t>
              </a:r>
            </a:p>
          </p:txBody>
        </p:sp>
        <p:sp>
          <p:nvSpPr>
            <p:cNvPr id="49164" name="Rectangle 7">
              <a:extLst>
                <a:ext uri="{FF2B5EF4-FFF2-40B4-BE49-F238E27FC236}">
                  <a16:creationId xmlns:a16="http://schemas.microsoft.com/office/drawing/2014/main" id="{800552B5-B788-F3B5-3747-84170853A79B}"/>
                </a:ext>
              </a:extLst>
            </p:cNvPr>
            <p:cNvSpPr>
              <a:spLocks noChangeArrowheads="1"/>
            </p:cNvSpPr>
            <p:nvPr/>
          </p:nvSpPr>
          <p:spPr bwMode="auto">
            <a:xfrm>
              <a:off x="5004048" y="3861048"/>
              <a:ext cx="1282310"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Axon terminal</a:t>
              </a:r>
            </a:p>
          </p:txBody>
        </p:sp>
        <p:sp>
          <p:nvSpPr>
            <p:cNvPr id="49165" name="Rectangle 8">
              <a:extLst>
                <a:ext uri="{FF2B5EF4-FFF2-40B4-BE49-F238E27FC236}">
                  <a16:creationId xmlns:a16="http://schemas.microsoft.com/office/drawing/2014/main" id="{8FEE53A5-A48C-A835-2F37-8AAA0B9B1262}"/>
                </a:ext>
              </a:extLst>
            </p:cNvPr>
            <p:cNvSpPr>
              <a:spLocks noChangeArrowheads="1"/>
            </p:cNvSpPr>
            <p:nvPr/>
          </p:nvSpPr>
          <p:spPr bwMode="auto">
            <a:xfrm>
              <a:off x="6156176" y="2924944"/>
              <a:ext cx="1571689"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Post synaptic cell</a:t>
              </a:r>
            </a:p>
          </p:txBody>
        </p:sp>
      </p:grpSp>
      <p:sp>
        <p:nvSpPr>
          <p:cNvPr id="12" name="Rectangle 11">
            <a:extLst>
              <a:ext uri="{FF2B5EF4-FFF2-40B4-BE49-F238E27FC236}">
                <a16:creationId xmlns:a16="http://schemas.microsoft.com/office/drawing/2014/main" id="{8A0AFBF3-E1FD-12D5-B4EF-F701979CE7D6}"/>
              </a:ext>
            </a:extLst>
          </p:cNvPr>
          <p:cNvSpPr>
            <a:spLocks noChangeArrowheads="1"/>
          </p:cNvSpPr>
          <p:nvPr/>
        </p:nvSpPr>
        <p:spPr bwMode="auto">
          <a:xfrm>
            <a:off x="1449388" y="5291138"/>
            <a:ext cx="23987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1600">
                <a:solidFill>
                  <a:srgbClr val="000099"/>
                </a:solidFill>
                <a:latin typeface="Arial" panose="020B0604020202020204" pitchFamily="34" charset="0"/>
              </a:rPr>
              <a:t>ligand gated channels</a:t>
            </a:r>
          </a:p>
        </p:txBody>
      </p:sp>
      <p:sp>
        <p:nvSpPr>
          <p:cNvPr id="49156" name="TextBox 16">
            <a:extLst>
              <a:ext uri="{FF2B5EF4-FFF2-40B4-BE49-F238E27FC236}">
                <a16:creationId xmlns:a16="http://schemas.microsoft.com/office/drawing/2014/main" id="{1378A4B3-7304-366D-B455-79B45F4D4368}"/>
              </a:ext>
            </a:extLst>
          </p:cNvPr>
          <p:cNvSpPr txBox="1">
            <a:spLocks noChangeArrowheads="1"/>
          </p:cNvSpPr>
          <p:nvPr/>
        </p:nvSpPr>
        <p:spPr bwMode="auto">
          <a:xfrm>
            <a:off x="6116638" y="2616200"/>
            <a:ext cx="185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pic>
        <p:nvPicPr>
          <p:cNvPr id="2" name="Picture 1">
            <a:extLst>
              <a:ext uri="{FF2B5EF4-FFF2-40B4-BE49-F238E27FC236}">
                <a16:creationId xmlns:a16="http://schemas.microsoft.com/office/drawing/2014/main" id="{030FA790-EF87-DCF6-84B4-28148A6563B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32050" y="885825"/>
            <a:ext cx="608013"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3" descr="voltage-gated channel">
            <a:extLst>
              <a:ext uri="{FF2B5EF4-FFF2-40B4-BE49-F238E27FC236}">
                <a16:creationId xmlns:a16="http://schemas.microsoft.com/office/drawing/2014/main" id="{41287E09-C5FA-8779-D18D-281968A9B9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6688" y="777875"/>
            <a:ext cx="2706687"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0FC733A9-8A8C-CFCA-C6AE-8220AC3B8BDC}"/>
              </a:ext>
            </a:extLst>
          </p:cNvPr>
          <p:cNvSpPr>
            <a:spLocks noChangeArrowheads="1"/>
          </p:cNvSpPr>
          <p:nvPr/>
        </p:nvSpPr>
        <p:spPr bwMode="auto">
          <a:xfrm>
            <a:off x="3984625" y="5289550"/>
            <a:ext cx="27257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1600">
                <a:solidFill>
                  <a:srgbClr val="000099"/>
                </a:solidFill>
                <a:latin typeface="Arial" panose="020B0604020202020204" pitchFamily="34" charset="0"/>
              </a:rPr>
              <a:t>voltage-gated channels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Box 3">
            <a:extLst>
              <a:ext uri="{FF2B5EF4-FFF2-40B4-BE49-F238E27FC236}">
                <a16:creationId xmlns:a16="http://schemas.microsoft.com/office/drawing/2014/main" id="{7A52CDAB-38ED-41E8-4D6D-DFCAEFCA74BC}"/>
              </a:ext>
            </a:extLst>
          </p:cNvPr>
          <p:cNvSpPr txBox="1">
            <a:spLocks noChangeArrowheads="1"/>
          </p:cNvSpPr>
          <p:nvPr/>
        </p:nvSpPr>
        <p:spPr bwMode="auto">
          <a:xfrm>
            <a:off x="900113" y="188913"/>
            <a:ext cx="2336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Action Potential</a:t>
            </a:r>
            <a:endParaRPr lang="en-GB" altLang="en-US">
              <a:solidFill>
                <a:srgbClr val="FFFF00"/>
              </a:solidFill>
              <a:latin typeface="Arial" panose="020B0604020202020204" pitchFamily="34" charset="0"/>
            </a:endParaRPr>
          </a:p>
        </p:txBody>
      </p:sp>
      <p:grpSp>
        <p:nvGrpSpPr>
          <p:cNvPr id="50178" name="Group 9">
            <a:extLst>
              <a:ext uri="{FF2B5EF4-FFF2-40B4-BE49-F238E27FC236}">
                <a16:creationId xmlns:a16="http://schemas.microsoft.com/office/drawing/2014/main" id="{AB2685BB-2C15-12F8-71DE-7F9255285502}"/>
              </a:ext>
            </a:extLst>
          </p:cNvPr>
          <p:cNvGrpSpPr>
            <a:grpSpLocks/>
          </p:cNvGrpSpPr>
          <p:nvPr/>
        </p:nvGrpSpPr>
        <p:grpSpPr bwMode="auto">
          <a:xfrm>
            <a:off x="1619250" y="2060575"/>
            <a:ext cx="6253163" cy="3084513"/>
            <a:chOff x="1475656" y="1700808"/>
            <a:chExt cx="6252209" cy="3084575"/>
          </a:xfrm>
        </p:grpSpPr>
        <p:pic>
          <p:nvPicPr>
            <p:cNvPr id="50189" name="Picture 2">
              <a:extLst>
                <a:ext uri="{FF2B5EF4-FFF2-40B4-BE49-F238E27FC236}">
                  <a16:creationId xmlns:a16="http://schemas.microsoft.com/office/drawing/2014/main" id="{DD4B0F70-F57C-DB97-0B8A-9892EB69E8C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060848"/>
              <a:ext cx="6211121" cy="27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90" name="TextBox 4">
              <a:extLst>
                <a:ext uri="{FF2B5EF4-FFF2-40B4-BE49-F238E27FC236}">
                  <a16:creationId xmlns:a16="http://schemas.microsoft.com/office/drawing/2014/main" id="{6306B893-EDE8-2B1E-C011-B20D9ABD95C8}"/>
                </a:ext>
              </a:extLst>
            </p:cNvPr>
            <p:cNvSpPr txBox="1">
              <a:spLocks noChangeArrowheads="1"/>
            </p:cNvSpPr>
            <p:nvPr/>
          </p:nvSpPr>
          <p:spPr bwMode="auto">
            <a:xfrm>
              <a:off x="2987824" y="2564904"/>
              <a:ext cx="653670"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chemeClr val="tx1"/>
                  </a:solidFill>
                  <a:latin typeface="Arial" panose="020B0604020202020204" pitchFamily="34" charset="0"/>
                </a:rPr>
                <a:t>Soma</a:t>
              </a:r>
            </a:p>
          </p:txBody>
        </p:sp>
        <p:sp>
          <p:nvSpPr>
            <p:cNvPr id="50191" name="TextBox 5">
              <a:extLst>
                <a:ext uri="{FF2B5EF4-FFF2-40B4-BE49-F238E27FC236}">
                  <a16:creationId xmlns:a16="http://schemas.microsoft.com/office/drawing/2014/main" id="{58438049-3233-048F-7F55-07C0F7E3A675}"/>
                </a:ext>
              </a:extLst>
            </p:cNvPr>
            <p:cNvSpPr txBox="1">
              <a:spLocks noChangeArrowheads="1"/>
            </p:cNvSpPr>
            <p:nvPr/>
          </p:nvSpPr>
          <p:spPr bwMode="auto">
            <a:xfrm>
              <a:off x="1547664" y="1700808"/>
              <a:ext cx="8632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Dendrite</a:t>
              </a:r>
            </a:p>
          </p:txBody>
        </p:sp>
        <p:sp>
          <p:nvSpPr>
            <p:cNvPr id="50192" name="TextBox 6">
              <a:extLst>
                <a:ext uri="{FF2B5EF4-FFF2-40B4-BE49-F238E27FC236}">
                  <a16:creationId xmlns:a16="http://schemas.microsoft.com/office/drawing/2014/main" id="{B35E9885-403F-5A99-3C03-852BF1580184}"/>
                </a:ext>
              </a:extLst>
            </p:cNvPr>
            <p:cNvSpPr txBox="1">
              <a:spLocks noChangeArrowheads="1"/>
            </p:cNvSpPr>
            <p:nvPr/>
          </p:nvSpPr>
          <p:spPr bwMode="auto">
            <a:xfrm>
              <a:off x="4644008" y="2780928"/>
              <a:ext cx="596450"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Axon</a:t>
              </a:r>
            </a:p>
          </p:txBody>
        </p:sp>
        <p:sp>
          <p:nvSpPr>
            <p:cNvPr id="50193" name="Rectangle 7">
              <a:extLst>
                <a:ext uri="{FF2B5EF4-FFF2-40B4-BE49-F238E27FC236}">
                  <a16:creationId xmlns:a16="http://schemas.microsoft.com/office/drawing/2014/main" id="{B0B440FA-4CFA-7EE9-B9F6-2B4FD8FC25DA}"/>
                </a:ext>
              </a:extLst>
            </p:cNvPr>
            <p:cNvSpPr>
              <a:spLocks noChangeArrowheads="1"/>
            </p:cNvSpPr>
            <p:nvPr/>
          </p:nvSpPr>
          <p:spPr bwMode="auto">
            <a:xfrm>
              <a:off x="5004048" y="3861048"/>
              <a:ext cx="1282310"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Axon terminal</a:t>
              </a:r>
            </a:p>
          </p:txBody>
        </p:sp>
        <p:sp>
          <p:nvSpPr>
            <p:cNvPr id="50194" name="Rectangle 8">
              <a:extLst>
                <a:ext uri="{FF2B5EF4-FFF2-40B4-BE49-F238E27FC236}">
                  <a16:creationId xmlns:a16="http://schemas.microsoft.com/office/drawing/2014/main" id="{7C8C314E-8B4D-2236-FA01-44BEBBB5FB70}"/>
                </a:ext>
              </a:extLst>
            </p:cNvPr>
            <p:cNvSpPr>
              <a:spLocks noChangeArrowheads="1"/>
            </p:cNvSpPr>
            <p:nvPr/>
          </p:nvSpPr>
          <p:spPr bwMode="auto">
            <a:xfrm>
              <a:off x="6156176" y="2924944"/>
              <a:ext cx="1571689" cy="307777"/>
            </a:xfrm>
            <a:prstGeom prst="rect">
              <a:avLst/>
            </a:prstGeom>
            <a:solidFill>
              <a:srgbClr val="FC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1400">
                  <a:solidFill>
                    <a:srgbClr val="000000"/>
                  </a:solidFill>
                  <a:latin typeface="Arial" panose="020B0604020202020204" pitchFamily="34" charset="0"/>
                </a:rPr>
                <a:t>Post synaptic cell</a:t>
              </a:r>
            </a:p>
          </p:txBody>
        </p:sp>
      </p:grpSp>
      <p:sp>
        <p:nvSpPr>
          <p:cNvPr id="12" name="Rectangle 11">
            <a:extLst>
              <a:ext uri="{FF2B5EF4-FFF2-40B4-BE49-F238E27FC236}">
                <a16:creationId xmlns:a16="http://schemas.microsoft.com/office/drawing/2014/main" id="{AA39241E-A382-E4F9-AF3A-8E4AC5F268AF}"/>
              </a:ext>
            </a:extLst>
          </p:cNvPr>
          <p:cNvSpPr>
            <a:spLocks noChangeArrowheads="1"/>
          </p:cNvSpPr>
          <p:nvPr/>
        </p:nvSpPr>
        <p:spPr bwMode="auto">
          <a:xfrm>
            <a:off x="1624013" y="5457825"/>
            <a:ext cx="4968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spcBef>
                <a:spcPct val="50000"/>
              </a:spcBef>
            </a:pPr>
            <a:r>
              <a:rPr lang="en-GB" altLang="en-US" sz="1600">
                <a:solidFill>
                  <a:srgbClr val="000099"/>
                </a:solidFill>
                <a:latin typeface="Arial" panose="020B0604020202020204" pitchFamily="34" charset="0"/>
              </a:rPr>
              <a:t>ligand gated channels        voltage-gated channels</a:t>
            </a:r>
            <a:endParaRPr lang="en-GB" altLang="en-US">
              <a:solidFill>
                <a:srgbClr val="000099"/>
              </a:solidFill>
              <a:latin typeface="Arial" panose="020B0604020202020204" pitchFamily="34" charset="0"/>
            </a:endParaRPr>
          </a:p>
        </p:txBody>
      </p:sp>
      <p:grpSp>
        <p:nvGrpSpPr>
          <p:cNvPr id="16" name="Group 15">
            <a:extLst>
              <a:ext uri="{FF2B5EF4-FFF2-40B4-BE49-F238E27FC236}">
                <a16:creationId xmlns:a16="http://schemas.microsoft.com/office/drawing/2014/main" id="{9980B29C-A614-2888-DC9D-1AB2D0E19C6B}"/>
              </a:ext>
            </a:extLst>
          </p:cNvPr>
          <p:cNvGrpSpPr>
            <a:grpSpLocks/>
          </p:cNvGrpSpPr>
          <p:nvPr/>
        </p:nvGrpSpPr>
        <p:grpSpPr bwMode="auto">
          <a:xfrm>
            <a:off x="4067175" y="2060575"/>
            <a:ext cx="1439863" cy="1619250"/>
            <a:chOff x="3429000" y="1066800"/>
            <a:chExt cx="2833688" cy="2122488"/>
          </a:xfrm>
        </p:grpSpPr>
        <p:pic>
          <p:nvPicPr>
            <p:cNvPr id="50186" name="Picture 4">
              <a:extLst>
                <a:ext uri="{FF2B5EF4-FFF2-40B4-BE49-F238E27FC236}">
                  <a16:creationId xmlns:a16="http://schemas.microsoft.com/office/drawing/2014/main" id="{B6773627-E92D-519C-BBE5-BC431D59B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905000"/>
              <a:ext cx="406400" cy="128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7" name="Picture 5">
              <a:extLst>
                <a:ext uri="{FF2B5EF4-FFF2-40B4-BE49-F238E27FC236}">
                  <a16:creationId xmlns:a16="http://schemas.microsoft.com/office/drawing/2014/main" id="{37FEBC56-89A6-0C14-044B-A1D20FD44A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1066800"/>
              <a:ext cx="2300288"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8" name="Line 6">
              <a:extLst>
                <a:ext uri="{FF2B5EF4-FFF2-40B4-BE49-F238E27FC236}">
                  <a16:creationId xmlns:a16="http://schemas.microsoft.com/office/drawing/2014/main" id="{CD6DB37D-E169-5402-AD50-B4A26A11CDF2}"/>
                </a:ext>
              </a:extLst>
            </p:cNvPr>
            <p:cNvSpPr>
              <a:spLocks noChangeShapeType="1"/>
            </p:cNvSpPr>
            <p:nvPr/>
          </p:nvSpPr>
          <p:spPr bwMode="auto">
            <a:xfrm flipV="1">
              <a:off x="3657600" y="1371600"/>
              <a:ext cx="304800" cy="990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sp>
        <p:nvSpPr>
          <p:cNvPr id="50181" name="TextBox 16">
            <a:extLst>
              <a:ext uri="{FF2B5EF4-FFF2-40B4-BE49-F238E27FC236}">
                <a16:creationId xmlns:a16="http://schemas.microsoft.com/office/drawing/2014/main" id="{1C0AFD20-DE27-EE17-FF17-D1C540FA375D}"/>
              </a:ext>
            </a:extLst>
          </p:cNvPr>
          <p:cNvSpPr txBox="1">
            <a:spLocks noChangeArrowheads="1"/>
          </p:cNvSpPr>
          <p:nvPr/>
        </p:nvSpPr>
        <p:spPr bwMode="auto">
          <a:xfrm>
            <a:off x="6116638" y="2616200"/>
            <a:ext cx="185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p>
        </p:txBody>
      </p:sp>
      <p:pic>
        <p:nvPicPr>
          <p:cNvPr id="18" name="Picture 3" descr="aptl background">
            <a:extLst>
              <a:ext uri="{FF2B5EF4-FFF2-40B4-BE49-F238E27FC236}">
                <a16:creationId xmlns:a16="http://schemas.microsoft.com/office/drawing/2014/main" id="{558E1E51-D6C8-402D-BE30-A3A5E13C1F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1628775"/>
            <a:ext cx="2592388"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4" descr="action potential">
            <a:extLst>
              <a:ext uri="{FF2B5EF4-FFF2-40B4-BE49-F238E27FC236}">
                <a16:creationId xmlns:a16="http://schemas.microsoft.com/office/drawing/2014/main" id="{D1051708-E2D7-B2A4-75BB-0C1FE20D71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5600" y="1628775"/>
            <a:ext cx="2605088"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Explosion 1 24">
            <a:extLst>
              <a:ext uri="{FF2B5EF4-FFF2-40B4-BE49-F238E27FC236}">
                <a16:creationId xmlns:a16="http://schemas.microsoft.com/office/drawing/2014/main" id="{E77B386A-3078-D4AF-FBF4-C062CCE94F03}"/>
              </a:ext>
            </a:extLst>
          </p:cNvPr>
          <p:cNvSpPr>
            <a:spLocks noChangeArrowheads="1"/>
          </p:cNvSpPr>
          <p:nvPr/>
        </p:nvSpPr>
        <p:spPr bwMode="auto">
          <a:xfrm>
            <a:off x="2916238" y="3573463"/>
            <a:ext cx="503237" cy="482600"/>
          </a:xfrm>
          <a:prstGeom prst="irregularSeal1">
            <a:avLst/>
          </a:prstGeom>
          <a:solidFill>
            <a:srgbClr val="FF0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solidFill>
                <a:srgbClr val="FF0000"/>
              </a:solidFill>
            </a:endParaRPr>
          </a:p>
        </p:txBody>
      </p:sp>
      <p:sp>
        <p:nvSpPr>
          <p:cNvPr id="20" name="Explosion 1 19">
            <a:extLst>
              <a:ext uri="{FF2B5EF4-FFF2-40B4-BE49-F238E27FC236}">
                <a16:creationId xmlns:a16="http://schemas.microsoft.com/office/drawing/2014/main" id="{4D639F27-4001-B3FF-00DD-3D24F542DDD9}"/>
              </a:ext>
            </a:extLst>
          </p:cNvPr>
          <p:cNvSpPr>
            <a:spLocks noChangeArrowheads="1"/>
          </p:cNvSpPr>
          <p:nvPr/>
        </p:nvSpPr>
        <p:spPr bwMode="auto">
          <a:xfrm>
            <a:off x="2916238" y="3573463"/>
            <a:ext cx="503237" cy="482600"/>
          </a:xfrm>
          <a:prstGeom prst="irregularSeal1">
            <a:avLst/>
          </a:prstGeom>
          <a:solidFill>
            <a:srgbClr val="FF0000"/>
          </a:solidFill>
          <a:ln w="12700">
            <a:solidFill>
              <a:schemeClr val="tx1"/>
            </a:solidFill>
            <a:round/>
            <a:headEnd/>
            <a:tailEnd/>
          </a:ln>
        </p:spPr>
        <p:txBody>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endParaRPr lang="en-US"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grpId="0" nodeType="clickEffect">
                                  <p:stCondLst>
                                    <p:cond delay="0"/>
                                  </p:stCondLst>
                                  <p:childTnLst>
                                    <p:animMotion origin="layout" path="M 0.03976 -0.01181 C 0.04983 -0.01435 0.0599 -0.01667 0.06945 -0.01806 C 0.079 -0.01944 0.0882 -0.01944 0.09723 -0.02037 C 0.10625 -0.0213 0.11702 -0.02338 0.12396 -0.02407 C 0.13091 -0.02477 0.13247 -0.02384 0.13889 -0.02407 C 0.14532 -0.02431 0.15243 -0.02569 0.16285 -0.02546 C 0.17327 -0.02523 0.19098 -0.02407 0.20174 -0.02292 C 0.2125 -0.02176 0.21667 -0.02037 0.22778 -0.01806 C 0.23889 -0.01574 0.25573 -0.0125 0.26841 -0.00926 C 0.28108 -0.00602 0.29341 -0.00023 0.30365 0.00185 C 0.31389 0.00394 0.32344 0.00116 0.32952 0.00301 C 0.33559 0.00486 0.3323 0.00602 0.33976 0.01296 C 0.34723 0.01991 0.36511 0.0375 0.37396 0.04491 C 0.38282 0.05231 0.38716 0.05394 0.39341 0.05741 C 0.39966 0.06088 0.40434 0.06458 0.41198 0.06597 C 0.41962 0.06736 0.43559 0.06597 0.43889 0.06597 " pathEditMode="relative" ptsTypes="aaaaaaaaaaaaaaaA">
                                      <p:cBhvr>
                                        <p:cTn id="14" dur="2000" fill="hold"/>
                                        <p:tgtEl>
                                          <p:spTgt spid="25"/>
                                        </p:tgtEl>
                                        <p:attrNameLst>
                                          <p:attrName>ppt_x</p:attrName>
                                          <p:attrName>ppt_y</p:attrName>
                                        </p:attrNameLst>
                                      </p:cBhvr>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2" nodeType="clickEffect">
                                  <p:stCondLst>
                                    <p:cond delay="0"/>
                                  </p:stCondLst>
                                  <p:childTnLst>
                                    <p:set>
                                      <p:cBhvr>
                                        <p:cTn id="18" dur="1" fill="hold">
                                          <p:stCondLst>
                                            <p:cond delay="0"/>
                                          </p:stCondLst>
                                        </p:cTn>
                                        <p:tgtEl>
                                          <p:spTgt spid="25"/>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5000"/>
                                        <p:tgtEl>
                                          <p:spTgt spid="19"/>
                                        </p:tgtEl>
                                      </p:cBhvr>
                                    </p:animEffect>
                                  </p:childTnLst>
                                </p:cTn>
                              </p:par>
                              <p:par>
                                <p:cTn id="32" presetID="1" presetClass="entr" presetSubtype="0" fill="hold" grpId="1" nodeType="withEffect">
                                  <p:stCondLst>
                                    <p:cond delay="0"/>
                                  </p:stCondLst>
                                  <p:childTnLst>
                                    <p:set>
                                      <p:cBhvr>
                                        <p:cTn id="33" dur="1" fill="hold">
                                          <p:stCondLst>
                                            <p:cond delay="0"/>
                                          </p:stCondLst>
                                        </p:cTn>
                                        <p:tgtEl>
                                          <p:spTgt spid="20"/>
                                        </p:tgtEl>
                                        <p:attrNameLst>
                                          <p:attrName>style.visibility</p:attrName>
                                        </p:attrNameLst>
                                      </p:cBhvr>
                                      <p:to>
                                        <p:strVal val="visible"/>
                                      </p:to>
                                    </p:set>
                                  </p:childTnLst>
                                </p:cTn>
                              </p:par>
                              <p:par>
                                <p:cTn id="34" presetID="0" presetClass="path" presetSubtype="0" accel="50000" decel="50000" fill="hold" grpId="0" nodeType="withEffect">
                                  <p:stCondLst>
                                    <p:cond delay="0"/>
                                  </p:stCondLst>
                                  <p:childTnLst>
                                    <p:animMotion origin="layout" path="M 0.03976 -0.01181 C 0.04983 -0.01435 0.0599 -0.01667 0.06945 -0.01806 C 0.079 -0.01944 0.0882 -0.01944 0.09723 -0.02037 C 0.10625 -0.0213 0.11702 -0.02338 0.12396 -0.02407 C 0.13091 -0.02477 0.13247 -0.02384 0.13889 -0.02407 C 0.14532 -0.02431 0.15243 -0.02569 0.16285 -0.02546 C 0.17327 -0.02523 0.19098 -0.02407 0.20174 -0.02292 C 0.2125 -0.02176 0.21667 -0.02037 0.22778 -0.01806 C 0.23889 -0.01574 0.25573 -0.0125 0.26841 -0.00926 C 0.28108 -0.00602 0.29341 -0.00023 0.30365 0.00185 C 0.31389 0.00394 0.32344 0.00116 0.32952 0.00301 C 0.33559 0.00486 0.3323 0.00602 0.33976 0.01296 C 0.34723 0.01991 0.36511 0.0375 0.37396 0.04491 C 0.38282 0.05231 0.38716 0.05394 0.39341 0.05741 C 0.39966 0.06088 0.40434 0.06458 0.41198 0.06597 C 0.41962 0.06736 0.43559 0.06597 0.43889 0.06597 " pathEditMode="relative" ptsTypes="aaaaaaaaaaaaaaaA">
                                      <p:cBhvr>
                                        <p:cTn id="35" dur="5000" fill="hold"/>
                                        <p:tgtEl>
                                          <p:spTgt spid="20"/>
                                        </p:tgtEl>
                                        <p:attrNameLst>
                                          <p:attrName>ppt_x</p:attrName>
                                          <p:attrName>ppt_y</p:attrName>
                                        </p:attrNameLst>
                                      </p:cBhvr>
                                    </p:animMotion>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xit" presetSubtype="0" fill="hold" grpId="2" nodeType="clickEffect">
                                  <p:stCondLst>
                                    <p:cond delay="0"/>
                                  </p:stCondLst>
                                  <p:childTnLst>
                                    <p:set>
                                      <p:cBhvr>
                                        <p:cTn id="39"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5" grpId="0" animBg="1"/>
      <p:bldP spid="25" grpId="1" animBg="1"/>
      <p:bldP spid="25" grpId="2" animBg="1"/>
      <p:bldP spid="20" grpId="0" animBg="1"/>
      <p:bldP spid="20" grpId="1" animBg="1"/>
      <p:bldP spid="20" grpId="2"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3" descr="aptl background">
            <a:extLst>
              <a:ext uri="{FF2B5EF4-FFF2-40B4-BE49-F238E27FC236}">
                <a16:creationId xmlns:a16="http://schemas.microsoft.com/office/drawing/2014/main" id="{0B328B36-7CAB-CBA6-9F12-0E2A8C3EEC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133600"/>
            <a:ext cx="7935913"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2196" name="Picture 4" descr="action potential">
            <a:extLst>
              <a:ext uri="{FF2B5EF4-FFF2-40B4-BE49-F238E27FC236}">
                <a16:creationId xmlns:a16="http://schemas.microsoft.com/office/drawing/2014/main" id="{6BD0695D-27E0-836B-88AF-52C5CB5809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133600"/>
            <a:ext cx="7935913" cy="44069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1203" name="Rectangle 5">
            <a:extLst>
              <a:ext uri="{FF2B5EF4-FFF2-40B4-BE49-F238E27FC236}">
                <a16:creationId xmlns:a16="http://schemas.microsoft.com/office/drawing/2014/main" id="{775F7AFB-E6C9-059F-A72F-F905DEE73799}"/>
              </a:ext>
            </a:extLst>
          </p:cNvPr>
          <p:cNvSpPr>
            <a:spLocks noChangeArrowheads="1"/>
          </p:cNvSpPr>
          <p:nvPr/>
        </p:nvSpPr>
        <p:spPr bwMode="auto">
          <a:xfrm>
            <a:off x="827088" y="1588"/>
            <a:ext cx="54737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Action Potential</a:t>
            </a:r>
            <a:endParaRPr lang="en-GB" altLang="en-US">
              <a:solidFill>
                <a:srgbClr val="FFFF00"/>
              </a:solidFill>
              <a:latin typeface="Arial" panose="020B0604020202020204" pitchFamily="34" charset="0"/>
            </a:endParaRPr>
          </a:p>
        </p:txBody>
      </p:sp>
      <p:sp>
        <p:nvSpPr>
          <p:cNvPr id="51204" name="Text Box 7">
            <a:extLst>
              <a:ext uri="{FF2B5EF4-FFF2-40B4-BE49-F238E27FC236}">
                <a16:creationId xmlns:a16="http://schemas.microsoft.com/office/drawing/2014/main" id="{0E5FA9BB-8A1A-A5FB-053D-3EC25418AFD6}"/>
              </a:ext>
            </a:extLst>
          </p:cNvPr>
          <p:cNvSpPr txBox="1">
            <a:spLocks noChangeArrowheads="1"/>
          </p:cNvSpPr>
          <p:nvPr/>
        </p:nvSpPr>
        <p:spPr bwMode="auto">
          <a:xfrm>
            <a:off x="1311275" y="857250"/>
            <a:ext cx="1090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a:t> Action</a:t>
            </a:r>
          </a:p>
        </p:txBody>
      </p:sp>
      <p:sp>
        <p:nvSpPr>
          <p:cNvPr id="51205" name="Rectangle 8">
            <a:extLst>
              <a:ext uri="{FF2B5EF4-FFF2-40B4-BE49-F238E27FC236}">
                <a16:creationId xmlns:a16="http://schemas.microsoft.com/office/drawing/2014/main" id="{19103FE7-20DE-7529-7B84-85307D53B68E}"/>
              </a:ext>
            </a:extLst>
          </p:cNvPr>
          <p:cNvSpPr>
            <a:spLocks noChangeArrowheads="1"/>
          </p:cNvSpPr>
          <p:nvPr/>
        </p:nvSpPr>
        <p:spPr bwMode="auto">
          <a:xfrm>
            <a:off x="1619250" y="981075"/>
            <a:ext cx="59658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2000">
                <a:solidFill>
                  <a:srgbClr val="000000"/>
                </a:solidFill>
                <a:latin typeface="Arial" panose="020B0604020202020204" pitchFamily="34" charset="0"/>
              </a:rPr>
              <a:t>Action potentials are </a:t>
            </a:r>
            <a:r>
              <a:rPr lang="ja-JP" altLang="en-GB" sz="2000">
                <a:solidFill>
                  <a:srgbClr val="000000"/>
                </a:solidFill>
                <a:latin typeface="Arial" panose="020B0604020202020204" pitchFamily="34" charset="0"/>
              </a:rPr>
              <a:t>“</a:t>
            </a:r>
            <a:r>
              <a:rPr lang="en-GB" altLang="ja-JP" sz="2000">
                <a:solidFill>
                  <a:srgbClr val="000000"/>
                </a:solidFill>
                <a:latin typeface="Arial" panose="020B0604020202020204" pitchFamily="34" charset="0"/>
              </a:rPr>
              <a:t>all or nothing</a:t>
            </a:r>
            <a:r>
              <a:rPr lang="ja-JP" altLang="en-GB" sz="2000">
                <a:solidFill>
                  <a:srgbClr val="000000"/>
                </a:solidFill>
                <a:latin typeface="Arial" panose="020B0604020202020204" pitchFamily="34" charset="0"/>
              </a:rPr>
              <a:t>”</a:t>
            </a:r>
            <a:r>
              <a:rPr lang="en-GB" altLang="ja-JP" sz="2000">
                <a:solidFill>
                  <a:srgbClr val="000000"/>
                </a:solidFill>
                <a:latin typeface="Arial" panose="020B0604020202020204" pitchFamily="34" charset="0"/>
              </a:rPr>
              <a:t> </a:t>
            </a:r>
            <a:r>
              <a:rPr lang="en-US" altLang="ja-JP" sz="2000">
                <a:solidFill>
                  <a:srgbClr val="000000"/>
                </a:solidFill>
                <a:latin typeface="Helvetica" panose="020B0604020202020204" pitchFamily="34" charset="0"/>
              </a:rPr>
              <a:t>self-regenerating waves of electrochemical activity. </a:t>
            </a:r>
            <a:r>
              <a:rPr lang="en-GB" altLang="ja-JP" sz="2000">
                <a:solidFill>
                  <a:srgbClr val="000000"/>
                </a:solidFill>
                <a:latin typeface="Arial" panose="020B0604020202020204" pitchFamily="34" charset="0"/>
              </a:rPr>
              <a:t> </a:t>
            </a:r>
            <a:endParaRPr lang="en-US" altLang="en-US" sz="2000">
              <a:solidFill>
                <a:srgbClr val="00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92196"/>
                                        </p:tgtEl>
                                        <p:attrNameLst>
                                          <p:attrName>style.visibility</p:attrName>
                                        </p:attrNameLst>
                                      </p:cBhvr>
                                      <p:to>
                                        <p:strVal val="visible"/>
                                      </p:to>
                                    </p:set>
                                    <p:animEffect transition="in" filter="wipe(left)">
                                      <p:cBhvr>
                                        <p:cTn id="7" dur="5000"/>
                                        <p:tgtEl>
                                          <p:spTgt spid="392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3219" name="Picture 3" descr="aptl m ptl chgs">
            <a:extLst>
              <a:ext uri="{FF2B5EF4-FFF2-40B4-BE49-F238E27FC236}">
                <a16:creationId xmlns:a16="http://schemas.microsoft.com/office/drawing/2014/main" id="{7BBA42CE-593C-36E2-627E-A4A7E9A54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1447800"/>
            <a:ext cx="7165975" cy="53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3220" name="Picture 4" descr="aptl and Na perm">
            <a:extLst>
              <a:ext uri="{FF2B5EF4-FFF2-40B4-BE49-F238E27FC236}">
                <a16:creationId xmlns:a16="http://schemas.microsoft.com/office/drawing/2014/main" id="{8F9B9387-495F-9E62-566A-98C8DF6ABB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447800"/>
            <a:ext cx="7169150" cy="539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3221" name="Picture 5" descr="K perm and APTl">
            <a:extLst>
              <a:ext uri="{FF2B5EF4-FFF2-40B4-BE49-F238E27FC236}">
                <a16:creationId xmlns:a16="http://schemas.microsoft.com/office/drawing/2014/main" id="{D096ECA7-221F-5382-18F9-93F479DCFD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460500"/>
            <a:ext cx="7169150" cy="539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Rectangle 2">
            <a:extLst>
              <a:ext uri="{FF2B5EF4-FFF2-40B4-BE49-F238E27FC236}">
                <a16:creationId xmlns:a16="http://schemas.microsoft.com/office/drawing/2014/main" id="{7FBE6363-021A-6F4A-3ABD-C8E09158DF49}"/>
              </a:ext>
            </a:extLst>
          </p:cNvPr>
          <p:cNvSpPr>
            <a:spLocks noGrp="1" noChangeArrowheads="1"/>
          </p:cNvSpPr>
          <p:nvPr>
            <p:ph type="title"/>
          </p:nvPr>
        </p:nvSpPr>
        <p:spPr>
          <a:xfrm>
            <a:off x="1763713" y="692150"/>
            <a:ext cx="5832475" cy="914400"/>
          </a:xfrm>
        </p:spPr>
        <p:txBody>
          <a:bodyPr/>
          <a:lstStyle/>
          <a:p>
            <a:r>
              <a:rPr lang="en-GB" altLang="en-US" sz="2000">
                <a:solidFill>
                  <a:srgbClr val="000000"/>
                </a:solidFill>
              </a:rPr>
              <a:t>The AP depends on changes in the permeability of the axon membrane to Na</a:t>
            </a:r>
            <a:r>
              <a:rPr lang="en-GB" altLang="en-US" sz="2000" baseline="30000">
                <a:solidFill>
                  <a:srgbClr val="000000"/>
                </a:solidFill>
              </a:rPr>
              <a:t>+</a:t>
            </a:r>
            <a:r>
              <a:rPr lang="en-GB" altLang="en-US" sz="2000">
                <a:solidFill>
                  <a:srgbClr val="000000"/>
                </a:solidFill>
              </a:rPr>
              <a:t> and K</a:t>
            </a:r>
            <a:r>
              <a:rPr lang="en-GB" altLang="en-US" sz="2000" baseline="30000">
                <a:solidFill>
                  <a:srgbClr val="000000"/>
                </a:solidFill>
              </a:rPr>
              <a:t>+</a:t>
            </a:r>
            <a:endParaRPr lang="en-GB" altLang="en-US" sz="2000">
              <a:solidFill>
                <a:srgbClr val="000000"/>
              </a:solidFill>
            </a:endParaRPr>
          </a:p>
        </p:txBody>
      </p:sp>
      <p:sp>
        <p:nvSpPr>
          <p:cNvPr id="53253" name="Rectangle 6">
            <a:extLst>
              <a:ext uri="{FF2B5EF4-FFF2-40B4-BE49-F238E27FC236}">
                <a16:creationId xmlns:a16="http://schemas.microsoft.com/office/drawing/2014/main" id="{33E90F8B-8C6A-00FD-6240-EAE1273136EC}"/>
              </a:ext>
            </a:extLst>
          </p:cNvPr>
          <p:cNvSpPr>
            <a:spLocks noChangeArrowheads="1"/>
          </p:cNvSpPr>
          <p:nvPr/>
        </p:nvSpPr>
        <p:spPr bwMode="auto">
          <a:xfrm>
            <a:off x="684213" y="0"/>
            <a:ext cx="54006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Action Potential</a:t>
            </a:r>
            <a:endParaRPr lang="en-GB" altLang="en-US">
              <a:solidFill>
                <a:srgbClr val="FFFF00"/>
              </a:solidFill>
              <a:latin typeface="Arial" panose="020B0604020202020204" pitchFamily="34" charset="0"/>
            </a:endParaRPr>
          </a:p>
        </p:txBody>
      </p:sp>
      <p:sp>
        <p:nvSpPr>
          <p:cNvPr id="393223" name="Text Box 7">
            <a:extLst>
              <a:ext uri="{FF2B5EF4-FFF2-40B4-BE49-F238E27FC236}">
                <a16:creationId xmlns:a16="http://schemas.microsoft.com/office/drawing/2014/main" id="{A9C81141-C966-C1B4-4E03-AC619E981499}"/>
              </a:ext>
            </a:extLst>
          </p:cNvPr>
          <p:cNvSpPr txBox="1">
            <a:spLocks noChangeArrowheads="1"/>
          </p:cNvSpPr>
          <p:nvPr/>
        </p:nvSpPr>
        <p:spPr bwMode="auto">
          <a:xfrm>
            <a:off x="4114800" y="5334000"/>
            <a:ext cx="3124200" cy="825500"/>
          </a:xfrm>
          <a:prstGeom prst="rect">
            <a:avLst/>
          </a:prstGeom>
          <a:solidFill>
            <a:srgbClr val="86E8AA"/>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lgn="ctr"/>
            <a:endParaRPr lang="en-US" altLang="en-US" sz="1600">
              <a:solidFill>
                <a:schemeClr val="tx1"/>
              </a:solidFill>
              <a:latin typeface="Arial" panose="020B0604020202020204" pitchFamily="34" charset="0"/>
            </a:endParaRPr>
          </a:p>
          <a:p>
            <a:pPr algn="ctr"/>
            <a:r>
              <a:rPr lang="en-US" altLang="en-US" sz="1600">
                <a:solidFill>
                  <a:schemeClr val="tx1"/>
                </a:solidFill>
                <a:latin typeface="Arial" panose="020B0604020202020204" pitchFamily="34" charset="0"/>
              </a:rPr>
              <a:t>Relative refractory period</a:t>
            </a:r>
          </a:p>
          <a:p>
            <a:pPr algn="ctr"/>
            <a:endParaRPr lang="en-US" altLang="en-US" sz="1600">
              <a:solidFill>
                <a:schemeClr val="tx1"/>
              </a:solidFill>
            </a:endParaRPr>
          </a:p>
        </p:txBody>
      </p:sp>
      <p:sp>
        <p:nvSpPr>
          <p:cNvPr id="393225" name="Text Box 9">
            <a:extLst>
              <a:ext uri="{FF2B5EF4-FFF2-40B4-BE49-F238E27FC236}">
                <a16:creationId xmlns:a16="http://schemas.microsoft.com/office/drawing/2014/main" id="{D3FE1374-E7FB-4EDA-E6FC-10FBEE87A3EC}"/>
              </a:ext>
            </a:extLst>
          </p:cNvPr>
          <p:cNvSpPr txBox="1">
            <a:spLocks noChangeArrowheads="1"/>
          </p:cNvSpPr>
          <p:nvPr/>
        </p:nvSpPr>
        <p:spPr bwMode="auto">
          <a:xfrm>
            <a:off x="2590800" y="5334000"/>
            <a:ext cx="1524000" cy="825500"/>
          </a:xfrm>
          <a:prstGeom prst="rect">
            <a:avLst/>
          </a:prstGeom>
          <a:solidFill>
            <a:srgbClr val="E8898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lgn="ctr"/>
            <a:r>
              <a:rPr lang="en-US" altLang="en-US" sz="1600">
                <a:solidFill>
                  <a:schemeClr val="tx1"/>
                </a:solidFill>
                <a:latin typeface="Arial" panose="020B0604020202020204" pitchFamily="34" charset="0"/>
              </a:rPr>
              <a:t>Absolute refractory period</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932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393220"/>
                                        </p:tgtEl>
                                        <p:attrNameLst>
                                          <p:attrName>style.visibility</p:attrName>
                                        </p:attrNameLst>
                                      </p:cBhvr>
                                      <p:to>
                                        <p:strVal val="visible"/>
                                      </p:to>
                                    </p:set>
                                    <p:animEffect transition="in" filter="wipe(left)">
                                      <p:cBhvr>
                                        <p:cTn id="11" dur="5000"/>
                                        <p:tgtEl>
                                          <p:spTgt spid="39322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93221"/>
                                        </p:tgtEl>
                                        <p:attrNameLst>
                                          <p:attrName>style.visibility</p:attrName>
                                        </p:attrNameLst>
                                      </p:cBhvr>
                                      <p:to>
                                        <p:strVal val="visible"/>
                                      </p:to>
                                    </p:set>
                                    <p:animEffect transition="in" filter="wipe(left)">
                                      <p:cBhvr>
                                        <p:cTn id="16" dur="5000"/>
                                        <p:tgtEl>
                                          <p:spTgt spid="39322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322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3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23" grpId="0" animBg="1"/>
      <p:bldP spid="39322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4">
            <a:extLst>
              <a:ext uri="{FF2B5EF4-FFF2-40B4-BE49-F238E27FC236}">
                <a16:creationId xmlns:a16="http://schemas.microsoft.com/office/drawing/2014/main" id="{8C002353-20AA-69C4-D3D1-111225866A26}"/>
              </a:ext>
            </a:extLst>
          </p:cNvPr>
          <p:cNvSpPr>
            <a:spLocks noChangeArrowheads="1"/>
          </p:cNvSpPr>
          <p:nvPr/>
        </p:nvSpPr>
        <p:spPr bwMode="auto">
          <a:xfrm>
            <a:off x="611188" y="1588"/>
            <a:ext cx="49672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a:latin typeface="Arial" panose="020B0604020202020204" pitchFamily="34" charset="0"/>
              </a:rPr>
              <a:t>Membrane Potential</a:t>
            </a:r>
            <a:endParaRPr lang="en-GB" altLang="en-US">
              <a:solidFill>
                <a:srgbClr val="FFFF00"/>
              </a:solidFill>
              <a:latin typeface="Arial" panose="020B0604020202020204" pitchFamily="34" charset="0"/>
            </a:endParaRPr>
          </a:p>
        </p:txBody>
      </p:sp>
      <p:sp>
        <p:nvSpPr>
          <p:cNvPr id="55298" name="Rectangle 2">
            <a:extLst>
              <a:ext uri="{FF2B5EF4-FFF2-40B4-BE49-F238E27FC236}">
                <a16:creationId xmlns:a16="http://schemas.microsoft.com/office/drawing/2014/main" id="{FA984FDA-42A2-2DC4-A052-5A943CD9D125}"/>
              </a:ext>
            </a:extLst>
          </p:cNvPr>
          <p:cNvSpPr>
            <a:spLocks noGrp="1" noChangeArrowheads="1"/>
          </p:cNvSpPr>
          <p:nvPr>
            <p:ph type="title"/>
          </p:nvPr>
        </p:nvSpPr>
        <p:spPr>
          <a:xfrm>
            <a:off x="719138" y="906463"/>
            <a:ext cx="7848600" cy="2560637"/>
          </a:xfrm>
        </p:spPr>
        <p:txBody>
          <a:bodyPr/>
          <a:lstStyle/>
          <a:p>
            <a:pPr algn="l"/>
            <a:r>
              <a:rPr lang="en-GB" altLang="en-US" sz="2000">
                <a:solidFill>
                  <a:srgbClr val="000000"/>
                </a:solidFill>
              </a:rPr>
              <a:t>A thought… </a:t>
            </a:r>
            <a:br>
              <a:rPr lang="en-GB" altLang="en-US" sz="2000">
                <a:solidFill>
                  <a:srgbClr val="000000"/>
                </a:solidFill>
              </a:rPr>
            </a:br>
            <a:br>
              <a:rPr lang="en-GB" altLang="en-US" sz="2000">
                <a:solidFill>
                  <a:srgbClr val="000000"/>
                </a:solidFill>
              </a:rPr>
            </a:br>
            <a:r>
              <a:rPr lang="en-US" altLang="en-US" sz="2000">
                <a:solidFill>
                  <a:srgbClr val="000000"/>
                </a:solidFill>
              </a:rPr>
              <a:t>Given that the </a:t>
            </a:r>
            <a:r>
              <a:rPr lang="en-GB" altLang="en-US" sz="2000">
                <a:solidFill>
                  <a:srgbClr val="000000"/>
                </a:solidFill>
              </a:rPr>
              <a:t>threshold potential of excitable cells is typically between </a:t>
            </a:r>
            <a:r>
              <a:rPr lang="en-US" altLang="en-US" sz="2000">
                <a:solidFill>
                  <a:srgbClr val="000000"/>
                </a:solidFill>
              </a:rPr>
              <a:t>–40 and –55 mV and that the extracellular potassium ion concentration mainly determines the resting membrane potential of most cells, why do you think hyperkalemia can be dangerous?</a:t>
            </a:r>
            <a:br>
              <a:rPr lang="en-US" altLang="en-US" sz="2000">
                <a:solidFill>
                  <a:srgbClr val="000000"/>
                </a:solidFill>
              </a:rPr>
            </a:br>
            <a:br>
              <a:rPr lang="en-US" altLang="en-US" sz="2000">
                <a:solidFill>
                  <a:srgbClr val="000000"/>
                </a:solidFill>
              </a:rPr>
            </a:br>
            <a:endParaRPr lang="en-GB" altLang="en-US" sz="2000">
              <a:solidFill>
                <a:srgbClr val="000000"/>
              </a:solidFill>
            </a:endParaRPr>
          </a:p>
        </p:txBody>
      </p:sp>
      <p:grpSp>
        <p:nvGrpSpPr>
          <p:cNvPr id="55299" name="Group 1">
            <a:extLst>
              <a:ext uri="{FF2B5EF4-FFF2-40B4-BE49-F238E27FC236}">
                <a16:creationId xmlns:a16="http://schemas.microsoft.com/office/drawing/2014/main" id="{0888E2D8-AF6C-9CE8-7920-8E947F107F9C}"/>
              </a:ext>
            </a:extLst>
          </p:cNvPr>
          <p:cNvGrpSpPr>
            <a:grpSpLocks/>
          </p:cNvGrpSpPr>
          <p:nvPr/>
        </p:nvGrpSpPr>
        <p:grpSpPr bwMode="auto">
          <a:xfrm>
            <a:off x="2090738" y="3135313"/>
            <a:ext cx="4756150" cy="3602037"/>
            <a:chOff x="1403350" y="1844675"/>
            <a:chExt cx="6096000" cy="4802188"/>
          </a:xfrm>
        </p:grpSpPr>
        <p:pic>
          <p:nvPicPr>
            <p:cNvPr id="55300" name="Picture 3" descr="membrane potential">
              <a:extLst>
                <a:ext uri="{FF2B5EF4-FFF2-40B4-BE49-F238E27FC236}">
                  <a16:creationId xmlns:a16="http://schemas.microsoft.com/office/drawing/2014/main" id="{B9CE55E7-13B2-427C-3E50-03C6A87F1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844675"/>
              <a:ext cx="6096000" cy="480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5301" name="Straight Connector 2">
              <a:extLst>
                <a:ext uri="{FF2B5EF4-FFF2-40B4-BE49-F238E27FC236}">
                  <a16:creationId xmlns:a16="http://schemas.microsoft.com/office/drawing/2014/main" id="{910D8F32-003B-D66F-CCBB-745D9286E9B2}"/>
                </a:ext>
              </a:extLst>
            </p:cNvPr>
            <p:cNvCxnSpPr>
              <a:cxnSpLocks noChangeShapeType="1"/>
            </p:cNvCxnSpPr>
            <p:nvPr/>
          </p:nvCxnSpPr>
          <p:spPr bwMode="auto">
            <a:xfrm flipV="1">
              <a:off x="5495157" y="3590732"/>
              <a:ext cx="22382" cy="2234954"/>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cxnSp>
        <p:cxnSp>
          <p:nvCxnSpPr>
            <p:cNvPr id="55302" name="Straight Arrow Connector 4">
              <a:extLst>
                <a:ext uri="{FF2B5EF4-FFF2-40B4-BE49-F238E27FC236}">
                  <a16:creationId xmlns:a16="http://schemas.microsoft.com/office/drawing/2014/main" id="{B9372F86-BE53-CB9B-0007-5CA8F550E115}"/>
                </a:ext>
              </a:extLst>
            </p:cNvPr>
            <p:cNvCxnSpPr>
              <a:cxnSpLocks noChangeShapeType="1"/>
            </p:cNvCxnSpPr>
            <p:nvPr/>
          </p:nvCxnSpPr>
          <p:spPr bwMode="auto">
            <a:xfrm flipH="1">
              <a:off x="2266068" y="3590732"/>
              <a:ext cx="3251471" cy="10583"/>
            </a:xfrm>
            <a:prstGeom prst="straightConnector1">
              <a:avLst/>
            </a:prstGeom>
            <a:noFill/>
            <a:ln w="38100">
              <a:solidFill>
                <a:srgbClr val="008000"/>
              </a:solidFill>
              <a:round/>
              <a:headEnd/>
              <a:tailEnd type="arrow" w="med" len="med"/>
            </a:ln>
            <a:extLst>
              <a:ext uri="{909E8E84-426E-40DD-AFC4-6F175D3DCCD1}">
                <a14:hiddenFill xmlns:a14="http://schemas.microsoft.com/office/drawing/2010/main">
                  <a:noFill/>
                </a14:hiddenFill>
              </a:ext>
            </a:extLst>
          </p:spPr>
        </p:cxn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4243" name="Rectangle 3">
            <a:extLst>
              <a:ext uri="{FF2B5EF4-FFF2-40B4-BE49-F238E27FC236}">
                <a16:creationId xmlns:a16="http://schemas.microsoft.com/office/drawing/2014/main" id="{7DFBA153-D57D-A199-AB74-D296081EE2F0}"/>
              </a:ext>
            </a:extLst>
          </p:cNvPr>
          <p:cNvSpPr>
            <a:spLocks noGrp="1" noChangeArrowheads="1"/>
          </p:cNvSpPr>
          <p:nvPr>
            <p:ph type="body" idx="1"/>
          </p:nvPr>
        </p:nvSpPr>
        <p:spPr>
          <a:xfrm>
            <a:off x="554038" y="1309688"/>
            <a:ext cx="8153400" cy="5105400"/>
          </a:xfrm>
        </p:spPr>
        <p:txBody>
          <a:bodyPr/>
          <a:lstStyle/>
          <a:p>
            <a:pPr>
              <a:spcBef>
                <a:spcPct val="40000"/>
              </a:spcBef>
            </a:pPr>
            <a:r>
              <a:rPr lang="en-GB" altLang="en-US" sz="2000">
                <a:solidFill>
                  <a:srgbClr val="000000"/>
                </a:solidFill>
              </a:rPr>
              <a:t>The resting membrane potential largely arises as a consequence of the K</a:t>
            </a:r>
            <a:r>
              <a:rPr lang="en-GB" altLang="en-US" sz="2000" baseline="30000">
                <a:solidFill>
                  <a:srgbClr val="000000"/>
                </a:solidFill>
              </a:rPr>
              <a:t>+</a:t>
            </a:r>
            <a:r>
              <a:rPr lang="en-GB" altLang="en-US" sz="2000">
                <a:solidFill>
                  <a:srgbClr val="000000"/>
                </a:solidFill>
              </a:rPr>
              <a:t> gradient generated by the activity of the sodium pump. </a:t>
            </a:r>
          </a:p>
          <a:p>
            <a:pPr>
              <a:spcBef>
                <a:spcPct val="40000"/>
              </a:spcBef>
            </a:pPr>
            <a:r>
              <a:rPr lang="en-GB" altLang="en-US" sz="2000">
                <a:solidFill>
                  <a:srgbClr val="000000"/>
                </a:solidFill>
              </a:rPr>
              <a:t>The resting membrane potential of a cell is always negative and lies between -40 and -90 mV -depending on cell type.</a:t>
            </a:r>
          </a:p>
          <a:p>
            <a:pPr>
              <a:spcBef>
                <a:spcPct val="40000"/>
              </a:spcBef>
            </a:pPr>
            <a:r>
              <a:rPr lang="en-GB" altLang="en-US" sz="2000">
                <a:solidFill>
                  <a:srgbClr val="000000"/>
                </a:solidFill>
              </a:rPr>
              <a:t>Its value at any instant is determined both by the ionic gradients and by the permeability of the plasma membrane to the various ions. </a:t>
            </a:r>
          </a:p>
          <a:p>
            <a:pPr>
              <a:spcBef>
                <a:spcPct val="40000"/>
              </a:spcBef>
            </a:pPr>
            <a:r>
              <a:rPr lang="en-GB" altLang="en-US" sz="2000">
                <a:solidFill>
                  <a:srgbClr val="000000"/>
                </a:solidFill>
              </a:rPr>
              <a:t>The permeability of the membrane can be altered by opening ligand gated or voltage gated channels. </a:t>
            </a:r>
          </a:p>
          <a:p>
            <a:pPr>
              <a:spcBef>
                <a:spcPct val="40000"/>
              </a:spcBef>
            </a:pPr>
            <a:r>
              <a:rPr lang="en-GB" altLang="en-US" sz="2000">
                <a:solidFill>
                  <a:srgbClr val="000000"/>
                </a:solidFill>
              </a:rPr>
              <a:t>The membrane potential is therefore a physiological variable which varies according to cell activity. </a:t>
            </a:r>
          </a:p>
        </p:txBody>
      </p:sp>
      <p:sp>
        <p:nvSpPr>
          <p:cNvPr id="57346" name="Rectangle 4">
            <a:extLst>
              <a:ext uri="{FF2B5EF4-FFF2-40B4-BE49-F238E27FC236}">
                <a16:creationId xmlns:a16="http://schemas.microsoft.com/office/drawing/2014/main" id="{3D90F3F5-6DCC-C07A-7F43-B4A2E884E53D}"/>
              </a:ext>
            </a:extLst>
          </p:cNvPr>
          <p:cNvSpPr>
            <a:spLocks noChangeArrowheads="1"/>
          </p:cNvSpPr>
          <p:nvPr/>
        </p:nvSpPr>
        <p:spPr bwMode="auto">
          <a:xfrm>
            <a:off x="755650" y="1588"/>
            <a:ext cx="55451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a:latin typeface="Arial" panose="020B0604020202020204" pitchFamily="34" charset="0"/>
              </a:rPr>
              <a:t>Summary 1</a:t>
            </a:r>
            <a:endParaRPr lang="en-GB" altLang="en-US" sz="3200">
              <a:solidFill>
                <a:srgbClr val="FFFF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animEffect transition="in" filter="wipe(left)">
                                      <p:cBhvr>
                                        <p:cTn id="7" dur="500"/>
                                        <p:tgtEl>
                                          <p:spTgt spid="394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4243">
                                            <p:txEl>
                                              <p:pRg st="1" end="1"/>
                                            </p:txEl>
                                          </p:spTgt>
                                        </p:tgtEl>
                                        <p:attrNameLst>
                                          <p:attrName>style.visibility</p:attrName>
                                        </p:attrNameLst>
                                      </p:cBhvr>
                                      <p:to>
                                        <p:strVal val="visible"/>
                                      </p:to>
                                    </p:set>
                                    <p:animEffect transition="in" filter="wipe(left)">
                                      <p:cBhvr>
                                        <p:cTn id="12" dur="500"/>
                                        <p:tgtEl>
                                          <p:spTgt spid="394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94243">
                                            <p:txEl>
                                              <p:pRg st="2" end="2"/>
                                            </p:txEl>
                                          </p:spTgt>
                                        </p:tgtEl>
                                        <p:attrNameLst>
                                          <p:attrName>style.visibility</p:attrName>
                                        </p:attrNameLst>
                                      </p:cBhvr>
                                      <p:to>
                                        <p:strVal val="visible"/>
                                      </p:to>
                                    </p:set>
                                    <p:animEffect transition="in" filter="wipe(left)">
                                      <p:cBhvr>
                                        <p:cTn id="17" dur="500"/>
                                        <p:tgtEl>
                                          <p:spTgt spid="394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4243">
                                            <p:txEl>
                                              <p:pRg st="3" end="3"/>
                                            </p:txEl>
                                          </p:spTgt>
                                        </p:tgtEl>
                                        <p:attrNameLst>
                                          <p:attrName>style.visibility</p:attrName>
                                        </p:attrNameLst>
                                      </p:cBhvr>
                                      <p:to>
                                        <p:strVal val="visible"/>
                                      </p:to>
                                    </p:set>
                                    <p:animEffect transition="in" filter="wipe(left)">
                                      <p:cBhvr>
                                        <p:cTn id="22" dur="500"/>
                                        <p:tgtEl>
                                          <p:spTgt spid="3942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94243">
                                            <p:txEl>
                                              <p:pRg st="4" end="4"/>
                                            </p:txEl>
                                          </p:spTgt>
                                        </p:tgtEl>
                                        <p:attrNameLst>
                                          <p:attrName>style.visibility</p:attrName>
                                        </p:attrNameLst>
                                      </p:cBhvr>
                                      <p:to>
                                        <p:strVal val="visible"/>
                                      </p:to>
                                    </p:set>
                                    <p:animEffect transition="in" filter="wipe(left)">
                                      <p:cBhvr>
                                        <p:cTn id="27" dur="500"/>
                                        <p:tgtEl>
                                          <p:spTgt spid="394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3"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5267" name="Rectangle 3">
            <a:extLst>
              <a:ext uri="{FF2B5EF4-FFF2-40B4-BE49-F238E27FC236}">
                <a16:creationId xmlns:a16="http://schemas.microsoft.com/office/drawing/2014/main" id="{3C5A4ADE-2AA2-88C1-BDF5-7CD1DDFBEDE9}"/>
              </a:ext>
            </a:extLst>
          </p:cNvPr>
          <p:cNvSpPr>
            <a:spLocks noGrp="1" noChangeArrowheads="1"/>
          </p:cNvSpPr>
          <p:nvPr>
            <p:ph type="body" idx="1"/>
          </p:nvPr>
        </p:nvSpPr>
        <p:spPr>
          <a:xfrm>
            <a:off x="611188" y="1484313"/>
            <a:ext cx="7772400" cy="5105400"/>
          </a:xfrm>
        </p:spPr>
        <p:txBody>
          <a:bodyPr/>
          <a:lstStyle/>
          <a:p>
            <a:pPr>
              <a:spcBef>
                <a:spcPct val="55000"/>
              </a:spcBef>
            </a:pPr>
            <a:r>
              <a:rPr lang="en-GB" altLang="en-US" sz="2000">
                <a:solidFill>
                  <a:srgbClr val="000000"/>
                </a:solidFill>
              </a:rPr>
              <a:t>The action potential is one example of the membrane potential as a physiological variable.</a:t>
            </a:r>
          </a:p>
          <a:p>
            <a:pPr>
              <a:spcBef>
                <a:spcPct val="55000"/>
              </a:spcBef>
            </a:pPr>
            <a:r>
              <a:rPr lang="en-GB" altLang="en-US" sz="2000">
                <a:solidFill>
                  <a:srgbClr val="000000"/>
                </a:solidFill>
              </a:rPr>
              <a:t>It is used to transmit signals quickly over relatively long distances to control physiological events such as the contraction of skeletal muscle.</a:t>
            </a:r>
          </a:p>
          <a:p>
            <a:pPr>
              <a:spcBef>
                <a:spcPct val="55000"/>
              </a:spcBef>
            </a:pPr>
            <a:r>
              <a:rPr lang="en-GB" altLang="en-US" sz="2000">
                <a:solidFill>
                  <a:srgbClr val="000000"/>
                </a:solidFill>
              </a:rPr>
              <a:t>It depends on the sequential activation of two sets of voltage gated ion channels - sodium and potassium channels.</a:t>
            </a:r>
          </a:p>
        </p:txBody>
      </p:sp>
      <p:sp>
        <p:nvSpPr>
          <p:cNvPr id="59394" name="Rectangle 4">
            <a:extLst>
              <a:ext uri="{FF2B5EF4-FFF2-40B4-BE49-F238E27FC236}">
                <a16:creationId xmlns:a16="http://schemas.microsoft.com/office/drawing/2014/main" id="{A315206E-D509-9A88-99C5-B99737182A74}"/>
              </a:ext>
            </a:extLst>
          </p:cNvPr>
          <p:cNvSpPr>
            <a:spLocks noChangeArrowheads="1"/>
          </p:cNvSpPr>
          <p:nvPr/>
        </p:nvSpPr>
        <p:spPr bwMode="auto">
          <a:xfrm>
            <a:off x="755650" y="1588"/>
            <a:ext cx="55451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GB" altLang="en-US" sz="3200">
                <a:latin typeface="Arial" panose="020B0604020202020204" pitchFamily="34" charset="0"/>
              </a:rPr>
              <a:t>Summary 2</a:t>
            </a:r>
            <a:endParaRPr lang="en-GB" altLang="en-US" sz="3200">
              <a:solidFill>
                <a:srgbClr val="FFFF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5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95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952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72B7D240-6C83-BC0B-66F5-CCEA463387F8}"/>
              </a:ext>
            </a:extLst>
          </p:cNvPr>
          <p:cNvSpPr>
            <a:spLocks noGrp="1" noChangeArrowheads="1"/>
          </p:cNvSpPr>
          <p:nvPr>
            <p:ph type="title"/>
          </p:nvPr>
        </p:nvSpPr>
        <p:spPr>
          <a:xfrm>
            <a:off x="611188" y="0"/>
            <a:ext cx="6765925" cy="765175"/>
          </a:xfrm>
        </p:spPr>
        <p:txBody>
          <a:bodyPr/>
          <a:lstStyle/>
          <a:p>
            <a:pPr algn="l"/>
            <a:r>
              <a:rPr lang="en-GB" altLang="en-US" sz="3200">
                <a:solidFill>
                  <a:srgbClr val="FFFFFF"/>
                </a:solidFill>
              </a:rPr>
              <a:t>Reading</a:t>
            </a:r>
            <a:endParaRPr lang="en-US" altLang="en-US" sz="3200"/>
          </a:p>
        </p:txBody>
      </p:sp>
      <p:sp>
        <p:nvSpPr>
          <p:cNvPr id="61442" name="Rectangle 3">
            <a:extLst>
              <a:ext uri="{FF2B5EF4-FFF2-40B4-BE49-F238E27FC236}">
                <a16:creationId xmlns:a16="http://schemas.microsoft.com/office/drawing/2014/main" id="{68575505-2E88-8DC0-2280-0B7665EC5ED9}"/>
              </a:ext>
            </a:extLst>
          </p:cNvPr>
          <p:cNvSpPr>
            <a:spLocks noGrp="1" noChangeArrowheads="1"/>
          </p:cNvSpPr>
          <p:nvPr>
            <p:ph type="body" idx="1"/>
          </p:nvPr>
        </p:nvSpPr>
        <p:spPr>
          <a:xfrm>
            <a:off x="1138238" y="1649413"/>
            <a:ext cx="7412037" cy="4114800"/>
          </a:xfrm>
        </p:spPr>
        <p:txBody>
          <a:bodyPr/>
          <a:lstStyle/>
          <a:p>
            <a:pPr>
              <a:buFontTx/>
              <a:buNone/>
            </a:pPr>
            <a:r>
              <a:rPr lang="en-GB" altLang="en-US" sz="2000" b="1">
                <a:solidFill>
                  <a:srgbClr val="000000"/>
                </a:solidFill>
              </a:rPr>
              <a:t>Human Physiology</a:t>
            </a:r>
          </a:p>
          <a:p>
            <a:pPr>
              <a:buFontTx/>
              <a:buNone/>
            </a:pPr>
            <a:r>
              <a:rPr lang="en-GB" altLang="en-US" sz="2000">
                <a:solidFill>
                  <a:srgbClr val="000000"/>
                </a:solidFill>
              </a:rPr>
              <a:t>Gillian Pocock, Christopher Richards and David Richards </a:t>
            </a:r>
          </a:p>
          <a:p>
            <a:pPr>
              <a:buFontTx/>
              <a:buNone/>
            </a:pPr>
            <a:endParaRPr lang="en-GB" altLang="en-US" sz="2000">
              <a:solidFill>
                <a:srgbClr val="000000"/>
              </a:solidFill>
            </a:endParaRPr>
          </a:p>
          <a:p>
            <a:pPr>
              <a:buFontTx/>
              <a:buNone/>
            </a:pPr>
            <a:r>
              <a:rPr lang="en-GB" altLang="en-US" sz="2000">
                <a:solidFill>
                  <a:srgbClr val="000000"/>
                </a:solidFill>
              </a:rPr>
              <a:t>4th edition, pages 72-79</a:t>
            </a:r>
          </a:p>
          <a:p>
            <a:pPr>
              <a:buFontTx/>
              <a:buNone/>
            </a:pPr>
            <a:r>
              <a:rPr lang="en-GB" altLang="en-US" sz="2000">
                <a:solidFill>
                  <a:srgbClr val="000000"/>
                </a:solidFill>
              </a:rPr>
              <a:t>3rd edition, pages 40-43</a:t>
            </a:r>
          </a:p>
          <a:p>
            <a:pPr>
              <a:buFontTx/>
              <a:buNone/>
            </a:pPr>
            <a:r>
              <a:rPr lang="en-GB" altLang="en-US" sz="2000">
                <a:solidFill>
                  <a:srgbClr val="000000"/>
                </a:solidFill>
              </a:rPr>
              <a:t>2</a:t>
            </a:r>
            <a:r>
              <a:rPr lang="en-GB" altLang="en-US" sz="2000" baseline="30000">
                <a:solidFill>
                  <a:srgbClr val="000000"/>
                </a:solidFill>
              </a:rPr>
              <a:t>nd</a:t>
            </a:r>
            <a:r>
              <a:rPr lang="en-GB" altLang="en-US" sz="2000">
                <a:solidFill>
                  <a:srgbClr val="000000"/>
                </a:solidFill>
              </a:rPr>
              <a:t> edition, pages 49-49; 78-79</a:t>
            </a:r>
          </a:p>
          <a:p>
            <a:pPr>
              <a:buFontTx/>
              <a:buNone/>
            </a:pPr>
            <a:endParaRPr lang="en-GB" altLang="en-US" sz="2000">
              <a:solidFill>
                <a:srgbClr val="000000"/>
              </a:solidFill>
            </a:endParaRPr>
          </a:p>
          <a:p>
            <a:pPr>
              <a:buFontTx/>
              <a:buNone/>
            </a:pPr>
            <a:endParaRPr lang="en-GB" altLang="en-US" sz="2000">
              <a:solidFill>
                <a:srgbClr val="000000"/>
              </a:solidFill>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3365FB"/>
      </a:lt1>
      <a:dk2>
        <a:srgbClr val="000000"/>
      </a:dk2>
      <a:lt2>
        <a:srgbClr val="919191"/>
      </a:lt2>
      <a:accent1>
        <a:srgbClr val="618FFD"/>
      </a:accent1>
      <a:accent2>
        <a:srgbClr val="00AE00"/>
      </a:accent2>
      <a:accent3>
        <a:srgbClr val="ADB8FD"/>
      </a:accent3>
      <a:accent4>
        <a:srgbClr val="000000"/>
      </a:accent4>
      <a:accent5>
        <a:srgbClr val="B7C6FE"/>
      </a:accent5>
      <a:accent6>
        <a:srgbClr val="009D00"/>
      </a:accent6>
      <a:hlink>
        <a:srgbClr val="FC0128"/>
      </a:hlink>
      <a:folHlink>
        <a:srgbClr val="CECECE"/>
      </a:folHlink>
    </a:clrScheme>
    <a:fontScheme name="Default Design">
      <a:majorFont>
        <a:latin typeface="Arial"/>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3600" b="0" i="0" u="none" strike="noStrike" cap="none" normalizeH="0" baseline="0">
            <a:ln>
              <a:noFill/>
            </a:ln>
            <a:solidFill>
              <a:srgbClr val="000099"/>
            </a:solidFill>
            <a:effectLst/>
            <a:latin typeface="Times New Roman" charset="0"/>
            <a:ea typeface="ＭＳ Ｐゴシック"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3600" b="0" i="0" u="none" strike="noStrike" cap="none" normalizeH="0" baseline="0">
            <a:ln>
              <a:noFill/>
            </a:ln>
            <a:solidFill>
              <a:srgbClr val="000099"/>
            </a:solidFill>
            <a:effectLst/>
            <a:latin typeface="Times New Roman" charset="0"/>
            <a:ea typeface="ＭＳ Ｐゴシック"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1faf88fe-a998-4c5b-93c9-210a11d9a5c2}" enabled="0" method="" siteId="{1faf88fe-a998-4c5b-93c9-210a11d9a5c2}" removed="1"/>
</clbl:labelList>
</file>

<file path=docProps/app.xml><?xml version="1.0" encoding="utf-8"?>
<Properties xmlns="http://schemas.openxmlformats.org/officeDocument/2006/extended-properties" xmlns:vt="http://schemas.openxmlformats.org/officeDocument/2006/docPropsVTypes">
  <Template>Apothecary.thmx</Template>
  <TotalTime>539</TotalTime>
  <Pages>21</Pages>
  <Words>3223</Words>
  <Application>Microsoft Office PowerPoint</Application>
  <PresentationFormat>On-screen Show (4:3)</PresentationFormat>
  <Paragraphs>343</Paragraphs>
  <Slides>42</Slides>
  <Notes>29</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42</vt:i4>
      </vt:variant>
    </vt:vector>
  </HeadingPairs>
  <TitlesOfParts>
    <vt:vector size="50" baseType="lpstr">
      <vt:lpstr>Arial</vt:lpstr>
      <vt:lpstr>Helvetica</vt:lpstr>
      <vt:lpstr>Times New Roman</vt:lpstr>
      <vt:lpstr>Wingdings</vt:lpstr>
      <vt:lpstr>Default Design</vt:lpstr>
      <vt:lpstr>Graph</vt:lpstr>
      <vt:lpstr>Equation</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resting membrane potential is mainly determined by the potassium gradient across the plasma membrane.</vt:lpstr>
      <vt:lpstr>The resting membrane potential is mainly determined by the potassium gradient across the plasma membrane.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AP depends on changes in the permeability of the axon membrane to Na+ and K+</vt:lpstr>
      <vt:lpstr>A thought…   Given that the threshold potential of excitable cells is typically between –40 and –55 mV and that the extracellular potassium ion concentration mainly determines the resting membrane potential of most cells, why do you think hyperkalemia can be dangerous?  </vt:lpstr>
      <vt:lpstr>PowerPoint Presentation</vt:lpstr>
      <vt:lpstr>PowerPoint Presentation</vt:lpstr>
      <vt:lpstr>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Ghrelin</dc:subject>
  <dc:creator>Tunwell, Richard</dc:creator>
  <cp:keywords/>
  <dc:description/>
  <cp:lastModifiedBy>Patel, Jigisha</cp:lastModifiedBy>
  <cp:revision>19</cp:revision>
  <cp:lastPrinted>2016-10-10T16:20:31Z</cp:lastPrinted>
  <dcterms:created xsi:type="dcterms:W3CDTF">2017-10-10T14:02:46Z</dcterms:created>
  <dcterms:modified xsi:type="dcterms:W3CDTF">2025-10-07T21:11:19Z</dcterms:modified>
</cp:coreProperties>
</file>