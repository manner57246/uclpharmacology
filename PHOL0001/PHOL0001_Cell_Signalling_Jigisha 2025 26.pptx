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56" r:id="rId2"/>
    <p:sldId id="257" r:id="rId3"/>
    <p:sldId id="258" r:id="rId4"/>
    <p:sldId id="259" r:id="rId5"/>
    <p:sldId id="260" r:id="rId6"/>
    <p:sldId id="320" r:id="rId7"/>
    <p:sldId id="323" r:id="rId8"/>
    <p:sldId id="328" r:id="rId9"/>
    <p:sldId id="324" r:id="rId10"/>
    <p:sldId id="325" r:id="rId11"/>
    <p:sldId id="326" r:id="rId12"/>
    <p:sldId id="331" r:id="rId13"/>
    <p:sldId id="332" r:id="rId14"/>
    <p:sldId id="261" r:id="rId15"/>
    <p:sldId id="262" r:id="rId16"/>
    <p:sldId id="263" r:id="rId17"/>
    <p:sldId id="264" r:id="rId18"/>
    <p:sldId id="265" r:id="rId19"/>
    <p:sldId id="267" r:id="rId20"/>
    <p:sldId id="268" r:id="rId21"/>
    <p:sldId id="269" r:id="rId22"/>
    <p:sldId id="270" r:id="rId23"/>
    <p:sldId id="271" r:id="rId24"/>
    <p:sldId id="272" r:id="rId25"/>
    <p:sldId id="273" r:id="rId26"/>
    <p:sldId id="274" r:id="rId27"/>
    <p:sldId id="275" r:id="rId28"/>
    <p:sldId id="276" r:id="rId29"/>
    <p:sldId id="277" r:id="rId30"/>
    <p:sldId id="333" r:id="rId31"/>
    <p:sldId id="278" r:id="rId32"/>
    <p:sldId id="279" r:id="rId33"/>
    <p:sldId id="280" r:id="rId34"/>
    <p:sldId id="281" r:id="rId35"/>
    <p:sldId id="282" r:id="rId36"/>
    <p:sldId id="283" r:id="rId37"/>
    <p:sldId id="334" r:id="rId38"/>
    <p:sldId id="335" r:id="rId39"/>
    <p:sldId id="336" r:id="rId40"/>
    <p:sldId id="284" r:id="rId41"/>
    <p:sldId id="285" r:id="rId42"/>
    <p:sldId id="286" r:id="rId43"/>
    <p:sldId id="287" r:id="rId44"/>
    <p:sldId id="288" r:id="rId4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BABD86-5133-4CF8-B254-4EACEEF84CE5}" v="26" dt="2025-10-12T20:23:25.205"/>
    <p1510:client id="{A09711F4-D260-4157-93CC-99132B33F4A1}" v="81" dt="2025-10-12T20:08:01.9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7" d="100"/>
          <a:sy n="77" d="100"/>
        </p:scale>
        <p:origin x="980"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tel, Jigisha" userId="76111e02-d530-43cd-80e4-316874e980bf" providerId="ADAL" clId="{C66C4474-E040-474A-8E9F-FA00C0A8ED5F}"/>
    <pc:docChg chg="custSel addSld delSld modSld">
      <pc:chgData name="Patel, Jigisha" userId="76111e02-d530-43cd-80e4-316874e980bf" providerId="ADAL" clId="{C66C4474-E040-474A-8E9F-FA00C0A8ED5F}" dt="2025-10-12T20:33:05.068" v="139" actId="47"/>
      <pc:docMkLst>
        <pc:docMk/>
      </pc:docMkLst>
      <pc:sldChg chg="del">
        <pc:chgData name="Patel, Jigisha" userId="76111e02-d530-43cd-80e4-316874e980bf" providerId="ADAL" clId="{C66C4474-E040-474A-8E9F-FA00C0A8ED5F}" dt="2025-10-12T20:33:05.068" v="139" actId="47"/>
        <pc:sldMkLst>
          <pc:docMk/>
          <pc:sldMk cId="0" sldId="266"/>
        </pc:sldMkLst>
      </pc:sldChg>
      <pc:sldChg chg="addSp delSp modSp mod">
        <pc:chgData name="Patel, Jigisha" userId="76111e02-d530-43cd-80e4-316874e980bf" providerId="ADAL" clId="{C66C4474-E040-474A-8E9F-FA00C0A8ED5F}" dt="2025-10-12T20:16:18.728" v="3" actId="21"/>
        <pc:sldMkLst>
          <pc:docMk/>
          <pc:sldMk cId="0" sldId="278"/>
        </pc:sldMkLst>
        <pc:picChg chg="add del mod modCrop">
          <ac:chgData name="Patel, Jigisha" userId="76111e02-d530-43cd-80e4-316874e980bf" providerId="ADAL" clId="{C66C4474-E040-474A-8E9F-FA00C0A8ED5F}" dt="2025-10-12T20:16:18.728" v="3" actId="21"/>
          <ac:picMkLst>
            <pc:docMk/>
            <pc:sldMk cId="0" sldId="278"/>
            <ac:picMk id="3" creationId="{AEA18ACD-10F2-AE9C-6415-66E6137558BE}"/>
          </ac:picMkLst>
        </pc:picChg>
      </pc:sldChg>
      <pc:sldChg chg="addSp delSp modSp add mod">
        <pc:chgData name="Patel, Jigisha" userId="76111e02-d530-43cd-80e4-316874e980bf" providerId="ADAL" clId="{C66C4474-E040-474A-8E9F-FA00C0A8ED5F}" dt="2025-10-12T20:16:49.420" v="23" actId="1036"/>
        <pc:sldMkLst>
          <pc:docMk/>
          <pc:sldMk cId="3422059562" sldId="333"/>
        </pc:sldMkLst>
        <pc:spChg chg="del">
          <ac:chgData name="Patel, Jigisha" userId="76111e02-d530-43cd-80e4-316874e980bf" providerId="ADAL" clId="{C66C4474-E040-474A-8E9F-FA00C0A8ED5F}" dt="2025-10-12T20:16:32.802" v="4" actId="478"/>
          <ac:spMkLst>
            <pc:docMk/>
            <pc:sldMk cId="3422059562" sldId="333"/>
            <ac:spMk id="2" creationId="{00000000-0000-0000-0000-000000000000}"/>
          </ac:spMkLst>
        </pc:spChg>
        <pc:picChg chg="mod">
          <ac:chgData name="Patel, Jigisha" userId="76111e02-d530-43cd-80e4-316874e980bf" providerId="ADAL" clId="{C66C4474-E040-474A-8E9F-FA00C0A8ED5F}" dt="2025-10-12T20:16:49.420" v="23" actId="1036"/>
          <ac:picMkLst>
            <pc:docMk/>
            <pc:sldMk cId="3422059562" sldId="333"/>
            <ac:picMk id="3" creationId="{00000000-0000-0000-0000-000000000000}"/>
          </ac:picMkLst>
        </pc:picChg>
        <pc:picChg chg="add mod">
          <ac:chgData name="Patel, Jigisha" userId="76111e02-d530-43cd-80e4-316874e980bf" providerId="ADAL" clId="{C66C4474-E040-474A-8E9F-FA00C0A8ED5F}" dt="2025-10-12T20:16:38.667" v="6" actId="1076"/>
          <ac:picMkLst>
            <pc:docMk/>
            <pc:sldMk cId="3422059562" sldId="333"/>
            <ac:picMk id="4" creationId="{AEA18ACD-10F2-AE9C-6415-66E6137558BE}"/>
          </ac:picMkLst>
        </pc:picChg>
      </pc:sldChg>
      <pc:sldChg chg="addSp modSp add mod">
        <pc:chgData name="Patel, Jigisha" userId="76111e02-d530-43cd-80e4-316874e980bf" providerId="ADAL" clId="{C66C4474-E040-474A-8E9F-FA00C0A8ED5F}" dt="2025-10-12T20:22:48.437" v="129" actId="1037"/>
        <pc:sldMkLst>
          <pc:docMk/>
          <pc:sldMk cId="3084315129" sldId="334"/>
        </pc:sldMkLst>
        <pc:spChg chg="mod">
          <ac:chgData name="Patel, Jigisha" userId="76111e02-d530-43cd-80e4-316874e980bf" providerId="ADAL" clId="{C66C4474-E040-474A-8E9F-FA00C0A8ED5F}" dt="2025-10-12T20:22:32.192" v="103" actId="1076"/>
          <ac:spMkLst>
            <pc:docMk/>
            <pc:sldMk cId="3084315129" sldId="334"/>
            <ac:spMk id="2" creationId="{00000000-0000-0000-0000-000000000000}"/>
          </ac:spMkLst>
        </pc:spChg>
        <pc:picChg chg="add mod">
          <ac:chgData name="Patel, Jigisha" userId="76111e02-d530-43cd-80e4-316874e980bf" providerId="ADAL" clId="{C66C4474-E040-474A-8E9F-FA00C0A8ED5F}" dt="2025-10-12T20:22:48.437" v="129" actId="1037"/>
          <ac:picMkLst>
            <pc:docMk/>
            <pc:sldMk cId="3084315129" sldId="334"/>
            <ac:picMk id="3" creationId="{88274333-D24F-6D15-AF67-1402EC5E48B3}"/>
          </ac:picMkLst>
        </pc:picChg>
      </pc:sldChg>
      <pc:sldChg chg="addSp delSp modSp add mod">
        <pc:chgData name="Patel, Jigisha" userId="76111e02-d530-43cd-80e4-316874e980bf" providerId="ADAL" clId="{C66C4474-E040-474A-8E9F-FA00C0A8ED5F}" dt="2025-10-12T20:23:42.200" v="138" actId="1076"/>
        <pc:sldMkLst>
          <pc:docMk/>
          <pc:sldMk cId="1285670971" sldId="335"/>
        </pc:sldMkLst>
        <pc:spChg chg="del mod">
          <ac:chgData name="Patel, Jigisha" userId="76111e02-d530-43cd-80e4-316874e980bf" providerId="ADAL" clId="{C66C4474-E040-474A-8E9F-FA00C0A8ED5F}" dt="2025-10-12T20:23:09.352" v="131" actId="478"/>
          <ac:spMkLst>
            <pc:docMk/>
            <pc:sldMk cId="1285670971" sldId="335"/>
            <ac:spMk id="2" creationId="{00000000-0000-0000-0000-000000000000}"/>
          </ac:spMkLst>
        </pc:spChg>
        <pc:spChg chg="add mod">
          <ac:chgData name="Patel, Jigisha" userId="76111e02-d530-43cd-80e4-316874e980bf" providerId="ADAL" clId="{C66C4474-E040-474A-8E9F-FA00C0A8ED5F}" dt="2025-10-12T20:23:42.200" v="138" actId="1076"/>
          <ac:spMkLst>
            <pc:docMk/>
            <pc:sldMk cId="1285670971" sldId="335"/>
            <ac:spMk id="5" creationId="{81D77615-E60F-401A-E533-8E84551F1FB7}"/>
          </ac:spMkLst>
        </pc:spChg>
        <pc:picChg chg="add mod">
          <ac:chgData name="Patel, Jigisha" userId="76111e02-d530-43cd-80e4-316874e980bf" providerId="ADAL" clId="{C66C4474-E040-474A-8E9F-FA00C0A8ED5F}" dt="2025-10-12T20:21:28.914" v="98"/>
          <ac:picMkLst>
            <pc:docMk/>
            <pc:sldMk cId="1285670971" sldId="335"/>
            <ac:picMk id="3" creationId="{41A5ABB4-FD4E-9C9C-C25A-C6FD54ED236C}"/>
          </ac:picMkLst>
        </pc:picChg>
        <pc:picChg chg="mod">
          <ac:chgData name="Patel, Jigisha" userId="76111e02-d530-43cd-80e4-316874e980bf" providerId="ADAL" clId="{C66C4474-E040-474A-8E9F-FA00C0A8ED5F}" dt="2025-10-12T20:23:25.205" v="135" actId="1076"/>
          <ac:picMkLst>
            <pc:docMk/>
            <pc:sldMk cId="1285670971" sldId="335"/>
            <ac:picMk id="5122" creationId="{00000000-0000-0000-0000-000000000000}"/>
          </ac:picMkLst>
        </pc:picChg>
      </pc:sldChg>
      <pc:sldChg chg="addSp modSp add mod">
        <pc:chgData name="Patel, Jigisha" userId="76111e02-d530-43cd-80e4-316874e980bf" providerId="ADAL" clId="{C66C4474-E040-474A-8E9F-FA00C0A8ED5F}" dt="2025-10-12T20:21:54.641" v="101"/>
        <pc:sldMkLst>
          <pc:docMk/>
          <pc:sldMk cId="3707818241" sldId="336"/>
        </pc:sldMkLst>
        <pc:spChg chg="mod">
          <ac:chgData name="Patel, Jigisha" userId="76111e02-d530-43cd-80e4-316874e980bf" providerId="ADAL" clId="{C66C4474-E040-474A-8E9F-FA00C0A8ED5F}" dt="2025-10-12T20:21:51.980" v="100" actId="1076"/>
          <ac:spMkLst>
            <pc:docMk/>
            <pc:sldMk cId="3707818241" sldId="336"/>
            <ac:spMk id="2" creationId="{00000000-0000-0000-0000-000000000000}"/>
          </ac:spMkLst>
        </pc:spChg>
        <pc:picChg chg="add mod">
          <ac:chgData name="Patel, Jigisha" userId="76111e02-d530-43cd-80e4-316874e980bf" providerId="ADAL" clId="{C66C4474-E040-474A-8E9F-FA00C0A8ED5F}" dt="2025-10-12T20:21:54.641" v="101"/>
          <ac:picMkLst>
            <pc:docMk/>
            <pc:sldMk cId="3707818241" sldId="336"/>
            <ac:picMk id="3" creationId="{38CCB567-7AE7-BD81-067C-32DB9ED6AE2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756EDA-31D3-473C-9235-7D8EDC3EA796}" type="datetimeFigureOut">
              <a:rPr lang="en-GB" smtClean="0"/>
              <a:t>12/10/2025</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1A4F18-8BBF-44B1-BF50-B45668119C43}" type="slidenum">
              <a:rPr lang="en-GB" smtClean="0"/>
              <a:t>‹#›</a:t>
            </a:fld>
            <a:endParaRPr lang="en-GB"/>
          </a:p>
        </p:txBody>
      </p:sp>
    </p:spTree>
    <p:extLst>
      <p:ext uri="{BB962C8B-B14F-4D97-AF65-F5344CB8AC3E}">
        <p14:creationId xmlns:p14="http://schemas.microsoft.com/office/powerpoint/2010/main" val="2224223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0"/>
        <p:cNvGrpSpPr/>
        <p:nvPr/>
      </p:nvGrpSpPr>
      <p:grpSpPr>
        <a:xfrm>
          <a:off x="0" y="0"/>
          <a:ext cx="0" cy="0"/>
          <a:chOff x="0" y="0"/>
          <a:chExt cx="0" cy="0"/>
        </a:xfrm>
      </p:grpSpPr>
      <p:sp>
        <p:nvSpPr>
          <p:cNvPr id="1241" name="Google Shape;1241;ge3d74bacbb_0_5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2" name="Google Shape;1242;ge3d74bacbb_0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355955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g8fb8d6ea64_0_5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5" name="Google Shape;625;g8fb8d6ea64_0_5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77886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g8fb8d6ea64_0_5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5" name="Google Shape;625;g8fb8d6ea64_0_5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198899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g8fb8d6ea64_0_5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5" name="Google Shape;625;g8fb8d6ea64_0_5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487702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g8fb8d6ea64_0_5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5" name="Google Shape;625;g8fb8d6ea64_0_5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039205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g8fb8d6ea64_0_5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5" name="Google Shape;625;g8fb8d6ea64_0_5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467923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g8fb8d6ea64_0_5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5" name="Google Shape;625;g8fb8d6ea64_0_5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181051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g8fb8d6ea64_0_5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5" name="Google Shape;625;g8fb8d6ea64_0_5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267522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p:cSld name="Quote">
    <p:spTree>
      <p:nvGrpSpPr>
        <p:cNvPr id="1" name="Shape 215"/>
        <p:cNvGrpSpPr/>
        <p:nvPr/>
      </p:nvGrpSpPr>
      <p:grpSpPr>
        <a:xfrm>
          <a:off x="0" y="0"/>
          <a:ext cx="0" cy="0"/>
          <a:chOff x="0" y="0"/>
          <a:chExt cx="0" cy="0"/>
        </a:xfrm>
      </p:grpSpPr>
      <p:sp>
        <p:nvSpPr>
          <p:cNvPr id="216" name="Google Shape;216;p14"/>
          <p:cNvSpPr txBox="1">
            <a:spLocks noGrp="1"/>
          </p:cNvSpPr>
          <p:nvPr>
            <p:ph type="title"/>
          </p:nvPr>
        </p:nvSpPr>
        <p:spPr>
          <a:xfrm>
            <a:off x="3384650" y="3530767"/>
            <a:ext cx="4472700" cy="5608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1800"/>
            </a:lvl1pPr>
            <a:lvl2pPr lvl="1" algn="ctr" rtl="0">
              <a:spcBef>
                <a:spcPts val="0"/>
              </a:spcBef>
              <a:spcAft>
                <a:spcPts val="0"/>
              </a:spcAft>
              <a:buNone/>
              <a:defRPr sz="1800" b="1"/>
            </a:lvl2pPr>
            <a:lvl3pPr lvl="2" algn="ctr" rtl="0">
              <a:spcBef>
                <a:spcPts val="0"/>
              </a:spcBef>
              <a:spcAft>
                <a:spcPts val="0"/>
              </a:spcAft>
              <a:buNone/>
              <a:defRPr sz="1800" b="1"/>
            </a:lvl3pPr>
            <a:lvl4pPr lvl="3" algn="ctr" rtl="0">
              <a:spcBef>
                <a:spcPts val="0"/>
              </a:spcBef>
              <a:spcAft>
                <a:spcPts val="0"/>
              </a:spcAft>
              <a:buNone/>
              <a:defRPr sz="1800" b="1"/>
            </a:lvl4pPr>
            <a:lvl5pPr lvl="4" algn="ctr" rtl="0">
              <a:spcBef>
                <a:spcPts val="0"/>
              </a:spcBef>
              <a:spcAft>
                <a:spcPts val="0"/>
              </a:spcAft>
              <a:buNone/>
              <a:defRPr sz="1800" b="1"/>
            </a:lvl5pPr>
            <a:lvl6pPr lvl="5" algn="ctr" rtl="0">
              <a:spcBef>
                <a:spcPts val="0"/>
              </a:spcBef>
              <a:spcAft>
                <a:spcPts val="0"/>
              </a:spcAft>
              <a:buNone/>
              <a:defRPr sz="1800" b="1"/>
            </a:lvl6pPr>
            <a:lvl7pPr lvl="6" algn="ctr" rtl="0">
              <a:spcBef>
                <a:spcPts val="0"/>
              </a:spcBef>
              <a:spcAft>
                <a:spcPts val="0"/>
              </a:spcAft>
              <a:buNone/>
              <a:defRPr sz="1800" b="1"/>
            </a:lvl7pPr>
            <a:lvl8pPr lvl="7" algn="ctr" rtl="0">
              <a:spcBef>
                <a:spcPts val="0"/>
              </a:spcBef>
              <a:spcAft>
                <a:spcPts val="0"/>
              </a:spcAft>
              <a:buNone/>
              <a:defRPr sz="1800" b="1"/>
            </a:lvl8pPr>
            <a:lvl9pPr lvl="8" algn="ctr" rtl="0">
              <a:spcBef>
                <a:spcPts val="0"/>
              </a:spcBef>
              <a:spcAft>
                <a:spcPts val="0"/>
              </a:spcAft>
              <a:buNone/>
              <a:defRPr sz="1800" b="1"/>
            </a:lvl9pPr>
          </a:lstStyle>
          <a:p>
            <a:endParaRPr/>
          </a:p>
        </p:txBody>
      </p:sp>
      <p:sp>
        <p:nvSpPr>
          <p:cNvPr id="217" name="Google Shape;217;p14"/>
          <p:cNvSpPr txBox="1">
            <a:spLocks noGrp="1"/>
          </p:cNvSpPr>
          <p:nvPr>
            <p:ph type="subTitle" idx="1"/>
          </p:nvPr>
        </p:nvSpPr>
        <p:spPr>
          <a:xfrm>
            <a:off x="3384650" y="1147133"/>
            <a:ext cx="4472700" cy="22184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400"/>
            </a:lvl1pPr>
            <a:lvl2pPr lvl="1" algn="ctr" rtl="0">
              <a:spcBef>
                <a:spcPts val="0"/>
              </a:spcBef>
              <a:spcAft>
                <a:spcPts val="0"/>
              </a:spcAft>
              <a:buNone/>
              <a:defRPr sz="2400" b="1"/>
            </a:lvl2pPr>
            <a:lvl3pPr lvl="2" algn="ctr" rtl="0">
              <a:spcBef>
                <a:spcPts val="0"/>
              </a:spcBef>
              <a:spcAft>
                <a:spcPts val="0"/>
              </a:spcAft>
              <a:buNone/>
              <a:defRPr sz="2400" b="1"/>
            </a:lvl3pPr>
            <a:lvl4pPr lvl="3" algn="ctr" rtl="0">
              <a:spcBef>
                <a:spcPts val="0"/>
              </a:spcBef>
              <a:spcAft>
                <a:spcPts val="0"/>
              </a:spcAft>
              <a:buNone/>
              <a:defRPr sz="2400" b="1"/>
            </a:lvl4pPr>
            <a:lvl5pPr lvl="4" algn="ctr" rtl="0">
              <a:spcBef>
                <a:spcPts val="0"/>
              </a:spcBef>
              <a:spcAft>
                <a:spcPts val="0"/>
              </a:spcAft>
              <a:buNone/>
              <a:defRPr sz="2400" b="1"/>
            </a:lvl5pPr>
            <a:lvl6pPr lvl="5" algn="ctr" rtl="0">
              <a:spcBef>
                <a:spcPts val="0"/>
              </a:spcBef>
              <a:spcAft>
                <a:spcPts val="0"/>
              </a:spcAft>
              <a:buNone/>
              <a:defRPr sz="2400" b="1"/>
            </a:lvl6pPr>
            <a:lvl7pPr lvl="6" algn="ctr" rtl="0">
              <a:spcBef>
                <a:spcPts val="0"/>
              </a:spcBef>
              <a:spcAft>
                <a:spcPts val="0"/>
              </a:spcAft>
              <a:buNone/>
              <a:defRPr sz="2400" b="1"/>
            </a:lvl7pPr>
            <a:lvl8pPr lvl="7" algn="ctr" rtl="0">
              <a:spcBef>
                <a:spcPts val="0"/>
              </a:spcBef>
              <a:spcAft>
                <a:spcPts val="0"/>
              </a:spcAft>
              <a:buNone/>
              <a:defRPr sz="2400" b="1"/>
            </a:lvl8pPr>
            <a:lvl9pPr lvl="8" algn="ctr" rtl="0">
              <a:spcBef>
                <a:spcPts val="0"/>
              </a:spcBef>
              <a:spcAft>
                <a:spcPts val="0"/>
              </a:spcAft>
              <a:buNone/>
              <a:defRPr sz="2400" b="1"/>
            </a:lvl9pPr>
          </a:lstStyle>
          <a:p>
            <a:endParaRPr/>
          </a:p>
        </p:txBody>
      </p:sp>
      <p:sp>
        <p:nvSpPr>
          <p:cNvPr id="218" name="Google Shape;218;p14"/>
          <p:cNvSpPr/>
          <p:nvPr/>
        </p:nvSpPr>
        <p:spPr>
          <a:xfrm rot="10800000" flipH="1">
            <a:off x="51" y="3435555"/>
            <a:ext cx="4296791" cy="3422445"/>
          </a:xfrm>
          <a:custGeom>
            <a:avLst/>
            <a:gdLst/>
            <a:ahLst/>
            <a:cxnLst/>
            <a:rect l="l" t="t" r="r" b="b"/>
            <a:pathLst>
              <a:path w="36315" h="21694" extrusionOk="0">
                <a:moveTo>
                  <a:pt x="0" y="1"/>
                </a:moveTo>
                <a:lnTo>
                  <a:pt x="0" y="21694"/>
                </a:lnTo>
                <a:cubicBezTo>
                  <a:pt x="1548" y="21682"/>
                  <a:pt x="3096" y="21504"/>
                  <a:pt x="4620" y="21182"/>
                </a:cubicBezTo>
                <a:cubicBezTo>
                  <a:pt x="5406" y="21015"/>
                  <a:pt x="6203" y="20789"/>
                  <a:pt x="6858" y="20325"/>
                </a:cubicBezTo>
                <a:cubicBezTo>
                  <a:pt x="8192" y="19396"/>
                  <a:pt x="8692" y="17634"/>
                  <a:pt x="9918" y="16574"/>
                </a:cubicBezTo>
                <a:cubicBezTo>
                  <a:pt x="11549" y="15181"/>
                  <a:pt x="13942" y="15336"/>
                  <a:pt x="16085" y="15098"/>
                </a:cubicBezTo>
                <a:cubicBezTo>
                  <a:pt x="19241" y="14741"/>
                  <a:pt x="22253" y="13276"/>
                  <a:pt x="24479" y="11026"/>
                </a:cubicBezTo>
                <a:cubicBezTo>
                  <a:pt x="26742" y="8716"/>
                  <a:pt x="28170" y="5704"/>
                  <a:pt x="30492" y="3454"/>
                </a:cubicBezTo>
                <a:cubicBezTo>
                  <a:pt x="32147" y="1846"/>
                  <a:pt x="34147" y="739"/>
                  <a:pt x="36314" y="1"/>
                </a:cubicBezTo>
                <a:close/>
              </a:path>
            </a:pathLst>
          </a:custGeom>
          <a:solidFill>
            <a:srgbClr val="3AC5CA">
              <a:alpha val="21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9" name="Google Shape;219;p14"/>
          <p:cNvSpPr/>
          <p:nvPr/>
        </p:nvSpPr>
        <p:spPr>
          <a:xfrm flipH="1">
            <a:off x="5877282" y="-3"/>
            <a:ext cx="3266716" cy="2601979"/>
          </a:xfrm>
          <a:custGeom>
            <a:avLst/>
            <a:gdLst/>
            <a:ahLst/>
            <a:cxnLst/>
            <a:rect l="l" t="t" r="r" b="b"/>
            <a:pathLst>
              <a:path w="36315" h="21694" extrusionOk="0">
                <a:moveTo>
                  <a:pt x="0" y="1"/>
                </a:moveTo>
                <a:lnTo>
                  <a:pt x="0" y="21694"/>
                </a:lnTo>
                <a:cubicBezTo>
                  <a:pt x="1548" y="21682"/>
                  <a:pt x="3096" y="21504"/>
                  <a:pt x="4620" y="21182"/>
                </a:cubicBezTo>
                <a:cubicBezTo>
                  <a:pt x="5406" y="21015"/>
                  <a:pt x="6203" y="20789"/>
                  <a:pt x="6858" y="20325"/>
                </a:cubicBezTo>
                <a:cubicBezTo>
                  <a:pt x="8192" y="19396"/>
                  <a:pt x="8692" y="17634"/>
                  <a:pt x="9918" y="16574"/>
                </a:cubicBezTo>
                <a:cubicBezTo>
                  <a:pt x="11549" y="15181"/>
                  <a:pt x="13942" y="15336"/>
                  <a:pt x="16085" y="15098"/>
                </a:cubicBezTo>
                <a:cubicBezTo>
                  <a:pt x="19241" y="14741"/>
                  <a:pt x="22253" y="13276"/>
                  <a:pt x="24479" y="11026"/>
                </a:cubicBezTo>
                <a:cubicBezTo>
                  <a:pt x="26742" y="8716"/>
                  <a:pt x="28170" y="5704"/>
                  <a:pt x="30492" y="3454"/>
                </a:cubicBezTo>
                <a:cubicBezTo>
                  <a:pt x="32147" y="1846"/>
                  <a:pt x="34147" y="739"/>
                  <a:pt x="36314" y="1"/>
                </a:cubicBezTo>
                <a:close/>
              </a:path>
            </a:pathLst>
          </a:custGeom>
          <a:solidFill>
            <a:srgbClr val="3AC5CA">
              <a:alpha val="21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220" name="Google Shape;220;p14"/>
          <p:cNvGrpSpPr/>
          <p:nvPr/>
        </p:nvGrpSpPr>
        <p:grpSpPr>
          <a:xfrm>
            <a:off x="241124" y="2541796"/>
            <a:ext cx="365620" cy="487493"/>
            <a:chOff x="292035" y="246950"/>
            <a:chExt cx="461700" cy="461700"/>
          </a:xfrm>
        </p:grpSpPr>
        <p:sp>
          <p:nvSpPr>
            <p:cNvPr id="221" name="Google Shape;221;p14"/>
            <p:cNvSpPr/>
            <p:nvPr/>
          </p:nvSpPr>
          <p:spPr>
            <a:xfrm>
              <a:off x="487635" y="246950"/>
              <a:ext cx="70500" cy="4617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2" name="Google Shape;222;p14"/>
            <p:cNvSpPr/>
            <p:nvPr/>
          </p:nvSpPr>
          <p:spPr>
            <a:xfrm rot="2710324">
              <a:off x="487565" y="247102"/>
              <a:ext cx="70640" cy="461599"/>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3" name="Google Shape;223;p14"/>
            <p:cNvSpPr/>
            <p:nvPr/>
          </p:nvSpPr>
          <p:spPr>
            <a:xfrm rot="5400000">
              <a:off x="487485" y="247000"/>
              <a:ext cx="70800" cy="4617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4" name="Google Shape;224;p14"/>
            <p:cNvSpPr/>
            <p:nvPr/>
          </p:nvSpPr>
          <p:spPr>
            <a:xfrm rot="8110324">
              <a:off x="487565" y="247102"/>
              <a:ext cx="70640" cy="461599"/>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nvGrpSpPr>
          <p:cNvPr id="225" name="Google Shape;225;p14"/>
          <p:cNvGrpSpPr/>
          <p:nvPr/>
        </p:nvGrpSpPr>
        <p:grpSpPr>
          <a:xfrm>
            <a:off x="4904874" y="6054130"/>
            <a:ext cx="365620" cy="487493"/>
            <a:chOff x="292035" y="246950"/>
            <a:chExt cx="461700" cy="461700"/>
          </a:xfrm>
        </p:grpSpPr>
        <p:sp>
          <p:nvSpPr>
            <p:cNvPr id="226" name="Google Shape;226;p14"/>
            <p:cNvSpPr/>
            <p:nvPr/>
          </p:nvSpPr>
          <p:spPr>
            <a:xfrm>
              <a:off x="487635" y="246950"/>
              <a:ext cx="70500" cy="461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7" name="Google Shape;227;p14"/>
            <p:cNvSpPr/>
            <p:nvPr/>
          </p:nvSpPr>
          <p:spPr>
            <a:xfrm rot="2710324">
              <a:off x="487565" y="247102"/>
              <a:ext cx="70640" cy="461599"/>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8" name="Google Shape;228;p14"/>
            <p:cNvSpPr/>
            <p:nvPr/>
          </p:nvSpPr>
          <p:spPr>
            <a:xfrm rot="5400000">
              <a:off x="487485" y="247000"/>
              <a:ext cx="70800" cy="461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9" name="Google Shape;229;p14"/>
            <p:cNvSpPr/>
            <p:nvPr/>
          </p:nvSpPr>
          <p:spPr>
            <a:xfrm rot="8110324">
              <a:off x="487565" y="247102"/>
              <a:ext cx="70640" cy="461599"/>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Tree>
    <p:extLst>
      <p:ext uri="{BB962C8B-B14F-4D97-AF65-F5344CB8AC3E}">
        <p14:creationId xmlns:p14="http://schemas.microsoft.com/office/powerpoint/2010/main" val="15821955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Title and body" type="tx">
  <p:cSld name="Title and body">
    <p:spTree>
      <p:nvGrpSpPr>
        <p:cNvPr id="1" name="Shape 17"/>
        <p:cNvGrpSpPr/>
        <p:nvPr/>
      </p:nvGrpSpPr>
      <p:grpSpPr>
        <a:xfrm>
          <a:off x="0" y="0"/>
          <a:ext cx="0" cy="0"/>
          <a:chOff x="0" y="0"/>
          <a:chExt cx="0" cy="0"/>
        </a:xfrm>
      </p:grpSpPr>
      <p:sp>
        <p:nvSpPr>
          <p:cNvPr id="18" name="Google Shape;18;p4"/>
          <p:cNvSpPr txBox="1">
            <a:spLocks noGrp="1"/>
          </p:cNvSpPr>
          <p:nvPr>
            <p:ph type="body" idx="1"/>
          </p:nvPr>
        </p:nvSpPr>
        <p:spPr>
          <a:xfrm>
            <a:off x="713100" y="1530600"/>
            <a:ext cx="7717800" cy="47060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300"/>
              </a:spcBef>
              <a:spcAft>
                <a:spcPts val="0"/>
              </a:spcAft>
              <a:buSzPts val="1200"/>
              <a:buFont typeface="Roboto Condensed Light"/>
              <a:buChar char="○"/>
              <a:defRPr sz="1200"/>
            </a:lvl2pPr>
            <a:lvl3pPr marL="1371600" lvl="2" indent="-304800" rtl="0">
              <a:spcBef>
                <a:spcPts val="0"/>
              </a:spcBef>
              <a:spcAft>
                <a:spcPts val="0"/>
              </a:spcAft>
              <a:buSzPts val="1200"/>
              <a:buFont typeface="Roboto Condensed Light"/>
              <a:buChar char="■"/>
              <a:defRPr sz="1200"/>
            </a:lvl3pPr>
            <a:lvl4pPr marL="1828800" lvl="3" indent="-304800" rtl="0">
              <a:spcBef>
                <a:spcPts val="0"/>
              </a:spcBef>
              <a:spcAft>
                <a:spcPts val="0"/>
              </a:spcAft>
              <a:buSzPts val="1200"/>
              <a:buFont typeface="Roboto Condensed Light"/>
              <a:buChar char="●"/>
              <a:defRPr sz="1200"/>
            </a:lvl4pPr>
            <a:lvl5pPr marL="2286000" lvl="4" indent="-304800" rtl="0">
              <a:spcBef>
                <a:spcPts val="0"/>
              </a:spcBef>
              <a:spcAft>
                <a:spcPts val="0"/>
              </a:spcAft>
              <a:buSzPts val="1200"/>
              <a:buFont typeface="Roboto Condensed Light"/>
              <a:buChar char="○"/>
              <a:defRPr sz="1200"/>
            </a:lvl5pPr>
            <a:lvl6pPr marL="2743200" lvl="5" indent="-304800" rtl="0">
              <a:spcBef>
                <a:spcPts val="0"/>
              </a:spcBef>
              <a:spcAft>
                <a:spcPts val="0"/>
              </a:spcAft>
              <a:buSzPts val="1200"/>
              <a:buFont typeface="Roboto Condensed Light"/>
              <a:buChar char="■"/>
              <a:defRPr sz="1200"/>
            </a:lvl6pPr>
            <a:lvl7pPr marL="3200400" lvl="6" indent="-304800" rtl="0">
              <a:spcBef>
                <a:spcPts val="0"/>
              </a:spcBef>
              <a:spcAft>
                <a:spcPts val="0"/>
              </a:spcAft>
              <a:buSzPts val="1200"/>
              <a:buFont typeface="Roboto Condensed Light"/>
              <a:buChar char="●"/>
              <a:defRPr sz="1200"/>
            </a:lvl7pPr>
            <a:lvl8pPr marL="3657600" lvl="7" indent="-304800" rtl="0">
              <a:spcBef>
                <a:spcPts val="0"/>
              </a:spcBef>
              <a:spcAft>
                <a:spcPts val="0"/>
              </a:spcAft>
              <a:buSzPts val="1200"/>
              <a:buFont typeface="Roboto Condensed Light"/>
              <a:buChar char="○"/>
              <a:defRPr sz="1200"/>
            </a:lvl8pPr>
            <a:lvl9pPr marL="4114800" lvl="8" indent="-304800" rtl="0">
              <a:spcBef>
                <a:spcPts val="0"/>
              </a:spcBef>
              <a:spcAft>
                <a:spcPts val="0"/>
              </a:spcAft>
              <a:buSzPts val="1200"/>
              <a:buFont typeface="Roboto Condensed Light"/>
              <a:buChar char="■"/>
              <a:defRPr sz="1200"/>
            </a:lvl9pPr>
          </a:lstStyle>
          <a:p>
            <a:endParaRPr/>
          </a:p>
        </p:txBody>
      </p:sp>
      <p:sp>
        <p:nvSpPr>
          <p:cNvPr id="19" name="Google Shape;19;p4"/>
          <p:cNvSpPr txBox="1">
            <a:spLocks noGrp="1"/>
          </p:cNvSpPr>
          <p:nvPr>
            <p:ph type="title"/>
          </p:nvPr>
        </p:nvSpPr>
        <p:spPr>
          <a:xfrm>
            <a:off x="713100" y="603100"/>
            <a:ext cx="7717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20" name="Google Shape;20;p4"/>
          <p:cNvGrpSpPr/>
          <p:nvPr/>
        </p:nvGrpSpPr>
        <p:grpSpPr>
          <a:xfrm>
            <a:off x="8064066" y="6138738"/>
            <a:ext cx="880186" cy="719180"/>
            <a:chOff x="7020722" y="3595000"/>
            <a:chExt cx="2002699" cy="1227270"/>
          </a:xfrm>
        </p:grpSpPr>
        <p:sp>
          <p:nvSpPr>
            <p:cNvPr id="21" name="Google Shape;21;p4"/>
            <p:cNvSpPr/>
            <p:nvPr/>
          </p:nvSpPr>
          <p:spPr>
            <a:xfrm>
              <a:off x="7020722" y="3595000"/>
              <a:ext cx="2002699" cy="1227270"/>
            </a:xfrm>
            <a:custGeom>
              <a:avLst/>
              <a:gdLst/>
              <a:ahLst/>
              <a:cxnLst/>
              <a:rect l="l" t="t" r="r" b="b"/>
              <a:pathLst>
                <a:path w="31219" h="19132" extrusionOk="0">
                  <a:moveTo>
                    <a:pt x="21980" y="0"/>
                  </a:moveTo>
                  <a:cubicBezTo>
                    <a:pt x="18411" y="0"/>
                    <a:pt x="16046" y="5069"/>
                    <a:pt x="12428" y="5069"/>
                  </a:cubicBezTo>
                  <a:cubicBezTo>
                    <a:pt x="12334" y="5069"/>
                    <a:pt x="12240" y="5065"/>
                    <a:pt x="12145" y="5058"/>
                  </a:cubicBezTo>
                  <a:cubicBezTo>
                    <a:pt x="10185" y="4921"/>
                    <a:pt x="8522" y="3205"/>
                    <a:pt x="6574" y="3205"/>
                  </a:cubicBezTo>
                  <a:cubicBezTo>
                    <a:pt x="6498" y="3205"/>
                    <a:pt x="6423" y="3208"/>
                    <a:pt x="6346" y="3213"/>
                  </a:cubicBezTo>
                  <a:cubicBezTo>
                    <a:pt x="5382" y="3296"/>
                    <a:pt x="4549" y="3796"/>
                    <a:pt x="3834" y="4487"/>
                  </a:cubicBezTo>
                  <a:cubicBezTo>
                    <a:pt x="3382" y="4904"/>
                    <a:pt x="3001" y="5392"/>
                    <a:pt x="2667" y="5880"/>
                  </a:cubicBezTo>
                  <a:cubicBezTo>
                    <a:pt x="631" y="8892"/>
                    <a:pt x="0" y="14691"/>
                    <a:pt x="453" y="19132"/>
                  </a:cubicBezTo>
                  <a:lnTo>
                    <a:pt x="30885" y="19132"/>
                  </a:lnTo>
                  <a:cubicBezTo>
                    <a:pt x="31219" y="17310"/>
                    <a:pt x="30980" y="15262"/>
                    <a:pt x="30040" y="13929"/>
                  </a:cubicBezTo>
                  <a:cubicBezTo>
                    <a:pt x="29754" y="13512"/>
                    <a:pt x="29397" y="13155"/>
                    <a:pt x="28968" y="12917"/>
                  </a:cubicBezTo>
                  <a:cubicBezTo>
                    <a:pt x="28063" y="12416"/>
                    <a:pt x="26944" y="12119"/>
                    <a:pt x="26397" y="11238"/>
                  </a:cubicBezTo>
                  <a:cubicBezTo>
                    <a:pt x="25873" y="10392"/>
                    <a:pt x="26063" y="9321"/>
                    <a:pt x="26218" y="8333"/>
                  </a:cubicBezTo>
                  <a:cubicBezTo>
                    <a:pt x="26480" y="6642"/>
                    <a:pt x="26599" y="4868"/>
                    <a:pt x="26039" y="3249"/>
                  </a:cubicBezTo>
                  <a:cubicBezTo>
                    <a:pt x="25480" y="1629"/>
                    <a:pt x="24099" y="201"/>
                    <a:pt x="22384" y="22"/>
                  </a:cubicBezTo>
                  <a:cubicBezTo>
                    <a:pt x="22248" y="7"/>
                    <a:pt x="22113" y="0"/>
                    <a:pt x="219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 name="Google Shape;22;p4"/>
            <p:cNvSpPr/>
            <p:nvPr/>
          </p:nvSpPr>
          <p:spPr>
            <a:xfrm>
              <a:off x="8074835" y="3846971"/>
              <a:ext cx="560414" cy="974978"/>
            </a:xfrm>
            <a:custGeom>
              <a:avLst/>
              <a:gdLst/>
              <a:ahLst/>
              <a:cxnLst/>
              <a:rect l="l" t="t" r="r" b="b"/>
              <a:pathLst>
                <a:path w="8736" h="15199" extrusionOk="0">
                  <a:moveTo>
                    <a:pt x="7274" y="0"/>
                  </a:moveTo>
                  <a:cubicBezTo>
                    <a:pt x="7252" y="0"/>
                    <a:pt x="7230" y="10"/>
                    <a:pt x="7214" y="35"/>
                  </a:cubicBezTo>
                  <a:cubicBezTo>
                    <a:pt x="5440" y="2309"/>
                    <a:pt x="3916" y="4809"/>
                    <a:pt x="2702" y="7429"/>
                  </a:cubicBezTo>
                  <a:cubicBezTo>
                    <a:pt x="2392" y="6369"/>
                    <a:pt x="2118" y="5298"/>
                    <a:pt x="1880" y="4226"/>
                  </a:cubicBezTo>
                  <a:cubicBezTo>
                    <a:pt x="2583" y="3285"/>
                    <a:pt x="3249" y="2321"/>
                    <a:pt x="3904" y="1357"/>
                  </a:cubicBezTo>
                  <a:cubicBezTo>
                    <a:pt x="3954" y="1274"/>
                    <a:pt x="3883" y="1198"/>
                    <a:pt x="3812" y="1198"/>
                  </a:cubicBezTo>
                  <a:cubicBezTo>
                    <a:pt x="3780" y="1198"/>
                    <a:pt x="3748" y="1213"/>
                    <a:pt x="3726" y="1249"/>
                  </a:cubicBezTo>
                  <a:cubicBezTo>
                    <a:pt x="3118" y="2178"/>
                    <a:pt x="2476" y="3071"/>
                    <a:pt x="1833" y="3964"/>
                  </a:cubicBezTo>
                  <a:cubicBezTo>
                    <a:pt x="1618" y="2893"/>
                    <a:pt x="1416" y="1797"/>
                    <a:pt x="1297" y="702"/>
                  </a:cubicBezTo>
                  <a:cubicBezTo>
                    <a:pt x="1291" y="636"/>
                    <a:pt x="1237" y="604"/>
                    <a:pt x="1187" y="604"/>
                  </a:cubicBezTo>
                  <a:cubicBezTo>
                    <a:pt x="1136" y="604"/>
                    <a:pt x="1088" y="636"/>
                    <a:pt x="1094" y="702"/>
                  </a:cubicBezTo>
                  <a:cubicBezTo>
                    <a:pt x="1237" y="1880"/>
                    <a:pt x="1416" y="3059"/>
                    <a:pt x="1678" y="4202"/>
                  </a:cubicBezTo>
                  <a:cubicBezTo>
                    <a:pt x="1642" y="4250"/>
                    <a:pt x="1654" y="4274"/>
                    <a:pt x="1702" y="4309"/>
                  </a:cubicBezTo>
                  <a:cubicBezTo>
                    <a:pt x="1940" y="5452"/>
                    <a:pt x="2237" y="6583"/>
                    <a:pt x="2595" y="7703"/>
                  </a:cubicBezTo>
                  <a:cubicBezTo>
                    <a:pt x="2035" y="8929"/>
                    <a:pt x="1523" y="10203"/>
                    <a:pt x="1083" y="11489"/>
                  </a:cubicBezTo>
                  <a:cubicBezTo>
                    <a:pt x="678" y="12668"/>
                    <a:pt x="321" y="13858"/>
                    <a:pt x="23" y="15061"/>
                  </a:cubicBezTo>
                  <a:cubicBezTo>
                    <a:pt x="1" y="15141"/>
                    <a:pt x="68" y="15199"/>
                    <a:pt x="132" y="15199"/>
                  </a:cubicBezTo>
                  <a:cubicBezTo>
                    <a:pt x="173" y="15199"/>
                    <a:pt x="211" y="15176"/>
                    <a:pt x="225" y="15120"/>
                  </a:cubicBezTo>
                  <a:cubicBezTo>
                    <a:pt x="392" y="14477"/>
                    <a:pt x="571" y="13834"/>
                    <a:pt x="761" y="13203"/>
                  </a:cubicBezTo>
                  <a:cubicBezTo>
                    <a:pt x="785" y="13203"/>
                    <a:pt x="785" y="13203"/>
                    <a:pt x="797" y="13191"/>
                  </a:cubicBezTo>
                  <a:cubicBezTo>
                    <a:pt x="2011" y="12441"/>
                    <a:pt x="3285" y="11775"/>
                    <a:pt x="4607" y="11227"/>
                  </a:cubicBezTo>
                  <a:cubicBezTo>
                    <a:pt x="5940" y="10655"/>
                    <a:pt x="7309" y="10215"/>
                    <a:pt x="8703" y="9834"/>
                  </a:cubicBezTo>
                  <a:cubicBezTo>
                    <a:pt x="8736" y="9800"/>
                    <a:pt x="8707" y="9641"/>
                    <a:pt x="8605" y="9641"/>
                  </a:cubicBezTo>
                  <a:cubicBezTo>
                    <a:pt x="8598" y="9641"/>
                    <a:pt x="8591" y="9642"/>
                    <a:pt x="8583" y="9643"/>
                  </a:cubicBezTo>
                  <a:cubicBezTo>
                    <a:pt x="7405" y="9929"/>
                    <a:pt x="6262" y="10298"/>
                    <a:pt x="5119" y="10751"/>
                  </a:cubicBezTo>
                  <a:cubicBezTo>
                    <a:pt x="5309" y="9786"/>
                    <a:pt x="5583" y="8834"/>
                    <a:pt x="5964" y="7917"/>
                  </a:cubicBezTo>
                  <a:cubicBezTo>
                    <a:pt x="5986" y="7843"/>
                    <a:pt x="5922" y="7793"/>
                    <a:pt x="5858" y="7793"/>
                  </a:cubicBezTo>
                  <a:cubicBezTo>
                    <a:pt x="5819" y="7793"/>
                    <a:pt x="5780" y="7812"/>
                    <a:pt x="5762" y="7857"/>
                  </a:cubicBezTo>
                  <a:cubicBezTo>
                    <a:pt x="5381" y="8810"/>
                    <a:pt x="5095" y="9810"/>
                    <a:pt x="4904" y="10834"/>
                  </a:cubicBezTo>
                  <a:cubicBezTo>
                    <a:pt x="3476" y="11417"/>
                    <a:pt x="2106" y="12120"/>
                    <a:pt x="797" y="12906"/>
                  </a:cubicBezTo>
                  <a:cubicBezTo>
                    <a:pt x="1856" y="9489"/>
                    <a:pt x="3369" y="6191"/>
                    <a:pt x="5274" y="3154"/>
                  </a:cubicBezTo>
                  <a:cubicBezTo>
                    <a:pt x="5928" y="2131"/>
                    <a:pt x="6631" y="1130"/>
                    <a:pt x="7357" y="154"/>
                  </a:cubicBezTo>
                  <a:cubicBezTo>
                    <a:pt x="7410" y="84"/>
                    <a:pt x="7339" y="0"/>
                    <a:pt x="72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 name="Google Shape;23;p4"/>
            <p:cNvSpPr/>
            <p:nvPr/>
          </p:nvSpPr>
          <p:spPr>
            <a:xfrm>
              <a:off x="7233251" y="4046791"/>
              <a:ext cx="502230" cy="774068"/>
            </a:xfrm>
            <a:custGeom>
              <a:avLst/>
              <a:gdLst/>
              <a:ahLst/>
              <a:cxnLst/>
              <a:rect l="l" t="t" r="r" b="b"/>
              <a:pathLst>
                <a:path w="7829" h="12067" extrusionOk="0">
                  <a:moveTo>
                    <a:pt x="2949" y="1"/>
                  </a:moveTo>
                  <a:cubicBezTo>
                    <a:pt x="2897" y="1"/>
                    <a:pt x="2849" y="34"/>
                    <a:pt x="2855" y="99"/>
                  </a:cubicBezTo>
                  <a:cubicBezTo>
                    <a:pt x="3141" y="2397"/>
                    <a:pt x="3486" y="4671"/>
                    <a:pt x="3915" y="6933"/>
                  </a:cubicBezTo>
                  <a:cubicBezTo>
                    <a:pt x="3248" y="6445"/>
                    <a:pt x="2593" y="5909"/>
                    <a:pt x="1962" y="5338"/>
                  </a:cubicBezTo>
                  <a:cubicBezTo>
                    <a:pt x="1652" y="5064"/>
                    <a:pt x="1343" y="4766"/>
                    <a:pt x="1021" y="4445"/>
                  </a:cubicBezTo>
                  <a:cubicBezTo>
                    <a:pt x="747" y="4147"/>
                    <a:pt x="402" y="3873"/>
                    <a:pt x="224" y="3492"/>
                  </a:cubicBezTo>
                  <a:cubicBezTo>
                    <a:pt x="208" y="3462"/>
                    <a:pt x="178" y="3448"/>
                    <a:pt x="146" y="3448"/>
                  </a:cubicBezTo>
                  <a:cubicBezTo>
                    <a:pt x="78" y="3448"/>
                    <a:pt x="1" y="3507"/>
                    <a:pt x="33" y="3588"/>
                  </a:cubicBezTo>
                  <a:cubicBezTo>
                    <a:pt x="164" y="3957"/>
                    <a:pt x="509" y="4242"/>
                    <a:pt x="771" y="4528"/>
                  </a:cubicBezTo>
                  <a:cubicBezTo>
                    <a:pt x="1105" y="4850"/>
                    <a:pt x="1426" y="5183"/>
                    <a:pt x="1783" y="5493"/>
                  </a:cubicBezTo>
                  <a:cubicBezTo>
                    <a:pt x="2474" y="6100"/>
                    <a:pt x="3164" y="6683"/>
                    <a:pt x="3915" y="7231"/>
                  </a:cubicBezTo>
                  <a:cubicBezTo>
                    <a:pt x="3938" y="7243"/>
                    <a:pt x="3962" y="7243"/>
                    <a:pt x="3974" y="7243"/>
                  </a:cubicBezTo>
                  <a:cubicBezTo>
                    <a:pt x="4105" y="7921"/>
                    <a:pt x="4236" y="8588"/>
                    <a:pt x="4379" y="9243"/>
                  </a:cubicBezTo>
                  <a:cubicBezTo>
                    <a:pt x="4343" y="9291"/>
                    <a:pt x="4379" y="9326"/>
                    <a:pt x="4403" y="9362"/>
                  </a:cubicBezTo>
                  <a:lnTo>
                    <a:pt x="4403" y="9374"/>
                  </a:lnTo>
                  <a:cubicBezTo>
                    <a:pt x="4593" y="10255"/>
                    <a:pt x="4760" y="11136"/>
                    <a:pt x="4998" y="11993"/>
                  </a:cubicBezTo>
                  <a:cubicBezTo>
                    <a:pt x="5012" y="12045"/>
                    <a:pt x="5052" y="12067"/>
                    <a:pt x="5093" y="12067"/>
                  </a:cubicBezTo>
                  <a:cubicBezTo>
                    <a:pt x="5158" y="12067"/>
                    <a:pt x="5227" y="12013"/>
                    <a:pt x="5212" y="11934"/>
                  </a:cubicBezTo>
                  <a:cubicBezTo>
                    <a:pt x="5046" y="11172"/>
                    <a:pt x="4855" y="10422"/>
                    <a:pt x="4688" y="9648"/>
                  </a:cubicBezTo>
                  <a:cubicBezTo>
                    <a:pt x="4653" y="9505"/>
                    <a:pt x="4629" y="9374"/>
                    <a:pt x="4593" y="9231"/>
                  </a:cubicBezTo>
                  <a:cubicBezTo>
                    <a:pt x="5665" y="7040"/>
                    <a:pt x="6724" y="4850"/>
                    <a:pt x="7796" y="2683"/>
                  </a:cubicBezTo>
                  <a:cubicBezTo>
                    <a:pt x="7829" y="2609"/>
                    <a:pt x="7754" y="2535"/>
                    <a:pt x="7685" y="2535"/>
                  </a:cubicBezTo>
                  <a:cubicBezTo>
                    <a:pt x="7654" y="2535"/>
                    <a:pt x="7624" y="2550"/>
                    <a:pt x="7605" y="2587"/>
                  </a:cubicBezTo>
                  <a:lnTo>
                    <a:pt x="4522" y="8933"/>
                  </a:lnTo>
                  <a:cubicBezTo>
                    <a:pt x="4415" y="8410"/>
                    <a:pt x="4296" y="7886"/>
                    <a:pt x="4212" y="7350"/>
                  </a:cubicBezTo>
                  <a:cubicBezTo>
                    <a:pt x="3915" y="5838"/>
                    <a:pt x="3653" y="4302"/>
                    <a:pt x="3426" y="2766"/>
                  </a:cubicBezTo>
                  <a:cubicBezTo>
                    <a:pt x="3283" y="1873"/>
                    <a:pt x="3164" y="980"/>
                    <a:pt x="3069" y="99"/>
                  </a:cubicBezTo>
                  <a:cubicBezTo>
                    <a:pt x="3057" y="34"/>
                    <a:pt x="3001" y="1"/>
                    <a:pt x="29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nvGrpSpPr>
          <p:cNvPr id="24" name="Google Shape;24;p4"/>
          <p:cNvGrpSpPr/>
          <p:nvPr/>
        </p:nvGrpSpPr>
        <p:grpSpPr>
          <a:xfrm>
            <a:off x="8833735" y="5434667"/>
            <a:ext cx="461700" cy="615600"/>
            <a:chOff x="292035" y="246950"/>
            <a:chExt cx="461700" cy="461700"/>
          </a:xfrm>
        </p:grpSpPr>
        <p:sp>
          <p:nvSpPr>
            <p:cNvPr id="25" name="Google Shape;25;p4"/>
            <p:cNvSpPr/>
            <p:nvPr/>
          </p:nvSpPr>
          <p:spPr>
            <a:xfrm>
              <a:off x="487635" y="246950"/>
              <a:ext cx="70500" cy="4617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 name="Google Shape;26;p4"/>
            <p:cNvSpPr/>
            <p:nvPr/>
          </p:nvSpPr>
          <p:spPr>
            <a:xfrm rot="2710324">
              <a:off x="487565" y="247102"/>
              <a:ext cx="70640" cy="461599"/>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 name="Google Shape;27;p4"/>
            <p:cNvSpPr/>
            <p:nvPr/>
          </p:nvSpPr>
          <p:spPr>
            <a:xfrm rot="5400000">
              <a:off x="487485" y="247000"/>
              <a:ext cx="70800" cy="4617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8" name="Google Shape;28;p4"/>
            <p:cNvSpPr/>
            <p:nvPr/>
          </p:nvSpPr>
          <p:spPr>
            <a:xfrm rot="8110324">
              <a:off x="487565" y="247102"/>
              <a:ext cx="70640" cy="461599"/>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9" name="Google Shape;29;p4"/>
          <p:cNvSpPr/>
          <p:nvPr/>
        </p:nvSpPr>
        <p:spPr>
          <a:xfrm>
            <a:off x="355176" y="6400503"/>
            <a:ext cx="634001" cy="195891"/>
          </a:xfrm>
          <a:custGeom>
            <a:avLst/>
            <a:gdLst/>
            <a:ahLst/>
            <a:cxnLst/>
            <a:rect l="l" t="t" r="r" b="b"/>
            <a:pathLst>
              <a:path w="28779" h="6669" extrusionOk="0">
                <a:moveTo>
                  <a:pt x="13951" y="1"/>
                </a:moveTo>
                <a:cubicBezTo>
                  <a:pt x="13574" y="1"/>
                  <a:pt x="13197" y="32"/>
                  <a:pt x="12824" y="96"/>
                </a:cubicBezTo>
                <a:cubicBezTo>
                  <a:pt x="11859" y="239"/>
                  <a:pt x="10955" y="608"/>
                  <a:pt x="10085" y="1072"/>
                </a:cubicBezTo>
                <a:cubicBezTo>
                  <a:pt x="8633" y="1858"/>
                  <a:pt x="7466" y="2799"/>
                  <a:pt x="6692" y="4263"/>
                </a:cubicBezTo>
                <a:cubicBezTo>
                  <a:pt x="5961" y="3714"/>
                  <a:pt x="5054" y="3419"/>
                  <a:pt x="4155" y="3419"/>
                </a:cubicBezTo>
                <a:cubicBezTo>
                  <a:pt x="3883" y="3419"/>
                  <a:pt x="3612" y="3446"/>
                  <a:pt x="3346" y="3501"/>
                </a:cubicBezTo>
                <a:cubicBezTo>
                  <a:pt x="2203" y="3739"/>
                  <a:pt x="1156" y="4501"/>
                  <a:pt x="584" y="5525"/>
                </a:cubicBezTo>
                <a:cubicBezTo>
                  <a:pt x="406" y="5835"/>
                  <a:pt x="167" y="6263"/>
                  <a:pt x="1" y="6668"/>
                </a:cubicBezTo>
                <a:lnTo>
                  <a:pt x="28778" y="6668"/>
                </a:lnTo>
                <a:cubicBezTo>
                  <a:pt x="28659" y="5716"/>
                  <a:pt x="28028" y="4846"/>
                  <a:pt x="27207" y="4299"/>
                </a:cubicBezTo>
                <a:cubicBezTo>
                  <a:pt x="26314" y="3727"/>
                  <a:pt x="25218" y="3501"/>
                  <a:pt x="24170" y="3489"/>
                </a:cubicBezTo>
                <a:cubicBezTo>
                  <a:pt x="24143" y="3489"/>
                  <a:pt x="24115" y="3489"/>
                  <a:pt x="24088" y="3489"/>
                </a:cubicBezTo>
                <a:cubicBezTo>
                  <a:pt x="22794" y="3489"/>
                  <a:pt x="21502" y="3763"/>
                  <a:pt x="20325" y="4334"/>
                </a:cubicBezTo>
                <a:cubicBezTo>
                  <a:pt x="19765" y="2894"/>
                  <a:pt x="18682" y="1644"/>
                  <a:pt x="17324" y="882"/>
                </a:cubicBezTo>
                <a:cubicBezTo>
                  <a:pt x="16297" y="305"/>
                  <a:pt x="15126" y="1"/>
                  <a:pt x="1395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0" name="Google Shape;30;p4"/>
          <p:cNvSpPr/>
          <p:nvPr/>
        </p:nvSpPr>
        <p:spPr>
          <a:xfrm>
            <a:off x="-410275" y="-270163"/>
            <a:ext cx="1335937" cy="989321"/>
          </a:xfrm>
          <a:custGeom>
            <a:avLst/>
            <a:gdLst/>
            <a:ahLst/>
            <a:cxnLst/>
            <a:rect l="l" t="t" r="r" b="b"/>
            <a:pathLst>
              <a:path w="18932" h="10515" extrusionOk="0">
                <a:moveTo>
                  <a:pt x="8514" y="394"/>
                </a:moveTo>
                <a:cubicBezTo>
                  <a:pt x="8562" y="513"/>
                  <a:pt x="8669" y="608"/>
                  <a:pt x="8800" y="608"/>
                </a:cubicBezTo>
                <a:cubicBezTo>
                  <a:pt x="8835" y="608"/>
                  <a:pt x="8859" y="608"/>
                  <a:pt x="8871" y="596"/>
                </a:cubicBezTo>
                <a:lnTo>
                  <a:pt x="10026" y="2573"/>
                </a:lnTo>
                <a:cubicBezTo>
                  <a:pt x="9943" y="2632"/>
                  <a:pt x="9907" y="2704"/>
                  <a:pt x="9907" y="2811"/>
                </a:cubicBezTo>
                <a:cubicBezTo>
                  <a:pt x="9907" y="2918"/>
                  <a:pt x="9943" y="2989"/>
                  <a:pt x="10026" y="3049"/>
                </a:cubicBezTo>
                <a:lnTo>
                  <a:pt x="8907" y="4978"/>
                </a:lnTo>
                <a:cubicBezTo>
                  <a:pt x="8871" y="4966"/>
                  <a:pt x="8847" y="4966"/>
                  <a:pt x="8800" y="4966"/>
                </a:cubicBezTo>
                <a:cubicBezTo>
                  <a:pt x="8657" y="4966"/>
                  <a:pt x="8514" y="5073"/>
                  <a:pt x="8502" y="5216"/>
                </a:cubicBezTo>
                <a:lnTo>
                  <a:pt x="6240" y="5216"/>
                </a:lnTo>
                <a:cubicBezTo>
                  <a:pt x="6216" y="5073"/>
                  <a:pt x="6097" y="4966"/>
                  <a:pt x="5942" y="4966"/>
                </a:cubicBezTo>
                <a:cubicBezTo>
                  <a:pt x="5918" y="4966"/>
                  <a:pt x="5871" y="4966"/>
                  <a:pt x="5835" y="4978"/>
                </a:cubicBezTo>
                <a:lnTo>
                  <a:pt x="4728" y="3049"/>
                </a:lnTo>
                <a:cubicBezTo>
                  <a:pt x="4799" y="2989"/>
                  <a:pt x="4847" y="2894"/>
                  <a:pt x="4847" y="2811"/>
                </a:cubicBezTo>
                <a:cubicBezTo>
                  <a:pt x="4847" y="2704"/>
                  <a:pt x="4799" y="2620"/>
                  <a:pt x="4728" y="2573"/>
                </a:cubicBezTo>
                <a:lnTo>
                  <a:pt x="5871" y="596"/>
                </a:lnTo>
                <a:cubicBezTo>
                  <a:pt x="5895" y="596"/>
                  <a:pt x="5918" y="608"/>
                  <a:pt x="5942" y="608"/>
                </a:cubicBezTo>
                <a:cubicBezTo>
                  <a:pt x="6073" y="608"/>
                  <a:pt x="6192" y="513"/>
                  <a:pt x="6228" y="394"/>
                </a:cubicBezTo>
                <a:close/>
                <a:moveTo>
                  <a:pt x="17075" y="382"/>
                </a:moveTo>
                <a:cubicBezTo>
                  <a:pt x="17122" y="501"/>
                  <a:pt x="17229" y="596"/>
                  <a:pt x="17360" y="596"/>
                </a:cubicBezTo>
                <a:lnTo>
                  <a:pt x="17420" y="596"/>
                </a:lnTo>
                <a:lnTo>
                  <a:pt x="18539" y="2525"/>
                </a:lnTo>
                <a:cubicBezTo>
                  <a:pt x="18420" y="2573"/>
                  <a:pt x="18337" y="2680"/>
                  <a:pt x="18337" y="2811"/>
                </a:cubicBezTo>
                <a:cubicBezTo>
                  <a:pt x="18337" y="2942"/>
                  <a:pt x="18432" y="3049"/>
                  <a:pt x="18539" y="3085"/>
                </a:cubicBezTo>
                <a:lnTo>
                  <a:pt x="17444" y="4978"/>
                </a:lnTo>
                <a:cubicBezTo>
                  <a:pt x="17420" y="4966"/>
                  <a:pt x="17384" y="4966"/>
                  <a:pt x="17360" y="4966"/>
                </a:cubicBezTo>
                <a:cubicBezTo>
                  <a:pt x="17205" y="4966"/>
                  <a:pt x="17075" y="5073"/>
                  <a:pt x="17063" y="5216"/>
                </a:cubicBezTo>
                <a:lnTo>
                  <a:pt x="14789" y="5216"/>
                </a:lnTo>
                <a:cubicBezTo>
                  <a:pt x="14753" y="5073"/>
                  <a:pt x="14634" y="4966"/>
                  <a:pt x="14491" y="4966"/>
                </a:cubicBezTo>
                <a:cubicBezTo>
                  <a:pt x="14455" y="4966"/>
                  <a:pt x="14408" y="4978"/>
                  <a:pt x="14384" y="4978"/>
                </a:cubicBezTo>
                <a:lnTo>
                  <a:pt x="13253" y="3037"/>
                </a:lnTo>
                <a:cubicBezTo>
                  <a:pt x="13324" y="2978"/>
                  <a:pt x="13372" y="2894"/>
                  <a:pt x="13372" y="2787"/>
                </a:cubicBezTo>
                <a:cubicBezTo>
                  <a:pt x="13372" y="2704"/>
                  <a:pt x="13324" y="2608"/>
                  <a:pt x="13265" y="2549"/>
                </a:cubicBezTo>
                <a:lnTo>
                  <a:pt x="14408" y="572"/>
                </a:lnTo>
                <a:cubicBezTo>
                  <a:pt x="14443" y="572"/>
                  <a:pt x="14467" y="596"/>
                  <a:pt x="14491" y="596"/>
                </a:cubicBezTo>
                <a:cubicBezTo>
                  <a:pt x="14622" y="596"/>
                  <a:pt x="14741" y="501"/>
                  <a:pt x="14765" y="382"/>
                </a:cubicBezTo>
                <a:close/>
                <a:moveTo>
                  <a:pt x="4251" y="2835"/>
                </a:moveTo>
                <a:cubicBezTo>
                  <a:pt x="4275" y="2989"/>
                  <a:pt x="4394" y="3085"/>
                  <a:pt x="4549" y="3085"/>
                </a:cubicBezTo>
                <a:cubicBezTo>
                  <a:pt x="4573" y="3085"/>
                  <a:pt x="4585" y="3085"/>
                  <a:pt x="4621" y="3073"/>
                </a:cubicBezTo>
                <a:lnTo>
                  <a:pt x="5752" y="5025"/>
                </a:lnTo>
                <a:cubicBezTo>
                  <a:pt x="5692" y="5085"/>
                  <a:pt x="5645" y="5156"/>
                  <a:pt x="5645" y="5252"/>
                </a:cubicBezTo>
                <a:cubicBezTo>
                  <a:pt x="5645" y="5335"/>
                  <a:pt x="5692" y="5418"/>
                  <a:pt x="5752" y="5466"/>
                </a:cubicBezTo>
                <a:lnTo>
                  <a:pt x="4632" y="7407"/>
                </a:lnTo>
                <a:cubicBezTo>
                  <a:pt x="4621" y="7407"/>
                  <a:pt x="4585" y="7395"/>
                  <a:pt x="4561" y="7395"/>
                </a:cubicBezTo>
                <a:cubicBezTo>
                  <a:pt x="4406" y="7395"/>
                  <a:pt x="4275" y="7514"/>
                  <a:pt x="4263" y="7657"/>
                </a:cubicBezTo>
                <a:lnTo>
                  <a:pt x="1954" y="7657"/>
                </a:lnTo>
                <a:cubicBezTo>
                  <a:pt x="1942" y="7514"/>
                  <a:pt x="1799" y="7395"/>
                  <a:pt x="1656" y="7395"/>
                </a:cubicBezTo>
                <a:cubicBezTo>
                  <a:pt x="1620" y="7395"/>
                  <a:pt x="1584" y="7395"/>
                  <a:pt x="1549" y="7407"/>
                </a:cubicBezTo>
                <a:lnTo>
                  <a:pt x="441" y="5514"/>
                </a:lnTo>
                <a:cubicBezTo>
                  <a:pt x="513" y="5454"/>
                  <a:pt x="572" y="5371"/>
                  <a:pt x="572" y="5264"/>
                </a:cubicBezTo>
                <a:cubicBezTo>
                  <a:pt x="572" y="5156"/>
                  <a:pt x="525" y="5073"/>
                  <a:pt x="441" y="5013"/>
                </a:cubicBezTo>
                <a:lnTo>
                  <a:pt x="1549" y="3073"/>
                </a:lnTo>
                <a:cubicBezTo>
                  <a:pt x="1584" y="3085"/>
                  <a:pt x="1608" y="3085"/>
                  <a:pt x="1644" y="3085"/>
                </a:cubicBezTo>
                <a:cubicBezTo>
                  <a:pt x="1787" y="3085"/>
                  <a:pt x="1906" y="2989"/>
                  <a:pt x="1942" y="2835"/>
                </a:cubicBezTo>
                <a:close/>
                <a:moveTo>
                  <a:pt x="8502" y="5311"/>
                </a:moveTo>
                <a:cubicBezTo>
                  <a:pt x="8538" y="5454"/>
                  <a:pt x="8645" y="5561"/>
                  <a:pt x="8800" y="5561"/>
                </a:cubicBezTo>
                <a:cubicBezTo>
                  <a:pt x="8835" y="5561"/>
                  <a:pt x="8871" y="5561"/>
                  <a:pt x="8907" y="5549"/>
                </a:cubicBezTo>
                <a:lnTo>
                  <a:pt x="10026" y="7478"/>
                </a:lnTo>
                <a:cubicBezTo>
                  <a:pt x="9943" y="7538"/>
                  <a:pt x="9907" y="7609"/>
                  <a:pt x="9907" y="7716"/>
                </a:cubicBezTo>
                <a:cubicBezTo>
                  <a:pt x="9907" y="7823"/>
                  <a:pt x="9943" y="7907"/>
                  <a:pt x="10026" y="7954"/>
                </a:cubicBezTo>
                <a:lnTo>
                  <a:pt x="8895" y="9955"/>
                </a:lnTo>
                <a:cubicBezTo>
                  <a:pt x="8859" y="9955"/>
                  <a:pt x="8847" y="9931"/>
                  <a:pt x="8812" y="9931"/>
                </a:cubicBezTo>
                <a:cubicBezTo>
                  <a:pt x="8681" y="9931"/>
                  <a:pt x="8562" y="10026"/>
                  <a:pt x="8538" y="10145"/>
                </a:cubicBezTo>
                <a:lnTo>
                  <a:pt x="6240" y="10145"/>
                </a:lnTo>
                <a:cubicBezTo>
                  <a:pt x="6192" y="10026"/>
                  <a:pt x="6085" y="9931"/>
                  <a:pt x="5954" y="9931"/>
                </a:cubicBezTo>
                <a:cubicBezTo>
                  <a:pt x="5930" y="9931"/>
                  <a:pt x="5895" y="9931"/>
                  <a:pt x="5883" y="9955"/>
                </a:cubicBezTo>
                <a:lnTo>
                  <a:pt x="4740" y="7978"/>
                </a:lnTo>
                <a:cubicBezTo>
                  <a:pt x="4823" y="7919"/>
                  <a:pt x="4871" y="7823"/>
                  <a:pt x="4871" y="7716"/>
                </a:cubicBezTo>
                <a:cubicBezTo>
                  <a:pt x="4871" y="7609"/>
                  <a:pt x="4823" y="7526"/>
                  <a:pt x="4740" y="7466"/>
                </a:cubicBezTo>
                <a:lnTo>
                  <a:pt x="5835" y="5549"/>
                </a:lnTo>
                <a:cubicBezTo>
                  <a:pt x="5871" y="5561"/>
                  <a:pt x="5895" y="5561"/>
                  <a:pt x="5942" y="5561"/>
                </a:cubicBezTo>
                <a:cubicBezTo>
                  <a:pt x="6085" y="5561"/>
                  <a:pt x="6228" y="5454"/>
                  <a:pt x="6240" y="5311"/>
                </a:cubicBezTo>
                <a:close/>
                <a:moveTo>
                  <a:pt x="14205" y="5323"/>
                </a:moveTo>
                <a:cubicBezTo>
                  <a:pt x="14229" y="5466"/>
                  <a:pt x="14348" y="5573"/>
                  <a:pt x="14503" y="5573"/>
                </a:cubicBezTo>
                <a:cubicBezTo>
                  <a:pt x="14538" y="5573"/>
                  <a:pt x="14574" y="5561"/>
                  <a:pt x="14598" y="5561"/>
                </a:cubicBezTo>
                <a:lnTo>
                  <a:pt x="15705" y="7502"/>
                </a:lnTo>
                <a:cubicBezTo>
                  <a:pt x="15646" y="7550"/>
                  <a:pt x="15598" y="7633"/>
                  <a:pt x="15598" y="7740"/>
                </a:cubicBezTo>
                <a:cubicBezTo>
                  <a:pt x="15598" y="7835"/>
                  <a:pt x="15646" y="7919"/>
                  <a:pt x="15717" y="7978"/>
                </a:cubicBezTo>
                <a:lnTo>
                  <a:pt x="14574" y="9966"/>
                </a:lnTo>
                <a:cubicBezTo>
                  <a:pt x="14538" y="9955"/>
                  <a:pt x="14515" y="9955"/>
                  <a:pt x="14491" y="9955"/>
                </a:cubicBezTo>
                <a:cubicBezTo>
                  <a:pt x="14348" y="9955"/>
                  <a:pt x="14229" y="10038"/>
                  <a:pt x="14205" y="10157"/>
                </a:cubicBezTo>
                <a:lnTo>
                  <a:pt x="11955" y="10157"/>
                </a:lnTo>
                <a:cubicBezTo>
                  <a:pt x="11907" y="10038"/>
                  <a:pt x="11812" y="9955"/>
                  <a:pt x="11669" y="9955"/>
                </a:cubicBezTo>
                <a:cubicBezTo>
                  <a:pt x="11645" y="9955"/>
                  <a:pt x="11610" y="9955"/>
                  <a:pt x="11586" y="9966"/>
                </a:cubicBezTo>
                <a:lnTo>
                  <a:pt x="10419" y="7954"/>
                </a:lnTo>
                <a:cubicBezTo>
                  <a:pt x="10502" y="7895"/>
                  <a:pt x="10538" y="7823"/>
                  <a:pt x="10538" y="7716"/>
                </a:cubicBezTo>
                <a:cubicBezTo>
                  <a:pt x="10538" y="7633"/>
                  <a:pt x="10502" y="7550"/>
                  <a:pt x="10431" y="7502"/>
                </a:cubicBezTo>
                <a:lnTo>
                  <a:pt x="11550" y="5549"/>
                </a:lnTo>
                <a:cubicBezTo>
                  <a:pt x="11586" y="5561"/>
                  <a:pt x="11621" y="5573"/>
                  <a:pt x="11669" y="5573"/>
                </a:cubicBezTo>
                <a:cubicBezTo>
                  <a:pt x="11824" y="5573"/>
                  <a:pt x="11955" y="5466"/>
                  <a:pt x="11967" y="5323"/>
                </a:cubicBezTo>
                <a:close/>
                <a:moveTo>
                  <a:pt x="14503" y="1"/>
                </a:moveTo>
                <a:cubicBezTo>
                  <a:pt x="14336" y="1"/>
                  <a:pt x="14205" y="132"/>
                  <a:pt x="14205" y="299"/>
                </a:cubicBezTo>
                <a:cubicBezTo>
                  <a:pt x="14205" y="394"/>
                  <a:pt x="14265" y="489"/>
                  <a:pt x="14336" y="549"/>
                </a:cubicBezTo>
                <a:lnTo>
                  <a:pt x="13181" y="2525"/>
                </a:lnTo>
                <a:cubicBezTo>
                  <a:pt x="13145" y="2513"/>
                  <a:pt x="13098" y="2513"/>
                  <a:pt x="13074" y="2513"/>
                </a:cubicBezTo>
                <a:cubicBezTo>
                  <a:pt x="12907" y="2513"/>
                  <a:pt x="12776" y="2644"/>
                  <a:pt x="12776" y="2811"/>
                </a:cubicBezTo>
                <a:cubicBezTo>
                  <a:pt x="12776" y="2978"/>
                  <a:pt x="12907" y="3108"/>
                  <a:pt x="13074" y="3108"/>
                </a:cubicBezTo>
                <a:cubicBezTo>
                  <a:pt x="13110" y="3108"/>
                  <a:pt x="13145" y="3085"/>
                  <a:pt x="13181" y="3085"/>
                </a:cubicBezTo>
                <a:lnTo>
                  <a:pt x="14288" y="5037"/>
                </a:lnTo>
                <a:cubicBezTo>
                  <a:pt x="14229" y="5085"/>
                  <a:pt x="14193" y="5156"/>
                  <a:pt x="14193" y="5228"/>
                </a:cubicBezTo>
                <a:lnTo>
                  <a:pt x="11955" y="5228"/>
                </a:lnTo>
                <a:cubicBezTo>
                  <a:pt x="11919" y="5085"/>
                  <a:pt x="11812" y="4978"/>
                  <a:pt x="11657" y="4978"/>
                </a:cubicBezTo>
                <a:cubicBezTo>
                  <a:pt x="11490" y="4978"/>
                  <a:pt x="11360" y="5109"/>
                  <a:pt x="11360" y="5275"/>
                </a:cubicBezTo>
                <a:cubicBezTo>
                  <a:pt x="11360" y="5371"/>
                  <a:pt x="11407" y="5442"/>
                  <a:pt x="11467" y="5502"/>
                </a:cubicBezTo>
                <a:lnTo>
                  <a:pt x="10347" y="7454"/>
                </a:lnTo>
                <a:cubicBezTo>
                  <a:pt x="10324" y="7430"/>
                  <a:pt x="10276" y="7419"/>
                  <a:pt x="10228" y="7419"/>
                </a:cubicBezTo>
                <a:cubicBezTo>
                  <a:pt x="10181" y="7419"/>
                  <a:pt x="10157" y="7430"/>
                  <a:pt x="10121" y="7430"/>
                </a:cubicBezTo>
                <a:lnTo>
                  <a:pt x="9014" y="5502"/>
                </a:lnTo>
                <a:cubicBezTo>
                  <a:pt x="9085" y="5442"/>
                  <a:pt x="9133" y="5347"/>
                  <a:pt x="9133" y="5264"/>
                </a:cubicBezTo>
                <a:cubicBezTo>
                  <a:pt x="9133" y="5156"/>
                  <a:pt x="9085" y="5085"/>
                  <a:pt x="9014" y="5025"/>
                </a:cubicBezTo>
                <a:lnTo>
                  <a:pt x="10121" y="3085"/>
                </a:lnTo>
                <a:cubicBezTo>
                  <a:pt x="10157" y="3108"/>
                  <a:pt x="10181" y="3108"/>
                  <a:pt x="10228" y="3108"/>
                </a:cubicBezTo>
                <a:cubicBezTo>
                  <a:pt x="10395" y="3108"/>
                  <a:pt x="10526" y="2966"/>
                  <a:pt x="10526" y="2811"/>
                </a:cubicBezTo>
                <a:cubicBezTo>
                  <a:pt x="10526" y="2644"/>
                  <a:pt x="10395" y="2513"/>
                  <a:pt x="10228" y="2513"/>
                </a:cubicBezTo>
                <a:cubicBezTo>
                  <a:pt x="10205" y="2513"/>
                  <a:pt x="10157" y="2525"/>
                  <a:pt x="10121" y="2525"/>
                </a:cubicBezTo>
                <a:lnTo>
                  <a:pt x="8990" y="561"/>
                </a:lnTo>
                <a:cubicBezTo>
                  <a:pt x="9085" y="501"/>
                  <a:pt x="9133" y="406"/>
                  <a:pt x="9133" y="311"/>
                </a:cubicBezTo>
                <a:cubicBezTo>
                  <a:pt x="9133" y="144"/>
                  <a:pt x="8990" y="13"/>
                  <a:pt x="8835" y="13"/>
                </a:cubicBezTo>
                <a:cubicBezTo>
                  <a:pt x="8669" y="13"/>
                  <a:pt x="8538" y="144"/>
                  <a:pt x="8538" y="311"/>
                </a:cubicBezTo>
                <a:lnTo>
                  <a:pt x="6276" y="311"/>
                </a:lnTo>
                <a:cubicBezTo>
                  <a:pt x="6276" y="144"/>
                  <a:pt x="6133" y="13"/>
                  <a:pt x="5978" y="13"/>
                </a:cubicBezTo>
                <a:cubicBezTo>
                  <a:pt x="5811" y="13"/>
                  <a:pt x="5680" y="144"/>
                  <a:pt x="5680" y="311"/>
                </a:cubicBezTo>
                <a:cubicBezTo>
                  <a:pt x="5680" y="406"/>
                  <a:pt x="5740" y="501"/>
                  <a:pt x="5811" y="561"/>
                </a:cubicBezTo>
                <a:lnTo>
                  <a:pt x="4680" y="2525"/>
                </a:lnTo>
                <a:cubicBezTo>
                  <a:pt x="4644" y="2513"/>
                  <a:pt x="4621" y="2513"/>
                  <a:pt x="4585" y="2513"/>
                </a:cubicBezTo>
                <a:cubicBezTo>
                  <a:pt x="4442" y="2513"/>
                  <a:pt x="4311" y="2632"/>
                  <a:pt x="4287" y="2763"/>
                </a:cubicBezTo>
                <a:lnTo>
                  <a:pt x="1989" y="2763"/>
                </a:lnTo>
                <a:cubicBezTo>
                  <a:pt x="1965" y="2608"/>
                  <a:pt x="1835" y="2513"/>
                  <a:pt x="1692" y="2513"/>
                </a:cubicBezTo>
                <a:cubicBezTo>
                  <a:pt x="1525" y="2513"/>
                  <a:pt x="1394" y="2644"/>
                  <a:pt x="1394" y="2811"/>
                </a:cubicBezTo>
                <a:cubicBezTo>
                  <a:pt x="1394" y="2906"/>
                  <a:pt x="1430" y="3001"/>
                  <a:pt x="1513" y="3049"/>
                </a:cubicBezTo>
                <a:lnTo>
                  <a:pt x="394" y="4978"/>
                </a:lnTo>
                <a:cubicBezTo>
                  <a:pt x="358" y="4966"/>
                  <a:pt x="334" y="4966"/>
                  <a:pt x="299" y="4966"/>
                </a:cubicBezTo>
                <a:cubicBezTo>
                  <a:pt x="144" y="4966"/>
                  <a:pt x="1" y="5097"/>
                  <a:pt x="1" y="5264"/>
                </a:cubicBezTo>
                <a:cubicBezTo>
                  <a:pt x="1" y="5430"/>
                  <a:pt x="144" y="5561"/>
                  <a:pt x="299" y="5561"/>
                </a:cubicBezTo>
                <a:cubicBezTo>
                  <a:pt x="334" y="5561"/>
                  <a:pt x="358" y="5561"/>
                  <a:pt x="394" y="5549"/>
                </a:cubicBezTo>
                <a:lnTo>
                  <a:pt x="1513" y="7466"/>
                </a:lnTo>
                <a:cubicBezTo>
                  <a:pt x="1430" y="7526"/>
                  <a:pt x="1394" y="7597"/>
                  <a:pt x="1394" y="7704"/>
                </a:cubicBezTo>
                <a:cubicBezTo>
                  <a:pt x="1394" y="7871"/>
                  <a:pt x="1525" y="8002"/>
                  <a:pt x="1692" y="8002"/>
                </a:cubicBezTo>
                <a:cubicBezTo>
                  <a:pt x="1835" y="8002"/>
                  <a:pt x="1954" y="7895"/>
                  <a:pt x="1989" y="7764"/>
                </a:cubicBezTo>
                <a:lnTo>
                  <a:pt x="4311" y="7764"/>
                </a:lnTo>
                <a:cubicBezTo>
                  <a:pt x="4335" y="7895"/>
                  <a:pt x="4454" y="8002"/>
                  <a:pt x="4609" y="8002"/>
                </a:cubicBezTo>
                <a:cubicBezTo>
                  <a:pt x="4632" y="8002"/>
                  <a:pt x="4644" y="8002"/>
                  <a:pt x="4680" y="7990"/>
                </a:cubicBezTo>
                <a:lnTo>
                  <a:pt x="5823" y="9966"/>
                </a:lnTo>
                <a:cubicBezTo>
                  <a:pt x="5740" y="10026"/>
                  <a:pt x="5692" y="10109"/>
                  <a:pt x="5692" y="10217"/>
                </a:cubicBezTo>
                <a:cubicBezTo>
                  <a:pt x="5692" y="10383"/>
                  <a:pt x="5823" y="10514"/>
                  <a:pt x="5990" y="10514"/>
                </a:cubicBezTo>
                <a:cubicBezTo>
                  <a:pt x="6156" y="10514"/>
                  <a:pt x="6287" y="10383"/>
                  <a:pt x="6287" y="10217"/>
                </a:cubicBezTo>
                <a:lnTo>
                  <a:pt x="8550" y="10217"/>
                </a:lnTo>
                <a:cubicBezTo>
                  <a:pt x="8550" y="10383"/>
                  <a:pt x="8681" y="10514"/>
                  <a:pt x="8847" y="10514"/>
                </a:cubicBezTo>
                <a:cubicBezTo>
                  <a:pt x="9014" y="10514"/>
                  <a:pt x="9145" y="10383"/>
                  <a:pt x="9145" y="10217"/>
                </a:cubicBezTo>
                <a:cubicBezTo>
                  <a:pt x="9145" y="10109"/>
                  <a:pt x="9085" y="10026"/>
                  <a:pt x="9014" y="9966"/>
                </a:cubicBezTo>
                <a:lnTo>
                  <a:pt x="10157" y="7990"/>
                </a:lnTo>
                <a:cubicBezTo>
                  <a:pt x="10181" y="8002"/>
                  <a:pt x="10217" y="8002"/>
                  <a:pt x="10240" y="8002"/>
                </a:cubicBezTo>
                <a:cubicBezTo>
                  <a:pt x="10288" y="8002"/>
                  <a:pt x="10324" y="7990"/>
                  <a:pt x="10347" y="7990"/>
                </a:cubicBezTo>
                <a:lnTo>
                  <a:pt x="11514" y="9978"/>
                </a:lnTo>
                <a:cubicBezTo>
                  <a:pt x="11431" y="10038"/>
                  <a:pt x="11395" y="10133"/>
                  <a:pt x="11395" y="10217"/>
                </a:cubicBezTo>
                <a:cubicBezTo>
                  <a:pt x="11395" y="10383"/>
                  <a:pt x="11526" y="10514"/>
                  <a:pt x="11693" y="10514"/>
                </a:cubicBezTo>
                <a:cubicBezTo>
                  <a:pt x="11848" y="10514"/>
                  <a:pt x="11991" y="10383"/>
                  <a:pt x="11991" y="10217"/>
                </a:cubicBezTo>
                <a:lnTo>
                  <a:pt x="14205" y="10217"/>
                </a:lnTo>
                <a:cubicBezTo>
                  <a:pt x="14205" y="10383"/>
                  <a:pt x="14336" y="10514"/>
                  <a:pt x="14503" y="10514"/>
                </a:cubicBezTo>
                <a:cubicBezTo>
                  <a:pt x="14669" y="10514"/>
                  <a:pt x="14800" y="10383"/>
                  <a:pt x="14800" y="10217"/>
                </a:cubicBezTo>
                <a:cubicBezTo>
                  <a:pt x="14800" y="10109"/>
                  <a:pt x="14753" y="10026"/>
                  <a:pt x="14669" y="9966"/>
                </a:cubicBezTo>
                <a:lnTo>
                  <a:pt x="15812" y="7966"/>
                </a:lnTo>
                <a:cubicBezTo>
                  <a:pt x="15836" y="7990"/>
                  <a:pt x="15872" y="7990"/>
                  <a:pt x="15920" y="7990"/>
                </a:cubicBezTo>
                <a:cubicBezTo>
                  <a:pt x="16074" y="7990"/>
                  <a:pt x="16217" y="7847"/>
                  <a:pt x="16217" y="7692"/>
                </a:cubicBezTo>
                <a:cubicBezTo>
                  <a:pt x="16217" y="7526"/>
                  <a:pt x="16074" y="7395"/>
                  <a:pt x="15920" y="7395"/>
                </a:cubicBezTo>
                <a:cubicBezTo>
                  <a:pt x="15872" y="7395"/>
                  <a:pt x="15836" y="7407"/>
                  <a:pt x="15812" y="7407"/>
                </a:cubicBezTo>
                <a:lnTo>
                  <a:pt x="14693" y="5466"/>
                </a:lnTo>
                <a:cubicBezTo>
                  <a:pt x="14753" y="5430"/>
                  <a:pt x="14789" y="5371"/>
                  <a:pt x="14800" y="5287"/>
                </a:cubicBezTo>
                <a:lnTo>
                  <a:pt x="17075" y="5287"/>
                </a:lnTo>
                <a:cubicBezTo>
                  <a:pt x="17110" y="5442"/>
                  <a:pt x="17229" y="5549"/>
                  <a:pt x="17372" y="5549"/>
                </a:cubicBezTo>
                <a:cubicBezTo>
                  <a:pt x="17539" y="5549"/>
                  <a:pt x="17670" y="5406"/>
                  <a:pt x="17670" y="5252"/>
                </a:cubicBezTo>
                <a:cubicBezTo>
                  <a:pt x="17670" y="5144"/>
                  <a:pt x="17622" y="5049"/>
                  <a:pt x="17539" y="4990"/>
                </a:cubicBezTo>
                <a:lnTo>
                  <a:pt x="18634" y="3073"/>
                </a:lnTo>
                <a:cubicBezTo>
                  <a:pt x="18801" y="3073"/>
                  <a:pt x="18932" y="2942"/>
                  <a:pt x="18932" y="2775"/>
                </a:cubicBezTo>
                <a:cubicBezTo>
                  <a:pt x="18932" y="2644"/>
                  <a:pt x="18801" y="2513"/>
                  <a:pt x="18634" y="2513"/>
                </a:cubicBezTo>
                <a:lnTo>
                  <a:pt x="17503" y="561"/>
                </a:lnTo>
                <a:cubicBezTo>
                  <a:pt x="17598" y="501"/>
                  <a:pt x="17658" y="406"/>
                  <a:pt x="17658" y="299"/>
                </a:cubicBezTo>
                <a:cubicBezTo>
                  <a:pt x="17658" y="132"/>
                  <a:pt x="17527" y="1"/>
                  <a:pt x="17360" y="1"/>
                </a:cubicBezTo>
                <a:cubicBezTo>
                  <a:pt x="17194" y="1"/>
                  <a:pt x="17063" y="132"/>
                  <a:pt x="17063" y="299"/>
                </a:cubicBezTo>
                <a:lnTo>
                  <a:pt x="14800" y="299"/>
                </a:lnTo>
                <a:cubicBezTo>
                  <a:pt x="14800" y="132"/>
                  <a:pt x="14669" y="1"/>
                  <a:pt x="1450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1" name="Google Shape;31;p4"/>
          <p:cNvSpPr/>
          <p:nvPr/>
        </p:nvSpPr>
        <p:spPr>
          <a:xfrm>
            <a:off x="8430732" y="-160500"/>
            <a:ext cx="633999" cy="763607"/>
          </a:xfrm>
          <a:custGeom>
            <a:avLst/>
            <a:gdLst/>
            <a:ahLst/>
            <a:cxnLst/>
            <a:rect l="l" t="t" r="r" b="b"/>
            <a:pathLst>
              <a:path w="6144" h="5550" extrusionOk="0">
                <a:moveTo>
                  <a:pt x="4239" y="358"/>
                </a:moveTo>
                <a:cubicBezTo>
                  <a:pt x="4263" y="501"/>
                  <a:pt x="4382" y="608"/>
                  <a:pt x="4536" y="608"/>
                </a:cubicBezTo>
                <a:cubicBezTo>
                  <a:pt x="4560" y="608"/>
                  <a:pt x="4596" y="608"/>
                  <a:pt x="4620" y="596"/>
                </a:cubicBezTo>
                <a:lnTo>
                  <a:pt x="5727" y="2501"/>
                </a:lnTo>
                <a:cubicBezTo>
                  <a:pt x="5620" y="2549"/>
                  <a:pt x="5560" y="2644"/>
                  <a:pt x="5560" y="2763"/>
                </a:cubicBezTo>
                <a:cubicBezTo>
                  <a:pt x="5560" y="2882"/>
                  <a:pt x="5632" y="2989"/>
                  <a:pt x="5727" y="3037"/>
                </a:cubicBezTo>
                <a:lnTo>
                  <a:pt x="4584" y="4990"/>
                </a:lnTo>
                <a:cubicBezTo>
                  <a:pt x="4560" y="4990"/>
                  <a:pt x="4536" y="4966"/>
                  <a:pt x="4501" y="4966"/>
                </a:cubicBezTo>
                <a:cubicBezTo>
                  <a:pt x="4370" y="4966"/>
                  <a:pt x="4251" y="5061"/>
                  <a:pt x="4227" y="5180"/>
                </a:cubicBezTo>
                <a:lnTo>
                  <a:pt x="1953" y="5180"/>
                </a:lnTo>
                <a:cubicBezTo>
                  <a:pt x="1917" y="5061"/>
                  <a:pt x="1810" y="4966"/>
                  <a:pt x="1679" y="4966"/>
                </a:cubicBezTo>
                <a:cubicBezTo>
                  <a:pt x="1631" y="4966"/>
                  <a:pt x="1596" y="4990"/>
                  <a:pt x="1572" y="4990"/>
                </a:cubicBezTo>
                <a:lnTo>
                  <a:pt x="429" y="3013"/>
                </a:lnTo>
                <a:cubicBezTo>
                  <a:pt x="512" y="2954"/>
                  <a:pt x="572" y="2858"/>
                  <a:pt x="572" y="2751"/>
                </a:cubicBezTo>
                <a:cubicBezTo>
                  <a:pt x="572" y="2644"/>
                  <a:pt x="512" y="2561"/>
                  <a:pt x="441" y="2501"/>
                </a:cubicBezTo>
                <a:lnTo>
                  <a:pt x="1560" y="584"/>
                </a:lnTo>
                <a:cubicBezTo>
                  <a:pt x="1596" y="596"/>
                  <a:pt x="1643" y="608"/>
                  <a:pt x="1691" y="608"/>
                </a:cubicBezTo>
                <a:cubicBezTo>
                  <a:pt x="1834" y="608"/>
                  <a:pt x="1977" y="501"/>
                  <a:pt x="1989" y="358"/>
                </a:cubicBezTo>
                <a:close/>
                <a:moveTo>
                  <a:pt x="1691" y="1"/>
                </a:moveTo>
                <a:cubicBezTo>
                  <a:pt x="1524" y="1"/>
                  <a:pt x="1393" y="132"/>
                  <a:pt x="1393" y="299"/>
                </a:cubicBezTo>
                <a:cubicBezTo>
                  <a:pt x="1393" y="394"/>
                  <a:pt x="1429" y="465"/>
                  <a:pt x="1488" y="525"/>
                </a:cubicBezTo>
                <a:lnTo>
                  <a:pt x="369" y="2454"/>
                </a:lnTo>
                <a:cubicBezTo>
                  <a:pt x="334" y="2454"/>
                  <a:pt x="322" y="2442"/>
                  <a:pt x="298" y="2442"/>
                </a:cubicBezTo>
                <a:cubicBezTo>
                  <a:pt x="131" y="2442"/>
                  <a:pt x="0" y="2573"/>
                  <a:pt x="0" y="2739"/>
                </a:cubicBezTo>
                <a:cubicBezTo>
                  <a:pt x="0" y="2906"/>
                  <a:pt x="131" y="3037"/>
                  <a:pt x="298" y="3037"/>
                </a:cubicBezTo>
                <a:cubicBezTo>
                  <a:pt x="322" y="3037"/>
                  <a:pt x="334" y="3037"/>
                  <a:pt x="369" y="3025"/>
                </a:cubicBezTo>
                <a:lnTo>
                  <a:pt x="1512" y="5013"/>
                </a:lnTo>
                <a:cubicBezTo>
                  <a:pt x="1441" y="5073"/>
                  <a:pt x="1393" y="5144"/>
                  <a:pt x="1393" y="5252"/>
                </a:cubicBezTo>
                <a:cubicBezTo>
                  <a:pt x="1393" y="5418"/>
                  <a:pt x="1524" y="5549"/>
                  <a:pt x="1691" y="5549"/>
                </a:cubicBezTo>
                <a:cubicBezTo>
                  <a:pt x="1858" y="5549"/>
                  <a:pt x="1989" y="5418"/>
                  <a:pt x="1989" y="5252"/>
                </a:cubicBezTo>
                <a:lnTo>
                  <a:pt x="4227" y="5252"/>
                </a:lnTo>
                <a:cubicBezTo>
                  <a:pt x="4227" y="5418"/>
                  <a:pt x="4358" y="5549"/>
                  <a:pt x="4525" y="5549"/>
                </a:cubicBezTo>
                <a:cubicBezTo>
                  <a:pt x="4679" y="5549"/>
                  <a:pt x="4822" y="5418"/>
                  <a:pt x="4822" y="5252"/>
                </a:cubicBezTo>
                <a:cubicBezTo>
                  <a:pt x="4822" y="5144"/>
                  <a:pt x="4763" y="5049"/>
                  <a:pt x="4667" y="5001"/>
                </a:cubicBezTo>
                <a:lnTo>
                  <a:pt x="5799" y="3049"/>
                </a:lnTo>
                <a:lnTo>
                  <a:pt x="5846" y="3049"/>
                </a:lnTo>
                <a:cubicBezTo>
                  <a:pt x="6013" y="3049"/>
                  <a:pt x="6144" y="2918"/>
                  <a:pt x="6144" y="2751"/>
                </a:cubicBezTo>
                <a:cubicBezTo>
                  <a:pt x="6144" y="2608"/>
                  <a:pt x="6013" y="2477"/>
                  <a:pt x="5846" y="2477"/>
                </a:cubicBezTo>
                <a:lnTo>
                  <a:pt x="5810" y="2477"/>
                </a:lnTo>
                <a:lnTo>
                  <a:pt x="4703" y="549"/>
                </a:lnTo>
                <a:cubicBezTo>
                  <a:pt x="4775" y="489"/>
                  <a:pt x="4834" y="406"/>
                  <a:pt x="4834" y="299"/>
                </a:cubicBezTo>
                <a:cubicBezTo>
                  <a:pt x="4834" y="132"/>
                  <a:pt x="4703" y="1"/>
                  <a:pt x="4536" y="1"/>
                </a:cubicBezTo>
                <a:cubicBezTo>
                  <a:pt x="4382" y="1"/>
                  <a:pt x="4251" y="108"/>
                  <a:pt x="4239" y="251"/>
                </a:cubicBezTo>
                <a:lnTo>
                  <a:pt x="1989" y="251"/>
                </a:lnTo>
                <a:cubicBezTo>
                  <a:pt x="1965" y="108"/>
                  <a:pt x="1846" y="1"/>
                  <a:pt x="169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2" name="Google Shape;32;p4"/>
          <p:cNvSpPr/>
          <p:nvPr/>
        </p:nvSpPr>
        <p:spPr>
          <a:xfrm>
            <a:off x="7282897" y="229299"/>
            <a:ext cx="781190" cy="209899"/>
          </a:xfrm>
          <a:custGeom>
            <a:avLst/>
            <a:gdLst/>
            <a:ahLst/>
            <a:cxnLst/>
            <a:rect l="l" t="t" r="r" b="b"/>
            <a:pathLst>
              <a:path w="18182" h="3664" extrusionOk="0">
                <a:moveTo>
                  <a:pt x="5986" y="1"/>
                </a:moveTo>
                <a:cubicBezTo>
                  <a:pt x="5760" y="1"/>
                  <a:pt x="5535" y="15"/>
                  <a:pt x="5310" y="44"/>
                </a:cubicBezTo>
                <a:cubicBezTo>
                  <a:pt x="3239" y="318"/>
                  <a:pt x="1346" y="1711"/>
                  <a:pt x="0" y="3664"/>
                </a:cubicBezTo>
                <a:lnTo>
                  <a:pt x="18181" y="3664"/>
                </a:lnTo>
                <a:cubicBezTo>
                  <a:pt x="17514" y="2878"/>
                  <a:pt x="16621" y="2366"/>
                  <a:pt x="15716" y="2247"/>
                </a:cubicBezTo>
                <a:cubicBezTo>
                  <a:pt x="15503" y="2214"/>
                  <a:pt x="15288" y="2198"/>
                  <a:pt x="15073" y="2198"/>
                </a:cubicBezTo>
                <a:cubicBezTo>
                  <a:pt x="13796" y="2198"/>
                  <a:pt x="12503" y="2752"/>
                  <a:pt x="11454" y="3628"/>
                </a:cubicBezTo>
                <a:cubicBezTo>
                  <a:pt x="10354" y="1331"/>
                  <a:pt x="8160" y="1"/>
                  <a:pt x="598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Tree>
    <p:extLst>
      <p:ext uri="{BB962C8B-B14F-4D97-AF65-F5344CB8AC3E}">
        <p14:creationId xmlns:p14="http://schemas.microsoft.com/office/powerpoint/2010/main" val="3949424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page_1.png"/>
          <p:cNvPicPr>
            <a:picLocks noChangeAspect="1"/>
          </p:cNvPicPr>
          <p:nvPr/>
        </p:nvPicPr>
        <p:blipFill>
          <a:blip r:embed="rId2"/>
          <a:srcRect b="87867"/>
          <a:stretch>
            <a:fillRect/>
          </a:stretch>
        </p:blipFill>
        <p:spPr>
          <a:xfrm>
            <a:off x="0" y="0"/>
            <a:ext cx="9144000" cy="832104"/>
          </a:xfrm>
          <a:prstGeom prst="rect">
            <a:avLst/>
          </a:prstGeom>
        </p:spPr>
      </p:pic>
      <p:pic>
        <p:nvPicPr>
          <p:cNvPr id="4" name="Picture 3" descr="page_1.png">
            <a:extLst>
              <a:ext uri="{FF2B5EF4-FFF2-40B4-BE49-F238E27FC236}">
                <a16:creationId xmlns:a16="http://schemas.microsoft.com/office/drawing/2014/main" id="{22797C54-7B3A-F791-A0C2-2C0A212428C2}"/>
              </a:ext>
            </a:extLst>
          </p:cNvPr>
          <p:cNvPicPr>
            <a:picLocks noChangeAspect="1"/>
          </p:cNvPicPr>
          <p:nvPr/>
        </p:nvPicPr>
        <p:blipFill>
          <a:blip r:embed="rId2"/>
          <a:srcRect l="3000" t="13111" r="73600"/>
          <a:stretch>
            <a:fillRect/>
          </a:stretch>
        </p:blipFill>
        <p:spPr>
          <a:xfrm>
            <a:off x="0" y="877824"/>
            <a:ext cx="2139696" cy="5958840"/>
          </a:xfrm>
          <a:prstGeom prst="rect">
            <a:avLst/>
          </a:prstGeom>
        </p:spPr>
      </p:pic>
      <p:pic>
        <p:nvPicPr>
          <p:cNvPr id="5" name="Picture 4" descr="page_1.png">
            <a:extLst>
              <a:ext uri="{FF2B5EF4-FFF2-40B4-BE49-F238E27FC236}">
                <a16:creationId xmlns:a16="http://schemas.microsoft.com/office/drawing/2014/main" id="{47F68F1E-418A-A0EE-904A-E65B38E24ED3}"/>
              </a:ext>
            </a:extLst>
          </p:cNvPr>
          <p:cNvPicPr>
            <a:picLocks noChangeAspect="1"/>
          </p:cNvPicPr>
          <p:nvPr/>
        </p:nvPicPr>
        <p:blipFill>
          <a:blip r:embed="rId2"/>
          <a:srcRect l="74433" t="13111"/>
          <a:stretch>
            <a:fillRect/>
          </a:stretch>
        </p:blipFill>
        <p:spPr>
          <a:xfrm>
            <a:off x="6806184" y="877824"/>
            <a:ext cx="2337816" cy="5958840"/>
          </a:xfrm>
          <a:prstGeom prst="rect">
            <a:avLst/>
          </a:prstGeom>
        </p:spPr>
      </p:pic>
      <p:sp>
        <p:nvSpPr>
          <p:cNvPr id="6" name="TextBox 5">
            <a:extLst>
              <a:ext uri="{FF2B5EF4-FFF2-40B4-BE49-F238E27FC236}">
                <a16:creationId xmlns:a16="http://schemas.microsoft.com/office/drawing/2014/main" id="{4A7E3BB7-FE91-3F00-031B-3A3C077D205F}"/>
              </a:ext>
            </a:extLst>
          </p:cNvPr>
          <p:cNvSpPr txBox="1"/>
          <p:nvPr/>
        </p:nvSpPr>
        <p:spPr>
          <a:xfrm>
            <a:off x="2433759" y="2496312"/>
            <a:ext cx="4078361" cy="707886"/>
          </a:xfrm>
          <a:prstGeom prst="rect">
            <a:avLst/>
          </a:prstGeom>
          <a:noFill/>
        </p:spPr>
        <p:txBody>
          <a:bodyPr wrap="none" rtlCol="0">
            <a:spAutoFit/>
          </a:bodyPr>
          <a:lstStyle/>
          <a:p>
            <a:r>
              <a:rPr lang="en-GB" sz="4000" dirty="0">
                <a:solidFill>
                  <a:srgbClr val="002060"/>
                </a:solidFill>
                <a:latin typeface="Amasis MT Pro Black" panose="02040A04050005020304" pitchFamily="18" charset="0"/>
              </a:rPr>
              <a:t>Cell Signalling </a:t>
            </a:r>
          </a:p>
        </p:txBody>
      </p:sp>
      <p:sp>
        <p:nvSpPr>
          <p:cNvPr id="7" name="TextBox 6">
            <a:extLst>
              <a:ext uri="{FF2B5EF4-FFF2-40B4-BE49-F238E27FC236}">
                <a16:creationId xmlns:a16="http://schemas.microsoft.com/office/drawing/2014/main" id="{221128CB-EB7A-15D3-06F4-10EF68EB127E}"/>
              </a:ext>
            </a:extLst>
          </p:cNvPr>
          <p:cNvSpPr txBox="1"/>
          <p:nvPr/>
        </p:nvSpPr>
        <p:spPr>
          <a:xfrm>
            <a:off x="3310180" y="5980176"/>
            <a:ext cx="2523640" cy="646331"/>
          </a:xfrm>
          <a:prstGeom prst="rect">
            <a:avLst/>
          </a:prstGeom>
          <a:noFill/>
        </p:spPr>
        <p:txBody>
          <a:bodyPr wrap="none" rtlCol="0">
            <a:spAutoFit/>
          </a:bodyPr>
          <a:lstStyle/>
          <a:p>
            <a:r>
              <a:rPr lang="en-GB" b="1" dirty="0"/>
              <a:t>Dr Jigisha Patel </a:t>
            </a:r>
          </a:p>
          <a:p>
            <a:r>
              <a:rPr lang="en-GB" dirty="0"/>
              <a:t>Jigisha.a.patel@ucl.ac.uk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page_2.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page_3.png"/>
          <p:cNvPicPr>
            <a:picLocks noChangeAspect="1"/>
          </p:cNvPicPr>
          <p:nvPr/>
        </p:nvPicPr>
        <p:blipFill>
          <a:blip r:embed="rId2"/>
          <a:srcRect b="88667"/>
          <a:stretch>
            <a:fillRect/>
          </a:stretch>
        </p:blipFill>
        <p:spPr>
          <a:xfrm>
            <a:off x="0" y="0"/>
            <a:ext cx="9144000" cy="777240"/>
          </a:xfrm>
          <a:prstGeom prst="rect">
            <a:avLst/>
          </a:prstGeom>
        </p:spPr>
      </p:pic>
      <p:sp>
        <p:nvSpPr>
          <p:cNvPr id="4" name="TextBox 3">
            <a:extLst>
              <a:ext uri="{FF2B5EF4-FFF2-40B4-BE49-F238E27FC236}">
                <a16:creationId xmlns:a16="http://schemas.microsoft.com/office/drawing/2014/main" id="{20767FDB-5CE1-93E0-1DE5-D7A0B8E27829}"/>
              </a:ext>
            </a:extLst>
          </p:cNvPr>
          <p:cNvSpPr txBox="1"/>
          <p:nvPr/>
        </p:nvSpPr>
        <p:spPr>
          <a:xfrm>
            <a:off x="594360" y="1205222"/>
            <a:ext cx="4572000" cy="400110"/>
          </a:xfrm>
          <a:prstGeom prst="rect">
            <a:avLst/>
          </a:prstGeom>
          <a:noFill/>
        </p:spPr>
        <p:txBody>
          <a:bodyPr wrap="square">
            <a:spAutoFit/>
          </a:bodyPr>
          <a:lstStyle/>
          <a:p>
            <a:r>
              <a:rPr lang="en-GB" sz="2000" b="1" dirty="0"/>
              <a:t>This topic will discuss:</a:t>
            </a:r>
          </a:p>
        </p:txBody>
      </p:sp>
      <p:sp>
        <p:nvSpPr>
          <p:cNvPr id="6" name="TextBox 5">
            <a:extLst>
              <a:ext uri="{FF2B5EF4-FFF2-40B4-BE49-F238E27FC236}">
                <a16:creationId xmlns:a16="http://schemas.microsoft.com/office/drawing/2014/main" id="{99DF51B8-076D-6ED4-0F86-693D27DEE91C}"/>
              </a:ext>
            </a:extLst>
          </p:cNvPr>
          <p:cNvSpPr txBox="1"/>
          <p:nvPr/>
        </p:nvSpPr>
        <p:spPr>
          <a:xfrm>
            <a:off x="594360" y="1605332"/>
            <a:ext cx="8439912" cy="4315027"/>
          </a:xfrm>
          <a:prstGeom prst="rect">
            <a:avLst/>
          </a:prstGeom>
          <a:noFill/>
        </p:spPr>
        <p:txBody>
          <a:bodyPr wrap="square">
            <a:spAutoFit/>
          </a:bodyPr>
          <a:lstStyle/>
          <a:p>
            <a:pPr marL="285750" indent="-285750">
              <a:lnSpc>
                <a:spcPct val="200000"/>
              </a:lnSpc>
              <a:buFont typeface="Arial" panose="020B0604020202020204" pitchFamily="34" charset="0"/>
              <a:buChar char="•"/>
            </a:pPr>
            <a:r>
              <a:rPr lang="en-GB" sz="2000" dirty="0"/>
              <a:t> The main types of signalling between cells 	</a:t>
            </a:r>
          </a:p>
          <a:p>
            <a:pPr>
              <a:lnSpc>
                <a:spcPct val="200000"/>
              </a:lnSpc>
            </a:pPr>
            <a:r>
              <a:rPr lang="en-GB" sz="2000" dirty="0"/>
              <a:t>	– paracrine, endocrine and synaptic  signalling</a:t>
            </a:r>
          </a:p>
          <a:p>
            <a:pPr marL="285750" indent="-285750">
              <a:lnSpc>
                <a:spcPct val="200000"/>
              </a:lnSpc>
              <a:buFont typeface="Arial" panose="020B0604020202020204" pitchFamily="34" charset="0"/>
              <a:buChar char="•"/>
            </a:pPr>
            <a:r>
              <a:rPr lang="en-GB" sz="2000" dirty="0"/>
              <a:t>How cells detect chemical signals</a:t>
            </a:r>
          </a:p>
          <a:p>
            <a:pPr marL="285750" indent="-285750">
              <a:lnSpc>
                <a:spcPct val="200000"/>
              </a:lnSpc>
              <a:buFont typeface="Arial" panose="020B0604020202020204" pitchFamily="34" charset="0"/>
              <a:buChar char="•"/>
            </a:pPr>
            <a:r>
              <a:rPr lang="en-GB" sz="2000" dirty="0"/>
              <a:t>How cells respond to various chemical signals </a:t>
            </a:r>
          </a:p>
          <a:p>
            <a:pPr>
              <a:lnSpc>
                <a:spcPct val="200000"/>
              </a:lnSpc>
            </a:pPr>
            <a:r>
              <a:rPr lang="en-GB" sz="2000" dirty="0"/>
              <a:t>	– Changes in ion channel activity</a:t>
            </a:r>
          </a:p>
          <a:p>
            <a:pPr>
              <a:lnSpc>
                <a:spcPct val="200000"/>
              </a:lnSpc>
            </a:pPr>
            <a:r>
              <a:rPr lang="en-GB" sz="2000" dirty="0"/>
              <a:t> 	– Second messenger cascades </a:t>
            </a:r>
          </a:p>
          <a:p>
            <a:pPr>
              <a:lnSpc>
                <a:spcPct val="200000"/>
              </a:lnSpc>
            </a:pPr>
            <a:r>
              <a:rPr lang="en-GB" sz="2000" dirty="0"/>
              <a:t>	– The control of gene expression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500"/>
                                        <p:tgtEl>
                                          <p:spTgt spid="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fade">
                                      <p:cBhvr>
                                        <p:cTn id="15" dur="500"/>
                                        <p:tgtEl>
                                          <p:spTgt spid="6">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6">
                                            <p:txEl>
                                              <p:pRg st="3" end="3"/>
                                            </p:txEl>
                                          </p:spTgt>
                                        </p:tgtEl>
                                        <p:attrNameLst>
                                          <p:attrName>style.visibility</p:attrName>
                                        </p:attrNameLst>
                                      </p:cBhvr>
                                      <p:to>
                                        <p:strVal val="visible"/>
                                      </p:to>
                                    </p:set>
                                    <p:animEffect transition="in" filter="fade">
                                      <p:cBhvr>
                                        <p:cTn id="20" dur="500"/>
                                        <p:tgtEl>
                                          <p:spTgt spid="6">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Effect transition="in" filter="fade">
                                      <p:cBhvr>
                                        <p:cTn id="25" dur="500"/>
                                        <p:tgtEl>
                                          <p:spTgt spid="6">
                                            <p:txEl>
                                              <p:pRg st="4" end="4"/>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6">
                                            <p:txEl>
                                              <p:pRg st="5" end="5"/>
                                            </p:txEl>
                                          </p:spTgt>
                                        </p:tgtEl>
                                        <p:attrNameLst>
                                          <p:attrName>style.visibility</p:attrName>
                                        </p:attrNameLst>
                                      </p:cBhvr>
                                      <p:to>
                                        <p:strVal val="visible"/>
                                      </p:to>
                                    </p:set>
                                    <p:animEffect transition="in" filter="fade">
                                      <p:cBhvr>
                                        <p:cTn id="28" dur="500"/>
                                        <p:tgtEl>
                                          <p:spTgt spid="6">
                                            <p:txEl>
                                              <p:pRg st="5" end="5"/>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animEffect transition="in" filter="fade">
                                      <p:cBhvr>
                                        <p:cTn id="31"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page_4.png"/>
          <p:cNvPicPr>
            <a:picLocks noChangeAspect="1"/>
          </p:cNvPicPr>
          <p:nvPr/>
        </p:nvPicPr>
        <p:blipFill>
          <a:blip r:embed="rId2"/>
          <a:srcRect b="88267"/>
          <a:stretch>
            <a:fillRect/>
          </a:stretch>
        </p:blipFill>
        <p:spPr>
          <a:xfrm>
            <a:off x="0" y="0"/>
            <a:ext cx="9144000" cy="804672"/>
          </a:xfrm>
          <a:prstGeom prst="rect">
            <a:avLst/>
          </a:prstGeom>
        </p:spPr>
      </p:pic>
      <p:sp>
        <p:nvSpPr>
          <p:cNvPr id="4" name="TextBox 3">
            <a:extLst>
              <a:ext uri="{FF2B5EF4-FFF2-40B4-BE49-F238E27FC236}">
                <a16:creationId xmlns:a16="http://schemas.microsoft.com/office/drawing/2014/main" id="{BC429220-A09F-235D-5006-5E7959CD1EB8}"/>
              </a:ext>
            </a:extLst>
          </p:cNvPr>
          <p:cNvSpPr txBox="1"/>
          <p:nvPr/>
        </p:nvSpPr>
        <p:spPr>
          <a:xfrm>
            <a:off x="576072" y="1261872"/>
            <a:ext cx="8357616" cy="3954288"/>
          </a:xfrm>
          <a:prstGeom prst="rect">
            <a:avLst/>
          </a:prstGeom>
          <a:noFill/>
        </p:spPr>
        <p:txBody>
          <a:bodyPr wrap="square">
            <a:spAutoFit/>
          </a:bodyPr>
          <a:lstStyle/>
          <a:p>
            <a:pPr>
              <a:lnSpc>
                <a:spcPct val="200000"/>
              </a:lnSpc>
            </a:pPr>
            <a:r>
              <a:rPr lang="en-GB" sz="2000" b="1" dirty="0"/>
              <a:t>Cells communicate with each other in three ways: </a:t>
            </a:r>
          </a:p>
          <a:p>
            <a:pPr>
              <a:lnSpc>
                <a:spcPct val="200000"/>
              </a:lnSpc>
            </a:pPr>
            <a:r>
              <a:rPr lang="en-GB" dirty="0"/>
              <a:t>• By diffusible chemical signals </a:t>
            </a:r>
          </a:p>
          <a:p>
            <a:pPr>
              <a:lnSpc>
                <a:spcPct val="200000"/>
              </a:lnSpc>
            </a:pPr>
            <a:r>
              <a:rPr lang="en-GB" dirty="0"/>
              <a:t>• By direct surface contact between adjacent cells </a:t>
            </a:r>
          </a:p>
          <a:p>
            <a:pPr>
              <a:lnSpc>
                <a:spcPct val="200000"/>
              </a:lnSpc>
            </a:pPr>
            <a:r>
              <a:rPr lang="en-GB" dirty="0"/>
              <a:t>• By direct cytoplasmic contact between adjacent cells via gap junctions </a:t>
            </a:r>
          </a:p>
          <a:p>
            <a:pPr>
              <a:lnSpc>
                <a:spcPct val="200000"/>
              </a:lnSpc>
            </a:pPr>
            <a:endParaRPr lang="en-GB" dirty="0"/>
          </a:p>
          <a:p>
            <a:pPr>
              <a:lnSpc>
                <a:spcPct val="200000"/>
              </a:lnSpc>
            </a:pPr>
            <a:endParaRPr lang="en-GB" dirty="0"/>
          </a:p>
          <a:p>
            <a:pPr>
              <a:lnSpc>
                <a:spcPct val="200000"/>
              </a:lnSpc>
            </a:pPr>
            <a:r>
              <a:rPr lang="en-GB" b="1" dirty="0"/>
              <a:t>This lecture will focus on signalling by diffusible chemical agents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page_5.png"/>
          <p:cNvPicPr>
            <a:picLocks noChangeAspect="1"/>
          </p:cNvPicPr>
          <p:nvPr/>
        </p:nvPicPr>
        <p:blipFill>
          <a:blip r:embed="rId2"/>
          <a:srcRect b="88000"/>
          <a:stretch>
            <a:fillRect/>
          </a:stretch>
        </p:blipFill>
        <p:spPr>
          <a:xfrm>
            <a:off x="0" y="0"/>
            <a:ext cx="9144000" cy="822960"/>
          </a:xfrm>
          <a:prstGeom prst="rect">
            <a:avLst/>
          </a:prstGeom>
        </p:spPr>
      </p:pic>
      <p:sp>
        <p:nvSpPr>
          <p:cNvPr id="4" name="TextBox 3">
            <a:extLst>
              <a:ext uri="{FF2B5EF4-FFF2-40B4-BE49-F238E27FC236}">
                <a16:creationId xmlns:a16="http://schemas.microsoft.com/office/drawing/2014/main" id="{DE4C4A09-B81E-7972-D4D8-E8235222C5D4}"/>
              </a:ext>
            </a:extLst>
          </p:cNvPr>
          <p:cNvSpPr txBox="1"/>
          <p:nvPr/>
        </p:nvSpPr>
        <p:spPr>
          <a:xfrm>
            <a:off x="374904" y="1005840"/>
            <a:ext cx="8421624" cy="4438138"/>
          </a:xfrm>
          <a:prstGeom prst="rect">
            <a:avLst/>
          </a:prstGeom>
          <a:noFill/>
        </p:spPr>
        <p:txBody>
          <a:bodyPr wrap="square">
            <a:spAutoFit/>
          </a:bodyPr>
          <a:lstStyle/>
          <a:p>
            <a:pPr>
              <a:lnSpc>
                <a:spcPct val="200000"/>
              </a:lnSpc>
            </a:pPr>
            <a:r>
              <a:rPr lang="en-GB" sz="2400" b="1" dirty="0"/>
              <a:t>Cells use chemical signals in three ways: </a:t>
            </a:r>
          </a:p>
          <a:p>
            <a:pPr>
              <a:lnSpc>
                <a:spcPct val="200000"/>
              </a:lnSpc>
            </a:pPr>
            <a:r>
              <a:rPr lang="en-GB" sz="2000" dirty="0"/>
              <a:t>• For localised signalling </a:t>
            </a:r>
          </a:p>
          <a:p>
            <a:pPr>
              <a:lnSpc>
                <a:spcPct val="200000"/>
              </a:lnSpc>
            </a:pPr>
            <a:r>
              <a:rPr lang="en-GB" sz="2000" dirty="0"/>
              <a:t>	– autocrine and paracrine signalling </a:t>
            </a:r>
          </a:p>
          <a:p>
            <a:pPr>
              <a:lnSpc>
                <a:spcPct val="200000"/>
              </a:lnSpc>
            </a:pPr>
            <a:r>
              <a:rPr lang="en-GB" sz="2000" dirty="0"/>
              <a:t>• For generalized signalling to sites remote from the site of secretion </a:t>
            </a:r>
          </a:p>
          <a:p>
            <a:pPr>
              <a:lnSpc>
                <a:spcPct val="200000"/>
              </a:lnSpc>
            </a:pPr>
            <a:r>
              <a:rPr lang="en-GB" sz="2000" dirty="0"/>
              <a:t>	– endocrine signalling </a:t>
            </a:r>
          </a:p>
          <a:p>
            <a:pPr>
              <a:lnSpc>
                <a:spcPct val="200000"/>
              </a:lnSpc>
            </a:pPr>
            <a:r>
              <a:rPr lang="en-GB" sz="2000" dirty="0"/>
              <a:t>• As neurotransmitters in synaptic signalling </a:t>
            </a:r>
          </a:p>
          <a:p>
            <a:pPr>
              <a:lnSpc>
                <a:spcPct val="200000"/>
              </a:lnSpc>
            </a:pPr>
            <a:r>
              <a:rPr lang="en-GB" sz="2000" dirty="0"/>
              <a:t>	– provides discrete signalling between nerves and their target tissues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fade">
                                      <p:cBhvr>
                                        <p:cTn id="20" dur="500"/>
                                        <p:tgtEl>
                                          <p:spTgt spid="4">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500"/>
                                        <p:tgtEl>
                                          <p:spTgt spid="4">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4">
                                            <p:txEl>
                                              <p:pRg st="5" end="5"/>
                                            </p:txEl>
                                          </p:spTgt>
                                        </p:tgtEl>
                                        <p:attrNameLst>
                                          <p:attrName>style.visibility</p:attrName>
                                        </p:attrNameLst>
                                      </p:cBhvr>
                                      <p:to>
                                        <p:strVal val="visible"/>
                                      </p:to>
                                    </p:set>
                                    <p:animEffect transition="in" filter="fade">
                                      <p:cBhvr>
                                        <p:cTn id="28" dur="500"/>
                                        <p:tgtEl>
                                          <p:spTgt spid="4">
                                            <p:txEl>
                                              <p:pRg st="5" end="5"/>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Effect transition="in" filter="fade">
                                      <p:cBhvr>
                                        <p:cTn id="31"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1243"/>
        <p:cNvGrpSpPr/>
        <p:nvPr/>
      </p:nvGrpSpPr>
      <p:grpSpPr>
        <a:xfrm>
          <a:off x="0" y="0"/>
          <a:ext cx="0" cy="0"/>
          <a:chOff x="0" y="0"/>
          <a:chExt cx="0" cy="0"/>
        </a:xfrm>
      </p:grpSpPr>
      <p:grpSp>
        <p:nvGrpSpPr>
          <p:cNvPr id="1251" name="Google Shape;1251;p44"/>
          <p:cNvGrpSpPr/>
          <p:nvPr/>
        </p:nvGrpSpPr>
        <p:grpSpPr>
          <a:xfrm>
            <a:off x="172165" y="928431"/>
            <a:ext cx="5648270" cy="2850300"/>
            <a:chOff x="1956955" y="539375"/>
            <a:chExt cx="5648270" cy="2850300"/>
          </a:xfrm>
        </p:grpSpPr>
        <p:sp>
          <p:nvSpPr>
            <p:cNvPr id="1252" name="Google Shape;1252;p44"/>
            <p:cNvSpPr/>
            <p:nvPr/>
          </p:nvSpPr>
          <p:spPr>
            <a:xfrm>
              <a:off x="2355825" y="539375"/>
              <a:ext cx="5249400" cy="2850300"/>
            </a:xfrm>
            <a:prstGeom prst="rect">
              <a:avLst/>
            </a:prstGeom>
            <a:solidFill>
              <a:schemeClr val="lt1"/>
            </a:solidFill>
            <a:ln>
              <a:noFill/>
            </a:ln>
          </p:spPr>
          <p:txBody>
            <a:bodyPr spcFirstLastPara="1" wrap="square" lIns="91425" tIns="91425" rIns="91425" bIns="91425" anchor="ctr" anchorCtr="0">
              <a:noAutofit/>
            </a:bodyPr>
            <a:lstStyle/>
            <a:p>
              <a:endParaRPr/>
            </a:p>
          </p:txBody>
        </p:sp>
        <p:sp>
          <p:nvSpPr>
            <p:cNvPr id="1253" name="Google Shape;1253;p44"/>
            <p:cNvSpPr/>
            <p:nvPr/>
          </p:nvSpPr>
          <p:spPr>
            <a:xfrm rot="-7248316">
              <a:off x="2098563" y="2520846"/>
              <a:ext cx="297585" cy="498857"/>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endParaRPr/>
            </a:p>
          </p:txBody>
        </p:sp>
      </p:grpSp>
      <p:sp>
        <p:nvSpPr>
          <p:cNvPr id="1255" name="Google Shape;1255;p44"/>
          <p:cNvSpPr txBox="1">
            <a:spLocks noGrp="1"/>
          </p:cNvSpPr>
          <p:nvPr>
            <p:ph type="subTitle" idx="1"/>
          </p:nvPr>
        </p:nvSpPr>
        <p:spPr>
          <a:xfrm>
            <a:off x="503339" y="1182848"/>
            <a:ext cx="7278681" cy="2917777"/>
          </a:xfrm>
          <a:prstGeom prst="rect">
            <a:avLst/>
          </a:prstGeom>
        </p:spPr>
        <p:txBody>
          <a:bodyPr spcFirstLastPara="1" vert="horz" wrap="square" lIns="91425" tIns="91425" rIns="91425" bIns="91425" rtlCol="0" anchor="t" anchorCtr="0">
            <a:noAutofit/>
          </a:bodyPr>
          <a:lstStyle/>
          <a:p>
            <a:pPr marL="0" indent="0" algn="just">
              <a:buSzPct val="140000"/>
            </a:pPr>
            <a:r>
              <a:rPr lang="en-US" sz="2000" dirty="0">
                <a:solidFill>
                  <a:srgbClr val="21242C"/>
                </a:solidFill>
              </a:rPr>
              <a:t>There are four basic categories of chemical signaling found in multicellular organisms:</a:t>
            </a:r>
          </a:p>
          <a:p>
            <a:pPr marL="0" indent="0" algn="just">
              <a:buSzPct val="140000"/>
            </a:pPr>
            <a:endParaRPr lang="en-US" sz="2000" dirty="0">
              <a:solidFill>
                <a:srgbClr val="21242C"/>
              </a:solidFill>
            </a:endParaRPr>
          </a:p>
          <a:p>
            <a:pPr marL="171450" indent="-171450" algn="just">
              <a:buSzPct val="140000"/>
              <a:buFont typeface="Arial" panose="020B0604020202020204" pitchFamily="34" charset="0"/>
              <a:buChar char="•"/>
            </a:pPr>
            <a:r>
              <a:rPr lang="en-US" sz="2000" dirty="0">
                <a:solidFill>
                  <a:srgbClr val="21242C"/>
                </a:solidFill>
              </a:rPr>
              <a:t>paracrine signaling</a:t>
            </a:r>
          </a:p>
          <a:p>
            <a:pPr marL="171450" indent="-171450" algn="just">
              <a:buSzPct val="140000"/>
              <a:buFont typeface="Arial" panose="020B0604020202020204" pitchFamily="34" charset="0"/>
              <a:buChar char="•"/>
            </a:pPr>
            <a:endParaRPr lang="en-US" sz="2000" dirty="0">
              <a:solidFill>
                <a:srgbClr val="21242C"/>
              </a:solidFill>
            </a:endParaRPr>
          </a:p>
          <a:p>
            <a:pPr marL="171450" indent="-171450" algn="just">
              <a:buSzPct val="140000"/>
              <a:buFont typeface="Arial" panose="020B0604020202020204" pitchFamily="34" charset="0"/>
              <a:buChar char="•"/>
            </a:pPr>
            <a:r>
              <a:rPr lang="en-US" sz="2000" dirty="0">
                <a:solidFill>
                  <a:srgbClr val="21242C"/>
                </a:solidFill>
              </a:rPr>
              <a:t>autocrine signaling</a:t>
            </a:r>
          </a:p>
          <a:p>
            <a:pPr marL="171450" indent="-171450" algn="just">
              <a:buSzPct val="140000"/>
              <a:buFont typeface="Arial" panose="020B0604020202020204" pitchFamily="34" charset="0"/>
              <a:buChar char="•"/>
            </a:pPr>
            <a:endParaRPr lang="en-US" sz="2000" dirty="0">
              <a:solidFill>
                <a:srgbClr val="21242C"/>
              </a:solidFill>
            </a:endParaRPr>
          </a:p>
          <a:p>
            <a:pPr marL="171450" indent="-171450" algn="just">
              <a:buSzPct val="140000"/>
              <a:buFont typeface="Arial" panose="020B0604020202020204" pitchFamily="34" charset="0"/>
              <a:buChar char="•"/>
            </a:pPr>
            <a:r>
              <a:rPr lang="en-US" sz="2000" dirty="0">
                <a:solidFill>
                  <a:srgbClr val="21242C"/>
                </a:solidFill>
              </a:rPr>
              <a:t>endocrine signaling</a:t>
            </a:r>
          </a:p>
          <a:p>
            <a:pPr marL="171450" indent="-171450" algn="just">
              <a:buSzPct val="140000"/>
              <a:buFont typeface="Arial" panose="020B0604020202020204" pitchFamily="34" charset="0"/>
              <a:buChar char="•"/>
            </a:pPr>
            <a:endParaRPr lang="en-US" sz="2000" dirty="0">
              <a:solidFill>
                <a:srgbClr val="21242C"/>
              </a:solidFill>
            </a:endParaRPr>
          </a:p>
          <a:p>
            <a:pPr marL="171450" indent="-171450" algn="just">
              <a:buSzPct val="140000"/>
              <a:buFont typeface="Arial" panose="020B0604020202020204" pitchFamily="34" charset="0"/>
              <a:buChar char="•"/>
            </a:pPr>
            <a:r>
              <a:rPr lang="en-US" sz="2000" dirty="0">
                <a:solidFill>
                  <a:srgbClr val="21242C"/>
                </a:solidFill>
              </a:rPr>
              <a:t>signaling through cell-cell contact</a:t>
            </a:r>
          </a:p>
          <a:p>
            <a:pPr marL="171450" indent="-171450" algn="just">
              <a:buSzPct val="140000"/>
              <a:buFont typeface="Arial" panose="020B0604020202020204" pitchFamily="34" charset="0"/>
              <a:buChar char="•"/>
            </a:pPr>
            <a:endParaRPr lang="en-US" sz="2000" dirty="0">
              <a:solidFill>
                <a:srgbClr val="21242C"/>
              </a:solidFill>
            </a:endParaRPr>
          </a:p>
          <a:p>
            <a:pPr marL="171450" indent="-171450" algn="just">
              <a:buSzPct val="140000"/>
              <a:buFont typeface="Arial" panose="020B0604020202020204" pitchFamily="34" charset="0"/>
              <a:buChar char="•"/>
            </a:pPr>
            <a:endParaRPr lang="en-US" sz="2000" dirty="0">
              <a:solidFill>
                <a:srgbClr val="21242C"/>
              </a:solidFill>
            </a:endParaRPr>
          </a:p>
          <a:p>
            <a:pPr marL="0" indent="0" algn="just">
              <a:buSzPct val="140000"/>
            </a:pPr>
            <a:r>
              <a:rPr lang="en-US" sz="2000" dirty="0">
                <a:solidFill>
                  <a:srgbClr val="21242C"/>
                </a:solidFill>
              </a:rPr>
              <a:t>The main difference between the different categories of signaling is the distance that the signal travels through the organism to reach the target cell.</a:t>
            </a:r>
            <a:endParaRPr lang="en-PH" sz="2000" dirty="0"/>
          </a:p>
        </p:txBody>
      </p:sp>
      <p:pic>
        <p:nvPicPr>
          <p:cNvPr id="2" name="Picture 1" descr="page_5.png">
            <a:extLst>
              <a:ext uri="{FF2B5EF4-FFF2-40B4-BE49-F238E27FC236}">
                <a16:creationId xmlns:a16="http://schemas.microsoft.com/office/drawing/2014/main" id="{F027FF2F-C721-D0D9-562D-0D61829B6DD5}"/>
              </a:ext>
            </a:extLst>
          </p:cNvPr>
          <p:cNvPicPr>
            <a:picLocks noChangeAspect="1"/>
          </p:cNvPicPr>
          <p:nvPr/>
        </p:nvPicPr>
        <p:blipFill>
          <a:blip r:embed="rId3"/>
          <a:srcRect b="88000"/>
          <a:stretch>
            <a:fillRect/>
          </a:stretch>
        </p:blipFill>
        <p:spPr>
          <a:xfrm>
            <a:off x="0" y="0"/>
            <a:ext cx="9144000" cy="822960"/>
          </a:xfrm>
          <a:prstGeom prst="rect">
            <a:avLst/>
          </a:prstGeom>
        </p:spPr>
      </p:pic>
      <p:sp>
        <p:nvSpPr>
          <p:cNvPr id="5" name="Google Shape;1254;p44"/>
          <p:cNvSpPr txBox="1">
            <a:spLocks/>
          </p:cNvSpPr>
          <p:nvPr/>
        </p:nvSpPr>
        <p:spPr>
          <a:xfrm>
            <a:off x="-1" y="225554"/>
            <a:ext cx="6409197" cy="432000"/>
          </a:xfrm>
          <a:prstGeom prst="rect">
            <a:avLst/>
          </a:prstGeom>
          <a:solidFill>
            <a:schemeClr val="accent5"/>
          </a:solidFill>
        </p:spPr>
        <p:txBody>
          <a:bodyPr spcFirstLastPara="1" vert="horz" wrap="square" lIns="91425" tIns="91425" rIns="91425" bIns="91425" rtlCol="0" anchor="ctr" anchorCtr="0">
            <a:noAutofit/>
          </a:bodyPr>
          <a:lstStyle>
            <a:lvl1pPr lvl="0" algn="ctr" defTabSz="457200" rtl="0" eaLnBrk="1" latinLnBrk="0" hangingPunct="1">
              <a:spcBef>
                <a:spcPts val="0"/>
              </a:spcBef>
              <a:spcAft>
                <a:spcPts val="0"/>
              </a:spcAft>
              <a:buNone/>
              <a:defRPr sz="1800" kern="1200">
                <a:solidFill>
                  <a:schemeClr val="tx1"/>
                </a:solidFill>
                <a:latin typeface="+mj-lt"/>
                <a:ea typeface="+mj-ea"/>
                <a:cs typeface="+mj-cs"/>
              </a:defRPr>
            </a:lvl1pPr>
            <a:lvl2pPr lvl="1" algn="ctr" rtl="0">
              <a:spcBef>
                <a:spcPts val="0"/>
              </a:spcBef>
              <a:spcAft>
                <a:spcPts val="0"/>
              </a:spcAft>
              <a:buNone/>
              <a:defRPr sz="1800" b="1"/>
            </a:lvl2pPr>
            <a:lvl3pPr lvl="2" algn="ctr" rtl="0">
              <a:spcBef>
                <a:spcPts val="0"/>
              </a:spcBef>
              <a:spcAft>
                <a:spcPts val="0"/>
              </a:spcAft>
              <a:buNone/>
              <a:defRPr sz="1800" b="1"/>
            </a:lvl3pPr>
            <a:lvl4pPr lvl="3" algn="ctr" rtl="0">
              <a:spcBef>
                <a:spcPts val="0"/>
              </a:spcBef>
              <a:spcAft>
                <a:spcPts val="0"/>
              </a:spcAft>
              <a:buNone/>
              <a:defRPr sz="1800" b="1"/>
            </a:lvl4pPr>
            <a:lvl5pPr lvl="4" algn="ctr" rtl="0">
              <a:spcBef>
                <a:spcPts val="0"/>
              </a:spcBef>
              <a:spcAft>
                <a:spcPts val="0"/>
              </a:spcAft>
              <a:buNone/>
              <a:defRPr sz="1800" b="1"/>
            </a:lvl5pPr>
            <a:lvl6pPr lvl="5" algn="ctr" rtl="0">
              <a:spcBef>
                <a:spcPts val="0"/>
              </a:spcBef>
              <a:spcAft>
                <a:spcPts val="0"/>
              </a:spcAft>
              <a:buNone/>
              <a:defRPr sz="1800" b="1"/>
            </a:lvl6pPr>
            <a:lvl7pPr lvl="6" algn="ctr" rtl="0">
              <a:spcBef>
                <a:spcPts val="0"/>
              </a:spcBef>
              <a:spcAft>
                <a:spcPts val="0"/>
              </a:spcAft>
              <a:buNone/>
              <a:defRPr sz="1800" b="1"/>
            </a:lvl7pPr>
            <a:lvl8pPr lvl="7" algn="ctr" rtl="0">
              <a:spcBef>
                <a:spcPts val="0"/>
              </a:spcBef>
              <a:spcAft>
                <a:spcPts val="0"/>
              </a:spcAft>
              <a:buNone/>
              <a:defRPr sz="1800" b="1"/>
            </a:lvl8pPr>
            <a:lvl9pPr lvl="8" algn="ctr" rtl="0">
              <a:spcBef>
                <a:spcPts val="0"/>
              </a:spcBef>
              <a:spcAft>
                <a:spcPts val="0"/>
              </a:spcAft>
              <a:buNone/>
              <a:defRPr sz="1800" b="1"/>
            </a:lvl9pPr>
          </a:lstStyle>
          <a:p>
            <a:pPr algn="l"/>
            <a:r>
              <a:rPr lang="en-GB" sz="2400" b="1" dirty="0">
                <a:solidFill>
                  <a:schemeClr val="bg1"/>
                </a:solidFill>
              </a:rPr>
              <a:t>FORMS OF CELL SIGNALLING</a:t>
            </a:r>
          </a:p>
        </p:txBody>
      </p:sp>
    </p:spTree>
    <p:extLst>
      <p:ext uri="{BB962C8B-B14F-4D97-AF65-F5344CB8AC3E}">
        <p14:creationId xmlns:p14="http://schemas.microsoft.com/office/powerpoint/2010/main" val="2170664320"/>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626"/>
        <p:cNvGrpSpPr/>
        <p:nvPr/>
      </p:nvGrpSpPr>
      <p:grpSpPr>
        <a:xfrm>
          <a:off x="0" y="0"/>
          <a:ext cx="0" cy="0"/>
          <a:chOff x="0" y="0"/>
          <a:chExt cx="0" cy="0"/>
        </a:xfrm>
      </p:grpSpPr>
      <p:pic>
        <p:nvPicPr>
          <p:cNvPr id="4" name="Picture 3" descr="page_5.png">
            <a:extLst>
              <a:ext uri="{FF2B5EF4-FFF2-40B4-BE49-F238E27FC236}">
                <a16:creationId xmlns:a16="http://schemas.microsoft.com/office/drawing/2014/main" id="{5CC52802-B265-E037-5FDF-7E1DD38B11FD}"/>
              </a:ext>
            </a:extLst>
          </p:cNvPr>
          <p:cNvPicPr>
            <a:picLocks noChangeAspect="1"/>
          </p:cNvPicPr>
          <p:nvPr/>
        </p:nvPicPr>
        <p:blipFill>
          <a:blip r:embed="rId3"/>
          <a:srcRect b="88000"/>
          <a:stretch>
            <a:fillRect/>
          </a:stretch>
        </p:blipFill>
        <p:spPr>
          <a:xfrm>
            <a:off x="0" y="0"/>
            <a:ext cx="9144000" cy="822960"/>
          </a:xfrm>
          <a:prstGeom prst="rect">
            <a:avLst/>
          </a:prstGeom>
        </p:spPr>
      </p:pic>
      <p:sp>
        <p:nvSpPr>
          <p:cNvPr id="2" name="Google Shape;765;p37">
            <a:extLst>
              <a:ext uri="{FF2B5EF4-FFF2-40B4-BE49-F238E27FC236}">
                <a16:creationId xmlns:a16="http://schemas.microsoft.com/office/drawing/2014/main" id="{F124DE78-0CA3-AE23-1AFA-941BC7966DA0}"/>
              </a:ext>
            </a:extLst>
          </p:cNvPr>
          <p:cNvSpPr/>
          <p:nvPr/>
        </p:nvSpPr>
        <p:spPr>
          <a:xfrm>
            <a:off x="457061" y="1815444"/>
            <a:ext cx="8280000" cy="2340000"/>
          </a:xfrm>
          <a:prstGeom prst="rect">
            <a:avLst/>
          </a:prstGeom>
          <a:solidFill>
            <a:schemeClr val="lt1"/>
          </a:solidFill>
          <a:ln>
            <a:noFill/>
          </a:ln>
        </p:spPr>
        <p:txBody>
          <a:bodyPr spcFirstLastPara="1" wrap="square" lIns="91425" tIns="91425" rIns="91425" bIns="91425" anchor="ctr" anchorCtr="0">
            <a:noAutofit/>
          </a:bodyPr>
          <a:lstStyle/>
          <a:p>
            <a:endParaRPr/>
          </a:p>
        </p:txBody>
      </p:sp>
      <p:sp>
        <p:nvSpPr>
          <p:cNvPr id="628" name="Google Shape;628;p33"/>
          <p:cNvSpPr txBox="1">
            <a:spLocks noGrp="1"/>
          </p:cNvSpPr>
          <p:nvPr>
            <p:ph type="body" idx="1"/>
          </p:nvPr>
        </p:nvSpPr>
        <p:spPr>
          <a:xfrm>
            <a:off x="398547" y="1089000"/>
            <a:ext cx="8280000" cy="2340000"/>
          </a:xfrm>
          <a:prstGeom prst="rect">
            <a:avLst/>
          </a:prstGeom>
        </p:spPr>
        <p:txBody>
          <a:bodyPr spcFirstLastPara="1" vert="horz" wrap="square" lIns="91425" tIns="91425" rIns="91425" bIns="91425" rtlCol="0" anchor="t" anchorCtr="0">
            <a:noAutofit/>
          </a:bodyPr>
          <a:lstStyle/>
          <a:p>
            <a:pPr marL="412750" indent="-285750" algn="just">
              <a:spcBef>
                <a:spcPts val="1600"/>
              </a:spcBef>
              <a:buSzPts val="1600"/>
            </a:pPr>
            <a:r>
              <a:rPr lang="en-US" sz="1800" dirty="0">
                <a:solidFill>
                  <a:srgbClr val="21242C"/>
                </a:solidFill>
                <a:latin typeface="Lato" panose="020F0502020204030203" pitchFamily="34" charset="0"/>
              </a:rPr>
              <a:t>cells communicate over relatively short distances</a:t>
            </a:r>
          </a:p>
          <a:p>
            <a:pPr marL="412750" indent="-285750" algn="just">
              <a:spcBef>
                <a:spcPts val="1600"/>
              </a:spcBef>
              <a:buSzPts val="1600"/>
            </a:pPr>
            <a:r>
              <a:rPr lang="en-US" sz="1800" dirty="0">
                <a:solidFill>
                  <a:srgbClr val="21242C"/>
                </a:solidFill>
                <a:latin typeface="Lato" panose="020F0502020204030203" pitchFamily="34" charset="0"/>
              </a:rPr>
              <a:t>allows cells to locally coordinate activities with their neighbors</a:t>
            </a:r>
          </a:p>
          <a:p>
            <a:pPr marL="412750" indent="-285750" algn="just">
              <a:spcBef>
                <a:spcPts val="1600"/>
              </a:spcBef>
              <a:buSzPts val="1600"/>
            </a:pPr>
            <a:r>
              <a:rPr lang="en-PH" sz="1800" dirty="0">
                <a:solidFill>
                  <a:srgbClr val="21242C"/>
                </a:solidFill>
                <a:latin typeface="Lato" panose="020F0502020204030203" pitchFamily="34" charset="0"/>
              </a:rPr>
              <a:t>important during development</a:t>
            </a:r>
          </a:p>
          <a:p>
            <a:pPr marL="869950" lvl="1" indent="-285750" algn="just">
              <a:spcBef>
                <a:spcPts val="1600"/>
              </a:spcBef>
              <a:buSzPts val="1600"/>
            </a:pPr>
            <a:r>
              <a:rPr lang="en-US" sz="1800" dirty="0">
                <a:solidFill>
                  <a:srgbClr val="21242C"/>
                </a:solidFill>
                <a:latin typeface="Lato" panose="020F0502020204030203" pitchFamily="34" charset="0"/>
              </a:rPr>
              <a:t>they allow one group of cells to tell a neighboring group of cells what cellular identity to take on</a:t>
            </a:r>
            <a:endParaRPr lang="en-US" b="1" dirty="0">
              <a:latin typeface="Lato" panose="020F0502020204030203" pitchFamily="34" charset="0"/>
              <a:ea typeface="Lato" panose="020F0502020204030203" pitchFamily="34" charset="0"/>
              <a:cs typeface="Lato" panose="020F0502020204030203" pitchFamily="34" charset="0"/>
            </a:endParaRPr>
          </a:p>
        </p:txBody>
      </p:sp>
      <p:sp>
        <p:nvSpPr>
          <p:cNvPr id="627" name="Google Shape;627;p33"/>
          <p:cNvSpPr txBox="1">
            <a:spLocks noGrp="1"/>
          </p:cNvSpPr>
          <p:nvPr>
            <p:ph type="title"/>
          </p:nvPr>
        </p:nvSpPr>
        <p:spPr>
          <a:xfrm>
            <a:off x="0" y="141480"/>
            <a:ext cx="6384022" cy="540000"/>
          </a:xfrm>
          <a:prstGeom prst="rect">
            <a:avLst/>
          </a:prstGeom>
          <a:solidFill>
            <a:schemeClr val="accent5"/>
          </a:solidFill>
        </p:spPr>
        <p:txBody>
          <a:bodyPr spcFirstLastPara="1" vert="horz" wrap="square" lIns="91425" tIns="91425" rIns="91425" bIns="91425" rtlCol="0" anchor="t" anchorCtr="0">
            <a:noAutofit/>
          </a:bodyPr>
          <a:lstStyle/>
          <a:p>
            <a:pPr algn="l"/>
            <a:r>
              <a:rPr lang="en" sz="2600" b="1" dirty="0">
                <a:solidFill>
                  <a:schemeClr val="bg1"/>
                </a:solidFill>
              </a:rPr>
              <a:t>PARACRINE SIGNALING</a:t>
            </a:r>
            <a:endParaRPr sz="2600" b="1" dirty="0">
              <a:solidFill>
                <a:schemeClr val="bg1"/>
              </a:solidFill>
            </a:endParaRPr>
          </a:p>
        </p:txBody>
      </p:sp>
      <p:pic>
        <p:nvPicPr>
          <p:cNvPr id="3" name="Picture 2" descr="Diagram&#10;&#10;Description automatically generated">
            <a:extLst>
              <a:ext uri="{FF2B5EF4-FFF2-40B4-BE49-F238E27FC236}">
                <a16:creationId xmlns:a16="http://schemas.microsoft.com/office/drawing/2014/main" id="{AE9C02A2-B226-5975-A1C3-274A99B6E0AA}"/>
              </a:ext>
            </a:extLst>
          </p:cNvPr>
          <p:cNvPicPr>
            <a:picLocks noChangeAspect="1"/>
          </p:cNvPicPr>
          <p:nvPr/>
        </p:nvPicPr>
        <p:blipFill rotWithShape="1">
          <a:blip r:embed="rId4"/>
          <a:srcRect b="50198"/>
          <a:stretch/>
        </p:blipFill>
        <p:spPr>
          <a:xfrm>
            <a:off x="719022" y="4250358"/>
            <a:ext cx="7639050" cy="1750393"/>
          </a:xfrm>
          <a:prstGeom prst="rect">
            <a:avLst/>
          </a:prstGeom>
        </p:spPr>
      </p:pic>
    </p:spTree>
    <p:extLst>
      <p:ext uri="{BB962C8B-B14F-4D97-AF65-F5344CB8AC3E}">
        <p14:creationId xmlns:p14="http://schemas.microsoft.com/office/powerpoint/2010/main" val="334007319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28">
                                            <p:txEl>
                                              <p:pRg st="0" end="0"/>
                                            </p:txEl>
                                          </p:spTgt>
                                        </p:tgtEl>
                                        <p:attrNameLst>
                                          <p:attrName>style.visibility</p:attrName>
                                        </p:attrNameLst>
                                      </p:cBhvr>
                                      <p:to>
                                        <p:strVal val="visible"/>
                                      </p:to>
                                    </p:set>
                                    <p:animEffect transition="in" filter="fade">
                                      <p:cBhvr>
                                        <p:cTn id="7" dur="500"/>
                                        <p:tgtEl>
                                          <p:spTgt spid="62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28">
                                            <p:txEl>
                                              <p:pRg st="1" end="1"/>
                                            </p:txEl>
                                          </p:spTgt>
                                        </p:tgtEl>
                                        <p:attrNameLst>
                                          <p:attrName>style.visibility</p:attrName>
                                        </p:attrNameLst>
                                      </p:cBhvr>
                                      <p:to>
                                        <p:strVal val="visible"/>
                                      </p:to>
                                    </p:set>
                                    <p:animEffect transition="in" filter="fade">
                                      <p:cBhvr>
                                        <p:cTn id="17" dur="500"/>
                                        <p:tgtEl>
                                          <p:spTgt spid="62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28">
                                            <p:txEl>
                                              <p:pRg st="2" end="2"/>
                                            </p:txEl>
                                          </p:spTgt>
                                        </p:tgtEl>
                                        <p:attrNameLst>
                                          <p:attrName>style.visibility</p:attrName>
                                        </p:attrNameLst>
                                      </p:cBhvr>
                                      <p:to>
                                        <p:strVal val="visible"/>
                                      </p:to>
                                    </p:set>
                                    <p:animEffect transition="in" filter="fade">
                                      <p:cBhvr>
                                        <p:cTn id="22" dur="500"/>
                                        <p:tgtEl>
                                          <p:spTgt spid="628">
                                            <p:txEl>
                                              <p:pRg st="2" end="2"/>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628">
                                            <p:txEl>
                                              <p:pRg st="3" end="3"/>
                                            </p:txEl>
                                          </p:spTgt>
                                        </p:tgtEl>
                                        <p:attrNameLst>
                                          <p:attrName>style.visibility</p:attrName>
                                        </p:attrNameLst>
                                      </p:cBhvr>
                                      <p:to>
                                        <p:strVal val="visible"/>
                                      </p:to>
                                    </p:set>
                                    <p:animEffect transition="in" filter="fade">
                                      <p:cBhvr>
                                        <p:cTn id="25" dur="500"/>
                                        <p:tgtEl>
                                          <p:spTgt spid="62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626"/>
        <p:cNvGrpSpPr/>
        <p:nvPr/>
      </p:nvGrpSpPr>
      <p:grpSpPr>
        <a:xfrm>
          <a:off x="0" y="0"/>
          <a:ext cx="0" cy="0"/>
          <a:chOff x="0" y="0"/>
          <a:chExt cx="0" cy="0"/>
        </a:xfrm>
      </p:grpSpPr>
      <p:pic>
        <p:nvPicPr>
          <p:cNvPr id="2" name="Picture 1" descr="page_5.png">
            <a:extLst>
              <a:ext uri="{FF2B5EF4-FFF2-40B4-BE49-F238E27FC236}">
                <a16:creationId xmlns:a16="http://schemas.microsoft.com/office/drawing/2014/main" id="{0579FDCA-C2C8-7F21-53FD-5C8921C6F25F}"/>
              </a:ext>
            </a:extLst>
          </p:cNvPr>
          <p:cNvPicPr>
            <a:picLocks noChangeAspect="1"/>
          </p:cNvPicPr>
          <p:nvPr/>
        </p:nvPicPr>
        <p:blipFill>
          <a:blip r:embed="rId3"/>
          <a:srcRect b="88000"/>
          <a:stretch>
            <a:fillRect/>
          </a:stretch>
        </p:blipFill>
        <p:spPr>
          <a:xfrm>
            <a:off x="0" y="0"/>
            <a:ext cx="9144000" cy="822960"/>
          </a:xfrm>
          <a:prstGeom prst="rect">
            <a:avLst/>
          </a:prstGeom>
        </p:spPr>
      </p:pic>
      <p:sp>
        <p:nvSpPr>
          <p:cNvPr id="31" name="Google Shape;765;p37">
            <a:extLst>
              <a:ext uri="{FF2B5EF4-FFF2-40B4-BE49-F238E27FC236}">
                <a16:creationId xmlns:a16="http://schemas.microsoft.com/office/drawing/2014/main" id="{400A77BE-3CFA-07BE-A6F3-BC9655B2FB78}"/>
              </a:ext>
            </a:extLst>
          </p:cNvPr>
          <p:cNvSpPr>
            <a:spLocks/>
          </p:cNvSpPr>
          <p:nvPr/>
        </p:nvSpPr>
        <p:spPr>
          <a:xfrm>
            <a:off x="287521" y="2048488"/>
            <a:ext cx="4500000" cy="3564105"/>
          </a:xfrm>
          <a:prstGeom prst="rect">
            <a:avLst/>
          </a:prstGeom>
          <a:solidFill>
            <a:schemeClr val="lt1"/>
          </a:solidFill>
          <a:ln>
            <a:noFill/>
          </a:ln>
        </p:spPr>
        <p:txBody>
          <a:bodyPr spcFirstLastPara="1" wrap="square" lIns="91425" tIns="91425" rIns="91425" bIns="91425" anchor="ctr" anchorCtr="0">
            <a:noAutofit/>
          </a:bodyPr>
          <a:lstStyle/>
          <a:p>
            <a:endParaRPr/>
          </a:p>
        </p:txBody>
      </p:sp>
      <p:sp>
        <p:nvSpPr>
          <p:cNvPr id="628" name="Google Shape;628;p33"/>
          <p:cNvSpPr txBox="1">
            <a:spLocks noGrp="1"/>
          </p:cNvSpPr>
          <p:nvPr>
            <p:ph type="body" idx="1"/>
          </p:nvPr>
        </p:nvSpPr>
        <p:spPr>
          <a:xfrm>
            <a:off x="187555" y="1803366"/>
            <a:ext cx="4500000" cy="3780000"/>
          </a:xfrm>
          <a:prstGeom prst="rect">
            <a:avLst/>
          </a:prstGeom>
        </p:spPr>
        <p:txBody>
          <a:bodyPr spcFirstLastPara="1" vert="horz" wrap="square" lIns="91425" tIns="91425" rIns="91425" bIns="91425" rtlCol="0" anchor="t" anchorCtr="0">
            <a:noAutofit/>
          </a:bodyPr>
          <a:lstStyle/>
          <a:p>
            <a:pPr marL="412750" indent="-285750" algn="just">
              <a:spcBef>
                <a:spcPts val="1600"/>
              </a:spcBef>
              <a:buSzPts val="1600"/>
            </a:pPr>
            <a:r>
              <a:rPr lang="en-US" sz="1800" dirty="0">
                <a:solidFill>
                  <a:srgbClr val="21242C"/>
                </a:solidFill>
                <a:latin typeface="Lato" panose="020F0502020204030203" pitchFamily="34" charset="0"/>
                <a:ea typeface="Lato" panose="020F0502020204030203" pitchFamily="34" charset="0"/>
                <a:cs typeface="Lato" panose="020F0502020204030203" pitchFamily="34" charset="0"/>
              </a:rPr>
              <a:t>SYNAPTIC SIGNALING</a:t>
            </a:r>
          </a:p>
          <a:p>
            <a:pPr marL="869950" lvl="1" indent="-285750" algn="just">
              <a:spcBef>
                <a:spcPts val="1600"/>
              </a:spcBef>
              <a:buSzPts val="1600"/>
            </a:pPr>
            <a:r>
              <a:rPr lang="en-US" sz="1800" dirty="0">
                <a:solidFill>
                  <a:srgbClr val="21242C"/>
                </a:solidFill>
                <a:latin typeface="Lato" panose="020F0502020204030203" pitchFamily="34" charset="0"/>
                <a:ea typeface="Lato" panose="020F0502020204030203" pitchFamily="34" charset="0"/>
                <a:cs typeface="Lato" panose="020F0502020204030203" pitchFamily="34" charset="0"/>
              </a:rPr>
              <a:t>Nerve cells transmit signals</a:t>
            </a:r>
          </a:p>
          <a:p>
            <a:pPr marL="869950" lvl="1" indent="-285750" algn="just">
              <a:spcBef>
                <a:spcPts val="1600"/>
              </a:spcBef>
              <a:buSzPts val="1600"/>
            </a:pPr>
            <a:r>
              <a:rPr lang="en-US" sz="1800" dirty="0">
                <a:solidFill>
                  <a:srgbClr val="21242C"/>
                </a:solidFill>
                <a:latin typeface="Lato" panose="020F0502020204030203" pitchFamily="34" charset="0"/>
                <a:ea typeface="Lato" panose="020F0502020204030203" pitchFamily="34" charset="0"/>
                <a:cs typeface="Lato" panose="020F0502020204030203" pitchFamily="34" charset="0"/>
              </a:rPr>
              <a:t>This process is named for the synapse, the junction between two nerve cells where signal transmission occurs</a:t>
            </a:r>
            <a:endParaRPr lang="en-US" sz="1800" dirty="0">
              <a:latin typeface="Lato" panose="020F0502020204030203" pitchFamily="34" charset="0"/>
              <a:ea typeface="Lato" panose="020F0502020204030203" pitchFamily="34" charset="0"/>
              <a:cs typeface="Lato" panose="020F0502020204030203" pitchFamily="34" charset="0"/>
            </a:endParaRPr>
          </a:p>
        </p:txBody>
      </p:sp>
      <p:sp>
        <p:nvSpPr>
          <p:cNvPr id="627" name="Google Shape;627;p33"/>
          <p:cNvSpPr txBox="1">
            <a:spLocks noGrp="1"/>
          </p:cNvSpPr>
          <p:nvPr>
            <p:ph type="title"/>
          </p:nvPr>
        </p:nvSpPr>
        <p:spPr>
          <a:xfrm>
            <a:off x="22605" y="141480"/>
            <a:ext cx="6613087" cy="540000"/>
          </a:xfrm>
          <a:prstGeom prst="rect">
            <a:avLst/>
          </a:prstGeom>
          <a:solidFill>
            <a:schemeClr val="accent5"/>
          </a:solidFill>
        </p:spPr>
        <p:txBody>
          <a:bodyPr spcFirstLastPara="1" vert="horz" wrap="square" lIns="91425" tIns="91425" rIns="91425" bIns="91425" rtlCol="0" anchor="t" anchorCtr="0">
            <a:noAutofit/>
          </a:bodyPr>
          <a:lstStyle/>
          <a:p>
            <a:pPr algn="l"/>
            <a:r>
              <a:rPr lang="en" sz="2800" b="1" dirty="0">
                <a:solidFill>
                  <a:schemeClr val="bg1"/>
                </a:solidFill>
              </a:rPr>
              <a:t>EXAMPLE OF PARACRINE SIGNALING</a:t>
            </a:r>
            <a:endParaRPr sz="2800" b="1" dirty="0">
              <a:solidFill>
                <a:schemeClr val="bg1"/>
              </a:solidFill>
            </a:endParaRPr>
          </a:p>
        </p:txBody>
      </p:sp>
      <p:pic>
        <p:nvPicPr>
          <p:cNvPr id="3" name="Picture 2" descr="Diagram&#10;&#10;Description automatically generated">
            <a:extLst>
              <a:ext uri="{FF2B5EF4-FFF2-40B4-BE49-F238E27FC236}">
                <a16:creationId xmlns:a16="http://schemas.microsoft.com/office/drawing/2014/main" id="{A2CBFF82-402A-D885-F4DA-1689052C9A87}"/>
              </a:ext>
            </a:extLst>
          </p:cNvPr>
          <p:cNvPicPr>
            <a:picLocks noChangeAspect="1"/>
          </p:cNvPicPr>
          <p:nvPr/>
        </p:nvPicPr>
        <p:blipFill>
          <a:blip r:embed="rId4"/>
          <a:stretch>
            <a:fillRect/>
          </a:stretch>
        </p:blipFill>
        <p:spPr>
          <a:xfrm>
            <a:off x="5019730" y="2005826"/>
            <a:ext cx="2989987" cy="3780000"/>
          </a:xfrm>
          <a:prstGeom prst="rect">
            <a:avLst/>
          </a:prstGeom>
        </p:spPr>
      </p:pic>
    </p:spTree>
    <p:extLst>
      <p:ext uri="{BB962C8B-B14F-4D97-AF65-F5344CB8AC3E}">
        <p14:creationId xmlns:p14="http://schemas.microsoft.com/office/powerpoint/2010/main" val="3177665169"/>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626"/>
        <p:cNvGrpSpPr/>
        <p:nvPr/>
      </p:nvGrpSpPr>
      <p:grpSpPr>
        <a:xfrm>
          <a:off x="0" y="0"/>
          <a:ext cx="0" cy="0"/>
          <a:chOff x="0" y="0"/>
          <a:chExt cx="0" cy="0"/>
        </a:xfrm>
      </p:grpSpPr>
      <p:pic>
        <p:nvPicPr>
          <p:cNvPr id="3" name="Picture 2" descr="page_5.png">
            <a:extLst>
              <a:ext uri="{FF2B5EF4-FFF2-40B4-BE49-F238E27FC236}">
                <a16:creationId xmlns:a16="http://schemas.microsoft.com/office/drawing/2014/main" id="{1391B6BF-1FA9-A110-AFFA-DAC373E7CD9C}"/>
              </a:ext>
            </a:extLst>
          </p:cNvPr>
          <p:cNvPicPr>
            <a:picLocks noChangeAspect="1"/>
          </p:cNvPicPr>
          <p:nvPr/>
        </p:nvPicPr>
        <p:blipFill>
          <a:blip r:embed="rId3"/>
          <a:srcRect b="88000"/>
          <a:stretch>
            <a:fillRect/>
          </a:stretch>
        </p:blipFill>
        <p:spPr>
          <a:xfrm>
            <a:off x="0" y="0"/>
            <a:ext cx="9144000" cy="822960"/>
          </a:xfrm>
          <a:prstGeom prst="rect">
            <a:avLst/>
          </a:prstGeom>
        </p:spPr>
      </p:pic>
      <p:sp>
        <p:nvSpPr>
          <p:cNvPr id="2" name="Google Shape;765;p37">
            <a:extLst>
              <a:ext uri="{FF2B5EF4-FFF2-40B4-BE49-F238E27FC236}">
                <a16:creationId xmlns:a16="http://schemas.microsoft.com/office/drawing/2014/main" id="{F124DE78-0CA3-AE23-1AFA-941BC7966DA0}"/>
              </a:ext>
            </a:extLst>
          </p:cNvPr>
          <p:cNvSpPr/>
          <p:nvPr/>
        </p:nvSpPr>
        <p:spPr>
          <a:xfrm>
            <a:off x="457061" y="1815444"/>
            <a:ext cx="8280000" cy="2340000"/>
          </a:xfrm>
          <a:prstGeom prst="rect">
            <a:avLst/>
          </a:prstGeom>
          <a:solidFill>
            <a:schemeClr val="lt1"/>
          </a:solidFill>
          <a:ln>
            <a:noFill/>
          </a:ln>
        </p:spPr>
        <p:txBody>
          <a:bodyPr spcFirstLastPara="1" wrap="square" lIns="91425" tIns="91425" rIns="91425" bIns="91425" anchor="ctr" anchorCtr="0">
            <a:noAutofit/>
          </a:bodyPr>
          <a:lstStyle/>
          <a:p>
            <a:endParaRPr/>
          </a:p>
        </p:txBody>
      </p:sp>
      <p:sp>
        <p:nvSpPr>
          <p:cNvPr id="628" name="Google Shape;628;p33"/>
          <p:cNvSpPr txBox="1">
            <a:spLocks noGrp="1"/>
          </p:cNvSpPr>
          <p:nvPr>
            <p:ph type="body" idx="1"/>
          </p:nvPr>
        </p:nvSpPr>
        <p:spPr>
          <a:xfrm>
            <a:off x="376243" y="1136167"/>
            <a:ext cx="8280000" cy="2340000"/>
          </a:xfrm>
          <a:prstGeom prst="rect">
            <a:avLst/>
          </a:prstGeom>
        </p:spPr>
        <p:txBody>
          <a:bodyPr spcFirstLastPara="1" vert="horz" wrap="square" lIns="91425" tIns="91425" rIns="91425" bIns="91425" rtlCol="0" anchor="t" anchorCtr="0">
            <a:noAutofit/>
          </a:bodyPr>
          <a:lstStyle/>
          <a:p>
            <a:pPr marL="412750" indent="-285750" algn="just">
              <a:spcBef>
                <a:spcPts val="1600"/>
              </a:spcBef>
              <a:buSzPts val="1600"/>
            </a:pPr>
            <a:r>
              <a:rPr lang="en-US" sz="2000" dirty="0">
                <a:solidFill>
                  <a:srgbClr val="21242C"/>
                </a:solidFill>
                <a:latin typeface="+mj-lt"/>
              </a:rPr>
              <a:t>a cell signals to itself, releasing a ligand that binds to receptors on its own surface </a:t>
            </a:r>
          </a:p>
          <a:p>
            <a:pPr marL="412750" indent="-285750" algn="just">
              <a:spcBef>
                <a:spcPts val="1600"/>
              </a:spcBef>
              <a:buSzPts val="1600"/>
            </a:pPr>
            <a:r>
              <a:rPr lang="en-PH" sz="2000" dirty="0">
                <a:solidFill>
                  <a:srgbClr val="21242C"/>
                </a:solidFill>
                <a:latin typeface="+mj-lt"/>
              </a:rPr>
              <a:t>important during development</a:t>
            </a:r>
          </a:p>
          <a:p>
            <a:pPr marL="869950" lvl="1" indent="-285750" algn="just">
              <a:spcBef>
                <a:spcPts val="1600"/>
              </a:spcBef>
              <a:buSzPts val="1600"/>
            </a:pPr>
            <a:r>
              <a:rPr lang="en-US" sz="2000" dirty="0">
                <a:solidFill>
                  <a:srgbClr val="21242C"/>
                </a:solidFill>
                <a:latin typeface="+mj-lt"/>
              </a:rPr>
              <a:t>helping cells take on and reinforce their correct identities</a:t>
            </a:r>
            <a:endParaRPr lang="en-US" sz="2000" b="1" dirty="0">
              <a:solidFill>
                <a:srgbClr val="21242C"/>
              </a:solidFill>
              <a:latin typeface="+mj-lt"/>
              <a:ea typeface="Lato" panose="020F0502020204030203" pitchFamily="34" charset="0"/>
              <a:cs typeface="Lato" panose="020F0502020204030203" pitchFamily="34" charset="0"/>
            </a:endParaRPr>
          </a:p>
          <a:p>
            <a:pPr marL="869950" lvl="1" indent="-285750" algn="just">
              <a:spcBef>
                <a:spcPts val="1600"/>
              </a:spcBef>
              <a:buSzPts val="1600"/>
            </a:pPr>
            <a:r>
              <a:rPr lang="en-US" sz="2000" dirty="0">
                <a:solidFill>
                  <a:srgbClr val="21242C"/>
                </a:solidFill>
                <a:latin typeface="+mj-lt"/>
              </a:rPr>
              <a:t>play a key role in metastasis </a:t>
            </a:r>
          </a:p>
          <a:p>
            <a:pPr marL="127000" indent="0" algn="just">
              <a:spcBef>
                <a:spcPts val="1600"/>
              </a:spcBef>
              <a:buSzPts val="1600"/>
              <a:buNone/>
            </a:pPr>
            <a:r>
              <a:rPr lang="en-PH" sz="2000" dirty="0">
                <a:solidFill>
                  <a:srgbClr val="21242C"/>
                </a:solidFill>
                <a:latin typeface="+mj-lt"/>
              </a:rPr>
              <a:t>Ex: Cytokines/Immune Cells, Growth Factors</a:t>
            </a:r>
            <a:endParaRPr lang="en-US" sz="2000" dirty="0">
              <a:solidFill>
                <a:srgbClr val="21242C"/>
              </a:solidFill>
              <a:latin typeface="+mj-lt"/>
            </a:endParaRPr>
          </a:p>
          <a:p>
            <a:pPr marL="869950" lvl="1" indent="-285750" algn="just">
              <a:spcBef>
                <a:spcPts val="1600"/>
              </a:spcBef>
              <a:buSzPts val="1600"/>
            </a:pPr>
            <a:endParaRPr lang="en-US" sz="2000" dirty="0">
              <a:solidFill>
                <a:srgbClr val="21242C"/>
              </a:solidFill>
              <a:latin typeface="+mj-lt"/>
            </a:endParaRPr>
          </a:p>
        </p:txBody>
      </p:sp>
      <p:sp>
        <p:nvSpPr>
          <p:cNvPr id="627" name="Google Shape;627;p33"/>
          <p:cNvSpPr txBox="1">
            <a:spLocks noGrp="1"/>
          </p:cNvSpPr>
          <p:nvPr>
            <p:ph type="title"/>
          </p:nvPr>
        </p:nvSpPr>
        <p:spPr>
          <a:xfrm>
            <a:off x="0" y="99535"/>
            <a:ext cx="5326973" cy="540000"/>
          </a:xfrm>
          <a:prstGeom prst="rect">
            <a:avLst/>
          </a:prstGeom>
          <a:solidFill>
            <a:schemeClr val="accent5"/>
          </a:solidFill>
        </p:spPr>
        <p:txBody>
          <a:bodyPr spcFirstLastPara="1" vert="horz" wrap="square" lIns="91425" tIns="91425" rIns="91425" bIns="91425" rtlCol="0" anchor="t" anchorCtr="0">
            <a:noAutofit/>
          </a:bodyPr>
          <a:lstStyle/>
          <a:p>
            <a:pPr algn="l"/>
            <a:r>
              <a:rPr lang="en" sz="2600" dirty="0">
                <a:solidFill>
                  <a:schemeClr val="bg1"/>
                </a:solidFill>
                <a:latin typeface="Arial Black" panose="020B0A04020102020204" pitchFamily="34" charset="0"/>
              </a:rPr>
              <a:t>AUTOCRINE SIGNALING</a:t>
            </a:r>
            <a:endParaRPr sz="2600" dirty="0">
              <a:solidFill>
                <a:schemeClr val="bg1"/>
              </a:solidFill>
              <a:latin typeface="Arial Black" panose="020B0A04020102020204" pitchFamily="34" charset="0"/>
            </a:endParaRPr>
          </a:p>
        </p:txBody>
      </p:sp>
      <p:pic>
        <p:nvPicPr>
          <p:cNvPr id="5" name="Picture 4" descr="Diagram&#10;&#10;Description automatically generated">
            <a:extLst>
              <a:ext uri="{FF2B5EF4-FFF2-40B4-BE49-F238E27FC236}">
                <a16:creationId xmlns:a16="http://schemas.microsoft.com/office/drawing/2014/main" id="{5BE38E43-1BF8-4425-9CB5-C2101B472C41}"/>
              </a:ext>
            </a:extLst>
          </p:cNvPr>
          <p:cNvPicPr>
            <a:picLocks noChangeAspect="1"/>
          </p:cNvPicPr>
          <p:nvPr/>
        </p:nvPicPr>
        <p:blipFill rotWithShape="1">
          <a:blip r:embed="rId4"/>
          <a:srcRect t="48850"/>
          <a:stretch/>
        </p:blipFill>
        <p:spPr>
          <a:xfrm>
            <a:off x="696718" y="4202966"/>
            <a:ext cx="7639050" cy="1797785"/>
          </a:xfrm>
          <a:prstGeom prst="rect">
            <a:avLst/>
          </a:prstGeom>
        </p:spPr>
      </p:pic>
    </p:spTree>
    <p:extLst>
      <p:ext uri="{BB962C8B-B14F-4D97-AF65-F5344CB8AC3E}">
        <p14:creationId xmlns:p14="http://schemas.microsoft.com/office/powerpoint/2010/main" val="78318569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28">
                                            <p:txEl>
                                              <p:pRg st="0" end="0"/>
                                            </p:txEl>
                                          </p:spTgt>
                                        </p:tgtEl>
                                        <p:attrNameLst>
                                          <p:attrName>style.visibility</p:attrName>
                                        </p:attrNameLst>
                                      </p:cBhvr>
                                      <p:to>
                                        <p:strVal val="visible"/>
                                      </p:to>
                                    </p:set>
                                    <p:animEffect transition="in" filter="fade">
                                      <p:cBhvr>
                                        <p:cTn id="7" dur="500"/>
                                        <p:tgtEl>
                                          <p:spTgt spid="62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28">
                                            <p:txEl>
                                              <p:pRg st="1" end="1"/>
                                            </p:txEl>
                                          </p:spTgt>
                                        </p:tgtEl>
                                        <p:attrNameLst>
                                          <p:attrName>style.visibility</p:attrName>
                                        </p:attrNameLst>
                                      </p:cBhvr>
                                      <p:to>
                                        <p:strVal val="visible"/>
                                      </p:to>
                                    </p:set>
                                    <p:animEffect transition="in" filter="fade">
                                      <p:cBhvr>
                                        <p:cTn id="17" dur="500"/>
                                        <p:tgtEl>
                                          <p:spTgt spid="628">
                                            <p:txEl>
                                              <p:pRg st="1" end="1"/>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628">
                                            <p:txEl>
                                              <p:pRg st="2" end="2"/>
                                            </p:txEl>
                                          </p:spTgt>
                                        </p:tgtEl>
                                        <p:attrNameLst>
                                          <p:attrName>style.visibility</p:attrName>
                                        </p:attrNameLst>
                                      </p:cBhvr>
                                      <p:to>
                                        <p:strVal val="visible"/>
                                      </p:to>
                                    </p:set>
                                    <p:animEffect transition="in" filter="fade">
                                      <p:cBhvr>
                                        <p:cTn id="20" dur="500"/>
                                        <p:tgtEl>
                                          <p:spTgt spid="628">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628">
                                            <p:txEl>
                                              <p:pRg st="3" end="3"/>
                                            </p:txEl>
                                          </p:spTgt>
                                        </p:tgtEl>
                                        <p:attrNameLst>
                                          <p:attrName>style.visibility</p:attrName>
                                        </p:attrNameLst>
                                      </p:cBhvr>
                                      <p:to>
                                        <p:strVal val="visible"/>
                                      </p:to>
                                    </p:set>
                                    <p:animEffect transition="in" filter="fade">
                                      <p:cBhvr>
                                        <p:cTn id="23" dur="500"/>
                                        <p:tgtEl>
                                          <p:spTgt spid="628">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628">
                                            <p:txEl>
                                              <p:pRg st="4" end="4"/>
                                            </p:txEl>
                                          </p:spTgt>
                                        </p:tgtEl>
                                        <p:attrNameLst>
                                          <p:attrName>style.visibility</p:attrName>
                                        </p:attrNameLst>
                                      </p:cBhvr>
                                      <p:to>
                                        <p:strVal val="visible"/>
                                      </p:to>
                                    </p:set>
                                    <p:animEffect transition="in" filter="fade">
                                      <p:cBhvr>
                                        <p:cTn id="28" dur="500"/>
                                        <p:tgtEl>
                                          <p:spTgt spid="62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626"/>
        <p:cNvGrpSpPr/>
        <p:nvPr/>
      </p:nvGrpSpPr>
      <p:grpSpPr>
        <a:xfrm>
          <a:off x="0" y="0"/>
          <a:ext cx="0" cy="0"/>
          <a:chOff x="0" y="0"/>
          <a:chExt cx="0" cy="0"/>
        </a:xfrm>
      </p:grpSpPr>
      <p:pic>
        <p:nvPicPr>
          <p:cNvPr id="3" name="Picture 2" descr="page_5.png">
            <a:extLst>
              <a:ext uri="{FF2B5EF4-FFF2-40B4-BE49-F238E27FC236}">
                <a16:creationId xmlns:a16="http://schemas.microsoft.com/office/drawing/2014/main" id="{C16FF95D-76DA-6A00-95FD-019D9EC2068D}"/>
              </a:ext>
            </a:extLst>
          </p:cNvPr>
          <p:cNvPicPr>
            <a:picLocks noChangeAspect="1"/>
          </p:cNvPicPr>
          <p:nvPr/>
        </p:nvPicPr>
        <p:blipFill>
          <a:blip r:embed="rId3"/>
          <a:srcRect b="88000"/>
          <a:stretch>
            <a:fillRect/>
          </a:stretch>
        </p:blipFill>
        <p:spPr>
          <a:xfrm>
            <a:off x="0" y="0"/>
            <a:ext cx="9144000" cy="822960"/>
          </a:xfrm>
          <a:prstGeom prst="rect">
            <a:avLst/>
          </a:prstGeom>
        </p:spPr>
      </p:pic>
      <p:sp>
        <p:nvSpPr>
          <p:cNvPr id="2" name="Google Shape;765;p37">
            <a:extLst>
              <a:ext uri="{FF2B5EF4-FFF2-40B4-BE49-F238E27FC236}">
                <a16:creationId xmlns:a16="http://schemas.microsoft.com/office/drawing/2014/main" id="{F124DE78-0CA3-AE23-1AFA-941BC7966DA0}"/>
              </a:ext>
            </a:extLst>
          </p:cNvPr>
          <p:cNvSpPr/>
          <p:nvPr/>
        </p:nvSpPr>
        <p:spPr>
          <a:xfrm>
            <a:off x="457061" y="1815444"/>
            <a:ext cx="8280000" cy="2340000"/>
          </a:xfrm>
          <a:prstGeom prst="rect">
            <a:avLst/>
          </a:prstGeom>
          <a:solidFill>
            <a:schemeClr val="lt1"/>
          </a:solidFill>
          <a:ln>
            <a:noFill/>
          </a:ln>
        </p:spPr>
        <p:txBody>
          <a:bodyPr spcFirstLastPara="1" wrap="square" lIns="91425" tIns="91425" rIns="91425" bIns="91425" anchor="ctr" anchorCtr="0">
            <a:noAutofit/>
          </a:bodyPr>
          <a:lstStyle/>
          <a:p>
            <a:endParaRPr/>
          </a:p>
        </p:txBody>
      </p:sp>
      <p:sp>
        <p:nvSpPr>
          <p:cNvPr id="628" name="Google Shape;628;p33"/>
          <p:cNvSpPr txBox="1">
            <a:spLocks noGrp="1"/>
          </p:cNvSpPr>
          <p:nvPr>
            <p:ph type="body" idx="1"/>
          </p:nvPr>
        </p:nvSpPr>
        <p:spPr>
          <a:xfrm>
            <a:off x="406939" y="897779"/>
            <a:ext cx="8280000" cy="2340000"/>
          </a:xfrm>
          <a:prstGeom prst="rect">
            <a:avLst/>
          </a:prstGeom>
        </p:spPr>
        <p:txBody>
          <a:bodyPr spcFirstLastPara="1" vert="horz" wrap="square" lIns="91425" tIns="91425" rIns="91425" bIns="91425" rtlCol="0" anchor="t" anchorCtr="0">
            <a:noAutofit/>
          </a:bodyPr>
          <a:lstStyle/>
          <a:p>
            <a:pPr marL="412750" indent="-285750" algn="just">
              <a:spcBef>
                <a:spcPts val="1600"/>
              </a:spcBef>
              <a:buSzPts val="1600"/>
            </a:pPr>
            <a:r>
              <a:rPr lang="en-US" sz="1800" dirty="0">
                <a:solidFill>
                  <a:srgbClr val="21242C"/>
                </a:solidFill>
              </a:rPr>
              <a:t>cells transmit signals over long distances</a:t>
            </a:r>
          </a:p>
          <a:p>
            <a:pPr marL="869950" lvl="1" indent="-285750" algn="just">
              <a:spcBef>
                <a:spcPts val="1600"/>
              </a:spcBef>
              <a:buSzPts val="1600"/>
            </a:pPr>
            <a:r>
              <a:rPr lang="en-US" sz="1800" dirty="0">
                <a:solidFill>
                  <a:srgbClr val="21242C"/>
                </a:solidFill>
              </a:rPr>
              <a:t>often use the circulatory system as a distribution network for the messages they send</a:t>
            </a:r>
          </a:p>
          <a:p>
            <a:pPr marL="412750" indent="-285750" algn="just">
              <a:spcBef>
                <a:spcPts val="1600"/>
              </a:spcBef>
              <a:buSzPts val="1600"/>
            </a:pPr>
            <a:r>
              <a:rPr lang="en-US" sz="1800" dirty="0">
                <a:solidFill>
                  <a:srgbClr val="21242C"/>
                </a:solidFill>
              </a:rPr>
              <a:t>signals are produced by specialized cells and released into the bloodstream, which carries them to target cells in distant parts of the body</a:t>
            </a:r>
          </a:p>
          <a:p>
            <a:pPr marL="412750" indent="-285750" algn="just">
              <a:spcBef>
                <a:spcPts val="1600"/>
              </a:spcBef>
              <a:buSzPts val="1600"/>
            </a:pPr>
            <a:r>
              <a:rPr lang="en-US" sz="1800" dirty="0">
                <a:solidFill>
                  <a:srgbClr val="21242C"/>
                </a:solidFill>
              </a:rPr>
              <a:t>signals are produced in one part of the body and travel through the circulation to reach far-away targets are known as </a:t>
            </a:r>
            <a:r>
              <a:rPr lang="en-US" sz="1800" b="1" dirty="0">
                <a:solidFill>
                  <a:srgbClr val="21242C"/>
                </a:solidFill>
              </a:rPr>
              <a:t>hormones</a:t>
            </a:r>
            <a:r>
              <a:rPr lang="en-US" sz="1800" dirty="0">
                <a:solidFill>
                  <a:srgbClr val="21242C"/>
                </a:solidFill>
              </a:rPr>
              <a:t>.</a:t>
            </a:r>
          </a:p>
        </p:txBody>
      </p:sp>
      <p:sp>
        <p:nvSpPr>
          <p:cNvPr id="627" name="Google Shape;627;p33"/>
          <p:cNvSpPr txBox="1">
            <a:spLocks noGrp="1"/>
          </p:cNvSpPr>
          <p:nvPr>
            <p:ph type="title"/>
          </p:nvPr>
        </p:nvSpPr>
        <p:spPr>
          <a:xfrm>
            <a:off x="25203" y="124702"/>
            <a:ext cx="3917623" cy="540000"/>
          </a:xfrm>
          <a:prstGeom prst="rect">
            <a:avLst/>
          </a:prstGeom>
          <a:solidFill>
            <a:schemeClr val="accent5"/>
          </a:solidFill>
        </p:spPr>
        <p:txBody>
          <a:bodyPr spcFirstLastPara="1" vert="horz" wrap="square" lIns="91425" tIns="91425" rIns="91425" bIns="91425" rtlCol="0" anchor="t" anchorCtr="0">
            <a:noAutofit/>
          </a:bodyPr>
          <a:lstStyle/>
          <a:p>
            <a:pPr algn="l"/>
            <a:r>
              <a:rPr lang="en" sz="2600" b="1" dirty="0">
                <a:solidFill>
                  <a:schemeClr val="bg1"/>
                </a:solidFill>
              </a:rPr>
              <a:t>ENDOCRINE SIGNALING</a:t>
            </a:r>
            <a:endParaRPr sz="2600" b="1" dirty="0">
              <a:solidFill>
                <a:schemeClr val="bg1"/>
              </a:solidFill>
            </a:endParaRPr>
          </a:p>
        </p:txBody>
      </p:sp>
      <p:pic>
        <p:nvPicPr>
          <p:cNvPr id="4" name="Picture 3" descr="Diagram&#10;&#10;Description automatically generated">
            <a:extLst>
              <a:ext uri="{FF2B5EF4-FFF2-40B4-BE49-F238E27FC236}">
                <a16:creationId xmlns:a16="http://schemas.microsoft.com/office/drawing/2014/main" id="{61125813-7039-3438-A75D-15187044DB38}"/>
              </a:ext>
            </a:extLst>
          </p:cNvPr>
          <p:cNvPicPr>
            <a:picLocks noChangeAspect="1"/>
          </p:cNvPicPr>
          <p:nvPr/>
        </p:nvPicPr>
        <p:blipFill>
          <a:blip r:embed="rId4"/>
          <a:stretch>
            <a:fillRect/>
          </a:stretch>
        </p:blipFill>
        <p:spPr>
          <a:xfrm>
            <a:off x="601121" y="4230263"/>
            <a:ext cx="7629525" cy="1809750"/>
          </a:xfrm>
          <a:prstGeom prst="rect">
            <a:avLst/>
          </a:prstGeom>
        </p:spPr>
      </p:pic>
    </p:spTree>
    <p:extLst>
      <p:ext uri="{BB962C8B-B14F-4D97-AF65-F5344CB8AC3E}">
        <p14:creationId xmlns:p14="http://schemas.microsoft.com/office/powerpoint/2010/main" val="340964001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28">
                                            <p:txEl>
                                              <p:pRg st="0" end="0"/>
                                            </p:txEl>
                                          </p:spTgt>
                                        </p:tgtEl>
                                        <p:attrNameLst>
                                          <p:attrName>style.visibility</p:attrName>
                                        </p:attrNameLst>
                                      </p:cBhvr>
                                      <p:to>
                                        <p:strVal val="visible"/>
                                      </p:to>
                                    </p:set>
                                    <p:animEffect transition="in" filter="fade">
                                      <p:cBhvr>
                                        <p:cTn id="7" dur="500"/>
                                        <p:tgtEl>
                                          <p:spTgt spid="62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28">
                                            <p:txEl>
                                              <p:pRg st="1" end="1"/>
                                            </p:txEl>
                                          </p:spTgt>
                                        </p:tgtEl>
                                        <p:attrNameLst>
                                          <p:attrName>style.visibility</p:attrName>
                                        </p:attrNameLst>
                                      </p:cBhvr>
                                      <p:to>
                                        <p:strVal val="visible"/>
                                      </p:to>
                                    </p:set>
                                    <p:animEffect transition="in" filter="fade">
                                      <p:cBhvr>
                                        <p:cTn id="17" dur="500"/>
                                        <p:tgtEl>
                                          <p:spTgt spid="62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28">
                                            <p:txEl>
                                              <p:pRg st="2" end="2"/>
                                            </p:txEl>
                                          </p:spTgt>
                                        </p:tgtEl>
                                        <p:attrNameLst>
                                          <p:attrName>style.visibility</p:attrName>
                                        </p:attrNameLst>
                                      </p:cBhvr>
                                      <p:to>
                                        <p:strVal val="visible"/>
                                      </p:to>
                                    </p:set>
                                    <p:animEffect transition="in" filter="fade">
                                      <p:cBhvr>
                                        <p:cTn id="22" dur="500"/>
                                        <p:tgtEl>
                                          <p:spTgt spid="628">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28">
                                            <p:txEl>
                                              <p:pRg st="3" end="3"/>
                                            </p:txEl>
                                          </p:spTgt>
                                        </p:tgtEl>
                                        <p:attrNameLst>
                                          <p:attrName>style.visibility</p:attrName>
                                        </p:attrNameLst>
                                      </p:cBhvr>
                                      <p:to>
                                        <p:strVal val="visible"/>
                                      </p:to>
                                    </p:set>
                                    <p:animEffect transition="in" filter="fade">
                                      <p:cBhvr>
                                        <p:cTn id="27" dur="500"/>
                                        <p:tgtEl>
                                          <p:spTgt spid="62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626"/>
        <p:cNvGrpSpPr/>
        <p:nvPr/>
      </p:nvGrpSpPr>
      <p:grpSpPr>
        <a:xfrm>
          <a:off x="0" y="0"/>
          <a:ext cx="0" cy="0"/>
          <a:chOff x="0" y="0"/>
          <a:chExt cx="0" cy="0"/>
        </a:xfrm>
      </p:grpSpPr>
      <p:pic>
        <p:nvPicPr>
          <p:cNvPr id="3" name="Picture 2" descr="page_5.png">
            <a:extLst>
              <a:ext uri="{FF2B5EF4-FFF2-40B4-BE49-F238E27FC236}">
                <a16:creationId xmlns:a16="http://schemas.microsoft.com/office/drawing/2014/main" id="{F0C91568-920C-BF03-20B0-1277FDDF9E7F}"/>
              </a:ext>
            </a:extLst>
          </p:cNvPr>
          <p:cNvPicPr>
            <a:picLocks noChangeAspect="1"/>
          </p:cNvPicPr>
          <p:nvPr/>
        </p:nvPicPr>
        <p:blipFill>
          <a:blip r:embed="rId3"/>
          <a:srcRect b="88000"/>
          <a:stretch>
            <a:fillRect/>
          </a:stretch>
        </p:blipFill>
        <p:spPr>
          <a:xfrm>
            <a:off x="0" y="0"/>
            <a:ext cx="9144000" cy="822960"/>
          </a:xfrm>
          <a:prstGeom prst="rect">
            <a:avLst/>
          </a:prstGeom>
        </p:spPr>
      </p:pic>
      <p:sp>
        <p:nvSpPr>
          <p:cNvPr id="2" name="Google Shape;765;p37">
            <a:extLst>
              <a:ext uri="{FF2B5EF4-FFF2-40B4-BE49-F238E27FC236}">
                <a16:creationId xmlns:a16="http://schemas.microsoft.com/office/drawing/2014/main" id="{F124DE78-0CA3-AE23-1AFA-941BC7966DA0}"/>
              </a:ext>
            </a:extLst>
          </p:cNvPr>
          <p:cNvSpPr/>
          <p:nvPr/>
        </p:nvSpPr>
        <p:spPr>
          <a:xfrm>
            <a:off x="444299" y="1457737"/>
            <a:ext cx="8280000" cy="2340000"/>
          </a:xfrm>
          <a:prstGeom prst="rect">
            <a:avLst/>
          </a:prstGeom>
          <a:solidFill>
            <a:schemeClr val="lt1"/>
          </a:solidFill>
          <a:ln>
            <a:noFill/>
          </a:ln>
        </p:spPr>
        <p:txBody>
          <a:bodyPr spcFirstLastPara="1" wrap="square" lIns="91425" tIns="91425" rIns="91425" bIns="91425" anchor="ctr" anchorCtr="0">
            <a:noAutofit/>
          </a:bodyPr>
          <a:lstStyle/>
          <a:p>
            <a:endParaRPr/>
          </a:p>
        </p:txBody>
      </p:sp>
      <p:sp>
        <p:nvSpPr>
          <p:cNvPr id="628" name="Google Shape;628;p33"/>
          <p:cNvSpPr txBox="1">
            <a:spLocks noGrp="1"/>
          </p:cNvSpPr>
          <p:nvPr>
            <p:ph type="body" idx="1"/>
          </p:nvPr>
        </p:nvSpPr>
        <p:spPr>
          <a:xfrm>
            <a:off x="419701" y="1119389"/>
            <a:ext cx="8280000" cy="2340000"/>
          </a:xfrm>
          <a:prstGeom prst="rect">
            <a:avLst/>
          </a:prstGeom>
        </p:spPr>
        <p:txBody>
          <a:bodyPr spcFirstLastPara="1" vert="horz" wrap="square" lIns="91425" tIns="91425" rIns="91425" bIns="91425" rtlCol="0" anchor="t" anchorCtr="0">
            <a:noAutofit/>
          </a:bodyPr>
          <a:lstStyle/>
          <a:p>
            <a:pPr marL="127000" indent="0" algn="just">
              <a:buSzPts val="1600"/>
              <a:buNone/>
            </a:pPr>
            <a:r>
              <a:rPr lang="en-US" sz="2000" dirty="0">
                <a:solidFill>
                  <a:srgbClr val="21242C"/>
                </a:solidFill>
              </a:rPr>
              <a:t>In humans, endocrine glands release hormones:</a:t>
            </a:r>
          </a:p>
          <a:p>
            <a:pPr marL="412750" indent="-285750" algn="just">
              <a:buSzPts val="1600"/>
            </a:pPr>
            <a:r>
              <a:rPr lang="en-US" sz="2000" dirty="0">
                <a:solidFill>
                  <a:srgbClr val="21242C"/>
                </a:solidFill>
              </a:rPr>
              <a:t>Thyroid</a:t>
            </a:r>
          </a:p>
          <a:p>
            <a:pPr marL="412750" indent="-285750" algn="just">
              <a:buSzPts val="1600"/>
            </a:pPr>
            <a:r>
              <a:rPr lang="en-US" sz="2000" dirty="0">
                <a:solidFill>
                  <a:srgbClr val="21242C"/>
                </a:solidFill>
              </a:rPr>
              <a:t>Hypothalamus</a:t>
            </a:r>
          </a:p>
          <a:p>
            <a:pPr marL="412750" indent="-285750" algn="just">
              <a:buSzPts val="1600"/>
            </a:pPr>
            <a:r>
              <a:rPr lang="en-US" sz="2000" dirty="0">
                <a:solidFill>
                  <a:srgbClr val="21242C"/>
                </a:solidFill>
              </a:rPr>
              <a:t>Pituitary</a:t>
            </a:r>
          </a:p>
          <a:p>
            <a:pPr marL="412750" indent="-285750" algn="just">
              <a:buSzPts val="1600"/>
            </a:pPr>
            <a:r>
              <a:rPr lang="en-US" sz="2000" dirty="0">
                <a:solidFill>
                  <a:srgbClr val="21242C"/>
                </a:solidFill>
              </a:rPr>
              <a:t>Gonads (testes and ovaries)</a:t>
            </a:r>
          </a:p>
          <a:p>
            <a:pPr marL="412750" indent="-285750" algn="just">
              <a:buSzPts val="1600"/>
            </a:pPr>
            <a:r>
              <a:rPr lang="en-US" sz="2000" dirty="0">
                <a:solidFill>
                  <a:srgbClr val="21242C"/>
                </a:solidFill>
              </a:rPr>
              <a:t>Pancreas</a:t>
            </a:r>
          </a:p>
        </p:txBody>
      </p:sp>
      <p:sp>
        <p:nvSpPr>
          <p:cNvPr id="627" name="Google Shape;627;p33"/>
          <p:cNvSpPr txBox="1">
            <a:spLocks noGrp="1"/>
          </p:cNvSpPr>
          <p:nvPr>
            <p:ph type="title"/>
          </p:nvPr>
        </p:nvSpPr>
        <p:spPr>
          <a:xfrm>
            <a:off x="134259" y="50370"/>
            <a:ext cx="3707898" cy="540000"/>
          </a:xfrm>
          <a:prstGeom prst="rect">
            <a:avLst/>
          </a:prstGeom>
          <a:solidFill>
            <a:schemeClr val="accent5"/>
          </a:solidFill>
        </p:spPr>
        <p:txBody>
          <a:bodyPr spcFirstLastPara="1" vert="horz" wrap="square" lIns="91425" tIns="91425" rIns="91425" bIns="91425" rtlCol="0" anchor="t" anchorCtr="0">
            <a:noAutofit/>
          </a:bodyPr>
          <a:lstStyle/>
          <a:p>
            <a:pPr algn="l"/>
            <a:r>
              <a:rPr lang="en" sz="2600" b="1" dirty="0">
                <a:solidFill>
                  <a:schemeClr val="bg1"/>
                </a:solidFill>
              </a:rPr>
              <a:t>ENDOCRINE SIGNALING</a:t>
            </a:r>
            <a:endParaRPr sz="2600" b="1" dirty="0">
              <a:solidFill>
                <a:schemeClr val="bg1"/>
              </a:solidFill>
            </a:endParaRPr>
          </a:p>
        </p:txBody>
      </p:sp>
      <p:pic>
        <p:nvPicPr>
          <p:cNvPr id="4" name="Picture 3" descr="Diagram&#10;&#10;Description automatically generated">
            <a:extLst>
              <a:ext uri="{FF2B5EF4-FFF2-40B4-BE49-F238E27FC236}">
                <a16:creationId xmlns:a16="http://schemas.microsoft.com/office/drawing/2014/main" id="{61125813-7039-3438-A75D-15187044DB38}"/>
              </a:ext>
            </a:extLst>
          </p:cNvPr>
          <p:cNvPicPr>
            <a:picLocks noChangeAspect="1"/>
          </p:cNvPicPr>
          <p:nvPr/>
        </p:nvPicPr>
        <p:blipFill>
          <a:blip r:embed="rId4"/>
          <a:stretch>
            <a:fillRect/>
          </a:stretch>
        </p:blipFill>
        <p:spPr>
          <a:xfrm>
            <a:off x="601121" y="4230263"/>
            <a:ext cx="7629525" cy="1809750"/>
          </a:xfrm>
          <a:prstGeom prst="rect">
            <a:avLst/>
          </a:prstGeom>
        </p:spPr>
      </p:pic>
    </p:spTree>
    <p:extLst>
      <p:ext uri="{BB962C8B-B14F-4D97-AF65-F5344CB8AC3E}">
        <p14:creationId xmlns:p14="http://schemas.microsoft.com/office/powerpoint/2010/main" val="3285864612"/>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626"/>
        <p:cNvGrpSpPr/>
        <p:nvPr/>
      </p:nvGrpSpPr>
      <p:grpSpPr>
        <a:xfrm>
          <a:off x="0" y="0"/>
          <a:ext cx="0" cy="0"/>
          <a:chOff x="0" y="0"/>
          <a:chExt cx="0" cy="0"/>
        </a:xfrm>
      </p:grpSpPr>
      <p:pic>
        <p:nvPicPr>
          <p:cNvPr id="3" name="Picture 2" descr="page_5.png">
            <a:extLst>
              <a:ext uri="{FF2B5EF4-FFF2-40B4-BE49-F238E27FC236}">
                <a16:creationId xmlns:a16="http://schemas.microsoft.com/office/drawing/2014/main" id="{CE4F386F-7C75-469F-A3F7-C652717D99CC}"/>
              </a:ext>
            </a:extLst>
          </p:cNvPr>
          <p:cNvPicPr>
            <a:picLocks noChangeAspect="1"/>
          </p:cNvPicPr>
          <p:nvPr/>
        </p:nvPicPr>
        <p:blipFill>
          <a:blip r:embed="rId3"/>
          <a:srcRect b="88000"/>
          <a:stretch>
            <a:fillRect/>
          </a:stretch>
        </p:blipFill>
        <p:spPr>
          <a:xfrm>
            <a:off x="0" y="0"/>
            <a:ext cx="9144000" cy="822960"/>
          </a:xfrm>
          <a:prstGeom prst="rect">
            <a:avLst/>
          </a:prstGeom>
        </p:spPr>
      </p:pic>
      <p:sp>
        <p:nvSpPr>
          <p:cNvPr id="2" name="Google Shape;765;p37">
            <a:extLst>
              <a:ext uri="{FF2B5EF4-FFF2-40B4-BE49-F238E27FC236}">
                <a16:creationId xmlns:a16="http://schemas.microsoft.com/office/drawing/2014/main" id="{F124DE78-0CA3-AE23-1AFA-941BC7966DA0}"/>
              </a:ext>
            </a:extLst>
          </p:cNvPr>
          <p:cNvSpPr/>
          <p:nvPr/>
        </p:nvSpPr>
        <p:spPr>
          <a:xfrm>
            <a:off x="457061" y="1815444"/>
            <a:ext cx="8280000" cy="2340000"/>
          </a:xfrm>
          <a:prstGeom prst="rect">
            <a:avLst/>
          </a:prstGeom>
          <a:solidFill>
            <a:schemeClr val="lt1"/>
          </a:solidFill>
          <a:ln>
            <a:noFill/>
          </a:ln>
        </p:spPr>
        <p:txBody>
          <a:bodyPr spcFirstLastPara="1" wrap="square" lIns="91425" tIns="91425" rIns="91425" bIns="91425" anchor="ctr" anchorCtr="0">
            <a:noAutofit/>
          </a:bodyPr>
          <a:lstStyle/>
          <a:p>
            <a:endParaRPr/>
          </a:p>
        </p:txBody>
      </p:sp>
      <p:sp>
        <p:nvSpPr>
          <p:cNvPr id="628" name="Google Shape;628;p33"/>
          <p:cNvSpPr txBox="1">
            <a:spLocks noGrp="1"/>
          </p:cNvSpPr>
          <p:nvPr>
            <p:ph type="body" idx="1"/>
          </p:nvPr>
        </p:nvSpPr>
        <p:spPr>
          <a:xfrm>
            <a:off x="322243" y="924434"/>
            <a:ext cx="8280000" cy="2340000"/>
          </a:xfrm>
          <a:prstGeom prst="rect">
            <a:avLst/>
          </a:prstGeom>
        </p:spPr>
        <p:txBody>
          <a:bodyPr spcFirstLastPara="1" vert="horz" wrap="square" lIns="91425" tIns="91425" rIns="91425" bIns="91425" rtlCol="0" anchor="t" anchorCtr="0">
            <a:noAutofit/>
          </a:bodyPr>
          <a:lstStyle/>
          <a:p>
            <a:pPr marL="584200" indent="-457200" algn="just">
              <a:buSzPts val="1600"/>
            </a:pPr>
            <a:r>
              <a:rPr lang="en-US" sz="2000" dirty="0">
                <a:solidFill>
                  <a:srgbClr val="21242C"/>
                </a:solidFill>
              </a:rPr>
              <a:t>Gap junctions in animals are tiny channels that directly connect neighboring cells.</a:t>
            </a:r>
          </a:p>
          <a:p>
            <a:pPr marL="584200" indent="-457200" algn="just">
              <a:buSzPts val="1600"/>
            </a:pPr>
            <a:endParaRPr lang="en-US" sz="2000" dirty="0">
              <a:solidFill>
                <a:srgbClr val="21242C"/>
              </a:solidFill>
            </a:endParaRPr>
          </a:p>
          <a:p>
            <a:pPr marL="584200" indent="-457200" algn="just">
              <a:buSzPts val="1600"/>
            </a:pPr>
            <a:r>
              <a:rPr lang="en-US" sz="2000" dirty="0">
                <a:solidFill>
                  <a:srgbClr val="21242C"/>
                </a:solidFill>
              </a:rPr>
              <a:t>These water-filled channels allow small signaling molecules, called </a:t>
            </a:r>
            <a:r>
              <a:rPr lang="en-US" sz="2000" b="1" dirty="0">
                <a:solidFill>
                  <a:srgbClr val="21242C"/>
                </a:solidFill>
              </a:rPr>
              <a:t>intracellular mediators</a:t>
            </a:r>
            <a:r>
              <a:rPr lang="en-US" sz="2000" dirty="0">
                <a:solidFill>
                  <a:srgbClr val="21242C"/>
                </a:solidFill>
              </a:rPr>
              <a:t>, to diffuse between the two cells. </a:t>
            </a:r>
          </a:p>
          <a:p>
            <a:pPr marL="584200" indent="-457200" algn="just">
              <a:buSzPts val="1600"/>
            </a:pPr>
            <a:endParaRPr lang="en-US" sz="2000" dirty="0">
              <a:solidFill>
                <a:srgbClr val="21242C"/>
              </a:solidFill>
            </a:endParaRPr>
          </a:p>
          <a:p>
            <a:pPr marL="584200" indent="-457200" algn="just">
              <a:buSzPts val="1600"/>
            </a:pPr>
            <a:r>
              <a:rPr lang="en-US" sz="2000" dirty="0">
                <a:solidFill>
                  <a:srgbClr val="21242C"/>
                </a:solidFill>
              </a:rPr>
              <a:t>small molecules and ions are able to move between cells</a:t>
            </a:r>
          </a:p>
          <a:p>
            <a:pPr marL="584200" indent="-457200" algn="just">
              <a:buSzPts val="1600"/>
            </a:pPr>
            <a:endParaRPr lang="en-US" sz="2000" dirty="0">
              <a:solidFill>
                <a:srgbClr val="21242C"/>
              </a:solidFill>
            </a:endParaRPr>
          </a:p>
          <a:p>
            <a:pPr marL="584200" indent="-457200" algn="just">
              <a:buSzPts val="1600"/>
            </a:pPr>
            <a:r>
              <a:rPr lang="en-US" sz="2000" dirty="0">
                <a:solidFill>
                  <a:srgbClr val="21242C"/>
                </a:solidFill>
              </a:rPr>
              <a:t>large molecules like proteins and DNA cannot fit through the channels without special assistance.</a:t>
            </a:r>
          </a:p>
          <a:p>
            <a:pPr marL="584200" indent="-457200" algn="just">
              <a:buSzPts val="1600"/>
            </a:pPr>
            <a:endParaRPr lang="en-US" sz="2000" dirty="0">
              <a:solidFill>
                <a:srgbClr val="21242C"/>
              </a:solidFill>
            </a:endParaRPr>
          </a:p>
        </p:txBody>
      </p:sp>
      <p:sp>
        <p:nvSpPr>
          <p:cNvPr id="627" name="Google Shape;627;p33"/>
          <p:cNvSpPr txBox="1">
            <a:spLocks noGrp="1"/>
          </p:cNvSpPr>
          <p:nvPr>
            <p:ph type="title"/>
          </p:nvPr>
        </p:nvSpPr>
        <p:spPr>
          <a:xfrm>
            <a:off x="0" y="62696"/>
            <a:ext cx="6291743" cy="540000"/>
          </a:xfrm>
          <a:prstGeom prst="rect">
            <a:avLst/>
          </a:prstGeom>
          <a:solidFill>
            <a:schemeClr val="accent5"/>
          </a:solidFill>
        </p:spPr>
        <p:txBody>
          <a:bodyPr spcFirstLastPara="1" vert="horz" wrap="square" lIns="91425" tIns="91425" rIns="91425" bIns="91425" rtlCol="0" anchor="t" anchorCtr="0">
            <a:noAutofit/>
          </a:bodyPr>
          <a:lstStyle/>
          <a:p>
            <a:pPr algn="l"/>
            <a:r>
              <a:rPr lang="en" sz="2400" b="1" dirty="0">
                <a:solidFill>
                  <a:schemeClr val="bg1"/>
                </a:solidFill>
              </a:rPr>
              <a:t>SIGNALING THROUGH CELL-CELL CONTACT</a:t>
            </a:r>
            <a:endParaRPr sz="2400" b="1" dirty="0">
              <a:solidFill>
                <a:schemeClr val="bg1"/>
              </a:solidFill>
            </a:endParaRPr>
          </a:p>
        </p:txBody>
      </p:sp>
      <p:pic>
        <p:nvPicPr>
          <p:cNvPr id="5" name="Picture 4" descr="Diagram&#10;&#10;Description automatically generated">
            <a:extLst>
              <a:ext uri="{FF2B5EF4-FFF2-40B4-BE49-F238E27FC236}">
                <a16:creationId xmlns:a16="http://schemas.microsoft.com/office/drawing/2014/main" id="{C0C2B31D-6181-53DE-65F0-CE81481CA2A5}"/>
              </a:ext>
            </a:extLst>
          </p:cNvPr>
          <p:cNvPicPr>
            <a:picLocks noChangeAspect="1"/>
          </p:cNvPicPr>
          <p:nvPr/>
        </p:nvPicPr>
        <p:blipFill>
          <a:blip r:embed="rId4"/>
          <a:stretch>
            <a:fillRect/>
          </a:stretch>
        </p:blipFill>
        <p:spPr>
          <a:xfrm>
            <a:off x="681038" y="4219576"/>
            <a:ext cx="7629525" cy="1781175"/>
          </a:xfrm>
          <a:prstGeom prst="rect">
            <a:avLst/>
          </a:prstGeom>
        </p:spPr>
      </p:pic>
    </p:spTree>
    <p:extLst>
      <p:ext uri="{BB962C8B-B14F-4D97-AF65-F5344CB8AC3E}">
        <p14:creationId xmlns:p14="http://schemas.microsoft.com/office/powerpoint/2010/main" val="542204478"/>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626"/>
        <p:cNvGrpSpPr/>
        <p:nvPr/>
      </p:nvGrpSpPr>
      <p:grpSpPr>
        <a:xfrm>
          <a:off x="0" y="0"/>
          <a:ext cx="0" cy="0"/>
          <a:chOff x="0" y="0"/>
          <a:chExt cx="0" cy="0"/>
        </a:xfrm>
      </p:grpSpPr>
      <p:pic>
        <p:nvPicPr>
          <p:cNvPr id="3" name="Picture 2" descr="page_5.png">
            <a:extLst>
              <a:ext uri="{FF2B5EF4-FFF2-40B4-BE49-F238E27FC236}">
                <a16:creationId xmlns:a16="http://schemas.microsoft.com/office/drawing/2014/main" id="{CE904CE6-64B4-F3AB-0D07-1BE56F73A5E6}"/>
              </a:ext>
            </a:extLst>
          </p:cNvPr>
          <p:cNvPicPr>
            <a:picLocks noChangeAspect="1"/>
          </p:cNvPicPr>
          <p:nvPr/>
        </p:nvPicPr>
        <p:blipFill>
          <a:blip r:embed="rId3"/>
          <a:srcRect b="88000"/>
          <a:stretch>
            <a:fillRect/>
          </a:stretch>
        </p:blipFill>
        <p:spPr>
          <a:xfrm>
            <a:off x="0" y="0"/>
            <a:ext cx="9144000" cy="822960"/>
          </a:xfrm>
          <a:prstGeom prst="rect">
            <a:avLst/>
          </a:prstGeom>
        </p:spPr>
      </p:pic>
      <p:sp>
        <p:nvSpPr>
          <p:cNvPr id="2" name="Google Shape;765;p37">
            <a:extLst>
              <a:ext uri="{FF2B5EF4-FFF2-40B4-BE49-F238E27FC236}">
                <a16:creationId xmlns:a16="http://schemas.microsoft.com/office/drawing/2014/main" id="{F124DE78-0CA3-AE23-1AFA-941BC7966DA0}"/>
              </a:ext>
            </a:extLst>
          </p:cNvPr>
          <p:cNvSpPr/>
          <p:nvPr/>
        </p:nvSpPr>
        <p:spPr>
          <a:xfrm>
            <a:off x="457061" y="1815444"/>
            <a:ext cx="8280000" cy="2340000"/>
          </a:xfrm>
          <a:prstGeom prst="rect">
            <a:avLst/>
          </a:prstGeom>
          <a:solidFill>
            <a:schemeClr val="lt1"/>
          </a:solidFill>
          <a:ln>
            <a:noFill/>
          </a:ln>
        </p:spPr>
        <p:txBody>
          <a:bodyPr spcFirstLastPara="1" wrap="square" lIns="91425" tIns="91425" rIns="91425" bIns="91425" anchor="ctr" anchorCtr="0">
            <a:noAutofit/>
          </a:bodyPr>
          <a:lstStyle/>
          <a:p>
            <a:endParaRPr/>
          </a:p>
        </p:txBody>
      </p:sp>
      <p:sp>
        <p:nvSpPr>
          <p:cNvPr id="628" name="Google Shape;628;p33"/>
          <p:cNvSpPr txBox="1">
            <a:spLocks noGrp="1"/>
          </p:cNvSpPr>
          <p:nvPr>
            <p:ph type="body" idx="1"/>
          </p:nvPr>
        </p:nvSpPr>
        <p:spPr>
          <a:xfrm>
            <a:off x="457061" y="1089000"/>
            <a:ext cx="8280000" cy="2340000"/>
          </a:xfrm>
          <a:prstGeom prst="rect">
            <a:avLst/>
          </a:prstGeom>
        </p:spPr>
        <p:txBody>
          <a:bodyPr spcFirstLastPara="1" vert="horz" wrap="square" lIns="91425" tIns="91425" rIns="91425" bIns="91425" rtlCol="0" anchor="t" anchorCtr="0">
            <a:noAutofit/>
          </a:bodyPr>
          <a:lstStyle/>
          <a:p>
            <a:pPr marL="412750" indent="-285750" algn="just">
              <a:buSzPts val="1600"/>
            </a:pPr>
            <a:r>
              <a:rPr lang="en-US" sz="2000" dirty="0">
                <a:solidFill>
                  <a:srgbClr val="21242C"/>
                </a:solidFill>
              </a:rPr>
              <a:t>Two cells may bind to one another because they carry complementary proteins on their surfaces. When the proteins bind to one another, this interaction changes the shape of one or both proteins, transmitting a signal.</a:t>
            </a:r>
          </a:p>
          <a:p>
            <a:pPr marL="412750" indent="-285750" algn="just">
              <a:buSzPts val="1600"/>
            </a:pPr>
            <a:endParaRPr lang="en-US" sz="2000" dirty="0">
              <a:solidFill>
                <a:srgbClr val="21242C"/>
              </a:solidFill>
            </a:endParaRPr>
          </a:p>
          <a:p>
            <a:pPr marL="412750" indent="-285750" algn="just">
              <a:buSzPts val="1600"/>
            </a:pPr>
            <a:r>
              <a:rPr lang="en-US" sz="2000" dirty="0">
                <a:solidFill>
                  <a:srgbClr val="21242C"/>
                </a:solidFill>
              </a:rPr>
              <a:t>This kind of signaling is especially important in the immune system, where immune cells use cell-surface markers to recognize “self” cells (the body's own cells) and cells infected by pathogens.</a:t>
            </a:r>
          </a:p>
        </p:txBody>
      </p:sp>
      <p:sp>
        <p:nvSpPr>
          <p:cNvPr id="627" name="Google Shape;627;p33"/>
          <p:cNvSpPr txBox="1">
            <a:spLocks noGrp="1"/>
          </p:cNvSpPr>
          <p:nvPr>
            <p:ph type="title"/>
          </p:nvPr>
        </p:nvSpPr>
        <p:spPr>
          <a:xfrm>
            <a:off x="8389" y="116313"/>
            <a:ext cx="6308521" cy="540000"/>
          </a:xfrm>
          <a:prstGeom prst="rect">
            <a:avLst/>
          </a:prstGeom>
          <a:solidFill>
            <a:schemeClr val="accent5"/>
          </a:solidFill>
        </p:spPr>
        <p:txBody>
          <a:bodyPr spcFirstLastPara="1" vert="horz" wrap="square" lIns="91425" tIns="91425" rIns="91425" bIns="91425" rtlCol="0" anchor="t" anchorCtr="0">
            <a:noAutofit/>
          </a:bodyPr>
          <a:lstStyle/>
          <a:p>
            <a:pPr algn="l"/>
            <a:r>
              <a:rPr lang="en" sz="2400" b="1" dirty="0">
                <a:solidFill>
                  <a:schemeClr val="bg1"/>
                </a:solidFill>
              </a:rPr>
              <a:t>SIGNALING THROUGH CELL-CELL CONTACT</a:t>
            </a:r>
            <a:endParaRPr sz="2400" b="1" dirty="0">
              <a:solidFill>
                <a:schemeClr val="bg1"/>
              </a:solidFill>
            </a:endParaRPr>
          </a:p>
        </p:txBody>
      </p:sp>
      <p:pic>
        <p:nvPicPr>
          <p:cNvPr id="4" name="Picture 3" descr="Diagram&#10;&#10;Description automatically generated">
            <a:extLst>
              <a:ext uri="{FF2B5EF4-FFF2-40B4-BE49-F238E27FC236}">
                <a16:creationId xmlns:a16="http://schemas.microsoft.com/office/drawing/2014/main" id="{9D17BBA8-53DB-45C8-9EF3-6DA8963C86CF}"/>
              </a:ext>
            </a:extLst>
          </p:cNvPr>
          <p:cNvPicPr>
            <a:picLocks noChangeAspect="1"/>
          </p:cNvPicPr>
          <p:nvPr/>
        </p:nvPicPr>
        <p:blipFill>
          <a:blip r:embed="rId4"/>
          <a:stretch>
            <a:fillRect/>
          </a:stretch>
        </p:blipFill>
        <p:spPr>
          <a:xfrm>
            <a:off x="525463" y="4210050"/>
            <a:ext cx="8220075" cy="1790700"/>
          </a:xfrm>
          <a:prstGeom prst="rect">
            <a:avLst/>
          </a:prstGeom>
        </p:spPr>
      </p:pic>
    </p:spTree>
    <p:extLst>
      <p:ext uri="{BB962C8B-B14F-4D97-AF65-F5344CB8AC3E}">
        <p14:creationId xmlns:p14="http://schemas.microsoft.com/office/powerpoint/2010/main" val="161054465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28">
                                            <p:txEl>
                                              <p:pRg st="0" end="0"/>
                                            </p:txEl>
                                          </p:spTgt>
                                        </p:tgtEl>
                                        <p:attrNameLst>
                                          <p:attrName>style.visibility</p:attrName>
                                        </p:attrNameLst>
                                      </p:cBhvr>
                                      <p:to>
                                        <p:strVal val="visible"/>
                                      </p:to>
                                    </p:set>
                                    <p:animEffect transition="in" filter="fade">
                                      <p:cBhvr>
                                        <p:cTn id="7" dur="500"/>
                                        <p:tgtEl>
                                          <p:spTgt spid="62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28">
                                            <p:txEl>
                                              <p:pRg st="2" end="2"/>
                                            </p:txEl>
                                          </p:spTgt>
                                        </p:tgtEl>
                                        <p:attrNameLst>
                                          <p:attrName>style.visibility</p:attrName>
                                        </p:attrNameLst>
                                      </p:cBhvr>
                                      <p:to>
                                        <p:strVal val="visible"/>
                                      </p:to>
                                    </p:set>
                                    <p:animEffect transition="in" filter="fade">
                                      <p:cBhvr>
                                        <p:cTn id="17" dur="500"/>
                                        <p:tgtEl>
                                          <p:spTgt spid="62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page_6.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page_7.png"/>
          <p:cNvPicPr>
            <a:picLocks noChangeAspect="1"/>
          </p:cNvPicPr>
          <p:nvPr/>
        </p:nvPicPr>
        <p:blipFill>
          <a:blip r:embed="rId2"/>
          <a:srcRect b="88267"/>
          <a:stretch>
            <a:fillRect/>
          </a:stretch>
        </p:blipFill>
        <p:spPr>
          <a:xfrm>
            <a:off x="0" y="0"/>
            <a:ext cx="9144000" cy="804672"/>
          </a:xfrm>
          <a:prstGeom prst="rect">
            <a:avLst/>
          </a:prstGeom>
        </p:spPr>
      </p:pic>
      <p:sp>
        <p:nvSpPr>
          <p:cNvPr id="6" name="TextBox 5">
            <a:extLst>
              <a:ext uri="{FF2B5EF4-FFF2-40B4-BE49-F238E27FC236}">
                <a16:creationId xmlns:a16="http://schemas.microsoft.com/office/drawing/2014/main" id="{762644F8-C2E3-0D77-0AF4-EBE7F9646E15}"/>
              </a:ext>
            </a:extLst>
          </p:cNvPr>
          <p:cNvSpPr txBox="1"/>
          <p:nvPr/>
        </p:nvSpPr>
        <p:spPr>
          <a:xfrm>
            <a:off x="192024" y="1095941"/>
            <a:ext cx="8759952" cy="707886"/>
          </a:xfrm>
          <a:prstGeom prst="rect">
            <a:avLst/>
          </a:prstGeom>
          <a:noFill/>
        </p:spPr>
        <p:txBody>
          <a:bodyPr wrap="square">
            <a:spAutoFit/>
          </a:bodyPr>
          <a:lstStyle/>
          <a:p>
            <a:r>
              <a:rPr lang="en-GB" sz="2000" dirty="0"/>
              <a:t>Chemical signals secreted into the blood to act on distant target cells are called </a:t>
            </a:r>
            <a:r>
              <a:rPr lang="en-GB" sz="2000" b="1" dirty="0"/>
              <a:t>HORMONES</a:t>
            </a:r>
            <a:r>
              <a:rPr lang="en-GB" sz="2000" dirty="0"/>
              <a:t>.</a:t>
            </a:r>
          </a:p>
        </p:txBody>
      </p:sp>
      <p:sp>
        <p:nvSpPr>
          <p:cNvPr id="8" name="TextBox 7">
            <a:extLst>
              <a:ext uri="{FF2B5EF4-FFF2-40B4-BE49-F238E27FC236}">
                <a16:creationId xmlns:a16="http://schemas.microsoft.com/office/drawing/2014/main" id="{1304E2A1-4654-FCF5-A9F8-F65E78ACB331}"/>
              </a:ext>
            </a:extLst>
          </p:cNvPr>
          <p:cNvSpPr txBox="1"/>
          <p:nvPr/>
        </p:nvSpPr>
        <p:spPr>
          <a:xfrm>
            <a:off x="356616" y="1927104"/>
            <a:ext cx="8028432" cy="4204356"/>
          </a:xfrm>
          <a:prstGeom prst="rect">
            <a:avLst/>
          </a:prstGeom>
          <a:noFill/>
        </p:spPr>
        <p:txBody>
          <a:bodyPr wrap="square">
            <a:spAutoFit/>
          </a:bodyPr>
          <a:lstStyle/>
          <a:p>
            <a:pPr>
              <a:lnSpc>
                <a:spcPct val="150000"/>
              </a:lnSpc>
            </a:pPr>
            <a:r>
              <a:rPr lang="en-GB" dirty="0"/>
              <a:t>• Hormone comes from the Greek </a:t>
            </a:r>
            <a:r>
              <a:rPr lang="en-GB" dirty="0" err="1"/>
              <a:t>ὁρμή</a:t>
            </a:r>
            <a:r>
              <a:rPr lang="en-GB" dirty="0"/>
              <a:t> meaning "impetus” </a:t>
            </a:r>
          </a:p>
          <a:p>
            <a:pPr>
              <a:lnSpc>
                <a:spcPct val="150000"/>
              </a:lnSpc>
            </a:pPr>
            <a:endParaRPr lang="en-GB" dirty="0"/>
          </a:p>
          <a:p>
            <a:pPr>
              <a:lnSpc>
                <a:spcPct val="150000"/>
              </a:lnSpc>
            </a:pPr>
            <a:r>
              <a:rPr lang="en-GB" dirty="0"/>
              <a:t>• Hormones are often secreted by specialised glands called the endocrine glands </a:t>
            </a:r>
          </a:p>
          <a:p>
            <a:pPr>
              <a:lnSpc>
                <a:spcPct val="150000"/>
              </a:lnSpc>
            </a:pPr>
            <a:endParaRPr lang="en-GB" dirty="0"/>
          </a:p>
          <a:p>
            <a:pPr>
              <a:lnSpc>
                <a:spcPct val="150000"/>
              </a:lnSpc>
            </a:pPr>
            <a:r>
              <a:rPr lang="en-GB" dirty="0"/>
              <a:t>• Since hormones are distributed throughout the body via the circulation, their target cells must possess specific receptors that enable them to recognise the signals intended for them </a:t>
            </a:r>
          </a:p>
          <a:p>
            <a:pPr>
              <a:lnSpc>
                <a:spcPct val="150000"/>
              </a:lnSpc>
            </a:pPr>
            <a:endParaRPr lang="en-GB" dirty="0"/>
          </a:p>
          <a:p>
            <a:pPr>
              <a:lnSpc>
                <a:spcPct val="150000"/>
              </a:lnSpc>
            </a:pPr>
            <a:r>
              <a:rPr lang="en-GB" dirty="0"/>
              <a:t>• The difference between endocrine and paracrine signals reflects the quantity of the chemical secreted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4" end="4"/>
                                            </p:txEl>
                                          </p:spTgt>
                                        </p:tgtEl>
                                        <p:attrNameLst>
                                          <p:attrName>style.visibility</p:attrName>
                                        </p:attrNameLst>
                                      </p:cBhvr>
                                      <p:to>
                                        <p:strVal val="visible"/>
                                      </p:to>
                                    </p:set>
                                    <p:animEffect transition="in" filter="fade">
                                      <p:cBhvr>
                                        <p:cTn id="22" dur="500"/>
                                        <p:tgtEl>
                                          <p:spTgt spid="8">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animEffect transition="in" filter="fade">
                                      <p:cBhvr>
                                        <p:cTn id="27"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page_8.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page_9.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page_10.png"/>
          <p:cNvPicPr>
            <a:picLocks noChangeAspect="1"/>
          </p:cNvPicPr>
          <p:nvPr/>
        </p:nvPicPr>
        <p:blipFill>
          <a:blip r:embed="rId2"/>
          <a:srcRect b="87600"/>
          <a:stretch>
            <a:fillRect/>
          </a:stretch>
        </p:blipFill>
        <p:spPr>
          <a:xfrm>
            <a:off x="0" y="0"/>
            <a:ext cx="9144000" cy="850392"/>
          </a:xfrm>
          <a:prstGeom prst="rect">
            <a:avLst/>
          </a:prstGeom>
        </p:spPr>
      </p:pic>
      <p:sp>
        <p:nvSpPr>
          <p:cNvPr id="4" name="TextBox 3">
            <a:extLst>
              <a:ext uri="{FF2B5EF4-FFF2-40B4-BE49-F238E27FC236}">
                <a16:creationId xmlns:a16="http://schemas.microsoft.com/office/drawing/2014/main" id="{7949EA55-AD0E-66B2-DC6F-D7CB688FBCA4}"/>
              </a:ext>
            </a:extLst>
          </p:cNvPr>
          <p:cNvSpPr txBox="1"/>
          <p:nvPr/>
        </p:nvSpPr>
        <p:spPr>
          <a:xfrm>
            <a:off x="429768" y="1140071"/>
            <a:ext cx="8238744" cy="4093428"/>
          </a:xfrm>
          <a:prstGeom prst="rect">
            <a:avLst/>
          </a:prstGeom>
          <a:noFill/>
        </p:spPr>
        <p:txBody>
          <a:bodyPr wrap="square">
            <a:spAutoFit/>
          </a:bodyPr>
          <a:lstStyle/>
          <a:p>
            <a:r>
              <a:rPr lang="en-GB" sz="2000" dirty="0"/>
              <a:t>Hormones are suitable for regulating the activity of a variety of cell types.</a:t>
            </a:r>
          </a:p>
          <a:p>
            <a:r>
              <a:rPr lang="en-GB" sz="2000" dirty="0"/>
              <a:t> </a:t>
            </a:r>
            <a:r>
              <a:rPr lang="en-GB" sz="2000" b="1" dirty="0"/>
              <a:t>BUT</a:t>
            </a:r>
          </a:p>
          <a:p>
            <a:endParaRPr lang="en-GB" sz="2000" dirty="0"/>
          </a:p>
          <a:p>
            <a:r>
              <a:rPr lang="en-GB" sz="2000" dirty="0"/>
              <a:t> • Their effect cannot be restricted to an individual cell </a:t>
            </a:r>
          </a:p>
          <a:p>
            <a:endParaRPr lang="en-GB" sz="2000" dirty="0"/>
          </a:p>
          <a:p>
            <a:r>
              <a:rPr lang="en-GB" sz="2000" dirty="0"/>
              <a:t>• The speed of signalling is relatively slow </a:t>
            </a:r>
          </a:p>
          <a:p>
            <a:endParaRPr lang="en-GB" sz="2000" dirty="0"/>
          </a:p>
          <a:p>
            <a:endParaRPr lang="en-GB" sz="2000" dirty="0"/>
          </a:p>
          <a:p>
            <a:r>
              <a:rPr lang="en-GB" sz="2000" dirty="0"/>
              <a:t>These problems are overcome by nerve cells which are adapted for fast and specific activation of individual cells or groups of cells e.g. muscle cells. </a:t>
            </a:r>
          </a:p>
          <a:p>
            <a:endParaRPr lang="en-GB" sz="2000" dirty="0"/>
          </a:p>
          <a:p>
            <a:r>
              <a:rPr lang="en-GB" sz="2000" dirty="0"/>
              <a:t>The kind of signalling employed by nerve cells is known as synaptic signalling. Nerve cells permit fast signalling over long distances.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 calcmode="lin" valueType="num">
                                      <p:cBhvr>
                                        <p:cTn id="12" dur="500" fill="hold"/>
                                        <p:tgtEl>
                                          <p:spTgt spid="4">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4">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4">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Effect transition="in" filter="fade">
                                      <p:cBhvr>
                                        <p:cTn id="19" dur="500"/>
                                        <p:tgtEl>
                                          <p:spTgt spid="4">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fade">
                                      <p:cBhvr>
                                        <p:cTn id="24" dur="500"/>
                                        <p:tgtEl>
                                          <p:spTgt spid="4">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
                                            <p:txEl>
                                              <p:pRg st="8" end="8"/>
                                            </p:txEl>
                                          </p:spTgt>
                                        </p:tgtEl>
                                        <p:attrNameLst>
                                          <p:attrName>style.visibility</p:attrName>
                                        </p:attrNameLst>
                                      </p:cBhvr>
                                      <p:to>
                                        <p:strVal val="visible"/>
                                      </p:to>
                                    </p:set>
                                    <p:animEffect transition="in" filter="fade">
                                      <p:cBhvr>
                                        <p:cTn id="29" dur="500"/>
                                        <p:tgtEl>
                                          <p:spTgt spid="4">
                                            <p:txEl>
                                              <p:pRg st="8" end="8"/>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4">
                                            <p:txEl>
                                              <p:pRg st="10" end="10"/>
                                            </p:txEl>
                                          </p:spTgt>
                                        </p:tgtEl>
                                        <p:attrNameLst>
                                          <p:attrName>style.visibility</p:attrName>
                                        </p:attrNameLst>
                                      </p:cBhvr>
                                      <p:to>
                                        <p:strVal val="visible"/>
                                      </p:to>
                                    </p:set>
                                    <p:animEffect transition="in" filter="fade">
                                      <p:cBhvr>
                                        <p:cTn id="34"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page_12.png"/>
          <p:cNvPicPr>
            <a:picLocks noChangeAspect="1"/>
          </p:cNvPicPr>
          <p:nvPr/>
        </p:nvPicPr>
        <p:blipFill>
          <a:blip r:embed="rId2"/>
          <a:srcRect b="87867"/>
          <a:stretch>
            <a:fillRect/>
          </a:stretch>
        </p:blipFill>
        <p:spPr>
          <a:xfrm>
            <a:off x="0" y="0"/>
            <a:ext cx="9144000" cy="832104"/>
          </a:xfrm>
          <a:prstGeom prst="rect">
            <a:avLst/>
          </a:prstGeom>
        </p:spPr>
      </p:pic>
      <p:sp>
        <p:nvSpPr>
          <p:cNvPr id="4" name="TextBox 3">
            <a:extLst>
              <a:ext uri="{FF2B5EF4-FFF2-40B4-BE49-F238E27FC236}">
                <a16:creationId xmlns:a16="http://schemas.microsoft.com/office/drawing/2014/main" id="{A43AA096-DF59-9D9A-D404-A39D1D992218}"/>
              </a:ext>
            </a:extLst>
          </p:cNvPr>
          <p:cNvSpPr txBox="1"/>
          <p:nvPr/>
        </p:nvSpPr>
        <p:spPr>
          <a:xfrm>
            <a:off x="530352" y="1463040"/>
            <a:ext cx="8275320" cy="3083921"/>
          </a:xfrm>
          <a:prstGeom prst="rect">
            <a:avLst/>
          </a:prstGeom>
          <a:noFill/>
        </p:spPr>
        <p:txBody>
          <a:bodyPr wrap="square">
            <a:spAutoFit/>
          </a:bodyPr>
          <a:lstStyle/>
          <a:p>
            <a:pPr>
              <a:lnSpc>
                <a:spcPct val="200000"/>
              </a:lnSpc>
            </a:pPr>
            <a:r>
              <a:rPr lang="en-GB" sz="2000" b="1" dirty="0"/>
              <a:t>The nature of signalling molecules: </a:t>
            </a:r>
            <a:endParaRPr lang="en-GB" sz="2000" dirty="0"/>
          </a:p>
          <a:p>
            <a:pPr>
              <a:lnSpc>
                <a:spcPct val="200000"/>
              </a:lnSpc>
            </a:pPr>
            <a:r>
              <a:rPr lang="en-GB" sz="2000" dirty="0"/>
              <a:t>• Signalling molecules are very diverse in structure </a:t>
            </a:r>
          </a:p>
          <a:p>
            <a:pPr>
              <a:lnSpc>
                <a:spcPct val="200000"/>
              </a:lnSpc>
            </a:pPr>
            <a:r>
              <a:rPr lang="en-GB" sz="2000" dirty="0"/>
              <a:t>• Cells may use </a:t>
            </a:r>
            <a:r>
              <a:rPr lang="en-GB" sz="2000" dirty="0" err="1"/>
              <a:t>hydrophillic</a:t>
            </a:r>
            <a:r>
              <a:rPr lang="en-GB" sz="2000" dirty="0"/>
              <a:t> or hydrophobic molecules for signalling </a:t>
            </a:r>
          </a:p>
          <a:p>
            <a:pPr>
              <a:lnSpc>
                <a:spcPct val="200000"/>
              </a:lnSpc>
            </a:pPr>
            <a:r>
              <a:rPr lang="en-GB" sz="2000" dirty="0"/>
              <a:t>• Some signalling molecules have a very small molecular mass e.g. nitric oxide</a:t>
            </a:r>
          </a:p>
          <a:p>
            <a:pPr>
              <a:lnSpc>
                <a:spcPct val="200000"/>
              </a:lnSpc>
            </a:pPr>
            <a:r>
              <a:rPr lang="en-GB" sz="2000" dirty="0"/>
              <a:t>• Others are very large e.g. growth hormone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page_13.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page_14.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page_15.png"/>
          <p:cNvPicPr>
            <a:picLocks noChangeAspect="1"/>
          </p:cNvPicPr>
          <p:nvPr/>
        </p:nvPicPr>
        <p:blipFill>
          <a:blip r:embed="rId2"/>
          <a:srcRect b="88000"/>
          <a:stretch>
            <a:fillRect/>
          </a:stretch>
        </p:blipFill>
        <p:spPr>
          <a:xfrm>
            <a:off x="0" y="0"/>
            <a:ext cx="9144000" cy="822960"/>
          </a:xfrm>
          <a:prstGeom prst="rect">
            <a:avLst/>
          </a:prstGeom>
        </p:spPr>
      </p:pic>
      <p:sp>
        <p:nvSpPr>
          <p:cNvPr id="4" name="TextBox 3">
            <a:extLst>
              <a:ext uri="{FF2B5EF4-FFF2-40B4-BE49-F238E27FC236}">
                <a16:creationId xmlns:a16="http://schemas.microsoft.com/office/drawing/2014/main" id="{F647E753-EFE5-98FA-40AD-2E0B662E83D7}"/>
              </a:ext>
            </a:extLst>
          </p:cNvPr>
          <p:cNvSpPr txBox="1"/>
          <p:nvPr/>
        </p:nvSpPr>
        <p:spPr>
          <a:xfrm>
            <a:off x="429768" y="1174878"/>
            <a:ext cx="8220456" cy="3785652"/>
          </a:xfrm>
          <a:prstGeom prst="rect">
            <a:avLst/>
          </a:prstGeom>
          <a:noFill/>
        </p:spPr>
        <p:txBody>
          <a:bodyPr wrap="square">
            <a:spAutoFit/>
          </a:bodyPr>
          <a:lstStyle/>
          <a:p>
            <a:r>
              <a:rPr lang="en-GB" sz="2000" b="1" dirty="0"/>
              <a:t>Chemical signals are detected by specific receptor molecules: </a:t>
            </a:r>
          </a:p>
          <a:p>
            <a:endParaRPr lang="en-GB" sz="2000" dirty="0"/>
          </a:p>
          <a:p>
            <a:r>
              <a:rPr lang="en-GB" sz="2000" dirty="0"/>
              <a:t>• There are many different types of chemical signal being secreted at the same time </a:t>
            </a:r>
          </a:p>
          <a:p>
            <a:endParaRPr lang="en-GB" sz="2000" dirty="0"/>
          </a:p>
          <a:p>
            <a:r>
              <a:rPr lang="en-GB" sz="2000" dirty="0"/>
              <a:t>• Consequently, cells need to know which signals are intended for them </a:t>
            </a:r>
          </a:p>
          <a:p>
            <a:endParaRPr lang="en-GB" sz="2000" dirty="0"/>
          </a:p>
          <a:p>
            <a:r>
              <a:rPr lang="en-GB" sz="2000" dirty="0"/>
              <a:t>• To do this they have specific recognition molecules known as receptors </a:t>
            </a:r>
          </a:p>
          <a:p>
            <a:endParaRPr lang="en-GB" sz="2000" dirty="0"/>
          </a:p>
          <a:p>
            <a:r>
              <a:rPr lang="en-GB" sz="2000" dirty="0"/>
              <a:t>• Substances that activate a receptor are called </a:t>
            </a:r>
            <a:r>
              <a:rPr lang="en-GB" sz="2000" b="1" dirty="0">
                <a:solidFill>
                  <a:srgbClr val="00B050"/>
                </a:solidFill>
              </a:rPr>
              <a:t>agonists </a:t>
            </a:r>
          </a:p>
          <a:p>
            <a:endParaRPr lang="en-GB" sz="2000" dirty="0"/>
          </a:p>
          <a:p>
            <a:r>
              <a:rPr lang="en-GB" sz="2000" dirty="0"/>
              <a:t>• Substances that block the effects of an agonist are called </a:t>
            </a:r>
            <a:r>
              <a:rPr lang="en-GB" sz="2000" b="1" dirty="0">
                <a:solidFill>
                  <a:srgbClr val="C00000"/>
                </a:solidFill>
              </a:rPr>
              <a:t>antagonists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5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fade">
                                      <p:cBhvr>
                                        <p:cTn id="22" dur="500"/>
                                        <p:tgtEl>
                                          <p:spTgt spid="4">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animEffect transition="in" filter="fade">
                                      <p:cBhvr>
                                        <p:cTn id="27" dur="500"/>
                                        <p:tgtEl>
                                          <p:spTgt spid="4">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10" end="10"/>
                                            </p:txEl>
                                          </p:spTgt>
                                        </p:tgtEl>
                                        <p:attrNameLst>
                                          <p:attrName>style.visibility</p:attrName>
                                        </p:attrNameLst>
                                      </p:cBhvr>
                                      <p:to>
                                        <p:strVal val="visible"/>
                                      </p:to>
                                    </p:set>
                                    <p:animEffect transition="in" filter="fade">
                                      <p:cBhvr>
                                        <p:cTn id="32"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page_16.png"/>
          <p:cNvPicPr>
            <a:picLocks noChangeAspect="1"/>
          </p:cNvPicPr>
          <p:nvPr/>
        </p:nvPicPr>
        <p:blipFill>
          <a:blip r:embed="rId2"/>
          <a:srcRect b="87333"/>
          <a:stretch>
            <a:fillRect/>
          </a:stretch>
        </p:blipFill>
        <p:spPr>
          <a:xfrm>
            <a:off x="0" y="0"/>
            <a:ext cx="9144000" cy="868680"/>
          </a:xfrm>
          <a:prstGeom prst="rect">
            <a:avLst/>
          </a:prstGeom>
        </p:spPr>
      </p:pic>
      <p:sp>
        <p:nvSpPr>
          <p:cNvPr id="4" name="TextBox 3">
            <a:extLst>
              <a:ext uri="{FF2B5EF4-FFF2-40B4-BE49-F238E27FC236}">
                <a16:creationId xmlns:a16="http://schemas.microsoft.com/office/drawing/2014/main" id="{416FBC97-2A8D-CF7A-E5DA-034A6902867F}"/>
              </a:ext>
            </a:extLst>
          </p:cNvPr>
          <p:cNvSpPr txBox="1"/>
          <p:nvPr/>
        </p:nvSpPr>
        <p:spPr>
          <a:xfrm>
            <a:off x="374904" y="1005840"/>
            <a:ext cx="7516368" cy="4204356"/>
          </a:xfrm>
          <a:prstGeom prst="rect">
            <a:avLst/>
          </a:prstGeom>
          <a:noFill/>
        </p:spPr>
        <p:txBody>
          <a:bodyPr wrap="square">
            <a:spAutoFit/>
          </a:bodyPr>
          <a:lstStyle/>
          <a:p>
            <a:pPr>
              <a:lnSpc>
                <a:spcPct val="150000"/>
              </a:lnSpc>
            </a:pPr>
            <a:r>
              <a:rPr lang="en-GB" dirty="0"/>
              <a:t>• All receptors are proteins </a:t>
            </a:r>
          </a:p>
          <a:p>
            <a:pPr>
              <a:lnSpc>
                <a:spcPct val="150000"/>
              </a:lnSpc>
            </a:pPr>
            <a:endParaRPr lang="en-GB" dirty="0"/>
          </a:p>
          <a:p>
            <a:pPr>
              <a:lnSpc>
                <a:spcPct val="150000"/>
              </a:lnSpc>
            </a:pPr>
            <a:r>
              <a:rPr lang="en-GB" dirty="0"/>
              <a:t>• Those that detect water soluble signals are located in the plasma membrane e.g. insulin receptors </a:t>
            </a:r>
          </a:p>
          <a:p>
            <a:pPr>
              <a:lnSpc>
                <a:spcPct val="150000"/>
              </a:lnSpc>
            </a:pPr>
            <a:endParaRPr lang="en-GB" dirty="0"/>
          </a:p>
          <a:p>
            <a:pPr>
              <a:lnSpc>
                <a:spcPct val="150000"/>
              </a:lnSpc>
            </a:pPr>
            <a:r>
              <a:rPr lang="en-GB" dirty="0"/>
              <a:t>• Hydrophobic signalling molecules cross the plasma membrane and bind to intracellular receptors e.g. oestrogen receptors </a:t>
            </a:r>
          </a:p>
          <a:p>
            <a:pPr>
              <a:lnSpc>
                <a:spcPct val="150000"/>
              </a:lnSpc>
            </a:pPr>
            <a:endParaRPr lang="en-GB" dirty="0"/>
          </a:p>
          <a:p>
            <a:pPr>
              <a:lnSpc>
                <a:spcPct val="150000"/>
              </a:lnSpc>
            </a:pPr>
            <a:r>
              <a:rPr lang="en-GB" dirty="0"/>
              <a:t>• Some intracellular organelles possess receptors for molecules generated within the cell e.g. endoplasmic receptors for inositol trisphosphate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5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fade">
                                      <p:cBhvr>
                                        <p:cTn id="22"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page_17.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page_18.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page_19.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page_20.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page_20.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page_22.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2015" t="19246" r="15108" b="7936"/>
          <a:stretch/>
        </p:blipFill>
        <p:spPr bwMode="auto">
          <a:xfrm>
            <a:off x="719572" y="874764"/>
            <a:ext cx="7704856" cy="5965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descr="page_23.png">
            <a:extLst>
              <a:ext uri="{FF2B5EF4-FFF2-40B4-BE49-F238E27FC236}">
                <a16:creationId xmlns:a16="http://schemas.microsoft.com/office/drawing/2014/main" id="{AEA18ACD-10F2-AE9C-6415-66E6137558BE}"/>
              </a:ext>
            </a:extLst>
          </p:cNvPr>
          <p:cNvPicPr>
            <a:picLocks noChangeAspect="1"/>
          </p:cNvPicPr>
          <p:nvPr/>
        </p:nvPicPr>
        <p:blipFill>
          <a:blip r:embed="rId3"/>
          <a:srcRect b="87919"/>
          <a:stretch>
            <a:fillRect/>
          </a:stretch>
        </p:blipFill>
        <p:spPr>
          <a:xfrm>
            <a:off x="0" y="0"/>
            <a:ext cx="9144000" cy="828502"/>
          </a:xfrm>
          <a:prstGeom prst="rect">
            <a:avLst/>
          </a:prstGeom>
        </p:spPr>
      </p:pic>
    </p:spTree>
    <p:extLst>
      <p:ext uri="{BB962C8B-B14F-4D97-AF65-F5344CB8AC3E}">
        <p14:creationId xmlns:p14="http://schemas.microsoft.com/office/powerpoint/2010/main" val="34220595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page_23.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page_24.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page_25.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page_26.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page_27.png"/>
          <p:cNvPicPr>
            <a:picLocks noChangeAspect="1"/>
          </p:cNvPicPr>
          <p:nvPr/>
        </p:nvPicPr>
        <p:blipFill>
          <a:blip r:embed="rId2"/>
          <a:srcRect b="87333"/>
          <a:stretch>
            <a:fillRect/>
          </a:stretch>
        </p:blipFill>
        <p:spPr>
          <a:xfrm>
            <a:off x="0" y="0"/>
            <a:ext cx="9144000" cy="868680"/>
          </a:xfrm>
          <a:prstGeom prst="rect">
            <a:avLst/>
          </a:prstGeom>
        </p:spPr>
      </p:pic>
      <p:sp>
        <p:nvSpPr>
          <p:cNvPr id="4" name="TextBox 3">
            <a:extLst>
              <a:ext uri="{FF2B5EF4-FFF2-40B4-BE49-F238E27FC236}">
                <a16:creationId xmlns:a16="http://schemas.microsoft.com/office/drawing/2014/main" id="{26A241BE-7C8D-0548-23E8-DD71AABD2713}"/>
              </a:ext>
            </a:extLst>
          </p:cNvPr>
          <p:cNvSpPr txBox="1"/>
          <p:nvPr/>
        </p:nvSpPr>
        <p:spPr>
          <a:xfrm>
            <a:off x="557784" y="1207008"/>
            <a:ext cx="7836408" cy="3737946"/>
          </a:xfrm>
          <a:prstGeom prst="rect">
            <a:avLst/>
          </a:prstGeom>
          <a:noFill/>
        </p:spPr>
        <p:txBody>
          <a:bodyPr wrap="square">
            <a:spAutoFit/>
          </a:bodyPr>
          <a:lstStyle/>
          <a:p>
            <a:pPr>
              <a:lnSpc>
                <a:spcPct val="150000"/>
              </a:lnSpc>
            </a:pPr>
            <a:r>
              <a:rPr lang="en-GB" sz="2000" dirty="0"/>
              <a:t>• Many hormones act on G protein linked receptors </a:t>
            </a:r>
          </a:p>
          <a:p>
            <a:pPr>
              <a:lnSpc>
                <a:spcPct val="150000"/>
              </a:lnSpc>
            </a:pPr>
            <a:endParaRPr lang="en-GB" sz="2000" dirty="0"/>
          </a:p>
          <a:p>
            <a:pPr>
              <a:lnSpc>
                <a:spcPct val="150000"/>
              </a:lnSpc>
            </a:pPr>
            <a:r>
              <a:rPr lang="en-GB" sz="2000" dirty="0"/>
              <a:t>• Certain G protein subunits activate intracellular enzymes that synthesise intracellular signalling molecules, which then act on specific intracellular targets </a:t>
            </a:r>
          </a:p>
          <a:p>
            <a:pPr>
              <a:lnSpc>
                <a:spcPct val="150000"/>
              </a:lnSpc>
            </a:pPr>
            <a:endParaRPr lang="en-GB" sz="2000" dirty="0"/>
          </a:p>
          <a:p>
            <a:pPr>
              <a:lnSpc>
                <a:spcPct val="150000"/>
              </a:lnSpc>
            </a:pPr>
            <a:r>
              <a:rPr lang="en-GB" sz="2000" dirty="0"/>
              <a:t>• This intracellular signalling molecule is called a </a:t>
            </a:r>
            <a:r>
              <a:rPr lang="en-GB" sz="2000" b="1" dirty="0"/>
              <a:t>second messenger </a:t>
            </a:r>
            <a:r>
              <a:rPr lang="en-GB" sz="2000" dirty="0"/>
              <a:t>- the original hormone is the first messenger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page_28.png"/>
          <p:cNvPicPr>
            <a:picLocks noChangeAspect="1"/>
          </p:cNvPicPr>
          <p:nvPr/>
        </p:nvPicPr>
        <p:blipFill>
          <a:blip r:embed="rId2"/>
          <a:srcRect b="87600"/>
          <a:stretch>
            <a:fillRect/>
          </a:stretch>
        </p:blipFill>
        <p:spPr>
          <a:xfrm>
            <a:off x="0" y="0"/>
            <a:ext cx="9144000" cy="850392"/>
          </a:xfrm>
          <a:prstGeom prst="rect">
            <a:avLst/>
          </a:prstGeom>
        </p:spPr>
      </p:pic>
      <p:pic>
        <p:nvPicPr>
          <p:cNvPr id="3" name="Picture 2" descr="page_28.png">
            <a:extLst>
              <a:ext uri="{FF2B5EF4-FFF2-40B4-BE49-F238E27FC236}">
                <a16:creationId xmlns:a16="http://schemas.microsoft.com/office/drawing/2014/main" id="{251D3194-B09F-1724-65BD-936C224DE7F9}"/>
              </a:ext>
            </a:extLst>
          </p:cNvPr>
          <p:cNvPicPr>
            <a:picLocks noChangeAspect="1"/>
          </p:cNvPicPr>
          <p:nvPr/>
        </p:nvPicPr>
        <p:blipFill>
          <a:blip r:embed="rId2"/>
          <a:srcRect t="11911" b="55022"/>
          <a:stretch>
            <a:fillRect/>
          </a:stretch>
        </p:blipFill>
        <p:spPr>
          <a:xfrm>
            <a:off x="0" y="850392"/>
            <a:ext cx="9144000" cy="2267712"/>
          </a:xfrm>
          <a:prstGeom prst="rect">
            <a:avLst/>
          </a:prstGeom>
        </p:spPr>
      </p:pic>
      <p:pic>
        <p:nvPicPr>
          <p:cNvPr id="4" name="Picture 3" descr="page_28.png">
            <a:extLst>
              <a:ext uri="{FF2B5EF4-FFF2-40B4-BE49-F238E27FC236}">
                <a16:creationId xmlns:a16="http://schemas.microsoft.com/office/drawing/2014/main" id="{DF4D9BC0-E459-8B8D-31F2-E65662980733}"/>
              </a:ext>
            </a:extLst>
          </p:cNvPr>
          <p:cNvPicPr>
            <a:picLocks noChangeAspect="1"/>
          </p:cNvPicPr>
          <p:nvPr/>
        </p:nvPicPr>
        <p:blipFill>
          <a:blip r:embed="rId2"/>
          <a:srcRect t="45556" b="35022"/>
          <a:stretch>
            <a:fillRect/>
          </a:stretch>
        </p:blipFill>
        <p:spPr>
          <a:xfrm>
            <a:off x="0" y="3218688"/>
            <a:ext cx="9144000" cy="1331976"/>
          </a:xfrm>
          <a:prstGeom prst="rect">
            <a:avLst/>
          </a:prstGeom>
        </p:spPr>
      </p:pic>
      <p:pic>
        <p:nvPicPr>
          <p:cNvPr id="5" name="Picture 4" descr="page_28.png">
            <a:extLst>
              <a:ext uri="{FF2B5EF4-FFF2-40B4-BE49-F238E27FC236}">
                <a16:creationId xmlns:a16="http://schemas.microsoft.com/office/drawing/2014/main" id="{0D67FD40-5219-3757-D3EA-73736EE595E1}"/>
              </a:ext>
            </a:extLst>
          </p:cNvPr>
          <p:cNvPicPr>
            <a:picLocks noChangeAspect="1"/>
          </p:cNvPicPr>
          <p:nvPr/>
        </p:nvPicPr>
        <p:blipFill>
          <a:blip r:embed="rId2"/>
          <a:srcRect t="67200"/>
          <a:stretch>
            <a:fillRect/>
          </a:stretch>
        </p:blipFill>
        <p:spPr>
          <a:xfrm>
            <a:off x="0" y="4651248"/>
            <a:ext cx="9144000" cy="2249424"/>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6661" t="26191" r="14104" b="23413"/>
          <a:stretch/>
        </p:blipFill>
        <p:spPr bwMode="auto">
          <a:xfrm>
            <a:off x="718457" y="1556792"/>
            <a:ext cx="7707086" cy="36866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1 Rectángulo"/>
          <p:cNvSpPr/>
          <p:nvPr/>
        </p:nvSpPr>
        <p:spPr>
          <a:xfrm>
            <a:off x="0" y="1030925"/>
            <a:ext cx="9144000" cy="369332"/>
          </a:xfrm>
          <a:prstGeom prst="rect">
            <a:avLst/>
          </a:prstGeom>
        </p:spPr>
        <p:txBody>
          <a:bodyPr wrap="square">
            <a:spAutoFit/>
          </a:bodyPr>
          <a:lstStyle/>
          <a:p>
            <a:pPr algn="ctr"/>
            <a:r>
              <a:rPr lang="en-US" dirty="0">
                <a:latin typeface="Arial" panose="020B0604020202020204" pitchFamily="34" charset="0"/>
                <a:cs typeface="Arial" panose="020B0604020202020204" pitchFamily="34" charset="0"/>
              </a:rPr>
              <a:t>The activation of cyclic- </a:t>
            </a:r>
            <a:r>
              <a:rPr lang="es-ES" dirty="0">
                <a:latin typeface="Arial" panose="020B0604020202020204" pitchFamily="34" charset="0"/>
                <a:cs typeface="Arial" panose="020B0604020202020204" pitchFamily="34" charset="0"/>
              </a:rPr>
              <a:t>AMP-</a:t>
            </a:r>
            <a:r>
              <a:rPr lang="es-ES" dirty="0" err="1">
                <a:latin typeface="Arial" panose="020B0604020202020204" pitchFamily="34" charset="0"/>
                <a:cs typeface="Arial" panose="020B0604020202020204" pitchFamily="34" charset="0"/>
              </a:rPr>
              <a:t>dependent</a:t>
            </a:r>
            <a:r>
              <a:rPr lang="es-ES" dirty="0">
                <a:latin typeface="Arial" panose="020B0604020202020204" pitchFamily="34" charset="0"/>
                <a:cs typeface="Arial" panose="020B0604020202020204" pitchFamily="34" charset="0"/>
              </a:rPr>
              <a:t> </a:t>
            </a:r>
            <a:r>
              <a:rPr lang="es-ES" dirty="0" err="1">
                <a:latin typeface="Arial" panose="020B0604020202020204" pitchFamily="34" charset="0"/>
                <a:cs typeface="Arial" panose="020B0604020202020204" pitchFamily="34" charset="0"/>
              </a:rPr>
              <a:t>protein</a:t>
            </a:r>
            <a:r>
              <a:rPr lang="es-ES" dirty="0">
                <a:latin typeface="Arial" panose="020B0604020202020204" pitchFamily="34" charset="0"/>
                <a:cs typeface="Arial" panose="020B0604020202020204" pitchFamily="34" charset="0"/>
              </a:rPr>
              <a:t> </a:t>
            </a:r>
            <a:r>
              <a:rPr lang="es-ES" dirty="0" err="1">
                <a:latin typeface="Arial" panose="020B0604020202020204" pitchFamily="34" charset="0"/>
                <a:cs typeface="Arial" panose="020B0604020202020204" pitchFamily="34" charset="0"/>
              </a:rPr>
              <a:t>kinase</a:t>
            </a:r>
            <a:r>
              <a:rPr lang="es-ES" dirty="0">
                <a:latin typeface="Arial" panose="020B0604020202020204" pitchFamily="34" charset="0"/>
                <a:cs typeface="Arial" panose="020B0604020202020204" pitchFamily="34" charset="0"/>
              </a:rPr>
              <a:t> (PKA).</a:t>
            </a:r>
          </a:p>
        </p:txBody>
      </p:sp>
      <p:pic>
        <p:nvPicPr>
          <p:cNvPr id="3" name="Picture 2" descr="page_28.png">
            <a:extLst>
              <a:ext uri="{FF2B5EF4-FFF2-40B4-BE49-F238E27FC236}">
                <a16:creationId xmlns:a16="http://schemas.microsoft.com/office/drawing/2014/main" id="{88274333-D24F-6D15-AF67-1402EC5E48B3}"/>
              </a:ext>
            </a:extLst>
          </p:cNvPr>
          <p:cNvPicPr>
            <a:picLocks noChangeAspect="1"/>
          </p:cNvPicPr>
          <p:nvPr/>
        </p:nvPicPr>
        <p:blipFill>
          <a:blip r:embed="rId3"/>
          <a:srcRect b="87600"/>
          <a:stretch>
            <a:fillRect/>
          </a:stretch>
        </p:blipFill>
        <p:spPr>
          <a:xfrm>
            <a:off x="8311" y="-560"/>
            <a:ext cx="9144000" cy="850392"/>
          </a:xfrm>
          <a:prstGeom prst="rect">
            <a:avLst/>
          </a:prstGeom>
        </p:spPr>
      </p:pic>
    </p:spTree>
    <p:extLst>
      <p:ext uri="{BB962C8B-B14F-4D97-AF65-F5344CB8AC3E}">
        <p14:creationId xmlns:p14="http://schemas.microsoft.com/office/powerpoint/2010/main" val="30843151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6366" t="18056" r="40431" b="6250"/>
          <a:stretch/>
        </p:blipFill>
        <p:spPr bwMode="auto">
          <a:xfrm>
            <a:off x="3810303" y="850392"/>
            <a:ext cx="3242346" cy="59468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2" descr="page_28.png">
            <a:extLst>
              <a:ext uri="{FF2B5EF4-FFF2-40B4-BE49-F238E27FC236}">
                <a16:creationId xmlns:a16="http://schemas.microsoft.com/office/drawing/2014/main" id="{41A5ABB4-FD4E-9C9C-C25A-C6FD54ED236C}"/>
              </a:ext>
            </a:extLst>
          </p:cNvPr>
          <p:cNvPicPr>
            <a:picLocks noChangeAspect="1"/>
          </p:cNvPicPr>
          <p:nvPr/>
        </p:nvPicPr>
        <p:blipFill>
          <a:blip r:embed="rId3"/>
          <a:srcRect b="87600"/>
          <a:stretch>
            <a:fillRect/>
          </a:stretch>
        </p:blipFill>
        <p:spPr>
          <a:xfrm>
            <a:off x="0" y="0"/>
            <a:ext cx="9144000" cy="850392"/>
          </a:xfrm>
          <a:prstGeom prst="rect">
            <a:avLst/>
          </a:prstGeom>
        </p:spPr>
      </p:pic>
      <p:sp>
        <p:nvSpPr>
          <p:cNvPr id="5" name="TextBox 4">
            <a:extLst>
              <a:ext uri="{FF2B5EF4-FFF2-40B4-BE49-F238E27FC236}">
                <a16:creationId xmlns:a16="http://schemas.microsoft.com/office/drawing/2014/main" id="{81D77615-E60F-401A-E533-8E84551F1FB7}"/>
              </a:ext>
            </a:extLst>
          </p:cNvPr>
          <p:cNvSpPr txBox="1"/>
          <p:nvPr/>
        </p:nvSpPr>
        <p:spPr>
          <a:xfrm>
            <a:off x="340822" y="2444033"/>
            <a:ext cx="3308465" cy="923330"/>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How a rise in intracellular </a:t>
            </a:r>
            <a:r>
              <a:rPr lang="es-ES" dirty="0" err="1">
                <a:latin typeface="Arial" panose="020B0604020202020204" pitchFamily="34" charset="0"/>
                <a:cs typeface="Arial" panose="020B0604020202020204" pitchFamily="34" charset="0"/>
              </a:rPr>
              <a:t>cyclic</a:t>
            </a:r>
            <a:r>
              <a:rPr lang="es-ES" dirty="0">
                <a:latin typeface="Arial" panose="020B0604020202020204" pitchFamily="34" charset="0"/>
                <a:cs typeface="Arial" panose="020B0604020202020204" pitchFamily="34" charset="0"/>
              </a:rPr>
              <a:t> AMP </a:t>
            </a:r>
            <a:r>
              <a:rPr lang="es-ES" dirty="0" err="1">
                <a:latin typeface="Arial" panose="020B0604020202020204" pitchFamily="34" charset="0"/>
                <a:cs typeface="Arial" panose="020B0604020202020204" pitchFamily="34" charset="0"/>
              </a:rPr>
              <a:t>concentration</a:t>
            </a:r>
            <a:r>
              <a:rPr lang="es-ES" dirty="0">
                <a:latin typeface="Arial" panose="020B0604020202020204" pitchFamily="34" charset="0"/>
                <a:cs typeface="Arial" panose="020B0604020202020204" pitchFamily="34" charset="0"/>
              </a:rPr>
              <a:t> can alter gene </a:t>
            </a:r>
            <a:r>
              <a:rPr lang="es-ES" dirty="0" err="1">
                <a:latin typeface="Arial" panose="020B0604020202020204" pitchFamily="34" charset="0"/>
                <a:cs typeface="Arial" panose="020B0604020202020204" pitchFamily="34" charset="0"/>
              </a:rPr>
              <a:t>transcription</a:t>
            </a:r>
            <a:r>
              <a:rPr lang="es-E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2856709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7553" t="23016" r="16447" b="14484"/>
          <a:stretch/>
        </p:blipFill>
        <p:spPr bwMode="auto">
          <a:xfrm>
            <a:off x="162383" y="980728"/>
            <a:ext cx="8836180" cy="55446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1 Rectángulo"/>
          <p:cNvSpPr/>
          <p:nvPr/>
        </p:nvSpPr>
        <p:spPr>
          <a:xfrm>
            <a:off x="83448" y="6340678"/>
            <a:ext cx="9127054" cy="369332"/>
          </a:xfrm>
          <a:prstGeom prst="rect">
            <a:avLst/>
          </a:prstGeom>
        </p:spPr>
        <p:txBody>
          <a:bodyPr wrap="square">
            <a:spAutoFit/>
          </a:bodyPr>
          <a:lstStyle/>
          <a:p>
            <a:pPr algn="ctr"/>
            <a:r>
              <a:rPr lang="en-US" dirty="0">
                <a:latin typeface="Arial" panose="020B0604020202020204" pitchFamily="34" charset="0"/>
                <a:cs typeface="Arial" panose="020B0604020202020204" pitchFamily="34" charset="0"/>
              </a:rPr>
              <a:t>How GPCRs increase cytosolic Ca2+ and activate protein </a:t>
            </a:r>
            <a:r>
              <a:rPr lang="es-ES" dirty="0" err="1">
                <a:latin typeface="Arial" panose="020B0604020202020204" pitchFamily="34" charset="0"/>
                <a:cs typeface="Arial" panose="020B0604020202020204" pitchFamily="34" charset="0"/>
              </a:rPr>
              <a:t>kinase</a:t>
            </a:r>
            <a:r>
              <a:rPr lang="es-ES" dirty="0">
                <a:latin typeface="Arial" panose="020B0604020202020204" pitchFamily="34" charset="0"/>
                <a:cs typeface="Arial" panose="020B0604020202020204" pitchFamily="34" charset="0"/>
              </a:rPr>
              <a:t> C.</a:t>
            </a:r>
          </a:p>
        </p:txBody>
      </p:sp>
      <p:pic>
        <p:nvPicPr>
          <p:cNvPr id="3" name="Picture 2" descr="page_28.png">
            <a:extLst>
              <a:ext uri="{FF2B5EF4-FFF2-40B4-BE49-F238E27FC236}">
                <a16:creationId xmlns:a16="http://schemas.microsoft.com/office/drawing/2014/main" id="{38CCB567-7AE7-BD81-067C-32DB9ED6AE20}"/>
              </a:ext>
            </a:extLst>
          </p:cNvPr>
          <p:cNvPicPr>
            <a:picLocks noChangeAspect="1"/>
          </p:cNvPicPr>
          <p:nvPr/>
        </p:nvPicPr>
        <p:blipFill>
          <a:blip r:embed="rId3"/>
          <a:srcRect b="87600"/>
          <a:stretch>
            <a:fillRect/>
          </a:stretch>
        </p:blipFill>
        <p:spPr>
          <a:xfrm>
            <a:off x="0" y="0"/>
            <a:ext cx="9144000" cy="850392"/>
          </a:xfrm>
          <a:prstGeom prst="rect">
            <a:avLst/>
          </a:prstGeom>
        </p:spPr>
      </p:pic>
    </p:spTree>
    <p:extLst>
      <p:ext uri="{BB962C8B-B14F-4D97-AF65-F5344CB8AC3E}">
        <p14:creationId xmlns:p14="http://schemas.microsoft.com/office/powerpoint/2010/main" val="37078182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page_29.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page_30.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page_31.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page_32.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page_33.png"/>
          <p:cNvPicPr>
            <a:picLocks noChangeAspect="1"/>
          </p:cNvPicPr>
          <p:nvPr/>
        </p:nvPicPr>
        <p:blipFill>
          <a:blip r:embed="rId2"/>
          <a:srcRect b="87867"/>
          <a:stretch>
            <a:fillRect/>
          </a:stretch>
        </p:blipFill>
        <p:spPr>
          <a:xfrm>
            <a:off x="0" y="0"/>
            <a:ext cx="9144000" cy="832104"/>
          </a:xfrm>
          <a:prstGeom prst="rect">
            <a:avLst/>
          </a:prstGeom>
        </p:spPr>
      </p:pic>
      <p:sp>
        <p:nvSpPr>
          <p:cNvPr id="4" name="TextBox 3">
            <a:extLst>
              <a:ext uri="{FF2B5EF4-FFF2-40B4-BE49-F238E27FC236}">
                <a16:creationId xmlns:a16="http://schemas.microsoft.com/office/drawing/2014/main" id="{E79E1C7F-B726-7F61-2FBB-28294DC9372E}"/>
              </a:ext>
            </a:extLst>
          </p:cNvPr>
          <p:cNvSpPr txBox="1"/>
          <p:nvPr/>
        </p:nvSpPr>
        <p:spPr>
          <a:xfrm>
            <a:off x="448056" y="1006269"/>
            <a:ext cx="8220456" cy="5293757"/>
          </a:xfrm>
          <a:prstGeom prst="rect">
            <a:avLst/>
          </a:prstGeom>
          <a:noFill/>
        </p:spPr>
        <p:txBody>
          <a:bodyPr wrap="square">
            <a:spAutoFit/>
          </a:bodyPr>
          <a:lstStyle/>
          <a:p>
            <a:r>
              <a:rPr lang="en-GB" sz="2000" dirty="0"/>
              <a:t>• Cells co-ordinate their activities by sending and receiving chemical signals of various kinds </a:t>
            </a:r>
          </a:p>
          <a:p>
            <a:endParaRPr lang="en-GB" sz="2000" dirty="0"/>
          </a:p>
          <a:p>
            <a:r>
              <a:rPr lang="en-GB" sz="2000" dirty="0"/>
              <a:t>• </a:t>
            </a:r>
            <a:r>
              <a:rPr lang="en-GB" sz="2000" b="1" dirty="0"/>
              <a:t>Paracrine and autocrine </a:t>
            </a:r>
            <a:r>
              <a:rPr lang="en-GB" sz="2000" dirty="0"/>
              <a:t>signals are localised </a:t>
            </a:r>
          </a:p>
          <a:p>
            <a:endParaRPr lang="en-GB" sz="2000" dirty="0"/>
          </a:p>
          <a:p>
            <a:r>
              <a:rPr lang="en-GB" sz="2000" dirty="0"/>
              <a:t>• </a:t>
            </a:r>
            <a:r>
              <a:rPr lang="en-GB" sz="2000" b="1" dirty="0"/>
              <a:t>Endocrine</a:t>
            </a:r>
            <a:r>
              <a:rPr lang="en-GB" sz="2000" dirty="0"/>
              <a:t> signals act on many different cell types, tissues and organs, often quite distance to their source </a:t>
            </a:r>
          </a:p>
          <a:p>
            <a:endParaRPr lang="en-GB" sz="2000" dirty="0"/>
          </a:p>
          <a:p>
            <a:r>
              <a:rPr lang="en-GB" sz="2000" dirty="0"/>
              <a:t>• Synaptic signalling is over a very short distance to control specific target cells </a:t>
            </a:r>
          </a:p>
          <a:p>
            <a:endParaRPr lang="en-GB" sz="2000" dirty="0"/>
          </a:p>
          <a:p>
            <a:r>
              <a:rPr lang="en-GB" sz="2000" dirty="0"/>
              <a:t>• Chemical signals are detected by specific receptor molecules. </a:t>
            </a:r>
          </a:p>
          <a:p>
            <a:endParaRPr lang="en-GB" sz="2000" dirty="0"/>
          </a:p>
          <a:p>
            <a:r>
              <a:rPr lang="en-GB" sz="2000" dirty="0"/>
              <a:t>• Receptors alter the activity of a cell by: </a:t>
            </a:r>
          </a:p>
          <a:p>
            <a:r>
              <a:rPr lang="en-GB" sz="2000" dirty="0"/>
              <a:t>	o Modulating the activity of an ion channel </a:t>
            </a:r>
          </a:p>
          <a:p>
            <a:r>
              <a:rPr lang="en-GB" sz="2000" dirty="0"/>
              <a:t>	o Modulating the activity of an enzyme </a:t>
            </a:r>
          </a:p>
          <a:p>
            <a:r>
              <a:rPr lang="en-GB" sz="2000" dirty="0"/>
              <a:t>	o Altering gene expression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5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fade">
                                      <p:cBhvr>
                                        <p:cTn id="22" dur="500"/>
                                        <p:tgtEl>
                                          <p:spTgt spid="4">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animEffect transition="in" filter="fade">
                                      <p:cBhvr>
                                        <p:cTn id="27" dur="500"/>
                                        <p:tgtEl>
                                          <p:spTgt spid="4">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10" end="10"/>
                                            </p:txEl>
                                          </p:spTgt>
                                        </p:tgtEl>
                                        <p:attrNameLst>
                                          <p:attrName>style.visibility</p:attrName>
                                        </p:attrNameLst>
                                      </p:cBhvr>
                                      <p:to>
                                        <p:strVal val="visible"/>
                                      </p:to>
                                    </p:set>
                                    <p:animEffect transition="in" filter="fade">
                                      <p:cBhvr>
                                        <p:cTn id="32" dur="500"/>
                                        <p:tgtEl>
                                          <p:spTgt spid="4">
                                            <p:txEl>
                                              <p:pRg st="10" end="10"/>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4">
                                            <p:txEl>
                                              <p:pRg st="11" end="11"/>
                                            </p:txEl>
                                          </p:spTgt>
                                        </p:tgtEl>
                                        <p:attrNameLst>
                                          <p:attrName>style.visibility</p:attrName>
                                        </p:attrNameLst>
                                      </p:cBhvr>
                                      <p:to>
                                        <p:strVal val="visible"/>
                                      </p:to>
                                    </p:set>
                                    <p:animEffect transition="in" filter="fade">
                                      <p:cBhvr>
                                        <p:cTn id="35" dur="500"/>
                                        <p:tgtEl>
                                          <p:spTgt spid="4">
                                            <p:txEl>
                                              <p:pRg st="11" end="11"/>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4">
                                            <p:txEl>
                                              <p:pRg st="12" end="12"/>
                                            </p:txEl>
                                          </p:spTgt>
                                        </p:tgtEl>
                                        <p:attrNameLst>
                                          <p:attrName>style.visibility</p:attrName>
                                        </p:attrNameLst>
                                      </p:cBhvr>
                                      <p:to>
                                        <p:strVal val="visible"/>
                                      </p:to>
                                    </p:set>
                                    <p:animEffect transition="in" filter="fade">
                                      <p:cBhvr>
                                        <p:cTn id="38" dur="500"/>
                                        <p:tgtEl>
                                          <p:spTgt spid="4">
                                            <p:txEl>
                                              <p:pRg st="12" end="12"/>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4">
                                            <p:txEl>
                                              <p:pRg st="13" end="13"/>
                                            </p:txEl>
                                          </p:spTgt>
                                        </p:tgtEl>
                                        <p:attrNameLst>
                                          <p:attrName>style.visibility</p:attrName>
                                        </p:attrNameLst>
                                      </p:cBhvr>
                                      <p:to>
                                        <p:strVal val="visible"/>
                                      </p:to>
                                    </p:set>
                                    <p:animEffect transition="in" filter="fade">
                                      <p:cBhvr>
                                        <p:cTn id="41" dur="500"/>
                                        <p:tgtEl>
                                          <p:spTgt spid="4">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faf88fe-a998-4c5b-93c9-210a11d9a5c2}" enabled="0" method="" siteId="{1faf88fe-a998-4c5b-93c9-210a11d9a5c2}" removed="1"/>
</clbl:labelList>
</file>

<file path=docProps/app.xml><?xml version="1.0" encoding="utf-8"?>
<Properties xmlns="http://schemas.openxmlformats.org/officeDocument/2006/extended-properties" xmlns:vt="http://schemas.openxmlformats.org/officeDocument/2006/docPropsVTypes">
  <Template/>
  <TotalTime>151</TotalTime>
  <Words>1093</Words>
  <Application>Microsoft Office PowerPoint</Application>
  <PresentationFormat>On-screen Show (4:3)</PresentationFormat>
  <Paragraphs>141</Paragraphs>
  <Slides>44</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44</vt:i4>
      </vt:variant>
    </vt:vector>
  </HeadingPairs>
  <TitlesOfParts>
    <vt:vector size="52" baseType="lpstr">
      <vt:lpstr>Amasis MT Pro Black</vt:lpstr>
      <vt:lpstr>Aptos</vt:lpstr>
      <vt:lpstr>Arial</vt:lpstr>
      <vt:lpstr>Arial Black</vt:lpstr>
      <vt:lpstr>Calibri</vt:lpstr>
      <vt:lpstr>Lato</vt:lpstr>
      <vt:lpstr>Roboto Condensed Light</vt:lpstr>
      <vt:lpstr>Office Theme</vt:lpstr>
      <vt:lpstr>PowerPoint Presentation</vt:lpstr>
      <vt:lpstr>PowerPoint Presentation</vt:lpstr>
      <vt:lpstr>PowerPoint Presentation</vt:lpstr>
      <vt:lpstr>PowerPoint Presentation</vt:lpstr>
      <vt:lpstr>PowerPoint Presentation</vt:lpstr>
      <vt:lpstr>PowerPoint Presentation</vt:lpstr>
      <vt:lpstr>PARACRINE SIGNALING</vt:lpstr>
      <vt:lpstr>EXAMPLE OF PARACRINE SIGNALING</vt:lpstr>
      <vt:lpstr>AUTOCRINE SIGNALING</vt:lpstr>
      <vt:lpstr>ENDOCRINE SIGNALING</vt:lpstr>
      <vt:lpstr>ENDOCRINE SIGNALING</vt:lpstr>
      <vt:lpstr>SIGNALING THROUGH CELL-CELL CONTACT</vt:lpstr>
      <vt:lpstr>SIGNALING THROUGH CELL-CELL CONTACT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Patel, Jigisha</cp:lastModifiedBy>
  <cp:revision>3</cp:revision>
  <dcterms:created xsi:type="dcterms:W3CDTF">2013-01-27T09:14:16Z</dcterms:created>
  <dcterms:modified xsi:type="dcterms:W3CDTF">2025-10-12T20:33:13Z</dcterms:modified>
  <cp:category/>
</cp:coreProperties>
</file>