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handoutMasterIdLst>
    <p:handoutMasterId r:id="rId30"/>
  </p:handoutMasterIdLst>
  <p:sldIdLst>
    <p:sldId id="406" r:id="rId2"/>
    <p:sldId id="428" r:id="rId3"/>
    <p:sldId id="454" r:id="rId4"/>
    <p:sldId id="429" r:id="rId5"/>
    <p:sldId id="430" r:id="rId6"/>
    <p:sldId id="456" r:id="rId7"/>
    <p:sldId id="431" r:id="rId8"/>
    <p:sldId id="432" r:id="rId9"/>
    <p:sldId id="433" r:id="rId10"/>
    <p:sldId id="434" r:id="rId11"/>
    <p:sldId id="445" r:id="rId12"/>
    <p:sldId id="435" r:id="rId13"/>
    <p:sldId id="436" r:id="rId14"/>
    <p:sldId id="446" r:id="rId15"/>
    <p:sldId id="448" r:id="rId16"/>
    <p:sldId id="437" r:id="rId17"/>
    <p:sldId id="438" r:id="rId18"/>
    <p:sldId id="457" r:id="rId19"/>
    <p:sldId id="439" r:id="rId20"/>
    <p:sldId id="453" r:id="rId21"/>
    <p:sldId id="447" r:id="rId22"/>
    <p:sldId id="440" r:id="rId23"/>
    <p:sldId id="441" r:id="rId24"/>
    <p:sldId id="455" r:id="rId25"/>
    <p:sldId id="442" r:id="rId26"/>
    <p:sldId id="443" r:id="rId27"/>
    <p:sldId id="444" r:id="rId28"/>
  </p:sldIdLst>
  <p:sldSz cx="9144000" cy="6858000" type="screen4x3"/>
  <p:notesSz cx="6735763" cy="9869488"/>
  <p:defaultTextStyle>
    <a:defPPr>
      <a:defRPr lang="en-GB"/>
    </a:defPPr>
    <a:lvl1pPr algn="l" rtl="0" eaLnBrk="0" fontAlgn="base" hangingPunct="0">
      <a:spcBef>
        <a:spcPct val="0"/>
      </a:spcBef>
      <a:spcAft>
        <a:spcPct val="0"/>
      </a:spcAft>
      <a:defRPr sz="2400" kern="1200">
        <a:solidFill>
          <a:srgbClr val="FFFFFF"/>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rgbClr val="FFFFFF"/>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rgbClr val="FFFFFF"/>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rgbClr val="FFFFFF"/>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rgbClr val="FFFFFF"/>
        </a:solidFill>
        <a:latin typeface="Times New Roman" panose="02020603050405020304" pitchFamily="18" charset="0"/>
        <a:ea typeface="+mn-ea"/>
        <a:cs typeface="+mn-cs"/>
      </a:defRPr>
    </a:lvl5pPr>
    <a:lvl6pPr marL="2286000" algn="l" defTabSz="914400" rtl="0" eaLnBrk="1" latinLnBrk="0" hangingPunct="1">
      <a:defRPr sz="2400" kern="1200">
        <a:solidFill>
          <a:srgbClr val="FFFFFF"/>
        </a:solidFill>
        <a:latin typeface="Times New Roman" panose="02020603050405020304" pitchFamily="18" charset="0"/>
        <a:ea typeface="+mn-ea"/>
        <a:cs typeface="+mn-cs"/>
      </a:defRPr>
    </a:lvl6pPr>
    <a:lvl7pPr marL="2743200" algn="l" defTabSz="914400" rtl="0" eaLnBrk="1" latinLnBrk="0" hangingPunct="1">
      <a:defRPr sz="2400" kern="1200">
        <a:solidFill>
          <a:srgbClr val="FFFFFF"/>
        </a:solidFill>
        <a:latin typeface="Times New Roman" panose="02020603050405020304" pitchFamily="18" charset="0"/>
        <a:ea typeface="+mn-ea"/>
        <a:cs typeface="+mn-cs"/>
      </a:defRPr>
    </a:lvl7pPr>
    <a:lvl8pPr marL="3200400" algn="l" defTabSz="914400" rtl="0" eaLnBrk="1" latinLnBrk="0" hangingPunct="1">
      <a:defRPr sz="2400" kern="1200">
        <a:solidFill>
          <a:srgbClr val="FFFFFF"/>
        </a:solidFill>
        <a:latin typeface="Times New Roman" panose="02020603050405020304" pitchFamily="18" charset="0"/>
        <a:ea typeface="+mn-ea"/>
        <a:cs typeface="+mn-cs"/>
      </a:defRPr>
    </a:lvl8pPr>
    <a:lvl9pPr marL="3657600" algn="l" defTabSz="914400" rtl="0" eaLnBrk="1" latinLnBrk="0" hangingPunct="1">
      <a:defRPr sz="2400" kern="1200">
        <a:solidFill>
          <a:srgbClr val="FFFFFF"/>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699"/>
    <a:srgbClr val="0099CC"/>
    <a:srgbClr val="33CCCC"/>
    <a:srgbClr val="00CCFF"/>
    <a:srgbClr val="FFFFCC"/>
    <a:srgbClr val="FFFFFF"/>
    <a:srgbClr val="FFFF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6247" autoAdjust="0"/>
  </p:normalViewPr>
  <p:slideViewPr>
    <p:cSldViewPr>
      <p:cViewPr varScale="1">
        <p:scale>
          <a:sx n="156" d="100"/>
          <a:sy n="156" d="100"/>
        </p:scale>
        <p:origin x="3453"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79E63F00-7F72-67C3-8AFC-95AF284761E6}"/>
              </a:ext>
            </a:extLst>
          </p:cNvPr>
          <p:cNvSpPr>
            <a:spLocks noGrp="1" noChangeArrowheads="1"/>
          </p:cNvSpPr>
          <p:nvPr>
            <p:ph type="body" sz="quarter" idx="3"/>
          </p:nvPr>
        </p:nvSpPr>
        <p:spPr bwMode="auto">
          <a:xfrm>
            <a:off x="898525" y="4691063"/>
            <a:ext cx="4938713" cy="415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2051" name="Rectangle 3">
            <a:extLst>
              <a:ext uri="{FF2B5EF4-FFF2-40B4-BE49-F238E27FC236}">
                <a16:creationId xmlns:a16="http://schemas.microsoft.com/office/drawing/2014/main" id="{666B13B5-CAE3-6C5F-EEA9-FBEE54078F1E}"/>
              </a:ext>
            </a:extLst>
          </p:cNvPr>
          <p:cNvSpPr>
            <a:spLocks noGrp="1" noRot="1" noChangeAspect="1" noChangeArrowheads="1" noTextEdit="1"/>
          </p:cNvSpPr>
          <p:nvPr>
            <p:ph type="sldImg" idx="2"/>
          </p:nvPr>
        </p:nvSpPr>
        <p:spPr bwMode="auto">
          <a:xfrm>
            <a:off x="1058863" y="857250"/>
            <a:ext cx="4618037" cy="3463925"/>
          </a:xfrm>
          <a:prstGeom prst="rect">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mn-ea"/>
        <a:cs typeface="Arial" panose="020B0604020202020204" pitchFamily="34" charset="0"/>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mn-ea"/>
        <a:cs typeface="Arial" panose="020B0604020202020204" pitchFamily="34" charset="0"/>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mn-ea"/>
        <a:cs typeface="Arial" panose="020B0604020202020204" pitchFamily="34" charset="0"/>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mn-ea"/>
        <a:cs typeface="Arial" panose="020B0604020202020204" pitchFamily="34" charset="0"/>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34B2B-4436-0AC4-387E-D5B2186B66BD}"/>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C928525-3917-E505-2F8D-E1582FA5B474}"/>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2182612934"/>
      </p:ext>
    </p:extLst>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3A3F4-FC1E-9649-BD1C-CA5EAA9C17A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B6D91FB-3F11-3648-DD6D-BC665D346E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319259291"/>
      </p:ext>
    </p:extLst>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FDADA-BEB7-8114-DE9F-FE8FDF9A4208}"/>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27FFCFE-ED75-0623-C39E-522C395A6E57}"/>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929108028"/>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8772D-9D78-C9C1-8147-2F74DB283BF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AF458EC-1319-2E6F-65DA-91452737A0B9}"/>
              </a:ext>
            </a:extLst>
          </p:cNvPr>
          <p:cNvSpPr>
            <a:spLocks noGrp="1"/>
          </p:cNvSpPr>
          <p:nvPr>
            <p:ph sz="half" idx="1"/>
          </p:nvPr>
        </p:nvSpPr>
        <p:spPr>
          <a:xfrm>
            <a:off x="1117600" y="1981200"/>
            <a:ext cx="33782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0973407-2CFC-B9C2-97F2-D1A5459E1816}"/>
              </a:ext>
            </a:extLst>
          </p:cNvPr>
          <p:cNvSpPr>
            <a:spLocks noGrp="1"/>
          </p:cNvSpPr>
          <p:nvPr>
            <p:ph sz="half" idx="2"/>
          </p:nvPr>
        </p:nvSpPr>
        <p:spPr>
          <a:xfrm>
            <a:off x="4648200" y="1981200"/>
            <a:ext cx="33782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722381384"/>
      </p:ext>
    </p:extLst>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7ED29-101E-7E11-75CC-64C20C870BDA}"/>
              </a:ext>
            </a:extLst>
          </p:cNvPr>
          <p:cNvSpPr>
            <a:spLocks noGrp="1"/>
          </p:cNvSpPr>
          <p:nvPr>
            <p:ph type="title"/>
          </p:nvPr>
        </p:nvSpPr>
        <p:spPr>
          <a:xfrm>
            <a:off x="630238" y="365125"/>
            <a:ext cx="78867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E82ED2F-BAB2-9482-DAAC-26FEEAC017CC}"/>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23FA7C-3BF3-8964-7017-A8B3FC04DA39}"/>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6429F78-5089-F6DD-86A6-D55A45ED535A}"/>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7E6055-DB25-6364-B2B7-4D5A372ACFC3}"/>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164402423"/>
      </p:ext>
    </p:extLst>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86D71-B6C8-DF8B-9DA9-E74A5346AF0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65099821"/>
      </p:ext>
    </p:extLst>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0572677"/>
      </p:ext>
    </p:extLst>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22013-18C5-F6CB-D07D-DF8B56D1AFD1}"/>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89E3B49-1CCB-4CB9-2280-EE0A2D01252A}"/>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BAF3373-3634-1C6B-3873-D697A25BA478}"/>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334176322"/>
      </p:ext>
    </p:extLst>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2CD57-BCD5-5949-E8E5-A4E6F0037FA7}"/>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229805D-0628-6CD1-0C63-D0F6DBFBBF0A}"/>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F83BFD0-3A9D-1B2A-96D7-DBA58A25105B}"/>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888220769"/>
      </p:ext>
    </p:extLst>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E1A31-8D6D-752B-5CE8-22903726079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8C39871-CA54-D700-023F-58A82589E98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142988128"/>
      </p:ext>
    </p:extLst>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B585C5-7B56-CCBA-2E3D-4A7707404886}"/>
              </a:ext>
            </a:extLst>
          </p:cNvPr>
          <p:cNvSpPr>
            <a:spLocks noGrp="1"/>
          </p:cNvSpPr>
          <p:nvPr>
            <p:ph type="title" orient="vert"/>
          </p:nvPr>
        </p:nvSpPr>
        <p:spPr>
          <a:xfrm>
            <a:off x="6299200" y="609600"/>
            <a:ext cx="1727200" cy="5486400"/>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7897FED-F8A3-F1F0-B29D-F35918B4E6FF}"/>
              </a:ext>
            </a:extLst>
          </p:cNvPr>
          <p:cNvSpPr>
            <a:spLocks noGrp="1"/>
          </p:cNvSpPr>
          <p:nvPr>
            <p:ph type="body" orient="vert" idx="1"/>
          </p:nvPr>
        </p:nvSpPr>
        <p:spPr>
          <a:xfrm>
            <a:off x="1117600" y="609600"/>
            <a:ext cx="502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408308656"/>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CEA6C6D-094A-863C-3D98-A6669B71DF01}"/>
              </a:ext>
            </a:extLst>
          </p:cNvPr>
          <p:cNvSpPr>
            <a:spLocks noGrp="1" noChangeArrowheads="1"/>
          </p:cNvSpPr>
          <p:nvPr>
            <p:ph type="title"/>
          </p:nvPr>
        </p:nvSpPr>
        <p:spPr bwMode="auto">
          <a:xfrm>
            <a:off x="1117600" y="609600"/>
            <a:ext cx="6908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p>
            <a:pPr lvl="0"/>
            <a:r>
              <a:rPr lang="en-GB" altLang="en-US"/>
              <a:t>Click to edit Master title style</a:t>
            </a:r>
          </a:p>
        </p:txBody>
      </p:sp>
      <p:sp>
        <p:nvSpPr>
          <p:cNvPr id="1027" name="Rectangle 3">
            <a:extLst>
              <a:ext uri="{FF2B5EF4-FFF2-40B4-BE49-F238E27FC236}">
                <a16:creationId xmlns:a16="http://schemas.microsoft.com/office/drawing/2014/main" id="{9E99C34D-184C-697B-2A59-4F901BCB69D2}"/>
              </a:ext>
            </a:extLst>
          </p:cNvPr>
          <p:cNvSpPr>
            <a:spLocks noGrp="1" noChangeArrowheads="1"/>
          </p:cNvSpPr>
          <p:nvPr>
            <p:ph type="body" idx="1"/>
          </p:nvPr>
        </p:nvSpPr>
        <p:spPr bwMode="auto">
          <a:xfrm>
            <a:off x="1117600" y="1981200"/>
            <a:ext cx="69088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pic>
        <p:nvPicPr>
          <p:cNvPr id="1028" name="Picture 4">
            <a:extLst>
              <a:ext uri="{FF2B5EF4-FFF2-40B4-BE49-F238E27FC236}">
                <a16:creationId xmlns:a16="http://schemas.microsoft.com/office/drawing/2014/main" id="{FEAC0AC9-1646-6847-74B9-34D34E4D02C2}"/>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603250"/>
            <a:ext cx="91440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Lst>
        </p:spPr>
      </p:pic>
      <p:sp>
        <p:nvSpPr>
          <p:cNvPr id="1030" name="Rectangle 6">
            <a:extLst>
              <a:ext uri="{FF2B5EF4-FFF2-40B4-BE49-F238E27FC236}">
                <a16:creationId xmlns:a16="http://schemas.microsoft.com/office/drawing/2014/main" id="{DAD61672-9AC2-8240-5F56-97439F1C9151}"/>
              </a:ext>
            </a:extLst>
          </p:cNvPr>
          <p:cNvSpPr>
            <a:spLocks noChangeArrowheads="1"/>
          </p:cNvSpPr>
          <p:nvPr userDrawn="1"/>
        </p:nvSpPr>
        <p:spPr bwMode="auto">
          <a:xfrm>
            <a:off x="0" y="692150"/>
            <a:ext cx="9144000" cy="73025"/>
          </a:xfrm>
          <a:prstGeom prst="rect">
            <a:avLst/>
          </a:prstGeom>
          <a:gradFill rotWithShape="1">
            <a:gsLst>
              <a:gs pos="0">
                <a:schemeClr val="hlink"/>
              </a:gs>
              <a:gs pos="100000">
                <a:schemeClr val="tx1"/>
              </a:gs>
            </a:gsLst>
            <a:lin ang="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zoom/>
  </p:transition>
  <p:txStyles>
    <p:titleStyle>
      <a:lvl1pPr algn="ctr" rtl="0" eaLnBrk="0" fontAlgn="base" hangingPunct="0">
        <a:spcBef>
          <a:spcPct val="0"/>
        </a:spcBef>
        <a:spcAft>
          <a:spcPct val="0"/>
        </a:spcAft>
        <a:defRPr sz="4400" kern="1200">
          <a:solidFill>
            <a:srgbClr val="FFFF00"/>
          </a:solidFill>
          <a:latin typeface="+mj-lt"/>
          <a:ea typeface="+mj-ea"/>
          <a:cs typeface="+mj-cs"/>
        </a:defRPr>
      </a:lvl1pPr>
      <a:lvl2pPr algn="ctr" rtl="0"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5pPr>
      <a:lvl6pPr marL="457200" algn="ctr" rtl="0"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6pPr>
      <a:lvl7pPr marL="914400" algn="ctr" rtl="0"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7pPr>
      <a:lvl8pPr marL="1371600" algn="ctr" rtl="0"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8pPr>
      <a:lvl9pPr marL="1828800" algn="ctr" rtl="0"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9pPr>
    </p:titleStyle>
    <p:bodyStyle>
      <a:lvl1pPr marL="342900" indent="-342900" algn="l" rtl="0" eaLnBrk="0" fontAlgn="base" hangingPunct="0">
        <a:spcBef>
          <a:spcPct val="20000"/>
        </a:spcBef>
        <a:spcAft>
          <a:spcPct val="0"/>
        </a:spcAft>
        <a:buSzPct val="100000"/>
        <a:buChar char="•"/>
        <a:defRPr sz="3200" kern="1200">
          <a:solidFill>
            <a:srgbClr val="FFFFFF"/>
          </a:solidFill>
          <a:latin typeface="+mn-lt"/>
          <a:ea typeface="+mn-ea"/>
          <a:cs typeface="+mn-cs"/>
        </a:defRPr>
      </a:lvl1pPr>
      <a:lvl2pPr marL="742950" indent="-285750" algn="l" rtl="0" eaLnBrk="0" fontAlgn="base" hangingPunct="0">
        <a:spcBef>
          <a:spcPct val="20000"/>
        </a:spcBef>
        <a:spcAft>
          <a:spcPct val="0"/>
        </a:spcAft>
        <a:buSzPct val="100000"/>
        <a:buChar char="–"/>
        <a:defRPr sz="2800" kern="1200">
          <a:solidFill>
            <a:srgbClr val="FFFFFF"/>
          </a:solidFill>
          <a:latin typeface="+mn-lt"/>
          <a:ea typeface="+mn-ea"/>
          <a:cs typeface="+mn-cs"/>
        </a:defRPr>
      </a:lvl2pPr>
      <a:lvl3pPr marL="1143000" indent="-228600" algn="l" rtl="0" eaLnBrk="0" fontAlgn="base" hangingPunct="0">
        <a:spcBef>
          <a:spcPct val="20000"/>
        </a:spcBef>
        <a:spcAft>
          <a:spcPct val="0"/>
        </a:spcAft>
        <a:buSzPct val="100000"/>
        <a:buChar char="•"/>
        <a:defRPr sz="2400" kern="1200">
          <a:solidFill>
            <a:srgbClr val="FFFFFF"/>
          </a:solidFill>
          <a:latin typeface="+mn-lt"/>
          <a:ea typeface="+mn-ea"/>
          <a:cs typeface="+mn-cs"/>
        </a:defRPr>
      </a:lvl3pPr>
      <a:lvl4pPr marL="1600200" indent="-228600" algn="l" rtl="0" eaLnBrk="0" fontAlgn="base" hangingPunct="0">
        <a:spcBef>
          <a:spcPct val="20000"/>
        </a:spcBef>
        <a:spcAft>
          <a:spcPct val="0"/>
        </a:spcAft>
        <a:buSzPct val="100000"/>
        <a:buChar char="–"/>
        <a:defRPr sz="2000" kern="1200">
          <a:solidFill>
            <a:srgbClr val="FFFFFF"/>
          </a:solidFill>
          <a:latin typeface="+mn-lt"/>
          <a:ea typeface="+mn-ea"/>
          <a:cs typeface="+mn-cs"/>
        </a:defRPr>
      </a:lvl4pPr>
      <a:lvl5pPr marL="2057400" indent="-228600" algn="l" rtl="0" eaLnBrk="0" fontAlgn="base" hangingPunct="0">
        <a:spcBef>
          <a:spcPct val="20000"/>
        </a:spcBef>
        <a:spcAft>
          <a:spcPct val="0"/>
        </a:spcAft>
        <a:buSzPct val="100000"/>
        <a:buChar char="•"/>
        <a:defRPr sz="20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slideLayout" Target="../slideLayouts/slideLayout7.xml"/><Relationship Id="rId4" Type="http://schemas.openxmlformats.org/officeDocument/2006/relationships/image" Target="../media/image13.wmf"/></Relationships>
</file>

<file path=ppt/slides/_rels/slide13.xml.rels><?xml version="1.0" encoding="UTF-8" standalone="yes"?>
<Relationships xmlns="http://schemas.openxmlformats.org/package/2006/relationships"><Relationship Id="rId3" Type="http://schemas.openxmlformats.org/officeDocument/2006/relationships/hyperlink" Target="http://en.wikipedia.org/wiki/Gas_constant" TargetMode="External"/><Relationship Id="rId2" Type="http://schemas.openxmlformats.org/officeDocument/2006/relationships/hyperlink" Target="http://en.wikipedia.org/wiki/Molarity" TargetMode="External"/><Relationship Id="rId1" Type="http://schemas.openxmlformats.org/officeDocument/2006/relationships/slideLayout" Target="../slideLayouts/slideLayout2.xml"/><Relationship Id="rId4" Type="http://schemas.openxmlformats.org/officeDocument/2006/relationships/hyperlink" Target="http://en.wikipedia.org/wiki/Absolute_temperature"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en.wikipedia.org/wiki/Atmosphere_%28unit%29" TargetMode="External"/><Relationship Id="rId2" Type="http://schemas.openxmlformats.org/officeDocument/2006/relationships/hyperlink" Target="http://en.wikipedia.org/wiki/Reverse_osmosis" TargetMode="External"/><Relationship Id="rId1" Type="http://schemas.openxmlformats.org/officeDocument/2006/relationships/slideLayout" Target="../slideLayouts/slideLayout2.xml"/><Relationship Id="rId5" Type="http://schemas.openxmlformats.org/officeDocument/2006/relationships/hyperlink" Target="http://en.wikipedia.org/wiki/Seawater" TargetMode="External"/><Relationship Id="rId4" Type="http://schemas.openxmlformats.org/officeDocument/2006/relationships/hyperlink" Target="http://en.wikipedia.org/wiki/Desalination"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5744" name="Picture 48">
            <a:extLst>
              <a:ext uri="{FF2B5EF4-FFF2-40B4-BE49-F238E27FC236}">
                <a16:creationId xmlns:a16="http://schemas.microsoft.com/office/drawing/2014/main" id="{562AEBC7-94FD-FA3A-BA44-BCA0562218AC}"/>
              </a:ext>
            </a:extLst>
          </p:cNvPr>
          <p:cNvPicPr>
            <a:picLocks noChangeAspect="1" noChangeArrowheads="1"/>
          </p:cNvPicPr>
          <p:nvPr/>
        </p:nvPicPr>
        <p:blipFill>
          <a:blip r:embed="rId2">
            <a:lum bright="30000" contrast="-50000"/>
            <a:extLst>
              <a:ext uri="{28A0092B-C50C-407E-A947-70E740481C1C}">
                <a14:useLocalDpi xmlns:a14="http://schemas.microsoft.com/office/drawing/2010/main" val="0"/>
              </a:ext>
            </a:extLst>
          </a:blip>
          <a:srcRect/>
          <a:stretch>
            <a:fillRect/>
          </a:stretch>
        </p:blipFill>
        <p:spPr bwMode="auto">
          <a:xfrm rot="-290604">
            <a:off x="-195263" y="836613"/>
            <a:ext cx="10528301" cy="871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5702" name="Rectangle 6">
            <a:extLst>
              <a:ext uri="{FF2B5EF4-FFF2-40B4-BE49-F238E27FC236}">
                <a16:creationId xmlns:a16="http://schemas.microsoft.com/office/drawing/2014/main" id="{89E50EEC-8206-BC29-9011-512C4EF04FA2}"/>
              </a:ext>
            </a:extLst>
          </p:cNvPr>
          <p:cNvSpPr>
            <a:spLocks noChangeArrowheads="1"/>
          </p:cNvSpPr>
          <p:nvPr/>
        </p:nvSpPr>
        <p:spPr bwMode="auto">
          <a:xfrm>
            <a:off x="627063" y="2060575"/>
            <a:ext cx="7888287"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lgn="ctr">
              <a:defRPr sz="4400">
                <a:solidFill>
                  <a:srgbClr val="FFFF00"/>
                </a:solidFill>
                <a:latin typeface="Arial" panose="020B0604020202020204" pitchFamily="34" charset="0"/>
                <a:cs typeface="Arial" panose="020B0604020202020204" pitchFamily="34" charset="0"/>
              </a:defRPr>
            </a:lvl1pPr>
            <a:lvl2pPr algn="ctr">
              <a:defRPr sz="4400">
                <a:solidFill>
                  <a:srgbClr val="FFFF00"/>
                </a:solidFill>
                <a:latin typeface="Arial" panose="020B0604020202020204" pitchFamily="34" charset="0"/>
                <a:cs typeface="Arial" panose="020B0604020202020204" pitchFamily="34" charset="0"/>
              </a:defRPr>
            </a:lvl2pPr>
            <a:lvl3pPr algn="ctr">
              <a:defRPr sz="4400">
                <a:solidFill>
                  <a:srgbClr val="FFFF00"/>
                </a:solidFill>
                <a:latin typeface="Arial" panose="020B0604020202020204" pitchFamily="34" charset="0"/>
                <a:cs typeface="Arial" panose="020B0604020202020204" pitchFamily="34" charset="0"/>
              </a:defRPr>
            </a:lvl3pPr>
            <a:lvl4pPr algn="ctr">
              <a:defRPr sz="4400">
                <a:solidFill>
                  <a:srgbClr val="FFFF00"/>
                </a:solidFill>
                <a:latin typeface="Arial" panose="020B0604020202020204" pitchFamily="34" charset="0"/>
                <a:cs typeface="Arial" panose="020B0604020202020204" pitchFamily="34" charset="0"/>
              </a:defRPr>
            </a:lvl4pPr>
            <a:lvl5pPr algn="ctr">
              <a:defRPr sz="4400">
                <a:solidFill>
                  <a:srgbClr val="FFFF00"/>
                </a:solidFill>
                <a:latin typeface="Arial" panose="020B0604020202020204" pitchFamily="34" charset="0"/>
                <a:cs typeface="Arial" panose="020B0604020202020204" pitchFamily="34" charset="0"/>
              </a:defRPr>
            </a:lvl5pPr>
            <a:lvl6pPr marL="4572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6pPr>
            <a:lvl7pPr marL="9144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7pPr>
            <a:lvl8pPr marL="13716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8pPr>
            <a:lvl9pPr marL="18288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9pPr>
          </a:lstStyle>
          <a:p>
            <a:r>
              <a:rPr lang="en-GB" altLang="en-US" sz="7200" b="1" dirty="0">
                <a:solidFill>
                  <a:srgbClr val="000099"/>
                </a:solidFill>
                <a:effectLst>
                  <a:outerShdw blurRad="38100" dist="38100" dir="2700000" algn="tl">
                    <a:srgbClr val="C0C0C0"/>
                  </a:outerShdw>
                </a:effectLst>
              </a:rPr>
              <a:t>Body Fluid Compartments</a:t>
            </a:r>
            <a:br>
              <a:rPr lang="en-GB" altLang="en-US" b="1" dirty="0">
                <a:solidFill>
                  <a:srgbClr val="FAFD00"/>
                </a:solidFill>
                <a:effectLst>
                  <a:outerShdw blurRad="38100" dist="38100" dir="2700000" algn="tl">
                    <a:srgbClr val="C0C0C0"/>
                  </a:outerShdw>
                </a:effectLst>
              </a:rPr>
            </a:br>
            <a:br>
              <a:rPr lang="en-GB" altLang="en-US" b="1" dirty="0">
                <a:solidFill>
                  <a:srgbClr val="FAFD00"/>
                </a:solidFill>
                <a:effectLst>
                  <a:outerShdw blurRad="38100" dist="38100" dir="2700000" algn="tl">
                    <a:srgbClr val="C0C0C0"/>
                  </a:outerShdw>
                </a:effectLst>
              </a:rPr>
            </a:br>
            <a:br>
              <a:rPr lang="en-GB" altLang="en-US" b="1" dirty="0">
                <a:solidFill>
                  <a:schemeClr val="hlink"/>
                </a:solidFill>
                <a:effectLst>
                  <a:outerShdw blurRad="38100" dist="38100" dir="2700000" algn="tl">
                    <a:srgbClr val="C0C0C0"/>
                  </a:outerShdw>
                </a:effectLst>
              </a:rPr>
            </a:br>
            <a:r>
              <a:rPr lang="en-GB" altLang="en-US" b="1" i="1" dirty="0">
                <a:solidFill>
                  <a:schemeClr val="tx1"/>
                </a:solidFill>
              </a:rPr>
              <a:t>Dr. Jigisha Patel</a:t>
            </a:r>
            <a:br>
              <a:rPr lang="en-GB" altLang="en-US" sz="3600" b="1" i="1" dirty="0">
                <a:solidFill>
                  <a:schemeClr val="hlink"/>
                </a:solidFill>
              </a:rPr>
            </a:br>
            <a:endParaRPr lang="en-GB" altLang="en-US" sz="3600" b="1" i="1" dirty="0">
              <a:solidFill>
                <a:schemeClr val="hlink"/>
              </a:solidFill>
            </a:endParaRPr>
          </a:p>
        </p:txBody>
      </p:sp>
      <p:sp>
        <p:nvSpPr>
          <p:cNvPr id="285703" name="Rectangle 7">
            <a:extLst>
              <a:ext uri="{FF2B5EF4-FFF2-40B4-BE49-F238E27FC236}">
                <a16:creationId xmlns:a16="http://schemas.microsoft.com/office/drawing/2014/main" id="{7848F7AF-8AA9-5680-D372-AF4999894F71}"/>
              </a:ext>
            </a:extLst>
          </p:cNvPr>
          <p:cNvSpPr>
            <a:spLocks noChangeArrowheads="1"/>
          </p:cNvSpPr>
          <p:nvPr/>
        </p:nvSpPr>
        <p:spPr bwMode="auto">
          <a:xfrm>
            <a:off x="1354138" y="4191000"/>
            <a:ext cx="6435725"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algn="ctr">
              <a:spcBef>
                <a:spcPct val="20000"/>
              </a:spcBef>
              <a:buSzPct val="100000"/>
              <a:defRPr sz="3200">
                <a:solidFill>
                  <a:srgbClr val="FFFFFF"/>
                </a:solidFill>
                <a:latin typeface="Arial" panose="020B0604020202020204" pitchFamily="34" charset="0"/>
                <a:cs typeface="Arial" panose="020B0604020202020204" pitchFamily="34" charset="0"/>
              </a:defRPr>
            </a:lvl1pPr>
            <a:lvl2pPr algn="ctr">
              <a:spcBef>
                <a:spcPct val="20000"/>
              </a:spcBef>
              <a:buSzPct val="100000"/>
              <a:defRPr sz="2800">
                <a:solidFill>
                  <a:srgbClr val="FFFFFF"/>
                </a:solidFill>
                <a:latin typeface="Arial" panose="020B0604020202020204" pitchFamily="34" charset="0"/>
                <a:cs typeface="Arial" panose="020B0604020202020204" pitchFamily="34" charset="0"/>
              </a:defRPr>
            </a:lvl2pPr>
            <a:lvl3pPr algn="ctr">
              <a:spcBef>
                <a:spcPct val="20000"/>
              </a:spcBef>
              <a:buSzPct val="100000"/>
              <a:defRPr sz="2400">
                <a:solidFill>
                  <a:srgbClr val="FFFFFF"/>
                </a:solidFill>
                <a:latin typeface="Arial" panose="020B0604020202020204" pitchFamily="34" charset="0"/>
                <a:cs typeface="Arial" panose="020B0604020202020204" pitchFamily="34" charset="0"/>
              </a:defRPr>
            </a:lvl3pPr>
            <a:lvl4pPr algn="ctr">
              <a:spcBef>
                <a:spcPct val="20000"/>
              </a:spcBef>
              <a:buSzPct val="100000"/>
              <a:defRPr sz="2000">
                <a:solidFill>
                  <a:srgbClr val="FFFFFF"/>
                </a:solidFill>
                <a:latin typeface="Arial" panose="020B0604020202020204" pitchFamily="34" charset="0"/>
                <a:cs typeface="Arial" panose="020B0604020202020204" pitchFamily="34" charset="0"/>
              </a:defRPr>
            </a:lvl4pPr>
            <a:lvl5pPr algn="ctr">
              <a:spcBef>
                <a:spcPct val="20000"/>
              </a:spcBef>
              <a:buSzPct val="100000"/>
              <a:defRPr sz="2000">
                <a:solidFill>
                  <a:srgbClr val="FFFFFF"/>
                </a:solidFill>
                <a:latin typeface="Arial" panose="020B0604020202020204" pitchFamily="34" charset="0"/>
                <a:cs typeface="Arial" panose="020B0604020202020204" pitchFamily="34" charset="0"/>
              </a:defRPr>
            </a:lvl5pPr>
            <a:lvl6pPr algn="ctr" eaLnBrk="0" fontAlgn="base" hangingPunct="0">
              <a:spcBef>
                <a:spcPct val="20000"/>
              </a:spcBef>
              <a:spcAft>
                <a:spcPct val="0"/>
              </a:spcAft>
              <a:buSzPct val="100000"/>
              <a:defRPr sz="2000">
                <a:solidFill>
                  <a:srgbClr val="FFFFFF"/>
                </a:solidFill>
                <a:latin typeface="Arial" panose="020B0604020202020204" pitchFamily="34" charset="0"/>
                <a:cs typeface="Arial" panose="020B0604020202020204" pitchFamily="34" charset="0"/>
              </a:defRPr>
            </a:lvl6pPr>
            <a:lvl7pPr algn="ctr" eaLnBrk="0" fontAlgn="base" hangingPunct="0">
              <a:spcBef>
                <a:spcPct val="20000"/>
              </a:spcBef>
              <a:spcAft>
                <a:spcPct val="0"/>
              </a:spcAft>
              <a:buSzPct val="100000"/>
              <a:defRPr sz="2000">
                <a:solidFill>
                  <a:srgbClr val="FFFFFF"/>
                </a:solidFill>
                <a:latin typeface="Arial" panose="020B0604020202020204" pitchFamily="34" charset="0"/>
                <a:cs typeface="Arial" panose="020B0604020202020204" pitchFamily="34" charset="0"/>
              </a:defRPr>
            </a:lvl7pPr>
            <a:lvl8pPr algn="ctr" eaLnBrk="0" fontAlgn="base" hangingPunct="0">
              <a:spcBef>
                <a:spcPct val="20000"/>
              </a:spcBef>
              <a:spcAft>
                <a:spcPct val="0"/>
              </a:spcAft>
              <a:buSzPct val="100000"/>
              <a:defRPr sz="2000">
                <a:solidFill>
                  <a:srgbClr val="FFFFFF"/>
                </a:solidFill>
                <a:latin typeface="Arial" panose="020B0604020202020204" pitchFamily="34" charset="0"/>
                <a:cs typeface="Arial" panose="020B0604020202020204" pitchFamily="34" charset="0"/>
              </a:defRPr>
            </a:lvl8pPr>
            <a:lvl9pPr algn="ctr" eaLnBrk="0" fontAlgn="base" hangingPunct="0">
              <a:spcBef>
                <a:spcPct val="20000"/>
              </a:spcBef>
              <a:spcAft>
                <a:spcPct val="0"/>
              </a:spcAft>
              <a:buSzPct val="100000"/>
              <a:defRPr sz="2000">
                <a:solidFill>
                  <a:srgbClr val="FFFFFF"/>
                </a:solidFill>
                <a:latin typeface="Arial" panose="020B0604020202020204" pitchFamily="34" charset="0"/>
                <a:cs typeface="Arial" panose="020B0604020202020204" pitchFamily="34" charset="0"/>
              </a:defRPr>
            </a:lvl9pPr>
          </a:lstStyle>
          <a:p>
            <a:r>
              <a:rPr lang="en-GB" altLang="en-US"/>
              <a:t> </a:t>
            </a:r>
          </a:p>
        </p:txBody>
      </p:sp>
      <p:sp>
        <p:nvSpPr>
          <p:cNvPr id="285745" name="Rectangle 49">
            <a:extLst>
              <a:ext uri="{FF2B5EF4-FFF2-40B4-BE49-F238E27FC236}">
                <a16:creationId xmlns:a16="http://schemas.microsoft.com/office/drawing/2014/main" id="{4A2C4BB2-9620-A6AD-B9DC-89B376E218EA}"/>
              </a:ext>
            </a:extLst>
          </p:cNvPr>
          <p:cNvSpPr>
            <a:spLocks noChangeArrowheads="1"/>
          </p:cNvSpPr>
          <p:nvPr/>
        </p:nvSpPr>
        <p:spPr bwMode="auto">
          <a:xfrm>
            <a:off x="179388" y="79375"/>
            <a:ext cx="7345362"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lgn="ctr">
              <a:defRPr sz="4400">
                <a:solidFill>
                  <a:srgbClr val="FFFF00"/>
                </a:solidFill>
                <a:latin typeface="Arial" panose="020B0604020202020204" pitchFamily="34" charset="0"/>
                <a:cs typeface="Arial" panose="020B0604020202020204" pitchFamily="34" charset="0"/>
              </a:defRPr>
            </a:lvl1pPr>
            <a:lvl2pPr algn="ctr">
              <a:defRPr sz="4400">
                <a:solidFill>
                  <a:srgbClr val="FFFF00"/>
                </a:solidFill>
                <a:latin typeface="Arial" panose="020B0604020202020204" pitchFamily="34" charset="0"/>
                <a:cs typeface="Arial" panose="020B0604020202020204" pitchFamily="34" charset="0"/>
              </a:defRPr>
            </a:lvl2pPr>
            <a:lvl3pPr algn="ctr">
              <a:defRPr sz="4400">
                <a:solidFill>
                  <a:srgbClr val="FFFF00"/>
                </a:solidFill>
                <a:latin typeface="Arial" panose="020B0604020202020204" pitchFamily="34" charset="0"/>
                <a:cs typeface="Arial" panose="020B0604020202020204" pitchFamily="34" charset="0"/>
              </a:defRPr>
            </a:lvl3pPr>
            <a:lvl4pPr algn="ctr">
              <a:defRPr sz="4400">
                <a:solidFill>
                  <a:srgbClr val="FFFF00"/>
                </a:solidFill>
                <a:latin typeface="Arial" panose="020B0604020202020204" pitchFamily="34" charset="0"/>
                <a:cs typeface="Arial" panose="020B0604020202020204" pitchFamily="34" charset="0"/>
              </a:defRPr>
            </a:lvl4pPr>
            <a:lvl5pPr algn="ctr">
              <a:defRPr sz="4400">
                <a:solidFill>
                  <a:srgbClr val="FFFF00"/>
                </a:solidFill>
                <a:latin typeface="Arial" panose="020B0604020202020204" pitchFamily="34" charset="0"/>
                <a:cs typeface="Arial" panose="020B0604020202020204" pitchFamily="34" charset="0"/>
              </a:defRPr>
            </a:lvl5pPr>
            <a:lvl6pPr marL="4572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6pPr>
            <a:lvl7pPr marL="9144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7pPr>
            <a:lvl8pPr marL="13716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8pPr>
            <a:lvl9pPr marL="18288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9pPr>
          </a:lstStyle>
          <a:p>
            <a:pPr algn="l"/>
            <a:r>
              <a:rPr lang="en-GB" altLang="en-US" sz="2400" b="1" dirty="0"/>
              <a:t>PHOL0001</a:t>
            </a:r>
          </a:p>
        </p:txBody>
      </p:sp>
    </p:spTree>
  </p:cSld>
  <p:clrMapOvr>
    <a:masterClrMapping/>
  </p:clrMapOvr>
  <p:transition>
    <p:zoom/>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3827" name="Rectangle 3">
            <a:extLst>
              <a:ext uri="{FF2B5EF4-FFF2-40B4-BE49-F238E27FC236}">
                <a16:creationId xmlns:a16="http://schemas.microsoft.com/office/drawing/2014/main" id="{A013F27A-E430-7991-45CD-2373688E9E2A}"/>
              </a:ext>
            </a:extLst>
          </p:cNvPr>
          <p:cNvSpPr>
            <a:spLocks noGrp="1" noChangeArrowheads="1"/>
          </p:cNvSpPr>
          <p:nvPr>
            <p:ph type="body" idx="1"/>
          </p:nvPr>
        </p:nvSpPr>
        <p:spPr/>
        <p:txBody>
          <a:bodyPr/>
          <a:lstStyle/>
          <a:p>
            <a:r>
              <a:rPr lang="en-GB" altLang="en-US" sz="2400">
                <a:solidFill>
                  <a:srgbClr val="000099"/>
                </a:solidFill>
              </a:rPr>
              <a:t>The chemical composition of the body</a:t>
            </a:r>
          </a:p>
          <a:p>
            <a:r>
              <a:rPr lang="en-GB" altLang="en-US" sz="2400">
                <a:solidFill>
                  <a:srgbClr val="000099"/>
                </a:solidFill>
              </a:rPr>
              <a:t>The properties of water as a biological solvent</a:t>
            </a:r>
          </a:p>
          <a:p>
            <a:r>
              <a:rPr lang="en-GB" altLang="en-US" sz="2400">
                <a:solidFill>
                  <a:srgbClr val="000099"/>
                </a:solidFill>
              </a:rPr>
              <a:t>The osmotic pressure and tonicity of aqueous solutions</a:t>
            </a:r>
          </a:p>
          <a:p>
            <a:r>
              <a:rPr lang="en-GB" altLang="en-US" sz="2400">
                <a:solidFill>
                  <a:srgbClr val="000099"/>
                </a:solidFill>
              </a:rPr>
              <a:t>How body water is distributed between the various fluid compartments</a:t>
            </a:r>
          </a:p>
          <a:p>
            <a:r>
              <a:rPr lang="en-GB" altLang="en-US" sz="2400">
                <a:solidFill>
                  <a:srgbClr val="000099"/>
                </a:solidFill>
              </a:rPr>
              <a:t>How the volumes of the compartments can be measured</a:t>
            </a:r>
          </a:p>
        </p:txBody>
      </p:sp>
      <p:sp>
        <p:nvSpPr>
          <p:cNvPr id="333828" name="Text Box 4">
            <a:extLst>
              <a:ext uri="{FF2B5EF4-FFF2-40B4-BE49-F238E27FC236}">
                <a16:creationId xmlns:a16="http://schemas.microsoft.com/office/drawing/2014/main" id="{9D00CF4B-FE7A-13C3-C1F4-17492B687DBE}"/>
              </a:ext>
            </a:extLst>
          </p:cNvPr>
          <p:cNvSpPr txBox="1">
            <a:spLocks noChangeArrowheads="1"/>
          </p:cNvSpPr>
          <p:nvPr/>
        </p:nvSpPr>
        <p:spPr bwMode="auto">
          <a:xfrm>
            <a:off x="914400" y="1371600"/>
            <a:ext cx="69707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3200" b="1">
                <a:solidFill>
                  <a:srgbClr val="000099"/>
                </a:solidFill>
                <a:latin typeface="Arial" panose="020B0604020202020204" pitchFamily="34" charset="0"/>
              </a:rPr>
              <a:t>This lecture will discuss:</a:t>
            </a:r>
          </a:p>
        </p:txBody>
      </p:sp>
      <p:sp>
        <p:nvSpPr>
          <p:cNvPr id="333829" name="Rectangle 5">
            <a:extLst>
              <a:ext uri="{FF2B5EF4-FFF2-40B4-BE49-F238E27FC236}">
                <a16:creationId xmlns:a16="http://schemas.microsoft.com/office/drawing/2014/main" id="{7015EC1E-1BEF-2AE6-87B8-22800AB5F198}"/>
              </a:ext>
            </a:extLst>
          </p:cNvPr>
          <p:cNvSpPr>
            <a:spLocks noChangeArrowheads="1"/>
          </p:cNvSpPr>
          <p:nvPr/>
        </p:nvSpPr>
        <p:spPr bwMode="auto">
          <a:xfrm>
            <a:off x="179388" y="79375"/>
            <a:ext cx="7345362"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lgn="ctr">
              <a:defRPr sz="4400">
                <a:solidFill>
                  <a:srgbClr val="FFFF00"/>
                </a:solidFill>
                <a:latin typeface="Arial" panose="020B0604020202020204" pitchFamily="34" charset="0"/>
                <a:cs typeface="Arial" panose="020B0604020202020204" pitchFamily="34" charset="0"/>
              </a:defRPr>
            </a:lvl1pPr>
            <a:lvl2pPr algn="ctr">
              <a:defRPr sz="4400">
                <a:solidFill>
                  <a:srgbClr val="FFFF00"/>
                </a:solidFill>
                <a:latin typeface="Arial" panose="020B0604020202020204" pitchFamily="34" charset="0"/>
                <a:cs typeface="Arial" panose="020B0604020202020204" pitchFamily="34" charset="0"/>
              </a:defRPr>
            </a:lvl2pPr>
            <a:lvl3pPr algn="ctr">
              <a:defRPr sz="4400">
                <a:solidFill>
                  <a:srgbClr val="FFFF00"/>
                </a:solidFill>
                <a:latin typeface="Arial" panose="020B0604020202020204" pitchFamily="34" charset="0"/>
                <a:cs typeface="Arial" panose="020B0604020202020204" pitchFamily="34" charset="0"/>
              </a:defRPr>
            </a:lvl3pPr>
            <a:lvl4pPr algn="ctr">
              <a:defRPr sz="4400">
                <a:solidFill>
                  <a:srgbClr val="FFFF00"/>
                </a:solidFill>
                <a:latin typeface="Arial" panose="020B0604020202020204" pitchFamily="34" charset="0"/>
                <a:cs typeface="Arial" panose="020B0604020202020204" pitchFamily="34" charset="0"/>
              </a:defRPr>
            </a:lvl4pPr>
            <a:lvl5pPr algn="ctr">
              <a:defRPr sz="4400">
                <a:solidFill>
                  <a:srgbClr val="FFFF00"/>
                </a:solidFill>
                <a:latin typeface="Arial" panose="020B0604020202020204" pitchFamily="34" charset="0"/>
                <a:cs typeface="Arial" panose="020B0604020202020204" pitchFamily="34" charset="0"/>
              </a:defRPr>
            </a:lvl5pPr>
            <a:lvl6pPr marL="4572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6pPr>
            <a:lvl7pPr marL="9144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7pPr>
            <a:lvl8pPr marL="13716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8pPr>
            <a:lvl9pPr marL="18288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9pPr>
          </a:lstStyle>
          <a:p>
            <a:pPr algn="l"/>
            <a:r>
              <a:rPr lang="en-GB" altLang="en-US" sz="4000" b="1"/>
              <a:t>Body Fluid Compartments</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3827">
                                            <p:txEl>
                                              <p:pRg st="0" end="0"/>
                                            </p:txEl>
                                          </p:spTgt>
                                        </p:tgtEl>
                                        <p:attrNameLst>
                                          <p:attrName>style.visibility</p:attrName>
                                        </p:attrNameLst>
                                      </p:cBhvr>
                                      <p:to>
                                        <p:strVal val="visible"/>
                                      </p:to>
                                    </p:set>
                                    <p:animEffect transition="in" filter="wipe(left)">
                                      <p:cBhvr>
                                        <p:cTn id="7" dur="500"/>
                                        <p:tgtEl>
                                          <p:spTgt spid="3338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3827">
                                            <p:txEl>
                                              <p:pRg st="1" end="1"/>
                                            </p:txEl>
                                          </p:spTgt>
                                        </p:tgtEl>
                                        <p:attrNameLst>
                                          <p:attrName>style.visibility</p:attrName>
                                        </p:attrNameLst>
                                      </p:cBhvr>
                                      <p:to>
                                        <p:strVal val="visible"/>
                                      </p:to>
                                    </p:set>
                                    <p:animEffect transition="in" filter="wipe(left)">
                                      <p:cBhvr>
                                        <p:cTn id="12" dur="500"/>
                                        <p:tgtEl>
                                          <p:spTgt spid="3338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33827">
                                            <p:txEl>
                                              <p:pRg st="2" end="2"/>
                                            </p:txEl>
                                          </p:spTgt>
                                        </p:tgtEl>
                                        <p:attrNameLst>
                                          <p:attrName>style.visibility</p:attrName>
                                        </p:attrNameLst>
                                      </p:cBhvr>
                                      <p:to>
                                        <p:strVal val="visible"/>
                                      </p:to>
                                    </p:set>
                                    <p:animEffect transition="in" filter="wipe(left)">
                                      <p:cBhvr>
                                        <p:cTn id="17" dur="500"/>
                                        <p:tgtEl>
                                          <p:spTgt spid="3338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33827">
                                            <p:txEl>
                                              <p:pRg st="3" end="3"/>
                                            </p:txEl>
                                          </p:spTgt>
                                        </p:tgtEl>
                                        <p:attrNameLst>
                                          <p:attrName>style.visibility</p:attrName>
                                        </p:attrNameLst>
                                      </p:cBhvr>
                                      <p:to>
                                        <p:strVal val="visible"/>
                                      </p:to>
                                    </p:set>
                                    <p:animEffect transition="in" filter="wipe(left)">
                                      <p:cBhvr>
                                        <p:cTn id="22" dur="500"/>
                                        <p:tgtEl>
                                          <p:spTgt spid="33382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33827">
                                            <p:txEl>
                                              <p:pRg st="4" end="4"/>
                                            </p:txEl>
                                          </p:spTgt>
                                        </p:tgtEl>
                                        <p:attrNameLst>
                                          <p:attrName>style.visibility</p:attrName>
                                        </p:attrNameLst>
                                      </p:cBhvr>
                                      <p:to>
                                        <p:strVal val="visible"/>
                                      </p:to>
                                    </p:set>
                                    <p:animEffect transition="in" filter="wipe(left)">
                                      <p:cBhvr>
                                        <p:cTn id="27" dur="500"/>
                                        <p:tgtEl>
                                          <p:spTgt spid="3338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3827"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7_01">
            <a:extLst>
              <a:ext uri="{FF2B5EF4-FFF2-40B4-BE49-F238E27FC236}">
                <a16:creationId xmlns:a16="http://schemas.microsoft.com/office/drawing/2014/main" id="{E402B07D-1B11-4304-39BD-8DF5E024D2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980728"/>
            <a:ext cx="8704805" cy="5472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6">
            <a:extLst>
              <a:ext uri="{FF2B5EF4-FFF2-40B4-BE49-F238E27FC236}">
                <a16:creationId xmlns:a16="http://schemas.microsoft.com/office/drawing/2014/main" id="{CC055A32-D23B-A90E-46D5-C1FD3EF5A363}"/>
              </a:ext>
            </a:extLst>
          </p:cNvPr>
          <p:cNvSpPr>
            <a:spLocks noChangeArrowheads="1"/>
          </p:cNvSpPr>
          <p:nvPr/>
        </p:nvSpPr>
        <p:spPr bwMode="auto">
          <a:xfrm>
            <a:off x="179512" y="0"/>
            <a:ext cx="7992888" cy="76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lgn="ctr">
              <a:defRPr sz="4400">
                <a:solidFill>
                  <a:srgbClr val="FFFF00"/>
                </a:solidFill>
                <a:latin typeface="Arial" panose="020B0604020202020204" pitchFamily="34" charset="0"/>
                <a:cs typeface="Arial" panose="020B0604020202020204" pitchFamily="34" charset="0"/>
              </a:defRPr>
            </a:lvl1pPr>
            <a:lvl2pPr algn="ctr">
              <a:defRPr sz="4400">
                <a:solidFill>
                  <a:srgbClr val="FFFF00"/>
                </a:solidFill>
                <a:latin typeface="Arial" panose="020B0604020202020204" pitchFamily="34" charset="0"/>
                <a:cs typeface="Arial" panose="020B0604020202020204" pitchFamily="34" charset="0"/>
              </a:defRPr>
            </a:lvl2pPr>
            <a:lvl3pPr algn="ctr">
              <a:defRPr sz="4400">
                <a:solidFill>
                  <a:srgbClr val="FFFF00"/>
                </a:solidFill>
                <a:latin typeface="Arial" panose="020B0604020202020204" pitchFamily="34" charset="0"/>
                <a:cs typeface="Arial" panose="020B0604020202020204" pitchFamily="34" charset="0"/>
              </a:defRPr>
            </a:lvl3pPr>
            <a:lvl4pPr algn="ctr">
              <a:defRPr sz="4400">
                <a:solidFill>
                  <a:srgbClr val="FFFF00"/>
                </a:solidFill>
                <a:latin typeface="Arial" panose="020B0604020202020204" pitchFamily="34" charset="0"/>
                <a:cs typeface="Arial" panose="020B0604020202020204" pitchFamily="34" charset="0"/>
              </a:defRPr>
            </a:lvl4pPr>
            <a:lvl5pPr algn="ctr">
              <a:defRPr sz="4400">
                <a:solidFill>
                  <a:srgbClr val="FFFF00"/>
                </a:solidFill>
                <a:latin typeface="Arial" panose="020B0604020202020204" pitchFamily="34" charset="0"/>
                <a:cs typeface="Arial" panose="020B0604020202020204" pitchFamily="34" charset="0"/>
              </a:defRPr>
            </a:lvl5pPr>
            <a:lvl6pPr marL="4572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6pPr>
            <a:lvl7pPr marL="9144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7pPr>
            <a:lvl8pPr marL="13716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8pPr>
            <a:lvl9pPr marL="18288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9pPr>
          </a:lstStyle>
          <a:p>
            <a:pPr algn="l"/>
            <a:r>
              <a:rPr lang="en-GB" altLang="en-US" sz="4000" b="1" dirty="0"/>
              <a:t>Body Fluid Compartments</a:t>
            </a:r>
          </a:p>
        </p:txBody>
      </p:sp>
    </p:spTree>
    <p:extLst>
      <p:ext uri="{BB962C8B-B14F-4D97-AF65-F5344CB8AC3E}">
        <p14:creationId xmlns:p14="http://schemas.microsoft.com/office/powerpoint/2010/main" val="270457069"/>
      </p:ext>
    </p:extLst>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3" name="Rectangle 5">
            <a:extLst>
              <a:ext uri="{FF2B5EF4-FFF2-40B4-BE49-F238E27FC236}">
                <a16:creationId xmlns:a16="http://schemas.microsoft.com/office/drawing/2014/main" id="{E365E545-9541-E5DB-32F5-E9F215D845BB}"/>
              </a:ext>
            </a:extLst>
          </p:cNvPr>
          <p:cNvSpPr>
            <a:spLocks noChangeArrowheads="1"/>
          </p:cNvSpPr>
          <p:nvPr/>
        </p:nvSpPr>
        <p:spPr bwMode="auto">
          <a:xfrm>
            <a:off x="611188" y="981075"/>
            <a:ext cx="7848600" cy="5616575"/>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334850" name="Text Box 2">
            <a:extLst>
              <a:ext uri="{FF2B5EF4-FFF2-40B4-BE49-F238E27FC236}">
                <a16:creationId xmlns:a16="http://schemas.microsoft.com/office/drawing/2014/main" id="{D4EC7FB8-95E1-BF39-004E-B84B9E6D4886}"/>
              </a:ext>
            </a:extLst>
          </p:cNvPr>
          <p:cNvSpPr txBox="1">
            <a:spLocks noChangeArrowheads="1"/>
          </p:cNvSpPr>
          <p:nvPr/>
        </p:nvSpPr>
        <p:spPr bwMode="auto">
          <a:xfrm>
            <a:off x="827088" y="914400"/>
            <a:ext cx="72009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000099"/>
                </a:solidFill>
                <a:latin typeface="Arial" panose="020B0604020202020204" pitchFamily="34" charset="0"/>
              </a:rPr>
              <a:t>The body largely consists of oxygen, carbon, hydrogen and nitrogen:</a:t>
            </a:r>
          </a:p>
        </p:txBody>
      </p:sp>
      <p:pic>
        <p:nvPicPr>
          <p:cNvPr id="334851" name="Picture 3">
            <a:extLst>
              <a:ext uri="{FF2B5EF4-FFF2-40B4-BE49-F238E27FC236}">
                <a16:creationId xmlns:a16="http://schemas.microsoft.com/office/drawing/2014/main" id="{24A486F4-F6B8-925D-A940-8787D0CD2C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0163" y="2033588"/>
            <a:ext cx="6754812" cy="4779962"/>
          </a:xfrm>
          <a:prstGeom prst="rect">
            <a:avLst/>
          </a:prstGeom>
          <a:noFill/>
          <a:extLst>
            <a:ext uri="{909E8E84-426E-40DD-AFC4-6F175D3DCCD1}">
              <a14:hiddenFill xmlns:a14="http://schemas.microsoft.com/office/drawing/2010/main">
                <a:solidFill>
                  <a:srgbClr val="FFFFFF"/>
                </a:solidFill>
              </a14:hiddenFill>
            </a:ext>
          </a:extLst>
        </p:spPr>
      </p:pic>
      <p:sp>
        <p:nvSpPr>
          <p:cNvPr id="334852" name="Text Box 4">
            <a:extLst>
              <a:ext uri="{FF2B5EF4-FFF2-40B4-BE49-F238E27FC236}">
                <a16:creationId xmlns:a16="http://schemas.microsoft.com/office/drawing/2014/main" id="{D59D59AA-FE83-D9EB-AAE4-08DCFC157C17}"/>
              </a:ext>
            </a:extLst>
          </p:cNvPr>
          <p:cNvSpPr txBox="1">
            <a:spLocks noChangeArrowheads="1"/>
          </p:cNvSpPr>
          <p:nvPr/>
        </p:nvSpPr>
        <p:spPr bwMode="auto">
          <a:xfrm>
            <a:off x="827088" y="5867400"/>
            <a:ext cx="7351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000099"/>
                </a:solidFill>
                <a:latin typeface="Arial" panose="020B0604020202020204" pitchFamily="34" charset="0"/>
              </a:rPr>
              <a:t>Percentages are expressed as per cent body weight</a:t>
            </a:r>
          </a:p>
        </p:txBody>
      </p:sp>
      <p:sp>
        <p:nvSpPr>
          <p:cNvPr id="334854" name="Rectangle 6">
            <a:extLst>
              <a:ext uri="{FF2B5EF4-FFF2-40B4-BE49-F238E27FC236}">
                <a16:creationId xmlns:a16="http://schemas.microsoft.com/office/drawing/2014/main" id="{5CDF2125-C10E-3E39-1C96-310800BFA9D2}"/>
              </a:ext>
            </a:extLst>
          </p:cNvPr>
          <p:cNvSpPr>
            <a:spLocks noChangeArrowheads="1"/>
          </p:cNvSpPr>
          <p:nvPr/>
        </p:nvSpPr>
        <p:spPr bwMode="auto">
          <a:xfrm>
            <a:off x="755650" y="79375"/>
            <a:ext cx="5040313"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lgn="ctr">
              <a:defRPr sz="4400">
                <a:solidFill>
                  <a:srgbClr val="FFFF00"/>
                </a:solidFill>
                <a:latin typeface="Arial" panose="020B0604020202020204" pitchFamily="34" charset="0"/>
                <a:cs typeface="Arial" panose="020B0604020202020204" pitchFamily="34" charset="0"/>
              </a:defRPr>
            </a:lvl1pPr>
            <a:lvl2pPr algn="ctr">
              <a:defRPr sz="4400">
                <a:solidFill>
                  <a:srgbClr val="FFFF00"/>
                </a:solidFill>
                <a:latin typeface="Arial" panose="020B0604020202020204" pitchFamily="34" charset="0"/>
                <a:cs typeface="Arial" panose="020B0604020202020204" pitchFamily="34" charset="0"/>
              </a:defRPr>
            </a:lvl2pPr>
            <a:lvl3pPr algn="ctr">
              <a:defRPr sz="4400">
                <a:solidFill>
                  <a:srgbClr val="FFFF00"/>
                </a:solidFill>
                <a:latin typeface="Arial" panose="020B0604020202020204" pitchFamily="34" charset="0"/>
                <a:cs typeface="Arial" panose="020B0604020202020204" pitchFamily="34" charset="0"/>
              </a:defRPr>
            </a:lvl3pPr>
            <a:lvl4pPr algn="ctr">
              <a:defRPr sz="4400">
                <a:solidFill>
                  <a:srgbClr val="FFFF00"/>
                </a:solidFill>
                <a:latin typeface="Arial" panose="020B0604020202020204" pitchFamily="34" charset="0"/>
                <a:cs typeface="Arial" panose="020B0604020202020204" pitchFamily="34" charset="0"/>
              </a:defRPr>
            </a:lvl4pPr>
            <a:lvl5pPr algn="ctr">
              <a:defRPr sz="4400">
                <a:solidFill>
                  <a:srgbClr val="FFFF00"/>
                </a:solidFill>
                <a:latin typeface="Arial" panose="020B0604020202020204" pitchFamily="34" charset="0"/>
                <a:cs typeface="Arial" panose="020B0604020202020204" pitchFamily="34" charset="0"/>
              </a:defRPr>
            </a:lvl5pPr>
            <a:lvl6pPr marL="4572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6pPr>
            <a:lvl7pPr marL="9144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7pPr>
            <a:lvl8pPr marL="13716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8pPr>
            <a:lvl9pPr marL="18288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9pPr>
          </a:lstStyle>
          <a:p>
            <a:pPr algn="l"/>
            <a:r>
              <a:rPr lang="en-GB" altLang="en-US" sz="4000" b="1" dirty="0"/>
              <a:t>Body Composition</a:t>
            </a:r>
          </a:p>
        </p:txBody>
      </p:sp>
    </p:spTree>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6" name="Rectangle 4">
            <a:extLst>
              <a:ext uri="{FF2B5EF4-FFF2-40B4-BE49-F238E27FC236}">
                <a16:creationId xmlns:a16="http://schemas.microsoft.com/office/drawing/2014/main" id="{6D43DF6C-08E8-55E1-4EB3-DA9FEE1CEC4A}"/>
              </a:ext>
            </a:extLst>
          </p:cNvPr>
          <p:cNvSpPr>
            <a:spLocks noChangeArrowheads="1"/>
          </p:cNvSpPr>
          <p:nvPr/>
        </p:nvSpPr>
        <p:spPr bwMode="auto">
          <a:xfrm>
            <a:off x="971550" y="1412875"/>
            <a:ext cx="7056438" cy="5111750"/>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35874" name="Text Box 2">
            <a:extLst>
              <a:ext uri="{FF2B5EF4-FFF2-40B4-BE49-F238E27FC236}">
                <a16:creationId xmlns:a16="http://schemas.microsoft.com/office/drawing/2014/main" id="{4C2ED70E-2185-414E-C84B-FA8928173DE8}"/>
              </a:ext>
            </a:extLst>
          </p:cNvPr>
          <p:cNvSpPr txBox="1">
            <a:spLocks noChangeArrowheads="1"/>
          </p:cNvSpPr>
          <p:nvPr/>
        </p:nvSpPr>
        <p:spPr bwMode="auto">
          <a:xfrm>
            <a:off x="654050" y="955675"/>
            <a:ext cx="7837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000099"/>
                </a:solidFill>
                <a:latin typeface="Arial" panose="020B0604020202020204" pitchFamily="34" charset="0"/>
              </a:rPr>
              <a:t>Water accounts for about two thirds of lean body mass.</a:t>
            </a:r>
          </a:p>
        </p:txBody>
      </p:sp>
      <p:pic>
        <p:nvPicPr>
          <p:cNvPr id="335875" name="Picture 3">
            <a:extLst>
              <a:ext uri="{FF2B5EF4-FFF2-40B4-BE49-F238E27FC236}">
                <a16:creationId xmlns:a16="http://schemas.microsoft.com/office/drawing/2014/main" id="{215531BC-8862-7B5A-1E40-626DA343FF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6338" y="1462088"/>
            <a:ext cx="6792912" cy="4919662"/>
          </a:xfrm>
          <a:prstGeom prst="rect">
            <a:avLst/>
          </a:prstGeom>
          <a:noFill/>
          <a:extLst>
            <a:ext uri="{909E8E84-426E-40DD-AFC4-6F175D3DCCD1}">
              <a14:hiddenFill xmlns:a14="http://schemas.microsoft.com/office/drawing/2010/main">
                <a:solidFill>
                  <a:srgbClr val="FFFFFF"/>
                </a:solidFill>
              </a14:hiddenFill>
            </a:ext>
          </a:extLst>
        </p:spPr>
      </p:pic>
      <p:sp>
        <p:nvSpPr>
          <p:cNvPr id="335877" name="Rectangle 5">
            <a:extLst>
              <a:ext uri="{FF2B5EF4-FFF2-40B4-BE49-F238E27FC236}">
                <a16:creationId xmlns:a16="http://schemas.microsoft.com/office/drawing/2014/main" id="{5F66B484-653D-7259-F263-899F3A867C55}"/>
              </a:ext>
            </a:extLst>
          </p:cNvPr>
          <p:cNvSpPr>
            <a:spLocks noChangeArrowheads="1"/>
          </p:cNvSpPr>
          <p:nvPr/>
        </p:nvSpPr>
        <p:spPr bwMode="auto">
          <a:xfrm>
            <a:off x="755650" y="79375"/>
            <a:ext cx="5040313"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lgn="ctr">
              <a:defRPr sz="4400">
                <a:solidFill>
                  <a:srgbClr val="FFFF00"/>
                </a:solidFill>
                <a:latin typeface="Arial" panose="020B0604020202020204" pitchFamily="34" charset="0"/>
                <a:cs typeface="Arial" panose="020B0604020202020204" pitchFamily="34" charset="0"/>
              </a:defRPr>
            </a:lvl1pPr>
            <a:lvl2pPr algn="ctr">
              <a:defRPr sz="4400">
                <a:solidFill>
                  <a:srgbClr val="FFFF00"/>
                </a:solidFill>
                <a:latin typeface="Arial" panose="020B0604020202020204" pitchFamily="34" charset="0"/>
                <a:cs typeface="Arial" panose="020B0604020202020204" pitchFamily="34" charset="0"/>
              </a:defRPr>
            </a:lvl2pPr>
            <a:lvl3pPr algn="ctr">
              <a:defRPr sz="4400">
                <a:solidFill>
                  <a:srgbClr val="FFFF00"/>
                </a:solidFill>
                <a:latin typeface="Arial" panose="020B0604020202020204" pitchFamily="34" charset="0"/>
                <a:cs typeface="Arial" panose="020B0604020202020204" pitchFamily="34" charset="0"/>
              </a:defRPr>
            </a:lvl3pPr>
            <a:lvl4pPr algn="ctr">
              <a:defRPr sz="4400">
                <a:solidFill>
                  <a:srgbClr val="FFFF00"/>
                </a:solidFill>
                <a:latin typeface="Arial" panose="020B0604020202020204" pitchFamily="34" charset="0"/>
                <a:cs typeface="Arial" panose="020B0604020202020204" pitchFamily="34" charset="0"/>
              </a:defRPr>
            </a:lvl4pPr>
            <a:lvl5pPr algn="ctr">
              <a:defRPr sz="4400">
                <a:solidFill>
                  <a:srgbClr val="FFFF00"/>
                </a:solidFill>
                <a:latin typeface="Arial" panose="020B0604020202020204" pitchFamily="34" charset="0"/>
                <a:cs typeface="Arial" panose="020B0604020202020204" pitchFamily="34" charset="0"/>
              </a:defRPr>
            </a:lvl5pPr>
            <a:lvl6pPr marL="4572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6pPr>
            <a:lvl7pPr marL="9144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7pPr>
            <a:lvl8pPr marL="13716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8pPr>
            <a:lvl9pPr marL="18288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9pPr>
          </a:lstStyle>
          <a:p>
            <a:pPr algn="l"/>
            <a:r>
              <a:rPr lang="en-GB" altLang="en-US" sz="4000" b="1" dirty="0"/>
              <a:t>Body Mass</a:t>
            </a:r>
          </a:p>
        </p:txBody>
      </p:sp>
    </p:spTree>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661EDD-D98A-BD76-BA82-DD5CF22CE6BD}"/>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67055" y="1124744"/>
            <a:ext cx="5513057" cy="5022690"/>
          </a:xfrm>
          <a:prstGeom prst="rect">
            <a:avLst/>
          </a:prstGeom>
        </p:spPr>
      </p:pic>
      <p:sp>
        <p:nvSpPr>
          <p:cNvPr id="4" name="Rectangle 5">
            <a:extLst>
              <a:ext uri="{FF2B5EF4-FFF2-40B4-BE49-F238E27FC236}">
                <a16:creationId xmlns:a16="http://schemas.microsoft.com/office/drawing/2014/main" id="{6854E7E0-3A1D-36B4-2BBD-1F69BDE43246}"/>
              </a:ext>
            </a:extLst>
          </p:cNvPr>
          <p:cNvSpPr>
            <a:spLocks noChangeArrowheads="1"/>
          </p:cNvSpPr>
          <p:nvPr/>
        </p:nvSpPr>
        <p:spPr bwMode="auto">
          <a:xfrm>
            <a:off x="1" y="79375"/>
            <a:ext cx="7308303"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lgn="ctr">
              <a:defRPr sz="4400">
                <a:solidFill>
                  <a:srgbClr val="FFFF00"/>
                </a:solidFill>
                <a:latin typeface="Arial" panose="020B0604020202020204" pitchFamily="34" charset="0"/>
                <a:cs typeface="Arial" panose="020B0604020202020204" pitchFamily="34" charset="0"/>
              </a:defRPr>
            </a:lvl1pPr>
            <a:lvl2pPr algn="ctr">
              <a:defRPr sz="4400">
                <a:solidFill>
                  <a:srgbClr val="FFFF00"/>
                </a:solidFill>
                <a:latin typeface="Arial" panose="020B0604020202020204" pitchFamily="34" charset="0"/>
                <a:cs typeface="Arial" panose="020B0604020202020204" pitchFamily="34" charset="0"/>
              </a:defRPr>
            </a:lvl2pPr>
            <a:lvl3pPr algn="ctr">
              <a:defRPr sz="4400">
                <a:solidFill>
                  <a:srgbClr val="FFFF00"/>
                </a:solidFill>
                <a:latin typeface="Arial" panose="020B0604020202020204" pitchFamily="34" charset="0"/>
                <a:cs typeface="Arial" panose="020B0604020202020204" pitchFamily="34" charset="0"/>
              </a:defRPr>
            </a:lvl3pPr>
            <a:lvl4pPr algn="ctr">
              <a:defRPr sz="4400">
                <a:solidFill>
                  <a:srgbClr val="FFFF00"/>
                </a:solidFill>
                <a:latin typeface="Arial" panose="020B0604020202020204" pitchFamily="34" charset="0"/>
                <a:cs typeface="Arial" panose="020B0604020202020204" pitchFamily="34" charset="0"/>
              </a:defRPr>
            </a:lvl4pPr>
            <a:lvl5pPr algn="ctr">
              <a:defRPr sz="4400">
                <a:solidFill>
                  <a:srgbClr val="FFFF00"/>
                </a:solidFill>
                <a:latin typeface="Arial" panose="020B0604020202020204" pitchFamily="34" charset="0"/>
                <a:cs typeface="Arial" panose="020B0604020202020204" pitchFamily="34" charset="0"/>
              </a:defRPr>
            </a:lvl5pPr>
            <a:lvl6pPr marL="4572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6pPr>
            <a:lvl7pPr marL="9144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7pPr>
            <a:lvl8pPr marL="13716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8pPr>
            <a:lvl9pPr marL="18288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9pPr>
          </a:lstStyle>
          <a:p>
            <a:pPr algn="l"/>
            <a:r>
              <a:rPr lang="en-GB" altLang="en-US" sz="4000" b="1" dirty="0"/>
              <a:t>Water- the Universal Solvent</a:t>
            </a:r>
          </a:p>
        </p:txBody>
      </p:sp>
      <p:sp>
        <p:nvSpPr>
          <p:cNvPr id="6" name="TextBox 5">
            <a:extLst>
              <a:ext uri="{FF2B5EF4-FFF2-40B4-BE49-F238E27FC236}">
                <a16:creationId xmlns:a16="http://schemas.microsoft.com/office/drawing/2014/main" id="{EE710067-6BB9-F364-7B5E-3271478AADAB}"/>
              </a:ext>
            </a:extLst>
          </p:cNvPr>
          <p:cNvSpPr txBox="1"/>
          <p:nvPr/>
        </p:nvSpPr>
        <p:spPr>
          <a:xfrm>
            <a:off x="5580111" y="1124744"/>
            <a:ext cx="3496833" cy="4708981"/>
          </a:xfrm>
          <a:prstGeom prst="rect">
            <a:avLst/>
          </a:prstGeom>
          <a:noFill/>
        </p:spPr>
        <p:txBody>
          <a:bodyPr wrap="square">
            <a:spAutoFit/>
          </a:bodyPr>
          <a:lstStyle/>
          <a:p>
            <a:r>
              <a:rPr lang="en-GB" sz="2000" b="0" i="0" u="none" strike="noStrike" baseline="0" dirty="0">
                <a:solidFill>
                  <a:srgbClr val="000000"/>
                </a:solidFill>
                <a:latin typeface="Arial" panose="020B0604020202020204" pitchFamily="34" charset="0"/>
              </a:rPr>
              <a:t>The electronegativity of oxygen and the fact that the atoms in water are not linear result in the molecule being polar.</a:t>
            </a:r>
          </a:p>
          <a:p>
            <a:endParaRPr lang="en-GB" sz="2000" dirty="0">
              <a:solidFill>
                <a:srgbClr val="000000"/>
              </a:solidFill>
              <a:latin typeface="Arial" panose="020B0604020202020204" pitchFamily="34" charset="0"/>
            </a:endParaRPr>
          </a:p>
          <a:p>
            <a:endParaRPr lang="en-GB" sz="2000" b="0" i="0" u="none" strike="noStrike" baseline="0" dirty="0">
              <a:solidFill>
                <a:srgbClr val="000000"/>
              </a:solidFill>
              <a:latin typeface="Arial" panose="020B0604020202020204" pitchFamily="34" charset="0"/>
            </a:endParaRPr>
          </a:p>
          <a:p>
            <a:r>
              <a:rPr lang="en-GB" sz="2000" b="0" i="0" u="none" strike="noStrike" baseline="0" dirty="0">
                <a:solidFill>
                  <a:srgbClr val="000000"/>
                </a:solidFill>
                <a:latin typeface="Arial" panose="020B0604020202020204" pitchFamily="34" charset="0"/>
              </a:rPr>
              <a:t>The charge difference allows the molecule to ‘hydrogen bond’ with other water molecules and dipoles in other molecules. This explains many of the properties of water, such as its solvent properties.</a:t>
            </a:r>
            <a:endParaRPr lang="en-GB" sz="2000" dirty="0"/>
          </a:p>
        </p:txBody>
      </p:sp>
    </p:spTree>
    <p:extLst>
      <p:ext uri="{BB962C8B-B14F-4D97-AF65-F5344CB8AC3E}">
        <p14:creationId xmlns:p14="http://schemas.microsoft.com/office/powerpoint/2010/main" val="389536477"/>
      </p:ext>
    </p:extLst>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Text Box 2">
            <a:extLst>
              <a:ext uri="{FF2B5EF4-FFF2-40B4-BE49-F238E27FC236}">
                <a16:creationId xmlns:a16="http://schemas.microsoft.com/office/drawing/2014/main" id="{644813B6-7BEE-A57D-E20F-525202DB3039}"/>
              </a:ext>
            </a:extLst>
          </p:cNvPr>
          <p:cNvSpPr txBox="1">
            <a:spLocks noChangeArrowheads="1"/>
          </p:cNvSpPr>
          <p:nvPr/>
        </p:nvSpPr>
        <p:spPr bwMode="auto">
          <a:xfrm>
            <a:off x="539750" y="1447800"/>
            <a:ext cx="7920038" cy="6043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lvl="1">
              <a:lnSpc>
                <a:spcPct val="110000"/>
              </a:lnSpc>
              <a:spcBef>
                <a:spcPct val="50000"/>
              </a:spcBef>
              <a:buFontTx/>
              <a:buAutoNum type="arabicPeriod"/>
            </a:pPr>
            <a:r>
              <a:rPr lang="en-GB" altLang="en-US">
                <a:solidFill>
                  <a:srgbClr val="000099"/>
                </a:solidFill>
                <a:latin typeface="Arial" panose="020B0604020202020204" pitchFamily="34" charset="0"/>
              </a:rPr>
              <a:t>Those that dissolve readily in water (hydrophilic substances). These molecules are polar in nature e.g. glucose, Na</a:t>
            </a:r>
            <a:r>
              <a:rPr lang="en-GB" altLang="en-US" baseline="30000">
                <a:solidFill>
                  <a:srgbClr val="000099"/>
                </a:solidFill>
                <a:latin typeface="Arial" panose="020B0604020202020204" pitchFamily="34" charset="0"/>
              </a:rPr>
              <a:t>+</a:t>
            </a:r>
            <a:r>
              <a:rPr lang="en-GB" altLang="en-US">
                <a:solidFill>
                  <a:srgbClr val="000099"/>
                </a:solidFill>
                <a:latin typeface="Arial" panose="020B0604020202020204" pitchFamily="34" charset="0"/>
              </a:rPr>
              <a:t>, many proteins.</a:t>
            </a:r>
          </a:p>
          <a:p>
            <a:pPr lvl="1">
              <a:lnSpc>
                <a:spcPct val="110000"/>
              </a:lnSpc>
              <a:spcBef>
                <a:spcPct val="50000"/>
              </a:spcBef>
              <a:buFontTx/>
              <a:buAutoNum type="arabicPeriod"/>
            </a:pPr>
            <a:r>
              <a:rPr lang="en-GB" altLang="en-US">
                <a:solidFill>
                  <a:srgbClr val="000099"/>
                </a:solidFill>
                <a:latin typeface="Arial" panose="020B0604020202020204" pitchFamily="34" charset="0"/>
              </a:rPr>
              <a:t>Those that are insoluble in water (hydrophobic substances) e.g. fats and waxes. Such molecules are non-polar.</a:t>
            </a:r>
          </a:p>
          <a:p>
            <a:pPr lvl="1">
              <a:lnSpc>
                <a:spcPct val="110000"/>
              </a:lnSpc>
              <a:spcBef>
                <a:spcPct val="50000"/>
              </a:spcBef>
              <a:buFontTx/>
              <a:buAutoNum type="arabicPeriod"/>
            </a:pPr>
            <a:r>
              <a:rPr lang="en-GB" altLang="en-US">
                <a:solidFill>
                  <a:srgbClr val="000099"/>
                </a:solidFill>
                <a:latin typeface="Arial" panose="020B0604020202020204" pitchFamily="34" charset="0"/>
              </a:rPr>
              <a:t>Those that have mixed properties - one part of the molecule is polar and the other is non-polar. Such molecules are known as amphiphilic substances. Examples are the long chain fatty acids and the phospholipids.</a:t>
            </a:r>
          </a:p>
          <a:p>
            <a:pPr lvl="1">
              <a:lnSpc>
                <a:spcPct val="110000"/>
              </a:lnSpc>
              <a:spcBef>
                <a:spcPct val="50000"/>
              </a:spcBef>
              <a:buFontTx/>
              <a:buAutoNum type="arabicPeriod"/>
            </a:pPr>
            <a:endParaRPr lang="en-GB" altLang="en-US">
              <a:solidFill>
                <a:srgbClr val="000099"/>
              </a:solidFill>
              <a:latin typeface="Arial" panose="020B0604020202020204" pitchFamily="34" charset="0"/>
            </a:endParaRPr>
          </a:p>
          <a:p>
            <a:pPr lvl="1">
              <a:lnSpc>
                <a:spcPct val="110000"/>
              </a:lnSpc>
              <a:spcBef>
                <a:spcPct val="50000"/>
              </a:spcBef>
              <a:buFontTx/>
              <a:buAutoNum type="arabicPeriod"/>
            </a:pPr>
            <a:endParaRPr lang="en-GB" altLang="en-US">
              <a:solidFill>
                <a:srgbClr val="000099"/>
              </a:solidFill>
              <a:latin typeface="Arial" panose="020B0604020202020204" pitchFamily="34" charset="0"/>
            </a:endParaRPr>
          </a:p>
        </p:txBody>
      </p:sp>
      <p:sp>
        <p:nvSpPr>
          <p:cNvPr id="336899" name="Text Box 3">
            <a:extLst>
              <a:ext uri="{FF2B5EF4-FFF2-40B4-BE49-F238E27FC236}">
                <a16:creationId xmlns:a16="http://schemas.microsoft.com/office/drawing/2014/main" id="{04631C4D-17F9-AF39-FDBC-78C1BEB54A29}"/>
              </a:ext>
            </a:extLst>
          </p:cNvPr>
          <p:cNvSpPr txBox="1">
            <a:spLocks noChangeArrowheads="1"/>
          </p:cNvSpPr>
          <p:nvPr/>
        </p:nvSpPr>
        <p:spPr bwMode="auto">
          <a:xfrm>
            <a:off x="914400" y="685800"/>
            <a:ext cx="7696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000099"/>
                </a:solidFill>
                <a:latin typeface="Arial" panose="020B0604020202020204" pitchFamily="34" charset="0"/>
              </a:rPr>
              <a:t>Chemical species can be divided into three classes:</a:t>
            </a:r>
          </a:p>
        </p:txBody>
      </p:sp>
      <p:sp>
        <p:nvSpPr>
          <p:cNvPr id="336902" name="Rectangle 6">
            <a:extLst>
              <a:ext uri="{FF2B5EF4-FFF2-40B4-BE49-F238E27FC236}">
                <a16:creationId xmlns:a16="http://schemas.microsoft.com/office/drawing/2014/main" id="{844D3700-2436-A368-D243-376B26B147BF}"/>
              </a:ext>
            </a:extLst>
          </p:cNvPr>
          <p:cNvSpPr>
            <a:spLocks noChangeArrowheads="1"/>
          </p:cNvSpPr>
          <p:nvPr/>
        </p:nvSpPr>
        <p:spPr bwMode="auto">
          <a:xfrm>
            <a:off x="755650" y="79375"/>
            <a:ext cx="5040313"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lgn="ctr">
              <a:defRPr sz="4400">
                <a:solidFill>
                  <a:srgbClr val="FFFF00"/>
                </a:solidFill>
                <a:latin typeface="Arial" panose="020B0604020202020204" pitchFamily="34" charset="0"/>
                <a:cs typeface="Arial" panose="020B0604020202020204" pitchFamily="34" charset="0"/>
              </a:defRPr>
            </a:lvl1pPr>
            <a:lvl2pPr algn="ctr">
              <a:defRPr sz="4400">
                <a:solidFill>
                  <a:srgbClr val="FFFF00"/>
                </a:solidFill>
                <a:latin typeface="Arial" panose="020B0604020202020204" pitchFamily="34" charset="0"/>
                <a:cs typeface="Arial" panose="020B0604020202020204" pitchFamily="34" charset="0"/>
              </a:defRPr>
            </a:lvl2pPr>
            <a:lvl3pPr algn="ctr">
              <a:defRPr sz="4400">
                <a:solidFill>
                  <a:srgbClr val="FFFF00"/>
                </a:solidFill>
                <a:latin typeface="Arial" panose="020B0604020202020204" pitchFamily="34" charset="0"/>
                <a:cs typeface="Arial" panose="020B0604020202020204" pitchFamily="34" charset="0"/>
              </a:defRPr>
            </a:lvl3pPr>
            <a:lvl4pPr algn="ctr">
              <a:defRPr sz="4400">
                <a:solidFill>
                  <a:srgbClr val="FFFF00"/>
                </a:solidFill>
                <a:latin typeface="Arial" panose="020B0604020202020204" pitchFamily="34" charset="0"/>
                <a:cs typeface="Arial" panose="020B0604020202020204" pitchFamily="34" charset="0"/>
              </a:defRPr>
            </a:lvl4pPr>
            <a:lvl5pPr algn="ctr">
              <a:defRPr sz="4400">
                <a:solidFill>
                  <a:srgbClr val="FFFF00"/>
                </a:solidFill>
                <a:latin typeface="Arial" panose="020B0604020202020204" pitchFamily="34" charset="0"/>
                <a:cs typeface="Arial" panose="020B0604020202020204" pitchFamily="34" charset="0"/>
              </a:defRPr>
            </a:lvl5pPr>
            <a:lvl6pPr marL="4572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6pPr>
            <a:lvl7pPr marL="9144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7pPr>
            <a:lvl8pPr marL="13716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8pPr>
            <a:lvl9pPr marL="18288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9pPr>
          </a:lstStyle>
          <a:p>
            <a:pPr algn="l"/>
            <a:r>
              <a:rPr lang="en-GB" altLang="en-US" sz="4000" b="1"/>
              <a:t>Classification</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6898">
                                            <p:txEl>
                                              <p:pRg st="0" end="0"/>
                                            </p:txEl>
                                          </p:spTgt>
                                        </p:tgtEl>
                                        <p:attrNameLst>
                                          <p:attrName>style.visibility</p:attrName>
                                        </p:attrNameLst>
                                      </p:cBhvr>
                                      <p:to>
                                        <p:strVal val="visible"/>
                                      </p:to>
                                    </p:set>
                                    <p:animEffect transition="in" filter="wipe(left)">
                                      <p:cBhvr>
                                        <p:cTn id="7" dur="500"/>
                                        <p:tgtEl>
                                          <p:spTgt spid="336898">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36898">
                                            <p:txEl>
                                              <p:pRg st="1" end="1"/>
                                            </p:txEl>
                                          </p:spTgt>
                                        </p:tgtEl>
                                        <p:attrNameLst>
                                          <p:attrName>style.visibility</p:attrName>
                                        </p:attrNameLst>
                                      </p:cBhvr>
                                      <p:to>
                                        <p:strVal val="visible"/>
                                      </p:to>
                                    </p:set>
                                    <p:animEffect transition="in" filter="wipe(left)">
                                      <p:cBhvr>
                                        <p:cTn id="10" dur="500"/>
                                        <p:tgtEl>
                                          <p:spTgt spid="336898">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36898">
                                            <p:txEl>
                                              <p:pRg st="2" end="2"/>
                                            </p:txEl>
                                          </p:spTgt>
                                        </p:tgtEl>
                                        <p:attrNameLst>
                                          <p:attrName>style.visibility</p:attrName>
                                        </p:attrNameLst>
                                      </p:cBhvr>
                                      <p:to>
                                        <p:strVal val="visible"/>
                                      </p:to>
                                    </p:set>
                                    <p:animEffect transition="in" filter="wipe(left)">
                                      <p:cBhvr>
                                        <p:cTn id="13" dur="500"/>
                                        <p:tgtEl>
                                          <p:spTgt spid="33689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6898"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22" name="Picture 2">
            <a:extLst>
              <a:ext uri="{FF2B5EF4-FFF2-40B4-BE49-F238E27FC236}">
                <a16:creationId xmlns:a16="http://schemas.microsoft.com/office/drawing/2014/main" id="{D1EA7931-B52D-D46E-B1FA-A9FF8FD65D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874713"/>
            <a:ext cx="2209800" cy="1976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7923" name="Picture 3">
            <a:extLst>
              <a:ext uri="{FF2B5EF4-FFF2-40B4-BE49-F238E27FC236}">
                <a16:creationId xmlns:a16="http://schemas.microsoft.com/office/drawing/2014/main" id="{400C2B34-071B-67F9-405B-48D5EBE987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798513"/>
            <a:ext cx="2971800" cy="1887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7924" name="Text Box 4">
            <a:extLst>
              <a:ext uri="{FF2B5EF4-FFF2-40B4-BE49-F238E27FC236}">
                <a16:creationId xmlns:a16="http://schemas.microsoft.com/office/drawing/2014/main" id="{34275A89-4423-96CB-7F24-B1F1F13D0702}"/>
              </a:ext>
            </a:extLst>
          </p:cNvPr>
          <p:cNvSpPr txBox="1">
            <a:spLocks noChangeArrowheads="1"/>
          </p:cNvSpPr>
          <p:nvPr/>
        </p:nvSpPr>
        <p:spPr bwMode="auto">
          <a:xfrm>
            <a:off x="990600" y="2932113"/>
            <a:ext cx="320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000099"/>
                </a:solidFill>
                <a:latin typeface="Arial" panose="020B0604020202020204" pitchFamily="34" charset="0"/>
                <a:cs typeface="Arial" panose="020B0604020202020204" pitchFamily="34" charset="0"/>
              </a:rPr>
              <a:t>Hydrophilic (polar)</a:t>
            </a:r>
          </a:p>
        </p:txBody>
      </p:sp>
      <p:sp>
        <p:nvSpPr>
          <p:cNvPr id="337925" name="Text Box 5">
            <a:extLst>
              <a:ext uri="{FF2B5EF4-FFF2-40B4-BE49-F238E27FC236}">
                <a16:creationId xmlns:a16="http://schemas.microsoft.com/office/drawing/2014/main" id="{01B3DB52-9068-194A-1D46-74A8CC417054}"/>
              </a:ext>
            </a:extLst>
          </p:cNvPr>
          <p:cNvSpPr txBox="1">
            <a:spLocks noChangeArrowheads="1"/>
          </p:cNvSpPr>
          <p:nvPr/>
        </p:nvSpPr>
        <p:spPr bwMode="auto">
          <a:xfrm>
            <a:off x="4724400" y="2855913"/>
            <a:ext cx="350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000099"/>
                </a:solidFill>
                <a:latin typeface="Arial" panose="020B0604020202020204" pitchFamily="34" charset="0"/>
                <a:cs typeface="Arial" panose="020B0604020202020204" pitchFamily="34" charset="0"/>
              </a:rPr>
              <a:t>Hydrophobic (non-polar)</a:t>
            </a:r>
          </a:p>
        </p:txBody>
      </p:sp>
      <p:sp>
        <p:nvSpPr>
          <p:cNvPr id="337926" name="Text Box 6">
            <a:extLst>
              <a:ext uri="{FF2B5EF4-FFF2-40B4-BE49-F238E27FC236}">
                <a16:creationId xmlns:a16="http://schemas.microsoft.com/office/drawing/2014/main" id="{52392C54-C04D-1A84-298C-5F398C46C8FF}"/>
              </a:ext>
            </a:extLst>
          </p:cNvPr>
          <p:cNvSpPr txBox="1">
            <a:spLocks noChangeArrowheads="1"/>
          </p:cNvSpPr>
          <p:nvPr/>
        </p:nvSpPr>
        <p:spPr bwMode="auto">
          <a:xfrm>
            <a:off x="3429000" y="6284913"/>
            <a:ext cx="2362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000099"/>
                </a:solidFill>
                <a:latin typeface="Arial" panose="020B0604020202020204" pitchFamily="34" charset="0"/>
                <a:cs typeface="Arial" panose="020B0604020202020204" pitchFamily="34" charset="0"/>
              </a:rPr>
              <a:t>Amphiphilic</a:t>
            </a:r>
          </a:p>
        </p:txBody>
      </p:sp>
      <p:pic>
        <p:nvPicPr>
          <p:cNvPr id="337927" name="Picture 7">
            <a:extLst>
              <a:ext uri="{FF2B5EF4-FFF2-40B4-BE49-F238E27FC236}">
                <a16:creationId xmlns:a16="http://schemas.microsoft.com/office/drawing/2014/main" id="{E1D55801-84EC-EF82-8252-58D20FF1B2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3922713"/>
            <a:ext cx="7696200" cy="2149475"/>
          </a:xfrm>
          <a:prstGeom prst="rect">
            <a:avLst/>
          </a:prstGeom>
          <a:noFill/>
          <a:extLst>
            <a:ext uri="{909E8E84-426E-40DD-AFC4-6F175D3DCCD1}">
              <a14:hiddenFill xmlns:a14="http://schemas.microsoft.com/office/drawing/2010/main">
                <a:solidFill>
                  <a:srgbClr val="FFFFFF"/>
                </a:solidFill>
              </a14:hiddenFill>
            </a:ext>
          </a:extLst>
        </p:spPr>
      </p:pic>
      <p:sp>
        <p:nvSpPr>
          <p:cNvPr id="337930" name="Rectangle 10">
            <a:extLst>
              <a:ext uri="{FF2B5EF4-FFF2-40B4-BE49-F238E27FC236}">
                <a16:creationId xmlns:a16="http://schemas.microsoft.com/office/drawing/2014/main" id="{BB75E396-1AAE-8D91-D437-CF5CB85AF46C}"/>
              </a:ext>
            </a:extLst>
          </p:cNvPr>
          <p:cNvSpPr>
            <a:spLocks noChangeArrowheads="1"/>
          </p:cNvSpPr>
          <p:nvPr/>
        </p:nvSpPr>
        <p:spPr bwMode="auto">
          <a:xfrm>
            <a:off x="755650" y="79375"/>
            <a:ext cx="5040313"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lgn="ctr">
              <a:defRPr sz="4400">
                <a:solidFill>
                  <a:srgbClr val="FFFF00"/>
                </a:solidFill>
                <a:latin typeface="Arial" panose="020B0604020202020204" pitchFamily="34" charset="0"/>
                <a:cs typeface="Arial" panose="020B0604020202020204" pitchFamily="34" charset="0"/>
              </a:defRPr>
            </a:lvl1pPr>
            <a:lvl2pPr algn="ctr">
              <a:defRPr sz="4400">
                <a:solidFill>
                  <a:srgbClr val="FFFF00"/>
                </a:solidFill>
                <a:latin typeface="Arial" panose="020B0604020202020204" pitchFamily="34" charset="0"/>
                <a:cs typeface="Arial" panose="020B0604020202020204" pitchFamily="34" charset="0"/>
              </a:defRPr>
            </a:lvl2pPr>
            <a:lvl3pPr algn="ctr">
              <a:defRPr sz="4400">
                <a:solidFill>
                  <a:srgbClr val="FFFF00"/>
                </a:solidFill>
                <a:latin typeface="Arial" panose="020B0604020202020204" pitchFamily="34" charset="0"/>
                <a:cs typeface="Arial" panose="020B0604020202020204" pitchFamily="34" charset="0"/>
              </a:defRPr>
            </a:lvl3pPr>
            <a:lvl4pPr algn="ctr">
              <a:defRPr sz="4400">
                <a:solidFill>
                  <a:srgbClr val="FFFF00"/>
                </a:solidFill>
                <a:latin typeface="Arial" panose="020B0604020202020204" pitchFamily="34" charset="0"/>
                <a:cs typeface="Arial" panose="020B0604020202020204" pitchFamily="34" charset="0"/>
              </a:defRPr>
            </a:lvl4pPr>
            <a:lvl5pPr algn="ctr">
              <a:defRPr sz="4400">
                <a:solidFill>
                  <a:srgbClr val="FFFF00"/>
                </a:solidFill>
                <a:latin typeface="Arial" panose="020B0604020202020204" pitchFamily="34" charset="0"/>
                <a:cs typeface="Arial" panose="020B0604020202020204" pitchFamily="34" charset="0"/>
              </a:defRPr>
            </a:lvl5pPr>
            <a:lvl6pPr marL="4572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6pPr>
            <a:lvl7pPr marL="9144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7pPr>
            <a:lvl8pPr marL="13716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8pPr>
            <a:lvl9pPr marL="18288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9pPr>
          </a:lstStyle>
          <a:p>
            <a:pPr algn="l"/>
            <a:r>
              <a:rPr lang="en-GB" altLang="en-US" sz="4000" b="1"/>
              <a:t>Structure</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7925"/>
                                        </p:tgtEl>
                                        <p:attrNameLst>
                                          <p:attrName>style.visibility</p:attrName>
                                        </p:attrNameLst>
                                      </p:cBhvr>
                                      <p:to>
                                        <p:strVal val="visible"/>
                                      </p:to>
                                    </p:set>
                                    <p:animEffect transition="in" filter="blinds(horizontal)">
                                      <p:cBhvr>
                                        <p:cTn id="7" dur="500"/>
                                        <p:tgtEl>
                                          <p:spTgt spid="337925"/>
                                        </p:tgtEl>
                                      </p:cBhvr>
                                    </p:animEffect>
                                  </p:childTnLst>
                                </p:cTn>
                              </p:par>
                              <p:par>
                                <p:cTn id="8" presetID="3" presetClass="entr" presetSubtype="10" fill="hold" nodeType="withEffect">
                                  <p:stCondLst>
                                    <p:cond delay="0"/>
                                  </p:stCondLst>
                                  <p:childTnLst>
                                    <p:set>
                                      <p:cBhvr>
                                        <p:cTn id="9" dur="1" fill="hold">
                                          <p:stCondLst>
                                            <p:cond delay="0"/>
                                          </p:stCondLst>
                                        </p:cTn>
                                        <p:tgtEl>
                                          <p:spTgt spid="337923"/>
                                        </p:tgtEl>
                                        <p:attrNameLst>
                                          <p:attrName>style.visibility</p:attrName>
                                        </p:attrNameLst>
                                      </p:cBhvr>
                                      <p:to>
                                        <p:strVal val="visible"/>
                                      </p:to>
                                    </p:set>
                                    <p:animEffect transition="in" filter="blinds(horizontal)">
                                      <p:cBhvr>
                                        <p:cTn id="10" dur="500"/>
                                        <p:tgtEl>
                                          <p:spTgt spid="33792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37926"/>
                                        </p:tgtEl>
                                        <p:attrNameLst>
                                          <p:attrName>style.visibility</p:attrName>
                                        </p:attrNameLst>
                                      </p:cBhvr>
                                      <p:to>
                                        <p:strVal val="visible"/>
                                      </p:to>
                                    </p:set>
                                    <p:animEffect transition="in" filter="blinds(horizontal)">
                                      <p:cBhvr>
                                        <p:cTn id="15" dur="500"/>
                                        <p:tgtEl>
                                          <p:spTgt spid="337926"/>
                                        </p:tgtEl>
                                      </p:cBhvr>
                                    </p:animEffect>
                                  </p:childTnLst>
                                </p:cTn>
                              </p:par>
                              <p:par>
                                <p:cTn id="16" presetID="3" presetClass="entr" presetSubtype="10" fill="hold" nodeType="withEffect">
                                  <p:stCondLst>
                                    <p:cond delay="0"/>
                                  </p:stCondLst>
                                  <p:childTnLst>
                                    <p:set>
                                      <p:cBhvr>
                                        <p:cTn id="17" dur="1" fill="hold">
                                          <p:stCondLst>
                                            <p:cond delay="0"/>
                                          </p:stCondLst>
                                        </p:cTn>
                                        <p:tgtEl>
                                          <p:spTgt spid="337927"/>
                                        </p:tgtEl>
                                        <p:attrNameLst>
                                          <p:attrName>style.visibility</p:attrName>
                                        </p:attrNameLst>
                                      </p:cBhvr>
                                      <p:to>
                                        <p:strVal val="visible"/>
                                      </p:to>
                                    </p:set>
                                    <p:animEffect transition="in" filter="blinds(horizontal)">
                                      <p:cBhvr>
                                        <p:cTn id="18" dur="500"/>
                                        <p:tgtEl>
                                          <p:spTgt spid="3379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25" grpId="0" autoUpdateAnimBg="0"/>
      <p:bldP spid="337926"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8947" name="Rectangle 3">
            <a:extLst>
              <a:ext uri="{FF2B5EF4-FFF2-40B4-BE49-F238E27FC236}">
                <a16:creationId xmlns:a16="http://schemas.microsoft.com/office/drawing/2014/main" id="{D28A7757-68F1-698B-2846-CC48058295A9}"/>
              </a:ext>
            </a:extLst>
          </p:cNvPr>
          <p:cNvSpPr>
            <a:spLocks noGrp="1" noChangeArrowheads="1"/>
          </p:cNvSpPr>
          <p:nvPr>
            <p:ph type="body" idx="1"/>
          </p:nvPr>
        </p:nvSpPr>
        <p:spPr>
          <a:xfrm>
            <a:off x="539750" y="1125538"/>
            <a:ext cx="8064500" cy="5472112"/>
          </a:xfrm>
        </p:spPr>
        <p:txBody>
          <a:bodyPr/>
          <a:lstStyle/>
          <a:p>
            <a:pPr>
              <a:lnSpc>
                <a:spcPct val="80000"/>
              </a:lnSpc>
              <a:buFontTx/>
              <a:buNone/>
            </a:pPr>
            <a:r>
              <a:rPr lang="en-GB" altLang="en-US" sz="2400">
                <a:solidFill>
                  <a:srgbClr val="000099"/>
                </a:solidFill>
              </a:rPr>
              <a:t>	When in solution, substances disperse in a random process called diffusion. </a:t>
            </a:r>
          </a:p>
          <a:p>
            <a:pPr>
              <a:lnSpc>
                <a:spcPct val="80000"/>
              </a:lnSpc>
              <a:buFontTx/>
              <a:buNone/>
            </a:pPr>
            <a:endParaRPr lang="en-GB" altLang="en-US" sz="2400">
              <a:solidFill>
                <a:srgbClr val="000099"/>
              </a:solidFill>
            </a:endParaRPr>
          </a:p>
          <a:p>
            <a:pPr>
              <a:lnSpc>
                <a:spcPct val="80000"/>
              </a:lnSpc>
              <a:buFontTx/>
              <a:buNone/>
            </a:pPr>
            <a:r>
              <a:rPr lang="en-GB" altLang="en-US" sz="2400">
                <a:solidFill>
                  <a:srgbClr val="000099"/>
                </a:solidFill>
              </a:rPr>
              <a:t>The rate of diffusion depends on: </a:t>
            </a:r>
          </a:p>
          <a:p>
            <a:pPr>
              <a:lnSpc>
                <a:spcPct val="80000"/>
              </a:lnSpc>
              <a:buFontTx/>
              <a:buNone/>
            </a:pPr>
            <a:endParaRPr lang="en-GB" altLang="en-US" sz="2400">
              <a:solidFill>
                <a:srgbClr val="000099"/>
              </a:solidFill>
            </a:endParaRPr>
          </a:p>
          <a:p>
            <a:pPr>
              <a:lnSpc>
                <a:spcPct val="80000"/>
              </a:lnSpc>
            </a:pPr>
            <a:r>
              <a:rPr lang="en-GB" altLang="en-US" sz="2400">
                <a:solidFill>
                  <a:srgbClr val="000099"/>
                </a:solidFill>
              </a:rPr>
              <a:t>The concentration gradient</a:t>
            </a:r>
          </a:p>
          <a:p>
            <a:pPr>
              <a:lnSpc>
                <a:spcPct val="80000"/>
              </a:lnSpc>
            </a:pPr>
            <a:endParaRPr lang="en-GB" altLang="en-US" sz="2400">
              <a:solidFill>
                <a:srgbClr val="000099"/>
              </a:solidFill>
            </a:endParaRPr>
          </a:p>
          <a:p>
            <a:pPr>
              <a:lnSpc>
                <a:spcPct val="80000"/>
              </a:lnSpc>
            </a:pPr>
            <a:r>
              <a:rPr lang="en-GB" altLang="en-US" sz="2400">
                <a:solidFill>
                  <a:srgbClr val="000099"/>
                </a:solidFill>
              </a:rPr>
              <a:t>The area available for diffusion</a:t>
            </a:r>
          </a:p>
          <a:p>
            <a:pPr>
              <a:lnSpc>
                <a:spcPct val="80000"/>
              </a:lnSpc>
            </a:pPr>
            <a:endParaRPr lang="en-GB" altLang="en-US" sz="2400">
              <a:solidFill>
                <a:srgbClr val="000099"/>
              </a:solidFill>
            </a:endParaRPr>
          </a:p>
          <a:p>
            <a:pPr>
              <a:lnSpc>
                <a:spcPct val="80000"/>
              </a:lnSpc>
            </a:pPr>
            <a:r>
              <a:rPr lang="en-GB" altLang="en-US" sz="2400">
                <a:solidFill>
                  <a:srgbClr val="000099"/>
                </a:solidFill>
              </a:rPr>
              <a:t>The molecular mass of the solute</a:t>
            </a:r>
          </a:p>
          <a:p>
            <a:pPr>
              <a:lnSpc>
                <a:spcPct val="80000"/>
              </a:lnSpc>
            </a:pPr>
            <a:endParaRPr lang="en-GB" altLang="en-US" sz="2400">
              <a:solidFill>
                <a:srgbClr val="000099"/>
              </a:solidFill>
            </a:endParaRPr>
          </a:p>
          <a:p>
            <a:pPr>
              <a:lnSpc>
                <a:spcPct val="80000"/>
              </a:lnSpc>
            </a:pPr>
            <a:r>
              <a:rPr lang="en-GB" altLang="en-US" sz="2400">
                <a:solidFill>
                  <a:srgbClr val="000099"/>
                </a:solidFill>
              </a:rPr>
              <a:t>The diffusion coefficient </a:t>
            </a:r>
          </a:p>
          <a:p>
            <a:pPr lvl="1">
              <a:lnSpc>
                <a:spcPct val="80000"/>
              </a:lnSpc>
            </a:pPr>
            <a:r>
              <a:rPr lang="en-GB" altLang="en-US" sz="2400">
                <a:solidFill>
                  <a:srgbClr val="000099"/>
                </a:solidFill>
              </a:rPr>
              <a:t>This is a physical constant that reflects the specific molecular characteristics of both solute and solvent. This constant also depends on temperature.</a:t>
            </a:r>
          </a:p>
        </p:txBody>
      </p:sp>
      <p:sp>
        <p:nvSpPr>
          <p:cNvPr id="338948" name="Rectangle 4">
            <a:extLst>
              <a:ext uri="{FF2B5EF4-FFF2-40B4-BE49-F238E27FC236}">
                <a16:creationId xmlns:a16="http://schemas.microsoft.com/office/drawing/2014/main" id="{14D76C33-FCA2-EE85-1A05-701F5B4F9E6D}"/>
              </a:ext>
            </a:extLst>
          </p:cNvPr>
          <p:cNvSpPr>
            <a:spLocks noChangeArrowheads="1"/>
          </p:cNvSpPr>
          <p:nvPr/>
        </p:nvSpPr>
        <p:spPr bwMode="auto">
          <a:xfrm>
            <a:off x="755650" y="79375"/>
            <a:ext cx="5040313"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lgn="ctr">
              <a:defRPr sz="4400">
                <a:solidFill>
                  <a:srgbClr val="FFFF00"/>
                </a:solidFill>
                <a:latin typeface="Arial" panose="020B0604020202020204" pitchFamily="34" charset="0"/>
                <a:cs typeface="Arial" panose="020B0604020202020204" pitchFamily="34" charset="0"/>
              </a:defRPr>
            </a:lvl1pPr>
            <a:lvl2pPr algn="ctr">
              <a:defRPr sz="4400">
                <a:solidFill>
                  <a:srgbClr val="FFFF00"/>
                </a:solidFill>
                <a:latin typeface="Arial" panose="020B0604020202020204" pitchFamily="34" charset="0"/>
                <a:cs typeface="Arial" panose="020B0604020202020204" pitchFamily="34" charset="0"/>
              </a:defRPr>
            </a:lvl2pPr>
            <a:lvl3pPr algn="ctr">
              <a:defRPr sz="4400">
                <a:solidFill>
                  <a:srgbClr val="FFFF00"/>
                </a:solidFill>
                <a:latin typeface="Arial" panose="020B0604020202020204" pitchFamily="34" charset="0"/>
                <a:cs typeface="Arial" panose="020B0604020202020204" pitchFamily="34" charset="0"/>
              </a:defRPr>
            </a:lvl3pPr>
            <a:lvl4pPr algn="ctr">
              <a:defRPr sz="4400">
                <a:solidFill>
                  <a:srgbClr val="FFFF00"/>
                </a:solidFill>
                <a:latin typeface="Arial" panose="020B0604020202020204" pitchFamily="34" charset="0"/>
                <a:cs typeface="Arial" panose="020B0604020202020204" pitchFamily="34" charset="0"/>
              </a:defRPr>
            </a:lvl4pPr>
            <a:lvl5pPr algn="ctr">
              <a:defRPr sz="4400">
                <a:solidFill>
                  <a:srgbClr val="FFFF00"/>
                </a:solidFill>
                <a:latin typeface="Arial" panose="020B0604020202020204" pitchFamily="34" charset="0"/>
                <a:cs typeface="Arial" panose="020B0604020202020204" pitchFamily="34" charset="0"/>
              </a:defRPr>
            </a:lvl5pPr>
            <a:lvl6pPr marL="4572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6pPr>
            <a:lvl7pPr marL="9144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7pPr>
            <a:lvl8pPr marL="13716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8pPr>
            <a:lvl9pPr marL="18288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9pPr>
          </a:lstStyle>
          <a:p>
            <a:pPr algn="l"/>
            <a:r>
              <a:rPr lang="en-GB" altLang="en-US" sz="4000" b="1"/>
              <a:t>Diffusion</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8947">
                                            <p:txEl>
                                              <p:pRg st="0" end="0"/>
                                            </p:txEl>
                                          </p:spTgt>
                                        </p:tgtEl>
                                        <p:attrNameLst>
                                          <p:attrName>style.visibility</p:attrName>
                                        </p:attrNameLst>
                                      </p:cBhvr>
                                      <p:to>
                                        <p:strVal val="visible"/>
                                      </p:to>
                                    </p:set>
                                    <p:animEffect transition="in" filter="wipe(left)">
                                      <p:cBhvr>
                                        <p:cTn id="7" dur="500"/>
                                        <p:tgtEl>
                                          <p:spTgt spid="3389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8947">
                                            <p:txEl>
                                              <p:pRg st="2" end="2"/>
                                            </p:txEl>
                                          </p:spTgt>
                                        </p:tgtEl>
                                        <p:attrNameLst>
                                          <p:attrName>style.visibility</p:attrName>
                                        </p:attrNameLst>
                                      </p:cBhvr>
                                      <p:to>
                                        <p:strVal val="visible"/>
                                      </p:to>
                                    </p:set>
                                    <p:animEffect transition="in" filter="wipe(left)">
                                      <p:cBhvr>
                                        <p:cTn id="12" dur="500"/>
                                        <p:tgtEl>
                                          <p:spTgt spid="33894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38947">
                                            <p:txEl>
                                              <p:pRg st="4" end="4"/>
                                            </p:txEl>
                                          </p:spTgt>
                                        </p:tgtEl>
                                        <p:attrNameLst>
                                          <p:attrName>style.visibility</p:attrName>
                                        </p:attrNameLst>
                                      </p:cBhvr>
                                      <p:to>
                                        <p:strVal val="visible"/>
                                      </p:to>
                                    </p:set>
                                    <p:animEffect transition="in" filter="wipe(left)">
                                      <p:cBhvr>
                                        <p:cTn id="17" dur="500"/>
                                        <p:tgtEl>
                                          <p:spTgt spid="338947">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38947">
                                            <p:txEl>
                                              <p:pRg st="6" end="6"/>
                                            </p:txEl>
                                          </p:spTgt>
                                        </p:tgtEl>
                                        <p:attrNameLst>
                                          <p:attrName>style.visibility</p:attrName>
                                        </p:attrNameLst>
                                      </p:cBhvr>
                                      <p:to>
                                        <p:strVal val="visible"/>
                                      </p:to>
                                    </p:set>
                                    <p:animEffect transition="in" filter="wipe(left)">
                                      <p:cBhvr>
                                        <p:cTn id="22" dur="500"/>
                                        <p:tgtEl>
                                          <p:spTgt spid="338947">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38947">
                                            <p:txEl>
                                              <p:pRg st="8" end="8"/>
                                            </p:txEl>
                                          </p:spTgt>
                                        </p:tgtEl>
                                        <p:attrNameLst>
                                          <p:attrName>style.visibility</p:attrName>
                                        </p:attrNameLst>
                                      </p:cBhvr>
                                      <p:to>
                                        <p:strVal val="visible"/>
                                      </p:to>
                                    </p:set>
                                    <p:animEffect transition="in" filter="wipe(left)">
                                      <p:cBhvr>
                                        <p:cTn id="27" dur="500"/>
                                        <p:tgtEl>
                                          <p:spTgt spid="338947">
                                            <p:txEl>
                                              <p:pRg st="8" end="8"/>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38947">
                                            <p:txEl>
                                              <p:pRg st="10" end="10"/>
                                            </p:txEl>
                                          </p:spTgt>
                                        </p:tgtEl>
                                        <p:attrNameLst>
                                          <p:attrName>style.visibility</p:attrName>
                                        </p:attrNameLst>
                                      </p:cBhvr>
                                      <p:to>
                                        <p:strVal val="visible"/>
                                      </p:to>
                                    </p:set>
                                    <p:animEffect transition="in" filter="wipe(left)">
                                      <p:cBhvr>
                                        <p:cTn id="32" dur="500"/>
                                        <p:tgtEl>
                                          <p:spTgt spid="338947">
                                            <p:txEl>
                                              <p:pRg st="10" end="10"/>
                                            </p:txEl>
                                          </p:spTgt>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338947">
                                            <p:txEl>
                                              <p:pRg st="11" end="11"/>
                                            </p:txEl>
                                          </p:spTgt>
                                        </p:tgtEl>
                                        <p:attrNameLst>
                                          <p:attrName>style.visibility</p:attrName>
                                        </p:attrNameLst>
                                      </p:cBhvr>
                                      <p:to>
                                        <p:strVal val="visible"/>
                                      </p:to>
                                    </p:set>
                                    <p:animEffect transition="in" filter="wipe(left)">
                                      <p:cBhvr>
                                        <p:cTn id="35" dur="500"/>
                                        <p:tgtEl>
                                          <p:spTgt spid="33894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947"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3" name="Rectangle 5">
            <a:extLst>
              <a:ext uri="{FF2B5EF4-FFF2-40B4-BE49-F238E27FC236}">
                <a16:creationId xmlns:a16="http://schemas.microsoft.com/office/drawing/2014/main" id="{28B42EFF-9831-3975-3894-3099F552F1C9}"/>
              </a:ext>
            </a:extLst>
          </p:cNvPr>
          <p:cNvSpPr>
            <a:spLocks noChangeArrowheads="1"/>
          </p:cNvSpPr>
          <p:nvPr/>
        </p:nvSpPr>
        <p:spPr bwMode="auto">
          <a:xfrm>
            <a:off x="3132138" y="1917700"/>
            <a:ext cx="2592387" cy="1223963"/>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aphicFrame>
        <p:nvGraphicFramePr>
          <p:cNvPr id="339970" name="Object 2">
            <a:extLst>
              <a:ext uri="{FF2B5EF4-FFF2-40B4-BE49-F238E27FC236}">
                <a16:creationId xmlns:a16="http://schemas.microsoft.com/office/drawing/2014/main" id="{26F2E8BB-A3C2-3CAA-B18E-EA3CDD6642B3}"/>
              </a:ext>
            </a:extLst>
          </p:cNvPr>
          <p:cNvGraphicFramePr>
            <a:graphicFrameLocks noChangeAspect="1"/>
          </p:cNvGraphicFramePr>
          <p:nvPr/>
        </p:nvGraphicFramePr>
        <p:xfrm>
          <a:off x="3221038" y="2060575"/>
          <a:ext cx="2451100" cy="1008063"/>
        </p:xfrm>
        <a:graphic>
          <a:graphicData uri="http://schemas.openxmlformats.org/presentationml/2006/ole">
            <mc:AlternateContent xmlns:mc="http://schemas.openxmlformats.org/markup-compatibility/2006">
              <mc:Choice xmlns:v="urn:schemas-microsoft-com:vml" Requires="v">
                <p:oleObj name="Equation" r:id="rId2" imgW="952200" imgH="393480" progId="Equation.3">
                  <p:embed/>
                </p:oleObj>
              </mc:Choice>
              <mc:Fallback>
                <p:oleObj name="Equation" r:id="rId2" imgW="952200" imgH="393480" progId="Equation.3">
                  <p:embed/>
                  <p:pic>
                    <p:nvPicPr>
                      <p:cNvPr id="339970" name="Object 2">
                        <a:extLst>
                          <a:ext uri="{FF2B5EF4-FFF2-40B4-BE49-F238E27FC236}">
                            <a16:creationId xmlns:a16="http://schemas.microsoft.com/office/drawing/2014/main" id="{26F2E8BB-A3C2-3CAA-B18E-EA3CDD6642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1038" y="2060575"/>
                        <a:ext cx="2451100" cy="1008063"/>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9971" name="Text Box 3">
            <a:extLst>
              <a:ext uri="{FF2B5EF4-FFF2-40B4-BE49-F238E27FC236}">
                <a16:creationId xmlns:a16="http://schemas.microsoft.com/office/drawing/2014/main" id="{A242DFF9-7A06-C913-BF45-C28E65FBF331}"/>
              </a:ext>
            </a:extLst>
          </p:cNvPr>
          <p:cNvSpPr txBox="1">
            <a:spLocks noChangeArrowheads="1"/>
          </p:cNvSpPr>
          <p:nvPr/>
        </p:nvSpPr>
        <p:spPr bwMode="auto">
          <a:xfrm>
            <a:off x="533400" y="839788"/>
            <a:ext cx="83058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99"/>
                </a:solidFill>
                <a:latin typeface="Arial" panose="020B0604020202020204" pitchFamily="34" charset="0"/>
                <a:cs typeface="Arial" panose="020B0604020202020204" pitchFamily="34" charset="0"/>
              </a:rPr>
              <a:t>The formal relationship is:</a:t>
            </a:r>
          </a:p>
          <a:p>
            <a:r>
              <a:rPr lang="en-US" altLang="en-US">
                <a:solidFill>
                  <a:srgbClr val="000099"/>
                </a:solidFill>
                <a:latin typeface="Arial" panose="020B0604020202020204" pitchFamily="34" charset="0"/>
                <a:cs typeface="Arial" panose="020B0604020202020204" pitchFamily="34" charset="0"/>
              </a:rPr>
              <a:t>Amount moved = Diffusion coefficient  x Area x Concentration gradient</a:t>
            </a:r>
          </a:p>
          <a:p>
            <a:endParaRPr lang="en-US" altLang="en-US">
              <a:solidFill>
                <a:srgbClr val="000099"/>
              </a:solidFill>
              <a:latin typeface="Arial" panose="020B0604020202020204" pitchFamily="34" charset="0"/>
              <a:cs typeface="Arial" panose="020B0604020202020204" pitchFamily="34" charset="0"/>
            </a:endParaRPr>
          </a:p>
          <a:p>
            <a:r>
              <a:rPr lang="en-US" altLang="en-US">
                <a:solidFill>
                  <a:srgbClr val="000099"/>
                </a:solidFill>
                <a:latin typeface="Arial" panose="020B0604020202020204" pitchFamily="34" charset="0"/>
                <a:cs typeface="Arial" panose="020B0604020202020204" pitchFamily="34" charset="0"/>
              </a:rPr>
              <a:t>Or in symbols:</a:t>
            </a:r>
            <a:endParaRPr lang="en-GB" altLang="en-US">
              <a:solidFill>
                <a:srgbClr val="000099"/>
              </a:solidFill>
              <a:latin typeface="Arial" panose="020B0604020202020204" pitchFamily="34" charset="0"/>
              <a:cs typeface="Arial" panose="020B0604020202020204" pitchFamily="34" charset="0"/>
            </a:endParaRPr>
          </a:p>
        </p:txBody>
      </p:sp>
      <p:sp>
        <p:nvSpPr>
          <p:cNvPr id="339972" name="Text Box 4">
            <a:extLst>
              <a:ext uri="{FF2B5EF4-FFF2-40B4-BE49-F238E27FC236}">
                <a16:creationId xmlns:a16="http://schemas.microsoft.com/office/drawing/2014/main" id="{279E9DAC-7495-AE3F-19B8-6B08492E05F9}"/>
              </a:ext>
            </a:extLst>
          </p:cNvPr>
          <p:cNvSpPr txBox="1">
            <a:spLocks noChangeArrowheads="1"/>
          </p:cNvSpPr>
          <p:nvPr/>
        </p:nvSpPr>
        <p:spPr bwMode="auto">
          <a:xfrm>
            <a:off x="533400" y="3200400"/>
            <a:ext cx="8382000" cy="3560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i="1">
                <a:solidFill>
                  <a:srgbClr val="000099"/>
                </a:solidFill>
                <a:latin typeface="Arial" panose="020B0604020202020204" pitchFamily="34" charset="0"/>
                <a:cs typeface="Arial" panose="020B0604020202020204" pitchFamily="34" charset="0"/>
              </a:rPr>
              <a:t>D</a:t>
            </a:r>
            <a:r>
              <a:rPr lang="en-US" altLang="en-US">
                <a:solidFill>
                  <a:srgbClr val="000099"/>
                </a:solidFill>
                <a:latin typeface="Arial" panose="020B0604020202020204" pitchFamily="34" charset="0"/>
                <a:cs typeface="Arial" panose="020B0604020202020204" pitchFamily="34" charset="0"/>
              </a:rPr>
              <a:t> is the diffusion coefficient, </a:t>
            </a:r>
            <a:r>
              <a:rPr lang="en-US" altLang="en-US" i="1">
                <a:solidFill>
                  <a:srgbClr val="000099"/>
                </a:solidFill>
                <a:latin typeface="Arial" panose="020B0604020202020204" pitchFamily="34" charset="0"/>
                <a:cs typeface="Arial" panose="020B0604020202020204" pitchFamily="34" charset="0"/>
              </a:rPr>
              <a:t>A</a:t>
            </a:r>
            <a:r>
              <a:rPr lang="en-US" altLang="en-US">
                <a:solidFill>
                  <a:srgbClr val="000099"/>
                </a:solidFill>
                <a:latin typeface="Arial" panose="020B0604020202020204" pitchFamily="34" charset="0"/>
                <a:cs typeface="Arial" panose="020B0604020202020204" pitchFamily="34" charset="0"/>
              </a:rPr>
              <a:t> is the area over which diffusion can occur and </a:t>
            </a:r>
            <a:r>
              <a:rPr lang="en-US" altLang="en-US" i="1">
                <a:solidFill>
                  <a:srgbClr val="000099"/>
                </a:solidFill>
                <a:latin typeface="Arial" panose="020B0604020202020204" pitchFamily="34" charset="0"/>
                <a:cs typeface="Arial" panose="020B0604020202020204" pitchFamily="34" charset="0"/>
              </a:rPr>
              <a:t>dC/dx</a:t>
            </a:r>
            <a:r>
              <a:rPr lang="en-US" altLang="en-US">
                <a:solidFill>
                  <a:srgbClr val="000099"/>
                </a:solidFill>
                <a:latin typeface="Arial" panose="020B0604020202020204" pitchFamily="34" charset="0"/>
                <a:cs typeface="Arial" panose="020B0604020202020204" pitchFamily="34" charset="0"/>
              </a:rPr>
              <a:t> is the concentration gradient.  </a:t>
            </a:r>
          </a:p>
          <a:p>
            <a:endParaRPr lang="en-US" altLang="en-US">
              <a:solidFill>
                <a:srgbClr val="000099"/>
              </a:solidFill>
              <a:latin typeface="Arial" panose="020B0604020202020204" pitchFamily="34" charset="0"/>
              <a:cs typeface="Arial" panose="020B0604020202020204" pitchFamily="34" charset="0"/>
            </a:endParaRPr>
          </a:p>
          <a:p>
            <a:r>
              <a:rPr lang="en-US" altLang="en-US">
                <a:solidFill>
                  <a:srgbClr val="000099"/>
                </a:solidFill>
                <a:latin typeface="Arial" panose="020B0604020202020204" pitchFamily="34" charset="0"/>
                <a:cs typeface="Arial" panose="020B0604020202020204" pitchFamily="34" charset="0"/>
              </a:rPr>
              <a:t>The negative sign indicates that diffusion occurs from a region of high concentration to one of low concentration.  The diffusion coefficient becomes smaller as the molecular size increases so that large molecules diffuse more slowly than small ones.</a:t>
            </a:r>
          </a:p>
          <a:p>
            <a:pPr>
              <a:spcBef>
                <a:spcPct val="50000"/>
              </a:spcBef>
            </a:pPr>
            <a:endParaRPr lang="en-GB" altLang="en-US">
              <a:solidFill>
                <a:srgbClr val="000099"/>
              </a:solidFill>
              <a:latin typeface="Arial" panose="020B0604020202020204" pitchFamily="34" charset="0"/>
              <a:cs typeface="Arial" panose="020B0604020202020204" pitchFamily="34" charset="0"/>
            </a:endParaRPr>
          </a:p>
        </p:txBody>
      </p:sp>
      <p:sp>
        <p:nvSpPr>
          <p:cNvPr id="339974" name="Rectangle 6">
            <a:extLst>
              <a:ext uri="{FF2B5EF4-FFF2-40B4-BE49-F238E27FC236}">
                <a16:creationId xmlns:a16="http://schemas.microsoft.com/office/drawing/2014/main" id="{50424443-6698-879F-84D3-2FBE554B70DD}"/>
              </a:ext>
            </a:extLst>
          </p:cNvPr>
          <p:cNvSpPr>
            <a:spLocks noChangeArrowheads="1"/>
          </p:cNvSpPr>
          <p:nvPr/>
        </p:nvSpPr>
        <p:spPr bwMode="auto">
          <a:xfrm>
            <a:off x="755650" y="79375"/>
            <a:ext cx="5040313"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lgn="ctr">
              <a:defRPr sz="4400">
                <a:solidFill>
                  <a:srgbClr val="FFFF00"/>
                </a:solidFill>
                <a:latin typeface="Arial" panose="020B0604020202020204" pitchFamily="34" charset="0"/>
                <a:cs typeface="Arial" panose="020B0604020202020204" pitchFamily="34" charset="0"/>
              </a:defRPr>
            </a:lvl1pPr>
            <a:lvl2pPr algn="ctr">
              <a:defRPr sz="4400">
                <a:solidFill>
                  <a:srgbClr val="FFFF00"/>
                </a:solidFill>
                <a:latin typeface="Arial" panose="020B0604020202020204" pitchFamily="34" charset="0"/>
                <a:cs typeface="Arial" panose="020B0604020202020204" pitchFamily="34" charset="0"/>
              </a:defRPr>
            </a:lvl2pPr>
            <a:lvl3pPr algn="ctr">
              <a:defRPr sz="4400">
                <a:solidFill>
                  <a:srgbClr val="FFFF00"/>
                </a:solidFill>
                <a:latin typeface="Arial" panose="020B0604020202020204" pitchFamily="34" charset="0"/>
                <a:cs typeface="Arial" panose="020B0604020202020204" pitchFamily="34" charset="0"/>
              </a:defRPr>
            </a:lvl3pPr>
            <a:lvl4pPr algn="ctr">
              <a:defRPr sz="4400">
                <a:solidFill>
                  <a:srgbClr val="FFFF00"/>
                </a:solidFill>
                <a:latin typeface="Arial" panose="020B0604020202020204" pitchFamily="34" charset="0"/>
                <a:cs typeface="Arial" panose="020B0604020202020204" pitchFamily="34" charset="0"/>
              </a:defRPr>
            </a:lvl4pPr>
            <a:lvl5pPr algn="ctr">
              <a:defRPr sz="4400">
                <a:solidFill>
                  <a:srgbClr val="FFFF00"/>
                </a:solidFill>
                <a:latin typeface="Arial" panose="020B0604020202020204" pitchFamily="34" charset="0"/>
                <a:cs typeface="Arial" panose="020B0604020202020204" pitchFamily="34" charset="0"/>
              </a:defRPr>
            </a:lvl5pPr>
            <a:lvl6pPr marL="4572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6pPr>
            <a:lvl7pPr marL="9144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7pPr>
            <a:lvl8pPr marL="13716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8pPr>
            <a:lvl9pPr marL="18288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9pPr>
          </a:lstStyle>
          <a:p>
            <a:pPr algn="l"/>
            <a:r>
              <a:rPr lang="en-GB" altLang="en-US" sz="4000" b="1"/>
              <a:t>Diffusion</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3997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3997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9972"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62" name="Rectangle 6">
            <a:extLst>
              <a:ext uri="{FF2B5EF4-FFF2-40B4-BE49-F238E27FC236}">
                <a16:creationId xmlns:a16="http://schemas.microsoft.com/office/drawing/2014/main" id="{9CCB1650-08B3-E5A2-5B5D-C6D3B64272C2}"/>
              </a:ext>
            </a:extLst>
          </p:cNvPr>
          <p:cNvSpPr>
            <a:spLocks noGrp="1" noChangeArrowheads="1"/>
          </p:cNvSpPr>
          <p:nvPr>
            <p:ph type="ctrTitle"/>
          </p:nvPr>
        </p:nvSpPr>
        <p:spPr>
          <a:xfrm>
            <a:off x="685800" y="2130425"/>
            <a:ext cx="7772400" cy="1470025"/>
          </a:xfrm>
        </p:spPr>
        <p:txBody>
          <a:bodyPr anchor="ctr"/>
          <a:lstStyle/>
          <a:p>
            <a:r>
              <a:rPr lang="en-GB" altLang="en-US" sz="4400">
                <a:solidFill>
                  <a:srgbClr val="000099"/>
                </a:solidFill>
              </a:rPr>
              <a:t>Osmotic Pressure</a:t>
            </a:r>
          </a:p>
        </p:txBody>
      </p:sp>
      <p:sp>
        <p:nvSpPr>
          <p:cNvPr id="352265" name="Rectangle 9">
            <a:extLst>
              <a:ext uri="{FF2B5EF4-FFF2-40B4-BE49-F238E27FC236}">
                <a16:creationId xmlns:a16="http://schemas.microsoft.com/office/drawing/2014/main" id="{9F525E40-2B19-C955-FEF2-57A1A03C23CD}"/>
              </a:ext>
            </a:extLst>
          </p:cNvPr>
          <p:cNvSpPr>
            <a:spLocks noChangeArrowheads="1"/>
          </p:cNvSpPr>
          <p:nvPr/>
        </p:nvSpPr>
        <p:spPr bwMode="auto">
          <a:xfrm>
            <a:off x="900113" y="3948113"/>
            <a:ext cx="7419975"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r>
              <a:rPr lang="en-US" altLang="en-US">
                <a:solidFill>
                  <a:srgbClr val="000099"/>
                </a:solidFill>
                <a:latin typeface="Arial" panose="020B0604020202020204" pitchFamily="34" charset="0"/>
                <a:cs typeface="Arial" panose="020B0604020202020204" pitchFamily="34" charset="0"/>
              </a:rPr>
              <a:t>Osmotic pressure is a property of solutions that is of particular importance in cellular biology because of the role it plays in the transport of molecules across membranes. </a:t>
            </a:r>
          </a:p>
        </p:txBody>
      </p:sp>
    </p:spTree>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Text Box 2">
            <a:extLst>
              <a:ext uri="{FF2B5EF4-FFF2-40B4-BE49-F238E27FC236}">
                <a16:creationId xmlns:a16="http://schemas.microsoft.com/office/drawing/2014/main" id="{4AB255F6-2484-7C4F-CCB3-3CEED41B479F}"/>
              </a:ext>
            </a:extLst>
          </p:cNvPr>
          <p:cNvSpPr txBox="1">
            <a:spLocks noChangeArrowheads="1"/>
          </p:cNvSpPr>
          <p:nvPr/>
        </p:nvSpPr>
        <p:spPr bwMode="auto">
          <a:xfrm>
            <a:off x="1066800" y="762000"/>
            <a:ext cx="701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000099"/>
                </a:solidFill>
                <a:latin typeface="Arial" panose="020B0604020202020204" pitchFamily="34" charset="0"/>
              </a:rPr>
              <a:t>Substances in solution exert an osmotic pressure</a:t>
            </a:r>
            <a:endParaRPr lang="en-GB" altLang="en-US" sz="1600">
              <a:solidFill>
                <a:srgbClr val="000099"/>
              </a:solidFill>
              <a:latin typeface="Arial" panose="020B0604020202020204" pitchFamily="34" charset="0"/>
            </a:endParaRPr>
          </a:p>
        </p:txBody>
      </p:sp>
      <p:sp>
        <p:nvSpPr>
          <p:cNvPr id="340995" name="Text Box 3">
            <a:extLst>
              <a:ext uri="{FF2B5EF4-FFF2-40B4-BE49-F238E27FC236}">
                <a16:creationId xmlns:a16="http://schemas.microsoft.com/office/drawing/2014/main" id="{375A007B-AA7B-C3BF-8A0C-8806D2A58AE2}"/>
              </a:ext>
            </a:extLst>
          </p:cNvPr>
          <p:cNvSpPr txBox="1">
            <a:spLocks noChangeArrowheads="1"/>
          </p:cNvSpPr>
          <p:nvPr/>
        </p:nvSpPr>
        <p:spPr bwMode="auto">
          <a:xfrm>
            <a:off x="609600" y="5410200"/>
            <a:ext cx="81534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000099"/>
                </a:solidFill>
                <a:latin typeface="Arial" panose="020B0604020202020204" pitchFamily="34" charset="0"/>
              </a:rPr>
              <a:t>The osmotic pressure of a solution is the pressure that is just sufficient to prevent the movement of water into a solution across a semi-permeable membrane.</a:t>
            </a:r>
          </a:p>
        </p:txBody>
      </p:sp>
      <p:pic>
        <p:nvPicPr>
          <p:cNvPr id="340996" name="Picture 4">
            <a:extLst>
              <a:ext uri="{FF2B5EF4-FFF2-40B4-BE49-F238E27FC236}">
                <a16:creationId xmlns:a16="http://schemas.microsoft.com/office/drawing/2014/main" id="{38C4B10E-96EA-771C-2F1D-5C5CDB84C4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362200"/>
            <a:ext cx="3590925" cy="272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0997" name="Picture 5">
            <a:extLst>
              <a:ext uri="{FF2B5EF4-FFF2-40B4-BE49-F238E27FC236}">
                <a16:creationId xmlns:a16="http://schemas.microsoft.com/office/drawing/2014/main" id="{F49AABD0-3D6C-7D22-4CEB-5F79E1A14B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752600"/>
            <a:ext cx="1962150" cy="3440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0998" name="Picture 6">
            <a:extLst>
              <a:ext uri="{FF2B5EF4-FFF2-40B4-BE49-F238E27FC236}">
                <a16:creationId xmlns:a16="http://schemas.microsoft.com/office/drawing/2014/main" id="{371F88A6-E7D2-8EEF-3705-184B769A5A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00" y="1676400"/>
            <a:ext cx="1993900" cy="355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0999" name="Rectangle 7">
            <a:extLst>
              <a:ext uri="{FF2B5EF4-FFF2-40B4-BE49-F238E27FC236}">
                <a16:creationId xmlns:a16="http://schemas.microsoft.com/office/drawing/2014/main" id="{E667E996-7B6F-96BF-F2FA-99D635620332}"/>
              </a:ext>
            </a:extLst>
          </p:cNvPr>
          <p:cNvSpPr>
            <a:spLocks noChangeArrowheads="1"/>
          </p:cNvSpPr>
          <p:nvPr/>
        </p:nvSpPr>
        <p:spPr bwMode="auto">
          <a:xfrm>
            <a:off x="755650" y="79375"/>
            <a:ext cx="5040313"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lgn="ctr">
              <a:defRPr sz="4400">
                <a:solidFill>
                  <a:srgbClr val="FFFF00"/>
                </a:solidFill>
                <a:latin typeface="Arial" panose="020B0604020202020204" pitchFamily="34" charset="0"/>
                <a:cs typeface="Arial" panose="020B0604020202020204" pitchFamily="34" charset="0"/>
              </a:defRPr>
            </a:lvl1pPr>
            <a:lvl2pPr algn="ctr">
              <a:defRPr sz="4400">
                <a:solidFill>
                  <a:srgbClr val="FFFF00"/>
                </a:solidFill>
                <a:latin typeface="Arial" panose="020B0604020202020204" pitchFamily="34" charset="0"/>
                <a:cs typeface="Arial" panose="020B0604020202020204" pitchFamily="34" charset="0"/>
              </a:defRPr>
            </a:lvl2pPr>
            <a:lvl3pPr algn="ctr">
              <a:defRPr sz="4400">
                <a:solidFill>
                  <a:srgbClr val="FFFF00"/>
                </a:solidFill>
                <a:latin typeface="Arial" panose="020B0604020202020204" pitchFamily="34" charset="0"/>
                <a:cs typeface="Arial" panose="020B0604020202020204" pitchFamily="34" charset="0"/>
              </a:defRPr>
            </a:lvl3pPr>
            <a:lvl4pPr algn="ctr">
              <a:defRPr sz="4400">
                <a:solidFill>
                  <a:srgbClr val="FFFF00"/>
                </a:solidFill>
                <a:latin typeface="Arial" panose="020B0604020202020204" pitchFamily="34" charset="0"/>
                <a:cs typeface="Arial" panose="020B0604020202020204" pitchFamily="34" charset="0"/>
              </a:defRPr>
            </a:lvl4pPr>
            <a:lvl5pPr algn="ctr">
              <a:defRPr sz="4400">
                <a:solidFill>
                  <a:srgbClr val="FFFF00"/>
                </a:solidFill>
                <a:latin typeface="Arial" panose="020B0604020202020204" pitchFamily="34" charset="0"/>
                <a:cs typeface="Arial" panose="020B0604020202020204" pitchFamily="34" charset="0"/>
              </a:defRPr>
            </a:lvl5pPr>
            <a:lvl6pPr marL="4572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6pPr>
            <a:lvl7pPr marL="9144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7pPr>
            <a:lvl8pPr marL="13716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8pPr>
            <a:lvl9pPr marL="18288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9pPr>
          </a:lstStyle>
          <a:p>
            <a:pPr algn="l"/>
            <a:r>
              <a:rPr lang="en-GB" altLang="en-US" sz="4000" b="1"/>
              <a:t>Osmotic Pressure</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40996"/>
                                        </p:tgtEl>
                                        <p:attrNameLst>
                                          <p:attrName>style.visibility</p:attrName>
                                        </p:attrNameLst>
                                      </p:cBhvr>
                                      <p:to>
                                        <p:strVal val="visible"/>
                                      </p:to>
                                    </p:set>
                                    <p:animEffect transition="in" filter="wipe(left)">
                                      <p:cBhvr>
                                        <p:cTn id="7" dur="500"/>
                                        <p:tgtEl>
                                          <p:spTgt spid="3409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340997"/>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499"/>
                                          </p:stCondLst>
                                        </p:cTn>
                                        <p:tgtEl>
                                          <p:spTgt spid="340998"/>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40995">
                                            <p:txEl>
                                              <p:pRg st="0" end="0"/>
                                            </p:txEl>
                                          </p:spTgt>
                                        </p:tgtEl>
                                        <p:attrNameLst>
                                          <p:attrName>style.visibility</p:attrName>
                                        </p:attrNameLst>
                                      </p:cBhvr>
                                      <p:to>
                                        <p:strVal val="visible"/>
                                      </p:to>
                                    </p:set>
                                    <p:animEffect transition="in" filter="wipe(left)">
                                      <p:cBhvr>
                                        <p:cTn id="20" dur="500"/>
                                        <p:tgtEl>
                                          <p:spTgt spid="34099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5"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2018" name="Rectangle 2">
            <a:extLst>
              <a:ext uri="{FF2B5EF4-FFF2-40B4-BE49-F238E27FC236}">
                <a16:creationId xmlns:a16="http://schemas.microsoft.com/office/drawing/2014/main" id="{35F9FD56-688E-F165-0D30-9389F4BC10F1}"/>
              </a:ext>
            </a:extLst>
          </p:cNvPr>
          <p:cNvSpPr>
            <a:spLocks noGrp="1" noChangeArrowheads="1"/>
          </p:cNvSpPr>
          <p:nvPr>
            <p:ph type="title"/>
          </p:nvPr>
        </p:nvSpPr>
        <p:spPr>
          <a:xfrm>
            <a:off x="755650" y="79375"/>
            <a:ext cx="5040313" cy="685800"/>
          </a:xfrm>
        </p:spPr>
        <p:txBody>
          <a:bodyPr/>
          <a:lstStyle/>
          <a:p>
            <a:pPr algn="l"/>
            <a:r>
              <a:rPr lang="en-GB" altLang="en-US" sz="4000" b="1"/>
              <a:t>Osmotic Pressure</a:t>
            </a:r>
          </a:p>
        </p:txBody>
      </p:sp>
      <p:sp>
        <p:nvSpPr>
          <p:cNvPr id="342019" name="Rectangle 3">
            <a:extLst>
              <a:ext uri="{FF2B5EF4-FFF2-40B4-BE49-F238E27FC236}">
                <a16:creationId xmlns:a16="http://schemas.microsoft.com/office/drawing/2014/main" id="{EA62E4B4-5549-797E-F656-25B88A738503}"/>
              </a:ext>
            </a:extLst>
          </p:cNvPr>
          <p:cNvSpPr>
            <a:spLocks noGrp="1" noChangeArrowheads="1"/>
          </p:cNvSpPr>
          <p:nvPr>
            <p:ph type="body" idx="1"/>
          </p:nvPr>
        </p:nvSpPr>
        <p:spPr>
          <a:xfrm>
            <a:off x="228600" y="3268663"/>
            <a:ext cx="8610600" cy="3832225"/>
          </a:xfrm>
        </p:spPr>
        <p:txBody>
          <a:bodyPr/>
          <a:lstStyle/>
          <a:p>
            <a:pPr>
              <a:spcBef>
                <a:spcPct val="0"/>
              </a:spcBef>
              <a:spcAft>
                <a:spcPct val="50000"/>
              </a:spcAft>
            </a:pPr>
            <a:r>
              <a:rPr lang="en-GB" altLang="en-US" sz="2400">
                <a:solidFill>
                  <a:srgbClr val="000099"/>
                </a:solidFill>
              </a:rPr>
              <a:t>Osmotic pressure depends on the number of particles present per unit volume of solvent and NOT on their chemical makeup.</a:t>
            </a:r>
          </a:p>
          <a:p>
            <a:pPr>
              <a:spcBef>
                <a:spcPct val="0"/>
              </a:spcBef>
              <a:spcAft>
                <a:spcPct val="50000"/>
              </a:spcAft>
            </a:pPr>
            <a:r>
              <a:rPr lang="en-GB" altLang="en-US" sz="2400">
                <a:solidFill>
                  <a:srgbClr val="000099"/>
                </a:solidFill>
              </a:rPr>
              <a:t>Salts separate into their constituent ions, so the osmotic pressure that a salt such as sodium chloride will exert will be twice its molar concentration. </a:t>
            </a:r>
          </a:p>
        </p:txBody>
      </p:sp>
      <p:sp>
        <p:nvSpPr>
          <p:cNvPr id="342020" name="Text Box 4">
            <a:extLst>
              <a:ext uri="{FF2B5EF4-FFF2-40B4-BE49-F238E27FC236}">
                <a16:creationId xmlns:a16="http://schemas.microsoft.com/office/drawing/2014/main" id="{3EA14F3E-35F7-A912-818A-C63DA0C12E3D}"/>
              </a:ext>
            </a:extLst>
          </p:cNvPr>
          <p:cNvSpPr txBox="1">
            <a:spLocks noChangeArrowheads="1"/>
          </p:cNvSpPr>
          <p:nvPr/>
        </p:nvSpPr>
        <p:spPr bwMode="auto">
          <a:xfrm>
            <a:off x="684213" y="1125538"/>
            <a:ext cx="7775575" cy="177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altLang="en-US" sz="2800">
                <a:solidFill>
                  <a:srgbClr val="000099"/>
                </a:solidFill>
                <a:latin typeface="Arial" panose="020B0604020202020204" pitchFamily="34" charset="0"/>
                <a:cs typeface="Arial" panose="020B0604020202020204" pitchFamily="34" charset="0"/>
              </a:rPr>
              <a:t>Osmotic pressure (</a:t>
            </a:r>
            <a:r>
              <a:rPr lang="en-US" altLang="en-US" sz="2800">
                <a:solidFill>
                  <a:srgbClr val="000099"/>
                </a:solidFill>
              </a:rPr>
              <a:t>π)</a:t>
            </a:r>
            <a:r>
              <a:rPr lang="en-GB" altLang="en-US" sz="2800">
                <a:solidFill>
                  <a:srgbClr val="000099"/>
                </a:solidFill>
                <a:latin typeface="Arial" panose="020B0604020202020204" pitchFamily="34" charset="0"/>
                <a:cs typeface="Arial" panose="020B0604020202020204" pitchFamily="34" charset="0"/>
              </a:rPr>
              <a:t> = MRT</a:t>
            </a:r>
          </a:p>
          <a:p>
            <a:pPr algn="ctr">
              <a:spcBef>
                <a:spcPct val="50000"/>
              </a:spcBef>
            </a:pPr>
            <a:endParaRPr lang="en-GB" altLang="en-US" sz="2800">
              <a:solidFill>
                <a:srgbClr val="000099"/>
              </a:solidFill>
              <a:latin typeface="Arial" panose="020B0604020202020204" pitchFamily="34" charset="0"/>
              <a:cs typeface="Arial" panose="020B0604020202020204" pitchFamily="34" charset="0"/>
            </a:endParaRPr>
          </a:p>
          <a:p>
            <a:r>
              <a:rPr lang="en-US" altLang="en-US">
                <a:solidFill>
                  <a:srgbClr val="000099"/>
                </a:solidFill>
                <a:latin typeface="Arial" panose="020B0604020202020204" pitchFamily="34" charset="0"/>
                <a:cs typeface="Arial" panose="020B0604020202020204" pitchFamily="34" charset="0"/>
              </a:rPr>
              <a:t>Where</a:t>
            </a:r>
            <a:r>
              <a:rPr lang="en-US" altLang="en-US" i="1">
                <a:solidFill>
                  <a:srgbClr val="000099"/>
                </a:solidFill>
                <a:latin typeface="Arial" panose="020B0604020202020204" pitchFamily="34" charset="0"/>
                <a:cs typeface="Arial" panose="020B0604020202020204" pitchFamily="34" charset="0"/>
              </a:rPr>
              <a:t> </a:t>
            </a:r>
            <a:r>
              <a:rPr lang="en-US" altLang="en-US" sz="1600" i="1">
                <a:solidFill>
                  <a:srgbClr val="000099"/>
                </a:solidFill>
                <a:latin typeface="Arial" panose="020B0604020202020204" pitchFamily="34" charset="0"/>
                <a:cs typeface="Arial" panose="020B0604020202020204" pitchFamily="34" charset="0"/>
              </a:rPr>
              <a:t>M</a:t>
            </a:r>
            <a:r>
              <a:rPr lang="en-US" altLang="en-US" sz="1600">
                <a:solidFill>
                  <a:srgbClr val="000099"/>
                </a:solidFill>
                <a:latin typeface="Arial" panose="020B0604020202020204" pitchFamily="34" charset="0"/>
                <a:cs typeface="Arial" panose="020B0604020202020204" pitchFamily="34" charset="0"/>
              </a:rPr>
              <a:t> is the </a:t>
            </a:r>
            <a:r>
              <a:rPr lang="en-US" altLang="en-US" sz="1600">
                <a:solidFill>
                  <a:srgbClr val="000099"/>
                </a:solidFill>
                <a:latin typeface="Arial" panose="020B0604020202020204" pitchFamily="34" charset="0"/>
                <a:cs typeface="Arial" panose="020B0604020202020204" pitchFamily="34" charset="0"/>
                <a:hlinkClick r:id="rId2" tooltip="Molarity"/>
              </a:rPr>
              <a:t>molarity</a:t>
            </a:r>
            <a:r>
              <a:rPr lang="en-US" altLang="en-US" sz="1600">
                <a:solidFill>
                  <a:srgbClr val="000099"/>
                </a:solidFill>
                <a:latin typeface="Arial" panose="020B0604020202020204" pitchFamily="34" charset="0"/>
                <a:cs typeface="Arial" panose="020B0604020202020204" pitchFamily="34" charset="0"/>
              </a:rPr>
              <a:t>, </a:t>
            </a:r>
            <a:r>
              <a:rPr lang="en-US" altLang="en-US" sz="1600" i="1">
                <a:solidFill>
                  <a:srgbClr val="000099"/>
                </a:solidFill>
                <a:latin typeface="Arial" panose="020B0604020202020204" pitchFamily="34" charset="0"/>
                <a:cs typeface="Arial" panose="020B0604020202020204" pitchFamily="34" charset="0"/>
              </a:rPr>
              <a:t>R</a:t>
            </a:r>
            <a:r>
              <a:rPr lang="en-US" altLang="en-US" sz="1600">
                <a:solidFill>
                  <a:srgbClr val="000099"/>
                </a:solidFill>
                <a:latin typeface="Arial" panose="020B0604020202020204" pitchFamily="34" charset="0"/>
                <a:cs typeface="Arial" panose="020B0604020202020204" pitchFamily="34" charset="0"/>
              </a:rPr>
              <a:t> is the </a:t>
            </a:r>
            <a:r>
              <a:rPr lang="en-US" altLang="en-US" sz="1600">
                <a:solidFill>
                  <a:srgbClr val="000099"/>
                </a:solidFill>
                <a:latin typeface="Arial" panose="020B0604020202020204" pitchFamily="34" charset="0"/>
                <a:cs typeface="Arial" panose="020B0604020202020204" pitchFamily="34" charset="0"/>
                <a:hlinkClick r:id="rId3" tooltip="Gas constant"/>
              </a:rPr>
              <a:t>gas constant</a:t>
            </a:r>
            <a:r>
              <a:rPr lang="en-US" altLang="en-US" sz="1600">
                <a:solidFill>
                  <a:srgbClr val="000099"/>
                </a:solidFill>
                <a:latin typeface="Arial" panose="020B0604020202020204" pitchFamily="34" charset="0"/>
                <a:cs typeface="Arial" panose="020B0604020202020204" pitchFamily="34" charset="0"/>
              </a:rPr>
              <a:t>, where </a:t>
            </a:r>
            <a:r>
              <a:rPr lang="en-US" altLang="en-US" sz="1600" i="1">
                <a:solidFill>
                  <a:srgbClr val="000099"/>
                </a:solidFill>
                <a:latin typeface="Arial" panose="020B0604020202020204" pitchFamily="34" charset="0"/>
                <a:cs typeface="Arial" panose="020B0604020202020204" pitchFamily="34" charset="0"/>
              </a:rPr>
              <a:t>R</a:t>
            </a:r>
            <a:r>
              <a:rPr lang="en-US" altLang="en-US" sz="1600">
                <a:solidFill>
                  <a:srgbClr val="000099"/>
                </a:solidFill>
                <a:latin typeface="Arial" panose="020B0604020202020204" pitchFamily="34" charset="0"/>
                <a:cs typeface="Arial" panose="020B0604020202020204" pitchFamily="34" charset="0"/>
              </a:rPr>
              <a:t> = 0.08206 L · atm · mol-1 · K-1 </a:t>
            </a:r>
            <a:r>
              <a:rPr lang="en-US" altLang="en-US" sz="1600" i="1">
                <a:solidFill>
                  <a:srgbClr val="000099"/>
                </a:solidFill>
                <a:latin typeface="Arial" panose="020B0604020202020204" pitchFamily="34" charset="0"/>
                <a:cs typeface="Arial" panose="020B0604020202020204" pitchFamily="34" charset="0"/>
              </a:rPr>
              <a:t>, T</a:t>
            </a:r>
            <a:r>
              <a:rPr lang="en-US" altLang="en-US" sz="1600">
                <a:solidFill>
                  <a:srgbClr val="000099"/>
                </a:solidFill>
                <a:latin typeface="Arial" panose="020B0604020202020204" pitchFamily="34" charset="0"/>
                <a:cs typeface="Arial" panose="020B0604020202020204" pitchFamily="34" charset="0"/>
              </a:rPr>
              <a:t> is the </a:t>
            </a:r>
            <a:r>
              <a:rPr lang="en-US" altLang="en-US" sz="1600">
                <a:solidFill>
                  <a:srgbClr val="000099"/>
                </a:solidFill>
                <a:latin typeface="Arial" panose="020B0604020202020204" pitchFamily="34" charset="0"/>
                <a:cs typeface="Arial" panose="020B0604020202020204" pitchFamily="34" charset="0"/>
                <a:hlinkClick r:id="rId4" tooltip="Absolute temperature"/>
              </a:rPr>
              <a:t>thermodynamic temperature</a:t>
            </a:r>
            <a:r>
              <a:rPr lang="en-US" altLang="en-US" sz="1600">
                <a:solidFill>
                  <a:srgbClr val="000099"/>
                </a:solidFill>
                <a:latin typeface="Arial" panose="020B0604020202020204" pitchFamily="34" charset="0"/>
                <a:cs typeface="Arial" panose="020B0604020202020204" pitchFamily="34" charset="0"/>
              </a:rPr>
              <a:t> (formerly called absolute temperature)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420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4201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2019"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4306" name="Rectangle 2">
            <a:extLst>
              <a:ext uri="{FF2B5EF4-FFF2-40B4-BE49-F238E27FC236}">
                <a16:creationId xmlns:a16="http://schemas.microsoft.com/office/drawing/2014/main" id="{E4FB3E52-4CE8-43B4-5F68-E2F511B9C79B}"/>
              </a:ext>
            </a:extLst>
          </p:cNvPr>
          <p:cNvSpPr>
            <a:spLocks noGrp="1" noChangeArrowheads="1"/>
          </p:cNvSpPr>
          <p:nvPr>
            <p:ph type="title"/>
          </p:nvPr>
        </p:nvSpPr>
        <p:spPr>
          <a:xfrm>
            <a:off x="755650" y="79375"/>
            <a:ext cx="5040313" cy="685800"/>
          </a:xfrm>
        </p:spPr>
        <p:txBody>
          <a:bodyPr/>
          <a:lstStyle/>
          <a:p>
            <a:pPr algn="l"/>
            <a:r>
              <a:rPr lang="en-GB" altLang="en-US" sz="4000" b="1"/>
              <a:t>Reverse Osmosis</a:t>
            </a:r>
          </a:p>
        </p:txBody>
      </p:sp>
      <p:sp>
        <p:nvSpPr>
          <p:cNvPr id="354307" name="Rectangle 3">
            <a:extLst>
              <a:ext uri="{FF2B5EF4-FFF2-40B4-BE49-F238E27FC236}">
                <a16:creationId xmlns:a16="http://schemas.microsoft.com/office/drawing/2014/main" id="{10510C28-28B0-26EE-3427-62B3AB9FAA94}"/>
              </a:ext>
            </a:extLst>
          </p:cNvPr>
          <p:cNvSpPr>
            <a:spLocks noGrp="1" noChangeArrowheads="1"/>
          </p:cNvSpPr>
          <p:nvPr>
            <p:ph type="body" idx="1"/>
          </p:nvPr>
        </p:nvSpPr>
        <p:spPr>
          <a:xfrm>
            <a:off x="179388" y="1268413"/>
            <a:ext cx="8610600" cy="5184775"/>
          </a:xfrm>
        </p:spPr>
        <p:txBody>
          <a:bodyPr/>
          <a:lstStyle/>
          <a:p>
            <a:pPr>
              <a:spcBef>
                <a:spcPct val="0"/>
              </a:spcBef>
              <a:spcAft>
                <a:spcPct val="50000"/>
              </a:spcAft>
              <a:buFontTx/>
              <a:buNone/>
            </a:pPr>
            <a:r>
              <a:rPr lang="en-US" altLang="en-US" sz="2400">
                <a:solidFill>
                  <a:srgbClr val="000099"/>
                </a:solidFill>
              </a:rPr>
              <a:t>	Osmotic pressure is the basis of </a:t>
            </a:r>
            <a:r>
              <a:rPr lang="en-US" altLang="en-US" sz="2400">
                <a:solidFill>
                  <a:srgbClr val="000099"/>
                </a:solidFill>
                <a:hlinkClick r:id="rId2" tooltip="Reverse osmosis"/>
              </a:rPr>
              <a:t>reverse osmosis</a:t>
            </a:r>
            <a:r>
              <a:rPr lang="en-US" altLang="en-US" sz="2400">
                <a:solidFill>
                  <a:srgbClr val="000099"/>
                </a:solidFill>
              </a:rPr>
              <a:t>, a process commonly used to purify water. The water to be purified is placed in a chamber and put under an amount of pressure greater than the osmotic pressure exerted by the water and the solutes dissolved in it. Part of the chamber opens to a differentially permeable membrane that lets water molecules through, but not the solute particles. </a:t>
            </a:r>
          </a:p>
          <a:p>
            <a:pPr>
              <a:spcBef>
                <a:spcPct val="0"/>
              </a:spcBef>
              <a:spcAft>
                <a:spcPct val="50000"/>
              </a:spcAft>
              <a:buFontTx/>
              <a:buNone/>
            </a:pPr>
            <a:r>
              <a:rPr lang="en-US" altLang="en-US" sz="2400">
                <a:solidFill>
                  <a:srgbClr val="000099"/>
                </a:solidFill>
              </a:rPr>
              <a:t>	The osmotic pressure of ocean water is about 27 </a:t>
            </a:r>
            <a:r>
              <a:rPr lang="en-US" altLang="en-US" sz="2400">
                <a:solidFill>
                  <a:srgbClr val="000099"/>
                </a:solidFill>
                <a:hlinkClick r:id="rId3" tooltip="Atmosphere (unit)"/>
              </a:rPr>
              <a:t>atm</a:t>
            </a:r>
            <a:r>
              <a:rPr lang="en-US" altLang="en-US" sz="2400">
                <a:solidFill>
                  <a:srgbClr val="000099"/>
                </a:solidFill>
              </a:rPr>
              <a:t>. Reverse osmosis </a:t>
            </a:r>
            <a:r>
              <a:rPr lang="en-US" altLang="en-US" sz="2400">
                <a:solidFill>
                  <a:srgbClr val="000099"/>
                </a:solidFill>
                <a:hlinkClick r:id="rId4" tooltip="Desalination"/>
              </a:rPr>
              <a:t>desalinators</a:t>
            </a:r>
            <a:r>
              <a:rPr lang="en-US" altLang="en-US" sz="2400">
                <a:solidFill>
                  <a:srgbClr val="000099"/>
                </a:solidFill>
              </a:rPr>
              <a:t> use pressures around 50 atm to produce fresh water from </a:t>
            </a:r>
            <a:r>
              <a:rPr lang="en-US" altLang="en-US" sz="2400">
                <a:solidFill>
                  <a:srgbClr val="000099"/>
                </a:solidFill>
                <a:hlinkClick r:id="rId5" tooltip="Seawater"/>
              </a:rPr>
              <a:t>sea water</a:t>
            </a:r>
            <a:r>
              <a:rPr lang="en-US" altLang="en-US" sz="2400">
                <a:solidFill>
                  <a:srgbClr val="000099"/>
                </a:solidFill>
              </a:rPr>
              <a:t>.</a:t>
            </a:r>
            <a:endParaRPr lang="en-GB" altLang="en-US" sz="2400">
              <a:solidFill>
                <a:srgbClr val="000099"/>
              </a:solidFill>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5430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5430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4307"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7378" name="Rectangle 2">
            <a:extLst>
              <a:ext uri="{FF2B5EF4-FFF2-40B4-BE49-F238E27FC236}">
                <a16:creationId xmlns:a16="http://schemas.microsoft.com/office/drawing/2014/main" id="{3D72EC70-ED44-7505-9815-0782C604CAB4}"/>
              </a:ext>
            </a:extLst>
          </p:cNvPr>
          <p:cNvSpPr>
            <a:spLocks noGrp="1" noChangeArrowheads="1"/>
          </p:cNvSpPr>
          <p:nvPr>
            <p:ph type="title"/>
          </p:nvPr>
        </p:nvSpPr>
        <p:spPr>
          <a:xfrm>
            <a:off x="755650" y="79375"/>
            <a:ext cx="6048375" cy="685800"/>
          </a:xfrm>
        </p:spPr>
        <p:txBody>
          <a:bodyPr/>
          <a:lstStyle/>
          <a:p>
            <a:pPr algn="l"/>
            <a:r>
              <a:rPr lang="en-GB" altLang="en-US" sz="4000" b="1"/>
              <a:t>Osmotic Pressure</a:t>
            </a:r>
          </a:p>
        </p:txBody>
      </p:sp>
      <p:sp>
        <p:nvSpPr>
          <p:cNvPr id="357379" name="Rectangle 3">
            <a:extLst>
              <a:ext uri="{FF2B5EF4-FFF2-40B4-BE49-F238E27FC236}">
                <a16:creationId xmlns:a16="http://schemas.microsoft.com/office/drawing/2014/main" id="{E94258A1-3B16-B725-17F4-E31095D86CA0}"/>
              </a:ext>
            </a:extLst>
          </p:cNvPr>
          <p:cNvSpPr>
            <a:spLocks noGrp="1" noChangeArrowheads="1"/>
          </p:cNvSpPr>
          <p:nvPr>
            <p:ph type="body" idx="1"/>
          </p:nvPr>
        </p:nvSpPr>
        <p:spPr>
          <a:xfrm>
            <a:off x="228600" y="1241425"/>
            <a:ext cx="8610600" cy="4419600"/>
          </a:xfrm>
        </p:spPr>
        <p:txBody>
          <a:bodyPr/>
          <a:lstStyle/>
          <a:p>
            <a:pPr>
              <a:spcBef>
                <a:spcPct val="0"/>
              </a:spcBef>
              <a:spcAft>
                <a:spcPct val="50000"/>
              </a:spcAft>
              <a:buFontTx/>
              <a:buNone/>
            </a:pPr>
            <a:r>
              <a:rPr lang="en-GB" altLang="en-US" sz="2400">
                <a:solidFill>
                  <a:srgbClr val="000099"/>
                </a:solidFill>
              </a:rPr>
              <a:t>	Rather than measure osmotic pressure directly, it is more convenient to state the </a:t>
            </a:r>
            <a:r>
              <a:rPr lang="en-GB" altLang="en-US" sz="2400">
                <a:solidFill>
                  <a:schemeClr val="hlink"/>
                </a:solidFill>
              </a:rPr>
              <a:t>osmolarity</a:t>
            </a:r>
            <a:r>
              <a:rPr lang="en-GB" altLang="en-US" sz="2400">
                <a:solidFill>
                  <a:srgbClr val="000099"/>
                </a:solidFill>
              </a:rPr>
              <a:t> (moles per litre of a solution) or its </a:t>
            </a:r>
            <a:r>
              <a:rPr lang="en-GB" altLang="en-US" sz="2400">
                <a:solidFill>
                  <a:schemeClr val="hlink"/>
                </a:solidFill>
              </a:rPr>
              <a:t>osmolality</a:t>
            </a:r>
            <a:r>
              <a:rPr lang="en-GB" altLang="en-US" sz="2400">
                <a:solidFill>
                  <a:srgbClr val="000099"/>
                </a:solidFill>
              </a:rPr>
              <a:t> (moles per kg of water). </a:t>
            </a:r>
          </a:p>
          <a:p>
            <a:pPr>
              <a:spcBef>
                <a:spcPct val="0"/>
              </a:spcBef>
              <a:spcAft>
                <a:spcPct val="50000"/>
              </a:spcAft>
              <a:buFontTx/>
              <a:buNone/>
            </a:pPr>
            <a:r>
              <a:rPr lang="en-GB" altLang="en-US" sz="2400">
                <a:solidFill>
                  <a:srgbClr val="000099"/>
                </a:solidFill>
              </a:rPr>
              <a:t>	In clinical medicine, osmotic pressures of body fluids are generally expressed as osmolality.</a:t>
            </a:r>
          </a:p>
          <a:p>
            <a:pPr>
              <a:spcBef>
                <a:spcPct val="0"/>
              </a:spcBef>
              <a:spcAft>
                <a:spcPct val="50000"/>
              </a:spcAft>
              <a:buFontTx/>
              <a:buNone/>
            </a:pPr>
            <a:r>
              <a:rPr lang="en-GB" altLang="en-US" sz="2400">
                <a:solidFill>
                  <a:srgbClr val="000099"/>
                </a:solidFill>
              </a:rPr>
              <a:t>	By Definition:</a:t>
            </a:r>
          </a:p>
          <a:p>
            <a:pPr>
              <a:spcBef>
                <a:spcPct val="0"/>
              </a:spcBef>
              <a:spcAft>
                <a:spcPct val="50000"/>
              </a:spcAft>
              <a:buFontTx/>
              <a:buNone/>
            </a:pPr>
            <a:r>
              <a:rPr lang="en-GB" altLang="en-US" sz="2400">
                <a:solidFill>
                  <a:srgbClr val="000099"/>
                </a:solidFill>
              </a:rPr>
              <a:t>	One gram mole of a non-dissociating substance in 1kg of water exerts an osmotic pressure of 1 Osmole (abreviated to 1Osmol kg</a:t>
            </a:r>
            <a:r>
              <a:rPr lang="en-GB" altLang="en-US" sz="2400" baseline="30000">
                <a:solidFill>
                  <a:srgbClr val="000099"/>
                </a:solidFill>
              </a:rPr>
              <a:t>-1</a:t>
            </a:r>
            <a:r>
              <a:rPr lang="en-GB" altLang="en-US" sz="2400">
                <a:solidFill>
                  <a:srgbClr val="000099"/>
                </a:solidFill>
              </a:rPr>
              <a:t>).</a:t>
            </a:r>
          </a:p>
          <a:p>
            <a:pPr>
              <a:spcBef>
                <a:spcPct val="0"/>
              </a:spcBef>
              <a:spcAft>
                <a:spcPct val="50000"/>
              </a:spcAft>
              <a:buFontTx/>
              <a:buNone/>
            </a:pPr>
            <a:endParaRPr lang="en-GB" altLang="en-US" sz="2400">
              <a:solidFill>
                <a:srgbClr val="000099"/>
              </a:solidFill>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5737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5737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5737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5737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7379"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3042" name="Rectangle 2">
            <a:extLst>
              <a:ext uri="{FF2B5EF4-FFF2-40B4-BE49-F238E27FC236}">
                <a16:creationId xmlns:a16="http://schemas.microsoft.com/office/drawing/2014/main" id="{8CC0CBBE-42F5-A238-3D05-FE697CD2EB82}"/>
              </a:ext>
            </a:extLst>
          </p:cNvPr>
          <p:cNvSpPr>
            <a:spLocks noGrp="1" noChangeArrowheads="1"/>
          </p:cNvSpPr>
          <p:nvPr>
            <p:ph type="title"/>
          </p:nvPr>
        </p:nvSpPr>
        <p:spPr>
          <a:xfrm>
            <a:off x="685800" y="762000"/>
            <a:ext cx="7772400" cy="1371600"/>
          </a:xfrm>
        </p:spPr>
        <p:txBody>
          <a:bodyPr/>
          <a:lstStyle/>
          <a:p>
            <a:pPr algn="l"/>
            <a:r>
              <a:rPr lang="en-GB" altLang="en-US" sz="2400">
                <a:solidFill>
                  <a:srgbClr val="000099"/>
                </a:solidFill>
              </a:rPr>
              <a:t>The total osmolality of a solution is the sum of the osmolality due each of the constituents of the solution</a:t>
            </a:r>
          </a:p>
        </p:txBody>
      </p:sp>
      <p:sp>
        <p:nvSpPr>
          <p:cNvPr id="343043" name="Rectangle 3">
            <a:extLst>
              <a:ext uri="{FF2B5EF4-FFF2-40B4-BE49-F238E27FC236}">
                <a16:creationId xmlns:a16="http://schemas.microsoft.com/office/drawing/2014/main" id="{0ADC80DC-0112-C2F3-94FF-C72655B3641C}"/>
              </a:ext>
            </a:extLst>
          </p:cNvPr>
          <p:cNvSpPr>
            <a:spLocks noGrp="1" noChangeArrowheads="1"/>
          </p:cNvSpPr>
          <p:nvPr>
            <p:ph type="body" idx="1"/>
          </p:nvPr>
        </p:nvSpPr>
        <p:spPr>
          <a:xfrm>
            <a:off x="1117600" y="2122488"/>
            <a:ext cx="7342188" cy="4114800"/>
          </a:xfrm>
        </p:spPr>
        <p:txBody>
          <a:bodyPr/>
          <a:lstStyle/>
          <a:p>
            <a:r>
              <a:rPr lang="en-GB" altLang="en-US" sz="2400">
                <a:solidFill>
                  <a:srgbClr val="000099"/>
                </a:solidFill>
              </a:rPr>
              <a:t>The blood plasma has an osmolality of around 300 mOsmol kg</a:t>
            </a:r>
            <a:r>
              <a:rPr lang="en-GB" altLang="en-US" sz="2400" baseline="30000">
                <a:solidFill>
                  <a:srgbClr val="000099"/>
                </a:solidFill>
              </a:rPr>
              <a:t>-1</a:t>
            </a:r>
            <a:endParaRPr lang="en-GB" altLang="en-US" sz="2400">
              <a:solidFill>
                <a:srgbClr val="000099"/>
              </a:solidFill>
            </a:endParaRPr>
          </a:p>
          <a:p>
            <a:r>
              <a:rPr lang="en-GB" altLang="en-US" sz="2400">
                <a:solidFill>
                  <a:srgbClr val="000099"/>
                </a:solidFill>
              </a:rPr>
              <a:t>The principal ions (Na</a:t>
            </a:r>
            <a:r>
              <a:rPr lang="en-GB" altLang="en-US" sz="2400" baseline="30000">
                <a:solidFill>
                  <a:srgbClr val="000099"/>
                </a:solidFill>
              </a:rPr>
              <a:t>+</a:t>
            </a:r>
            <a:r>
              <a:rPr lang="en-GB" altLang="en-US" sz="2400">
                <a:solidFill>
                  <a:srgbClr val="000099"/>
                </a:solidFill>
              </a:rPr>
              <a:t>, K</a:t>
            </a:r>
            <a:r>
              <a:rPr lang="en-GB" altLang="en-US" sz="2400" baseline="30000">
                <a:solidFill>
                  <a:srgbClr val="000099"/>
                </a:solidFill>
              </a:rPr>
              <a:t>+</a:t>
            </a:r>
            <a:r>
              <a:rPr lang="en-GB" altLang="en-US" sz="2400">
                <a:solidFill>
                  <a:srgbClr val="000099"/>
                </a:solidFill>
              </a:rPr>
              <a:t>, Cl</a:t>
            </a:r>
            <a:r>
              <a:rPr lang="en-GB" altLang="en-US" sz="2400" baseline="30000">
                <a:solidFill>
                  <a:srgbClr val="000099"/>
                </a:solidFill>
              </a:rPr>
              <a:t>-</a:t>
            </a:r>
            <a:r>
              <a:rPr lang="en-GB" altLang="en-US" sz="2400">
                <a:solidFill>
                  <a:srgbClr val="000099"/>
                </a:solidFill>
              </a:rPr>
              <a:t>, HCO</a:t>
            </a:r>
            <a:r>
              <a:rPr lang="en-GB" altLang="en-US" sz="2400" baseline="-25000">
                <a:solidFill>
                  <a:srgbClr val="000099"/>
                </a:solidFill>
              </a:rPr>
              <a:t>3</a:t>
            </a:r>
            <a:r>
              <a:rPr lang="en-GB" altLang="en-US" sz="2400" baseline="30000">
                <a:solidFill>
                  <a:srgbClr val="000099"/>
                </a:solidFill>
              </a:rPr>
              <a:t>-</a:t>
            </a:r>
            <a:r>
              <a:rPr lang="en-GB" altLang="en-US" sz="2400">
                <a:solidFill>
                  <a:srgbClr val="000099"/>
                </a:solidFill>
              </a:rPr>
              <a:t>) contribute most of this (around 290 mOsmol kg</a:t>
            </a:r>
            <a:r>
              <a:rPr lang="en-GB" altLang="en-US" sz="2400" baseline="30000">
                <a:solidFill>
                  <a:srgbClr val="000099"/>
                </a:solidFill>
              </a:rPr>
              <a:t>-1</a:t>
            </a:r>
            <a:r>
              <a:rPr lang="en-GB" altLang="en-US" sz="2400">
                <a:solidFill>
                  <a:srgbClr val="000099"/>
                </a:solidFill>
              </a:rPr>
              <a:t>) </a:t>
            </a:r>
          </a:p>
          <a:p>
            <a:r>
              <a:rPr lang="en-GB" altLang="en-US" sz="2400">
                <a:solidFill>
                  <a:srgbClr val="000099"/>
                </a:solidFill>
              </a:rPr>
              <a:t>Glucose and other small molecules contribute just under 10 mOsmol kg</a:t>
            </a:r>
            <a:r>
              <a:rPr lang="en-GB" altLang="en-US" sz="2400" baseline="30000">
                <a:solidFill>
                  <a:srgbClr val="000099"/>
                </a:solidFill>
              </a:rPr>
              <a:t>-1</a:t>
            </a:r>
            <a:r>
              <a:rPr lang="en-GB" altLang="en-US" sz="2400">
                <a:solidFill>
                  <a:srgbClr val="000099"/>
                </a:solidFill>
              </a:rPr>
              <a:t>.</a:t>
            </a:r>
          </a:p>
          <a:p>
            <a:r>
              <a:rPr lang="en-GB" altLang="en-US" sz="2400">
                <a:solidFill>
                  <a:srgbClr val="000099"/>
                </a:solidFill>
              </a:rPr>
              <a:t>Proteins contribute only about  1 mOsmol kg</a:t>
            </a:r>
            <a:r>
              <a:rPr lang="en-GB" altLang="en-US" sz="2400" baseline="30000">
                <a:solidFill>
                  <a:srgbClr val="000099"/>
                </a:solidFill>
              </a:rPr>
              <a:t>-1</a:t>
            </a:r>
            <a:r>
              <a:rPr lang="en-GB" altLang="en-US" sz="2400">
                <a:solidFill>
                  <a:srgbClr val="000099"/>
                </a:solidFill>
              </a:rPr>
              <a:t> (less than 0.5% of total plasma Osmolality)</a:t>
            </a:r>
          </a:p>
        </p:txBody>
      </p:sp>
      <p:sp>
        <p:nvSpPr>
          <p:cNvPr id="343044" name="Rectangle 4">
            <a:extLst>
              <a:ext uri="{FF2B5EF4-FFF2-40B4-BE49-F238E27FC236}">
                <a16:creationId xmlns:a16="http://schemas.microsoft.com/office/drawing/2014/main" id="{D102D4EB-A16C-B8EA-4A87-B34A2FCAC8E6}"/>
              </a:ext>
            </a:extLst>
          </p:cNvPr>
          <p:cNvSpPr>
            <a:spLocks noChangeArrowheads="1"/>
          </p:cNvSpPr>
          <p:nvPr/>
        </p:nvSpPr>
        <p:spPr bwMode="auto">
          <a:xfrm>
            <a:off x="755650" y="79375"/>
            <a:ext cx="5040313"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lgn="ctr">
              <a:defRPr sz="4400">
                <a:solidFill>
                  <a:srgbClr val="FFFF00"/>
                </a:solidFill>
                <a:latin typeface="Arial" panose="020B0604020202020204" pitchFamily="34" charset="0"/>
                <a:cs typeface="Arial" panose="020B0604020202020204" pitchFamily="34" charset="0"/>
              </a:defRPr>
            </a:lvl1pPr>
            <a:lvl2pPr algn="ctr">
              <a:defRPr sz="4400">
                <a:solidFill>
                  <a:srgbClr val="FFFF00"/>
                </a:solidFill>
                <a:latin typeface="Arial" panose="020B0604020202020204" pitchFamily="34" charset="0"/>
                <a:cs typeface="Arial" panose="020B0604020202020204" pitchFamily="34" charset="0"/>
              </a:defRPr>
            </a:lvl2pPr>
            <a:lvl3pPr algn="ctr">
              <a:defRPr sz="4400">
                <a:solidFill>
                  <a:srgbClr val="FFFF00"/>
                </a:solidFill>
                <a:latin typeface="Arial" panose="020B0604020202020204" pitchFamily="34" charset="0"/>
                <a:cs typeface="Arial" panose="020B0604020202020204" pitchFamily="34" charset="0"/>
              </a:defRPr>
            </a:lvl3pPr>
            <a:lvl4pPr algn="ctr">
              <a:defRPr sz="4400">
                <a:solidFill>
                  <a:srgbClr val="FFFF00"/>
                </a:solidFill>
                <a:latin typeface="Arial" panose="020B0604020202020204" pitchFamily="34" charset="0"/>
                <a:cs typeface="Arial" panose="020B0604020202020204" pitchFamily="34" charset="0"/>
              </a:defRPr>
            </a:lvl4pPr>
            <a:lvl5pPr algn="ctr">
              <a:defRPr sz="4400">
                <a:solidFill>
                  <a:srgbClr val="FFFF00"/>
                </a:solidFill>
                <a:latin typeface="Arial" panose="020B0604020202020204" pitchFamily="34" charset="0"/>
                <a:cs typeface="Arial" panose="020B0604020202020204" pitchFamily="34" charset="0"/>
              </a:defRPr>
            </a:lvl5pPr>
            <a:lvl6pPr marL="4572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6pPr>
            <a:lvl7pPr marL="9144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7pPr>
            <a:lvl8pPr marL="13716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8pPr>
            <a:lvl9pPr marL="18288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9pPr>
          </a:lstStyle>
          <a:p>
            <a:pPr algn="l"/>
            <a:r>
              <a:rPr lang="en-GB" altLang="en-US" sz="4000" b="1"/>
              <a:t>Osmolality</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3043">
                                            <p:txEl>
                                              <p:pRg st="0" end="0"/>
                                            </p:txEl>
                                          </p:spTgt>
                                        </p:tgtEl>
                                        <p:attrNameLst>
                                          <p:attrName>style.visibility</p:attrName>
                                        </p:attrNameLst>
                                      </p:cBhvr>
                                      <p:to>
                                        <p:strVal val="visible"/>
                                      </p:to>
                                    </p:set>
                                    <p:animEffect transition="in" filter="wipe(left)">
                                      <p:cBhvr>
                                        <p:cTn id="7" dur="500"/>
                                        <p:tgtEl>
                                          <p:spTgt spid="3430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3043">
                                            <p:txEl>
                                              <p:pRg st="1" end="1"/>
                                            </p:txEl>
                                          </p:spTgt>
                                        </p:tgtEl>
                                        <p:attrNameLst>
                                          <p:attrName>style.visibility</p:attrName>
                                        </p:attrNameLst>
                                      </p:cBhvr>
                                      <p:to>
                                        <p:strVal val="visible"/>
                                      </p:to>
                                    </p:set>
                                    <p:animEffect transition="in" filter="wipe(left)">
                                      <p:cBhvr>
                                        <p:cTn id="12" dur="500"/>
                                        <p:tgtEl>
                                          <p:spTgt spid="3430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43043">
                                            <p:txEl>
                                              <p:pRg st="2" end="2"/>
                                            </p:txEl>
                                          </p:spTgt>
                                        </p:tgtEl>
                                        <p:attrNameLst>
                                          <p:attrName>style.visibility</p:attrName>
                                        </p:attrNameLst>
                                      </p:cBhvr>
                                      <p:to>
                                        <p:strVal val="visible"/>
                                      </p:to>
                                    </p:set>
                                    <p:animEffect transition="in" filter="wipe(left)">
                                      <p:cBhvr>
                                        <p:cTn id="17" dur="500"/>
                                        <p:tgtEl>
                                          <p:spTgt spid="34304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43043">
                                            <p:txEl>
                                              <p:pRg st="3" end="3"/>
                                            </p:txEl>
                                          </p:spTgt>
                                        </p:tgtEl>
                                        <p:attrNameLst>
                                          <p:attrName>style.visibility</p:attrName>
                                        </p:attrNameLst>
                                      </p:cBhvr>
                                      <p:to>
                                        <p:strVal val="visible"/>
                                      </p:to>
                                    </p:set>
                                    <p:animEffect transition="in" filter="wipe(left)">
                                      <p:cBhvr>
                                        <p:cTn id="22" dur="500"/>
                                        <p:tgtEl>
                                          <p:spTgt spid="3430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3043"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4066" name="Rectangle 2">
            <a:extLst>
              <a:ext uri="{FF2B5EF4-FFF2-40B4-BE49-F238E27FC236}">
                <a16:creationId xmlns:a16="http://schemas.microsoft.com/office/drawing/2014/main" id="{854144FB-C943-97C3-38D0-3F3904B23870}"/>
              </a:ext>
            </a:extLst>
          </p:cNvPr>
          <p:cNvSpPr>
            <a:spLocks noGrp="1" noChangeArrowheads="1"/>
          </p:cNvSpPr>
          <p:nvPr>
            <p:ph type="title"/>
          </p:nvPr>
        </p:nvSpPr>
        <p:spPr>
          <a:xfrm>
            <a:off x="304800" y="746125"/>
            <a:ext cx="8686800" cy="838200"/>
          </a:xfrm>
        </p:spPr>
        <p:txBody>
          <a:bodyPr/>
          <a:lstStyle/>
          <a:p>
            <a:r>
              <a:rPr lang="en-GB" altLang="en-US" sz="2400" b="1">
                <a:solidFill>
                  <a:srgbClr val="000099"/>
                </a:solidFill>
              </a:rPr>
              <a:t>Why proteins exert such a small osmotic pressure</a:t>
            </a:r>
          </a:p>
        </p:txBody>
      </p:sp>
      <p:sp>
        <p:nvSpPr>
          <p:cNvPr id="344067" name="Rectangle 3">
            <a:extLst>
              <a:ext uri="{FF2B5EF4-FFF2-40B4-BE49-F238E27FC236}">
                <a16:creationId xmlns:a16="http://schemas.microsoft.com/office/drawing/2014/main" id="{43196E66-BF47-2EE2-E2C1-B7499D51022A}"/>
              </a:ext>
            </a:extLst>
          </p:cNvPr>
          <p:cNvSpPr>
            <a:spLocks noGrp="1" noChangeArrowheads="1"/>
          </p:cNvSpPr>
          <p:nvPr>
            <p:ph type="body" idx="1"/>
          </p:nvPr>
        </p:nvSpPr>
        <p:spPr>
          <a:xfrm>
            <a:off x="685800" y="1660525"/>
            <a:ext cx="7772400" cy="4648200"/>
          </a:xfrm>
        </p:spPr>
        <p:txBody>
          <a:bodyPr/>
          <a:lstStyle/>
          <a:p>
            <a:pPr>
              <a:spcAft>
                <a:spcPct val="50000"/>
              </a:spcAft>
              <a:buFontTx/>
              <a:buNone/>
            </a:pPr>
            <a:r>
              <a:rPr lang="en-GB" altLang="en-US" sz="2400">
                <a:solidFill>
                  <a:srgbClr val="000099"/>
                </a:solidFill>
              </a:rPr>
              <a:t>	Each kg of plasma contains about 6.76 g of NaCl and 47.4g of albumin</a:t>
            </a:r>
          </a:p>
          <a:p>
            <a:pPr>
              <a:spcAft>
                <a:spcPct val="50000"/>
              </a:spcAft>
            </a:pPr>
            <a:r>
              <a:rPr lang="en-GB" altLang="en-US" sz="2400">
                <a:solidFill>
                  <a:srgbClr val="000099"/>
                </a:solidFill>
              </a:rPr>
              <a:t>Osmotic pressure due to NaCl:</a:t>
            </a:r>
          </a:p>
          <a:p>
            <a:pPr lvl="1">
              <a:spcAft>
                <a:spcPct val="50000"/>
              </a:spcAft>
            </a:pPr>
            <a:r>
              <a:rPr lang="en-GB" altLang="en-US" sz="2400">
                <a:solidFill>
                  <a:srgbClr val="000099"/>
                </a:solidFill>
              </a:rPr>
              <a:t>2</a:t>
            </a:r>
            <a:r>
              <a:rPr lang="en-GB" altLang="en-US" sz="2400">
                <a:solidFill>
                  <a:srgbClr val="000099"/>
                </a:solidFill>
                <a:sym typeface="Wingdings 2" panose="05020102010507070707" pitchFamily="18" charset="2"/>
              </a:rPr>
              <a:t></a:t>
            </a:r>
            <a:r>
              <a:rPr lang="en-GB" altLang="en-US" sz="2400">
                <a:solidFill>
                  <a:srgbClr val="000099"/>
                </a:solidFill>
              </a:rPr>
              <a:t>(6.76/58.4) = 0.231 Osmol kg</a:t>
            </a:r>
            <a:r>
              <a:rPr lang="en-GB" altLang="en-US" sz="2400" baseline="30000">
                <a:solidFill>
                  <a:srgbClr val="000099"/>
                </a:solidFill>
              </a:rPr>
              <a:t>-1</a:t>
            </a:r>
            <a:r>
              <a:rPr lang="en-GB" altLang="en-US" sz="2400">
                <a:solidFill>
                  <a:srgbClr val="000099"/>
                </a:solidFill>
              </a:rPr>
              <a:t> or </a:t>
            </a:r>
          </a:p>
          <a:p>
            <a:pPr lvl="1">
              <a:spcAft>
                <a:spcPct val="50000"/>
              </a:spcAft>
            </a:pPr>
            <a:r>
              <a:rPr lang="en-GB" altLang="en-US" sz="2400">
                <a:solidFill>
                  <a:srgbClr val="000099"/>
                </a:solidFill>
              </a:rPr>
              <a:t>231 mOsmol kg</a:t>
            </a:r>
            <a:r>
              <a:rPr lang="en-GB" altLang="en-US" sz="2400" baseline="30000">
                <a:solidFill>
                  <a:srgbClr val="000099"/>
                </a:solidFill>
              </a:rPr>
              <a:t>-1</a:t>
            </a:r>
          </a:p>
          <a:p>
            <a:pPr>
              <a:spcAft>
                <a:spcPct val="50000"/>
              </a:spcAft>
            </a:pPr>
            <a:r>
              <a:rPr lang="en-GB" altLang="en-US" sz="2400">
                <a:solidFill>
                  <a:srgbClr val="000099"/>
                </a:solidFill>
              </a:rPr>
              <a:t>Osmotic pressure due to albumin:</a:t>
            </a:r>
          </a:p>
          <a:p>
            <a:pPr lvl="1">
              <a:spcAft>
                <a:spcPct val="50000"/>
              </a:spcAft>
            </a:pPr>
            <a:r>
              <a:rPr lang="en-GB" altLang="en-US" sz="2400">
                <a:solidFill>
                  <a:srgbClr val="000099"/>
                </a:solidFill>
              </a:rPr>
              <a:t>47.4/69,000=0.687 mOsmol kg</a:t>
            </a:r>
            <a:r>
              <a:rPr lang="en-GB" altLang="en-US" sz="2400" baseline="30000">
                <a:solidFill>
                  <a:srgbClr val="000099"/>
                </a:solidFill>
              </a:rPr>
              <a:t>-1</a:t>
            </a:r>
            <a:endParaRPr lang="en-GB" altLang="en-US" sz="2400">
              <a:solidFill>
                <a:srgbClr val="000099"/>
              </a:solidFill>
            </a:endParaRPr>
          </a:p>
          <a:p>
            <a:endParaRPr lang="en-GB" altLang="en-US" sz="2400">
              <a:solidFill>
                <a:srgbClr val="000099"/>
              </a:solidFill>
            </a:endParaRPr>
          </a:p>
        </p:txBody>
      </p:sp>
      <p:sp>
        <p:nvSpPr>
          <p:cNvPr id="344068" name="Rectangle 4">
            <a:extLst>
              <a:ext uri="{FF2B5EF4-FFF2-40B4-BE49-F238E27FC236}">
                <a16:creationId xmlns:a16="http://schemas.microsoft.com/office/drawing/2014/main" id="{A24AD52F-7989-6755-F9F4-77E621D6E7F2}"/>
              </a:ext>
            </a:extLst>
          </p:cNvPr>
          <p:cNvSpPr>
            <a:spLocks noChangeArrowheads="1"/>
          </p:cNvSpPr>
          <p:nvPr/>
        </p:nvSpPr>
        <p:spPr bwMode="auto">
          <a:xfrm>
            <a:off x="755650" y="79375"/>
            <a:ext cx="5040313"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lgn="ctr">
              <a:defRPr sz="4400">
                <a:solidFill>
                  <a:srgbClr val="FFFF00"/>
                </a:solidFill>
                <a:latin typeface="Arial" panose="020B0604020202020204" pitchFamily="34" charset="0"/>
                <a:cs typeface="Arial" panose="020B0604020202020204" pitchFamily="34" charset="0"/>
              </a:defRPr>
            </a:lvl1pPr>
            <a:lvl2pPr algn="ctr">
              <a:defRPr sz="4400">
                <a:solidFill>
                  <a:srgbClr val="FFFF00"/>
                </a:solidFill>
                <a:latin typeface="Arial" panose="020B0604020202020204" pitchFamily="34" charset="0"/>
                <a:cs typeface="Arial" panose="020B0604020202020204" pitchFamily="34" charset="0"/>
              </a:defRPr>
            </a:lvl2pPr>
            <a:lvl3pPr algn="ctr">
              <a:defRPr sz="4400">
                <a:solidFill>
                  <a:srgbClr val="FFFF00"/>
                </a:solidFill>
                <a:latin typeface="Arial" panose="020B0604020202020204" pitchFamily="34" charset="0"/>
                <a:cs typeface="Arial" panose="020B0604020202020204" pitchFamily="34" charset="0"/>
              </a:defRPr>
            </a:lvl3pPr>
            <a:lvl4pPr algn="ctr">
              <a:defRPr sz="4400">
                <a:solidFill>
                  <a:srgbClr val="FFFF00"/>
                </a:solidFill>
                <a:latin typeface="Arial" panose="020B0604020202020204" pitchFamily="34" charset="0"/>
                <a:cs typeface="Arial" panose="020B0604020202020204" pitchFamily="34" charset="0"/>
              </a:defRPr>
            </a:lvl4pPr>
            <a:lvl5pPr algn="ctr">
              <a:defRPr sz="4400">
                <a:solidFill>
                  <a:srgbClr val="FFFF00"/>
                </a:solidFill>
                <a:latin typeface="Arial" panose="020B0604020202020204" pitchFamily="34" charset="0"/>
                <a:cs typeface="Arial" panose="020B0604020202020204" pitchFamily="34" charset="0"/>
              </a:defRPr>
            </a:lvl5pPr>
            <a:lvl6pPr marL="4572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6pPr>
            <a:lvl7pPr marL="9144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7pPr>
            <a:lvl8pPr marL="13716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8pPr>
            <a:lvl9pPr marL="18288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9pPr>
          </a:lstStyle>
          <a:p>
            <a:pPr algn="l"/>
            <a:r>
              <a:rPr lang="en-GB" altLang="en-US" sz="4000" b="1"/>
              <a:t>Osmotic Pressure</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4067">
                                            <p:txEl>
                                              <p:pRg st="0" end="0"/>
                                            </p:txEl>
                                          </p:spTgt>
                                        </p:tgtEl>
                                        <p:attrNameLst>
                                          <p:attrName>style.visibility</p:attrName>
                                        </p:attrNameLst>
                                      </p:cBhvr>
                                      <p:to>
                                        <p:strVal val="visible"/>
                                      </p:to>
                                    </p:set>
                                    <p:animEffect transition="in" filter="wipe(left)">
                                      <p:cBhvr>
                                        <p:cTn id="7" dur="500"/>
                                        <p:tgtEl>
                                          <p:spTgt spid="3440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4067">
                                            <p:txEl>
                                              <p:pRg st="1" end="1"/>
                                            </p:txEl>
                                          </p:spTgt>
                                        </p:tgtEl>
                                        <p:attrNameLst>
                                          <p:attrName>style.visibility</p:attrName>
                                        </p:attrNameLst>
                                      </p:cBhvr>
                                      <p:to>
                                        <p:strVal val="visible"/>
                                      </p:to>
                                    </p:set>
                                    <p:animEffect transition="in" filter="wipe(left)">
                                      <p:cBhvr>
                                        <p:cTn id="12" dur="500"/>
                                        <p:tgtEl>
                                          <p:spTgt spid="344067">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344067">
                                            <p:txEl>
                                              <p:pRg st="2" end="2"/>
                                            </p:txEl>
                                          </p:spTgt>
                                        </p:tgtEl>
                                        <p:attrNameLst>
                                          <p:attrName>style.visibility</p:attrName>
                                        </p:attrNameLst>
                                      </p:cBhvr>
                                      <p:to>
                                        <p:strVal val="visible"/>
                                      </p:to>
                                    </p:set>
                                    <p:animEffect transition="in" filter="wipe(left)">
                                      <p:cBhvr>
                                        <p:cTn id="15" dur="500"/>
                                        <p:tgtEl>
                                          <p:spTgt spid="344067">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344067">
                                            <p:txEl>
                                              <p:pRg st="3" end="3"/>
                                            </p:txEl>
                                          </p:spTgt>
                                        </p:tgtEl>
                                        <p:attrNameLst>
                                          <p:attrName>style.visibility</p:attrName>
                                        </p:attrNameLst>
                                      </p:cBhvr>
                                      <p:to>
                                        <p:strVal val="visible"/>
                                      </p:to>
                                    </p:set>
                                    <p:animEffect transition="in" filter="wipe(left)">
                                      <p:cBhvr>
                                        <p:cTn id="18" dur="500"/>
                                        <p:tgtEl>
                                          <p:spTgt spid="344067">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44067">
                                            <p:txEl>
                                              <p:pRg st="4" end="4"/>
                                            </p:txEl>
                                          </p:spTgt>
                                        </p:tgtEl>
                                        <p:attrNameLst>
                                          <p:attrName>style.visibility</p:attrName>
                                        </p:attrNameLst>
                                      </p:cBhvr>
                                      <p:to>
                                        <p:strVal val="visible"/>
                                      </p:to>
                                    </p:set>
                                    <p:animEffect transition="in" filter="wipe(left)">
                                      <p:cBhvr>
                                        <p:cTn id="23" dur="500"/>
                                        <p:tgtEl>
                                          <p:spTgt spid="344067">
                                            <p:txEl>
                                              <p:pRg st="4" end="4"/>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344067">
                                            <p:txEl>
                                              <p:pRg st="5" end="5"/>
                                            </p:txEl>
                                          </p:spTgt>
                                        </p:tgtEl>
                                        <p:attrNameLst>
                                          <p:attrName>style.visibility</p:attrName>
                                        </p:attrNameLst>
                                      </p:cBhvr>
                                      <p:to>
                                        <p:strVal val="visible"/>
                                      </p:to>
                                    </p:set>
                                    <p:animEffect transition="in" filter="wipe(left)">
                                      <p:cBhvr>
                                        <p:cTn id="26" dur="500"/>
                                        <p:tgtEl>
                                          <p:spTgt spid="34406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67"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BD9CB6-C981-726D-8395-DF692B9426C3}"/>
              </a:ext>
            </a:extLst>
          </p:cNvPr>
          <p:cNvPicPr>
            <a:picLocks noChangeAspect="1"/>
          </p:cNvPicPr>
          <p:nvPr/>
        </p:nvPicPr>
        <p:blipFill>
          <a:blip r:embed="rId2"/>
          <a:stretch>
            <a:fillRect/>
          </a:stretch>
        </p:blipFill>
        <p:spPr>
          <a:xfrm>
            <a:off x="395536" y="836712"/>
            <a:ext cx="6480719" cy="6033342"/>
          </a:xfrm>
          <a:prstGeom prst="rect">
            <a:avLst/>
          </a:prstGeom>
        </p:spPr>
      </p:pic>
    </p:spTree>
    <p:extLst>
      <p:ext uri="{BB962C8B-B14F-4D97-AF65-F5344CB8AC3E}">
        <p14:creationId xmlns:p14="http://schemas.microsoft.com/office/powerpoint/2010/main" val="2899179558"/>
      </p:ext>
    </p:extLst>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5091" name="Rectangle 3">
            <a:extLst>
              <a:ext uri="{FF2B5EF4-FFF2-40B4-BE49-F238E27FC236}">
                <a16:creationId xmlns:a16="http://schemas.microsoft.com/office/drawing/2014/main" id="{A7F06C65-FCAA-AEE5-A5E8-1163C3663F38}"/>
              </a:ext>
            </a:extLst>
          </p:cNvPr>
          <p:cNvSpPr>
            <a:spLocks noGrp="1" noChangeArrowheads="1"/>
          </p:cNvSpPr>
          <p:nvPr>
            <p:ph type="body" idx="1"/>
          </p:nvPr>
        </p:nvSpPr>
        <p:spPr>
          <a:xfrm>
            <a:off x="762000" y="1978025"/>
            <a:ext cx="7772400" cy="4114800"/>
          </a:xfrm>
        </p:spPr>
        <p:txBody>
          <a:bodyPr/>
          <a:lstStyle/>
          <a:p>
            <a:r>
              <a:rPr lang="en-GB" altLang="en-US" sz="2400">
                <a:solidFill>
                  <a:srgbClr val="000099"/>
                </a:solidFill>
              </a:rPr>
              <a:t>Two solutions with the same osmolality are said to be </a:t>
            </a:r>
            <a:r>
              <a:rPr lang="en-GB" altLang="en-US" sz="2400">
                <a:solidFill>
                  <a:schemeClr val="hlink"/>
                </a:solidFill>
              </a:rPr>
              <a:t>iso-osmotic</a:t>
            </a:r>
            <a:r>
              <a:rPr lang="en-GB" altLang="en-US" sz="2400">
                <a:solidFill>
                  <a:srgbClr val="000099"/>
                </a:solidFill>
              </a:rPr>
              <a:t> </a:t>
            </a:r>
          </a:p>
          <a:p>
            <a:r>
              <a:rPr lang="en-GB" altLang="en-US" sz="2400">
                <a:solidFill>
                  <a:srgbClr val="000099"/>
                </a:solidFill>
              </a:rPr>
              <a:t>Under normal circumstances, the volume of cells remains constant so that the intracellular fluid must have the same osmolality as the extracellular fluid. The two solutions are said to be </a:t>
            </a:r>
            <a:r>
              <a:rPr lang="en-GB" altLang="en-US" sz="2400">
                <a:solidFill>
                  <a:schemeClr val="hlink"/>
                </a:solidFill>
              </a:rPr>
              <a:t>isotonic</a:t>
            </a:r>
            <a:r>
              <a:rPr lang="en-GB" altLang="en-US" sz="2400">
                <a:solidFill>
                  <a:srgbClr val="000099"/>
                </a:solidFill>
              </a:rPr>
              <a:t> with each other. </a:t>
            </a:r>
          </a:p>
          <a:p>
            <a:r>
              <a:rPr lang="en-GB" altLang="en-US" sz="2400">
                <a:solidFill>
                  <a:srgbClr val="000099"/>
                </a:solidFill>
              </a:rPr>
              <a:t>Fluids which are isotonic are also iso-osmotic</a:t>
            </a:r>
          </a:p>
          <a:p>
            <a:r>
              <a:rPr lang="en-GB" altLang="en-US" sz="2400">
                <a:solidFill>
                  <a:srgbClr val="000099"/>
                </a:solidFill>
              </a:rPr>
              <a:t>However, not all iso-osmotic solutions are isotonic with cells</a:t>
            </a:r>
          </a:p>
          <a:p>
            <a:pPr lvl="1"/>
            <a:r>
              <a:rPr lang="en-GB" altLang="en-US" sz="2400">
                <a:solidFill>
                  <a:srgbClr val="000099"/>
                </a:solidFill>
              </a:rPr>
              <a:t>iso-osmotic solutions of urea cause cells to swell</a:t>
            </a:r>
          </a:p>
          <a:p>
            <a:endParaRPr lang="en-GB" altLang="en-US" sz="2400">
              <a:solidFill>
                <a:srgbClr val="000099"/>
              </a:solidFill>
            </a:endParaRPr>
          </a:p>
        </p:txBody>
      </p:sp>
      <p:sp>
        <p:nvSpPr>
          <p:cNvPr id="345092" name="Rectangle 4">
            <a:extLst>
              <a:ext uri="{FF2B5EF4-FFF2-40B4-BE49-F238E27FC236}">
                <a16:creationId xmlns:a16="http://schemas.microsoft.com/office/drawing/2014/main" id="{927E9D1B-66F1-B9C8-AEC7-6A65FF16C780}"/>
              </a:ext>
            </a:extLst>
          </p:cNvPr>
          <p:cNvSpPr>
            <a:spLocks noChangeArrowheads="1"/>
          </p:cNvSpPr>
          <p:nvPr/>
        </p:nvSpPr>
        <p:spPr bwMode="auto">
          <a:xfrm>
            <a:off x="755650" y="79375"/>
            <a:ext cx="6264275"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lgn="ctr">
              <a:defRPr sz="4400">
                <a:solidFill>
                  <a:srgbClr val="FFFF00"/>
                </a:solidFill>
                <a:latin typeface="Arial" panose="020B0604020202020204" pitchFamily="34" charset="0"/>
                <a:cs typeface="Arial" panose="020B0604020202020204" pitchFamily="34" charset="0"/>
              </a:defRPr>
            </a:lvl1pPr>
            <a:lvl2pPr algn="ctr">
              <a:defRPr sz="4400">
                <a:solidFill>
                  <a:srgbClr val="FFFF00"/>
                </a:solidFill>
                <a:latin typeface="Arial" panose="020B0604020202020204" pitchFamily="34" charset="0"/>
                <a:cs typeface="Arial" panose="020B0604020202020204" pitchFamily="34" charset="0"/>
              </a:defRPr>
            </a:lvl2pPr>
            <a:lvl3pPr algn="ctr">
              <a:defRPr sz="4400">
                <a:solidFill>
                  <a:srgbClr val="FFFF00"/>
                </a:solidFill>
                <a:latin typeface="Arial" panose="020B0604020202020204" pitchFamily="34" charset="0"/>
                <a:cs typeface="Arial" panose="020B0604020202020204" pitchFamily="34" charset="0"/>
              </a:defRPr>
            </a:lvl3pPr>
            <a:lvl4pPr algn="ctr">
              <a:defRPr sz="4400">
                <a:solidFill>
                  <a:srgbClr val="FFFF00"/>
                </a:solidFill>
                <a:latin typeface="Arial" panose="020B0604020202020204" pitchFamily="34" charset="0"/>
                <a:cs typeface="Arial" panose="020B0604020202020204" pitchFamily="34" charset="0"/>
              </a:defRPr>
            </a:lvl4pPr>
            <a:lvl5pPr algn="ctr">
              <a:defRPr sz="4400">
                <a:solidFill>
                  <a:srgbClr val="FFFF00"/>
                </a:solidFill>
                <a:latin typeface="Arial" panose="020B0604020202020204" pitchFamily="34" charset="0"/>
                <a:cs typeface="Arial" panose="020B0604020202020204" pitchFamily="34" charset="0"/>
              </a:defRPr>
            </a:lvl5pPr>
            <a:lvl6pPr marL="4572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6pPr>
            <a:lvl7pPr marL="9144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7pPr>
            <a:lvl8pPr marL="13716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8pPr>
            <a:lvl9pPr marL="18288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9pPr>
          </a:lstStyle>
          <a:p>
            <a:pPr algn="l"/>
            <a:r>
              <a:rPr lang="en-GB" altLang="en-US" sz="4000" b="1"/>
              <a:t>Iso-osmotic vs Iso-tonic</a:t>
            </a:r>
          </a:p>
        </p:txBody>
      </p:sp>
      <p:sp>
        <p:nvSpPr>
          <p:cNvPr id="345095" name="Rectangle 7">
            <a:extLst>
              <a:ext uri="{FF2B5EF4-FFF2-40B4-BE49-F238E27FC236}">
                <a16:creationId xmlns:a16="http://schemas.microsoft.com/office/drawing/2014/main" id="{8765D386-2641-82AA-F30D-BB9B61F84356}"/>
              </a:ext>
            </a:extLst>
          </p:cNvPr>
          <p:cNvSpPr>
            <a:spLocks noChangeArrowheads="1"/>
          </p:cNvSpPr>
          <p:nvPr/>
        </p:nvSpPr>
        <p:spPr bwMode="auto">
          <a:xfrm>
            <a:off x="715963" y="950913"/>
            <a:ext cx="7672387"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20000"/>
              </a:spcBef>
              <a:buSzPct val="100000"/>
            </a:pPr>
            <a:r>
              <a:rPr lang="en-GB" altLang="en-US" b="1">
                <a:solidFill>
                  <a:srgbClr val="000099"/>
                </a:solidFill>
                <a:latin typeface="Arial" panose="020B0604020202020204" pitchFamily="34" charset="0"/>
                <a:cs typeface="Arial" panose="020B0604020202020204" pitchFamily="34" charset="0"/>
              </a:rPr>
              <a:t>	The tonicity of a solution refers to the influence of its osmolality on the volume of cells.</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450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4509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4509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45091">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3450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091"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2498" name="Picture 2">
            <a:extLst>
              <a:ext uri="{FF2B5EF4-FFF2-40B4-BE49-F238E27FC236}">
                <a16:creationId xmlns:a16="http://schemas.microsoft.com/office/drawing/2014/main" id="{1293685B-6372-ED20-0B62-097D3A5C4B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275" y="1196975"/>
            <a:ext cx="7620000" cy="5086350"/>
          </a:xfrm>
          <a:prstGeom prst="rect">
            <a:avLst/>
          </a:prstGeom>
          <a:noFill/>
          <a:extLst>
            <a:ext uri="{909E8E84-426E-40DD-AFC4-6F175D3DCCD1}">
              <a14:hiddenFill xmlns:a14="http://schemas.microsoft.com/office/drawing/2010/main">
                <a:solidFill>
                  <a:srgbClr val="FFFFFF"/>
                </a:solidFill>
              </a14:hiddenFill>
            </a:ext>
          </a:extLst>
        </p:spPr>
      </p:pic>
      <p:sp>
        <p:nvSpPr>
          <p:cNvPr id="362499" name="Rectangle 3">
            <a:extLst>
              <a:ext uri="{FF2B5EF4-FFF2-40B4-BE49-F238E27FC236}">
                <a16:creationId xmlns:a16="http://schemas.microsoft.com/office/drawing/2014/main" id="{E1874F74-B1C8-39D9-57E3-11BDB2651E8F}"/>
              </a:ext>
            </a:extLst>
          </p:cNvPr>
          <p:cNvSpPr>
            <a:spLocks noChangeArrowheads="1"/>
          </p:cNvSpPr>
          <p:nvPr/>
        </p:nvSpPr>
        <p:spPr bwMode="auto">
          <a:xfrm>
            <a:off x="755650" y="79375"/>
            <a:ext cx="6264275"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lgn="ctr">
              <a:defRPr sz="4400">
                <a:solidFill>
                  <a:srgbClr val="FFFF00"/>
                </a:solidFill>
                <a:latin typeface="Arial" panose="020B0604020202020204" pitchFamily="34" charset="0"/>
                <a:cs typeface="Arial" panose="020B0604020202020204" pitchFamily="34" charset="0"/>
              </a:defRPr>
            </a:lvl1pPr>
            <a:lvl2pPr algn="ctr">
              <a:defRPr sz="4400">
                <a:solidFill>
                  <a:srgbClr val="FFFF00"/>
                </a:solidFill>
                <a:latin typeface="Arial" panose="020B0604020202020204" pitchFamily="34" charset="0"/>
                <a:cs typeface="Arial" panose="020B0604020202020204" pitchFamily="34" charset="0"/>
              </a:defRPr>
            </a:lvl2pPr>
            <a:lvl3pPr algn="ctr">
              <a:defRPr sz="4400">
                <a:solidFill>
                  <a:srgbClr val="FFFF00"/>
                </a:solidFill>
                <a:latin typeface="Arial" panose="020B0604020202020204" pitchFamily="34" charset="0"/>
                <a:cs typeface="Arial" panose="020B0604020202020204" pitchFamily="34" charset="0"/>
              </a:defRPr>
            </a:lvl3pPr>
            <a:lvl4pPr algn="ctr">
              <a:defRPr sz="4400">
                <a:solidFill>
                  <a:srgbClr val="FFFF00"/>
                </a:solidFill>
                <a:latin typeface="Arial" panose="020B0604020202020204" pitchFamily="34" charset="0"/>
                <a:cs typeface="Arial" panose="020B0604020202020204" pitchFamily="34" charset="0"/>
              </a:defRPr>
            </a:lvl4pPr>
            <a:lvl5pPr algn="ctr">
              <a:defRPr sz="4400">
                <a:solidFill>
                  <a:srgbClr val="FFFF00"/>
                </a:solidFill>
                <a:latin typeface="Arial" panose="020B0604020202020204" pitchFamily="34" charset="0"/>
                <a:cs typeface="Arial" panose="020B0604020202020204" pitchFamily="34" charset="0"/>
              </a:defRPr>
            </a:lvl5pPr>
            <a:lvl6pPr marL="4572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6pPr>
            <a:lvl7pPr marL="9144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7pPr>
            <a:lvl8pPr marL="13716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8pPr>
            <a:lvl9pPr marL="18288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9pPr>
          </a:lstStyle>
          <a:p>
            <a:pPr algn="l"/>
            <a:r>
              <a:rPr lang="en-GB" altLang="en-US" sz="4000" b="1"/>
              <a:t>Iso-osmotic vs Iso-tonic</a:t>
            </a:r>
          </a:p>
        </p:txBody>
      </p:sp>
      <p:sp>
        <p:nvSpPr>
          <p:cNvPr id="362500" name="Rectangle 4">
            <a:extLst>
              <a:ext uri="{FF2B5EF4-FFF2-40B4-BE49-F238E27FC236}">
                <a16:creationId xmlns:a16="http://schemas.microsoft.com/office/drawing/2014/main" id="{911656E0-E217-4E53-E036-F32819207B63}"/>
              </a:ext>
            </a:extLst>
          </p:cNvPr>
          <p:cNvSpPr>
            <a:spLocks noChangeArrowheads="1"/>
          </p:cNvSpPr>
          <p:nvPr/>
        </p:nvSpPr>
        <p:spPr bwMode="auto">
          <a:xfrm>
            <a:off x="3103563" y="6453188"/>
            <a:ext cx="5861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1800">
                <a:solidFill>
                  <a:schemeClr val="tx1"/>
                </a:solidFill>
                <a:latin typeface="Arial" panose="020B0604020202020204" pitchFamily="34" charset="0"/>
                <a:cs typeface="Arial" panose="020B0604020202020204" pitchFamily="34" charset="0"/>
              </a:rPr>
              <a:t>http://kvhs.nbed.nb.ca/gallant/biology/water_balance.jpg</a:t>
            </a:r>
          </a:p>
        </p:txBody>
      </p:sp>
    </p:spTree>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5330" name="Rectangle 2">
            <a:extLst>
              <a:ext uri="{FF2B5EF4-FFF2-40B4-BE49-F238E27FC236}">
                <a16:creationId xmlns:a16="http://schemas.microsoft.com/office/drawing/2014/main" id="{5602D854-369F-AE29-E59B-3D0BD4D9FEEA}"/>
              </a:ext>
            </a:extLst>
          </p:cNvPr>
          <p:cNvSpPr>
            <a:spLocks noGrp="1" noChangeArrowheads="1"/>
          </p:cNvSpPr>
          <p:nvPr>
            <p:ph type="title"/>
          </p:nvPr>
        </p:nvSpPr>
        <p:spPr>
          <a:xfrm>
            <a:off x="755650" y="79375"/>
            <a:ext cx="6048375" cy="685800"/>
          </a:xfrm>
        </p:spPr>
        <p:txBody>
          <a:bodyPr/>
          <a:lstStyle/>
          <a:p>
            <a:pPr algn="l"/>
            <a:r>
              <a:rPr lang="en-GB" altLang="en-US" sz="4000" b="1"/>
              <a:t>Osmotic Phenomenons</a:t>
            </a:r>
          </a:p>
        </p:txBody>
      </p:sp>
      <p:sp>
        <p:nvSpPr>
          <p:cNvPr id="355331" name="Rectangle 3">
            <a:extLst>
              <a:ext uri="{FF2B5EF4-FFF2-40B4-BE49-F238E27FC236}">
                <a16:creationId xmlns:a16="http://schemas.microsoft.com/office/drawing/2014/main" id="{CA80E538-F3B0-EDCD-15B2-D6F2302D051A}"/>
              </a:ext>
            </a:extLst>
          </p:cNvPr>
          <p:cNvSpPr>
            <a:spLocks noGrp="1" noChangeArrowheads="1"/>
          </p:cNvSpPr>
          <p:nvPr>
            <p:ph type="body" idx="1"/>
          </p:nvPr>
        </p:nvSpPr>
        <p:spPr>
          <a:xfrm>
            <a:off x="228600" y="1241425"/>
            <a:ext cx="8610600" cy="4419600"/>
          </a:xfrm>
        </p:spPr>
        <p:txBody>
          <a:bodyPr/>
          <a:lstStyle/>
          <a:p>
            <a:pPr>
              <a:spcBef>
                <a:spcPct val="0"/>
              </a:spcBef>
              <a:spcAft>
                <a:spcPct val="50000"/>
              </a:spcAft>
              <a:buFontTx/>
              <a:buNone/>
            </a:pPr>
            <a:r>
              <a:rPr lang="en-GB" altLang="en-US" sz="2400">
                <a:solidFill>
                  <a:srgbClr val="000099"/>
                </a:solidFill>
              </a:rPr>
              <a:t>	Cells have to constantly cope with osmotic phenomenons. </a:t>
            </a:r>
          </a:p>
          <a:p>
            <a:pPr>
              <a:spcBef>
                <a:spcPct val="0"/>
              </a:spcBef>
              <a:spcAft>
                <a:spcPct val="50000"/>
              </a:spcAft>
              <a:buFontTx/>
              <a:buNone/>
            </a:pPr>
            <a:r>
              <a:rPr lang="en-GB" altLang="en-US" sz="2400">
                <a:solidFill>
                  <a:srgbClr val="000099"/>
                </a:solidFill>
              </a:rPr>
              <a:t>	Cells without walls that live in aqueous solutions are usually hypertonic. They are subject to a continuous influx of water that results in a pressure on the inside of the membrane. Some ciliates (like </a:t>
            </a:r>
            <a:r>
              <a:rPr lang="en-GB" altLang="en-US" sz="2400" i="1">
                <a:solidFill>
                  <a:srgbClr val="000099"/>
                </a:solidFill>
              </a:rPr>
              <a:t>Paramecium</a:t>
            </a:r>
            <a:r>
              <a:rPr lang="en-GB" altLang="en-US" sz="2400">
                <a:solidFill>
                  <a:srgbClr val="000099"/>
                </a:solidFill>
              </a:rPr>
              <a:t>) and flagellates (</a:t>
            </a:r>
            <a:r>
              <a:rPr lang="en-GB" altLang="en-US" sz="2400" i="1">
                <a:solidFill>
                  <a:srgbClr val="000099"/>
                </a:solidFill>
              </a:rPr>
              <a:t>Euglena</a:t>
            </a:r>
            <a:r>
              <a:rPr lang="en-GB" altLang="en-US" sz="2400">
                <a:solidFill>
                  <a:srgbClr val="000099"/>
                </a:solidFill>
              </a:rPr>
              <a:t>) have a special organ, a pulsating vacuole, that pumps the water out again and has to be supplied with energy. </a:t>
            </a:r>
          </a:p>
          <a:p>
            <a:pPr>
              <a:spcBef>
                <a:spcPct val="0"/>
              </a:spcBef>
              <a:spcAft>
                <a:spcPct val="50000"/>
              </a:spcAft>
              <a:buFontTx/>
              <a:buNone/>
            </a:pPr>
            <a:r>
              <a:rPr lang="en-GB" altLang="en-US" sz="2400">
                <a:solidFill>
                  <a:srgbClr val="000099"/>
                </a:solidFill>
              </a:rPr>
              <a:t>	Red blood cells (erythrocytes) occur normally in isotonic surroundings (blood plasma). The cells burst if the blood is diluted with water since their membranes cannot face the osmotic pressure within the cells. Blood is therefore always diluted with an isotonic (0.9%) NaCl-solution.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5533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5533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5533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1"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6115" name="Picture 3">
            <a:extLst>
              <a:ext uri="{FF2B5EF4-FFF2-40B4-BE49-F238E27FC236}">
                <a16:creationId xmlns:a16="http://schemas.microsoft.com/office/drawing/2014/main" id="{B584A425-C87B-363E-B0DE-C472794EBF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838200"/>
            <a:ext cx="6254750" cy="546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6116" name="Rectangle 4">
            <a:extLst>
              <a:ext uri="{FF2B5EF4-FFF2-40B4-BE49-F238E27FC236}">
                <a16:creationId xmlns:a16="http://schemas.microsoft.com/office/drawing/2014/main" id="{DFF9D376-C3A9-D8ED-AAB3-4EDD1DB700EB}"/>
              </a:ext>
            </a:extLst>
          </p:cNvPr>
          <p:cNvSpPr>
            <a:spLocks noChangeArrowheads="1"/>
          </p:cNvSpPr>
          <p:nvPr/>
        </p:nvSpPr>
        <p:spPr bwMode="auto">
          <a:xfrm>
            <a:off x="755650" y="79375"/>
            <a:ext cx="5545138"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lgn="ctr">
              <a:defRPr sz="4400">
                <a:solidFill>
                  <a:srgbClr val="FFFF00"/>
                </a:solidFill>
                <a:latin typeface="Arial" panose="020B0604020202020204" pitchFamily="34" charset="0"/>
                <a:cs typeface="Arial" panose="020B0604020202020204" pitchFamily="34" charset="0"/>
              </a:defRPr>
            </a:lvl1pPr>
            <a:lvl2pPr algn="ctr">
              <a:defRPr sz="4400">
                <a:solidFill>
                  <a:srgbClr val="FFFF00"/>
                </a:solidFill>
                <a:latin typeface="Arial" panose="020B0604020202020204" pitchFamily="34" charset="0"/>
                <a:cs typeface="Arial" panose="020B0604020202020204" pitchFamily="34" charset="0"/>
              </a:defRPr>
            </a:lvl2pPr>
            <a:lvl3pPr algn="ctr">
              <a:defRPr sz="4400">
                <a:solidFill>
                  <a:srgbClr val="FFFF00"/>
                </a:solidFill>
                <a:latin typeface="Arial" panose="020B0604020202020204" pitchFamily="34" charset="0"/>
                <a:cs typeface="Arial" panose="020B0604020202020204" pitchFamily="34" charset="0"/>
              </a:defRPr>
            </a:lvl3pPr>
            <a:lvl4pPr algn="ctr">
              <a:defRPr sz="4400">
                <a:solidFill>
                  <a:srgbClr val="FFFF00"/>
                </a:solidFill>
                <a:latin typeface="Arial" panose="020B0604020202020204" pitchFamily="34" charset="0"/>
                <a:cs typeface="Arial" panose="020B0604020202020204" pitchFamily="34" charset="0"/>
              </a:defRPr>
            </a:lvl4pPr>
            <a:lvl5pPr algn="ctr">
              <a:defRPr sz="4400">
                <a:solidFill>
                  <a:srgbClr val="FFFF00"/>
                </a:solidFill>
                <a:latin typeface="Arial" panose="020B0604020202020204" pitchFamily="34" charset="0"/>
                <a:cs typeface="Arial" panose="020B0604020202020204" pitchFamily="34" charset="0"/>
              </a:defRPr>
            </a:lvl5pPr>
            <a:lvl6pPr marL="4572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6pPr>
            <a:lvl7pPr marL="9144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7pPr>
            <a:lvl8pPr marL="13716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8pPr>
            <a:lvl9pPr marL="18288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9pPr>
          </a:lstStyle>
          <a:p>
            <a:pPr algn="l"/>
            <a:r>
              <a:rPr lang="en-GB" altLang="en-US" sz="4000" b="1"/>
              <a:t>Body Water</a:t>
            </a:r>
          </a:p>
        </p:txBody>
      </p:sp>
      <p:sp>
        <p:nvSpPr>
          <p:cNvPr id="346117" name="Rectangle 5">
            <a:extLst>
              <a:ext uri="{FF2B5EF4-FFF2-40B4-BE49-F238E27FC236}">
                <a16:creationId xmlns:a16="http://schemas.microsoft.com/office/drawing/2014/main" id="{02AFB13D-A276-FD06-E6E2-5E62AD695F52}"/>
              </a:ext>
            </a:extLst>
          </p:cNvPr>
          <p:cNvSpPr>
            <a:spLocks noChangeArrowheads="1"/>
          </p:cNvSpPr>
          <p:nvPr/>
        </p:nvSpPr>
        <p:spPr bwMode="auto">
          <a:xfrm>
            <a:off x="1403350" y="5516563"/>
            <a:ext cx="2843213" cy="908050"/>
          </a:xfrm>
          <a:prstGeom prst="rect">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solidFill>
                  <a:schemeClr val="tx1"/>
                </a:solidFill>
                <a:latin typeface="Arial" panose="020B0604020202020204" pitchFamily="34" charset="0"/>
                <a:cs typeface="Arial" panose="020B0604020202020204" pitchFamily="34" charset="0"/>
              </a:rPr>
              <a:t>Intracellular water (28L) </a:t>
            </a:r>
          </a:p>
          <a:p>
            <a:pPr algn="ctr"/>
            <a:r>
              <a:rPr lang="en-GB" altLang="en-US" sz="1800">
                <a:solidFill>
                  <a:schemeClr val="tx1"/>
                </a:solidFill>
                <a:latin typeface="Arial" panose="020B0604020202020204" pitchFamily="34" charset="0"/>
                <a:cs typeface="Arial" panose="020B0604020202020204" pitchFamily="34" charset="0"/>
              </a:rPr>
              <a:t>The water within cells</a:t>
            </a:r>
          </a:p>
        </p:txBody>
      </p:sp>
      <p:grpSp>
        <p:nvGrpSpPr>
          <p:cNvPr id="346128" name="Group 16">
            <a:extLst>
              <a:ext uri="{FF2B5EF4-FFF2-40B4-BE49-F238E27FC236}">
                <a16:creationId xmlns:a16="http://schemas.microsoft.com/office/drawing/2014/main" id="{1BF9FD77-CBE1-5022-6C42-1A6312A84FA6}"/>
              </a:ext>
            </a:extLst>
          </p:cNvPr>
          <p:cNvGrpSpPr>
            <a:grpSpLocks/>
          </p:cNvGrpSpPr>
          <p:nvPr/>
        </p:nvGrpSpPr>
        <p:grpSpPr bwMode="auto">
          <a:xfrm>
            <a:off x="3348038" y="830263"/>
            <a:ext cx="5795962" cy="4075112"/>
            <a:chOff x="2109" y="523"/>
            <a:chExt cx="3651" cy="2567"/>
          </a:xfrm>
        </p:grpSpPr>
        <p:grpSp>
          <p:nvGrpSpPr>
            <p:cNvPr id="346124" name="Group 12">
              <a:extLst>
                <a:ext uri="{FF2B5EF4-FFF2-40B4-BE49-F238E27FC236}">
                  <a16:creationId xmlns:a16="http://schemas.microsoft.com/office/drawing/2014/main" id="{F1914131-1085-2C74-7738-19E6F207A7DA}"/>
                </a:ext>
              </a:extLst>
            </p:cNvPr>
            <p:cNvGrpSpPr>
              <a:grpSpLocks/>
            </p:cNvGrpSpPr>
            <p:nvPr/>
          </p:nvGrpSpPr>
          <p:grpSpPr bwMode="auto">
            <a:xfrm>
              <a:off x="2907" y="523"/>
              <a:ext cx="2395" cy="2567"/>
              <a:chOff x="2889" y="527"/>
              <a:chExt cx="2395" cy="2567"/>
            </a:xfrm>
          </p:grpSpPr>
          <p:sp>
            <p:nvSpPr>
              <p:cNvPr id="346121" name="Rectangle 9">
                <a:extLst>
                  <a:ext uri="{FF2B5EF4-FFF2-40B4-BE49-F238E27FC236}">
                    <a16:creationId xmlns:a16="http://schemas.microsoft.com/office/drawing/2014/main" id="{519E0819-2806-E227-BD4B-53DC6965E6F1}"/>
                  </a:ext>
                </a:extLst>
              </p:cNvPr>
              <p:cNvSpPr>
                <a:spLocks noChangeArrowheads="1"/>
              </p:cNvSpPr>
              <p:nvPr/>
            </p:nvSpPr>
            <p:spPr bwMode="auto">
              <a:xfrm>
                <a:off x="2889" y="527"/>
                <a:ext cx="2041" cy="1915"/>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6122" name="Rectangle 10">
                <a:extLst>
                  <a:ext uri="{FF2B5EF4-FFF2-40B4-BE49-F238E27FC236}">
                    <a16:creationId xmlns:a16="http://schemas.microsoft.com/office/drawing/2014/main" id="{95275300-93B3-C3A1-A8B0-71E85E6EC129}"/>
                  </a:ext>
                </a:extLst>
              </p:cNvPr>
              <p:cNvSpPr>
                <a:spLocks noChangeArrowheads="1"/>
              </p:cNvSpPr>
              <p:nvPr/>
            </p:nvSpPr>
            <p:spPr bwMode="auto">
              <a:xfrm rot="1800320">
                <a:off x="3243" y="1143"/>
                <a:ext cx="2041" cy="1951"/>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346125" name="Rectangle 13">
              <a:extLst>
                <a:ext uri="{FF2B5EF4-FFF2-40B4-BE49-F238E27FC236}">
                  <a16:creationId xmlns:a16="http://schemas.microsoft.com/office/drawing/2014/main" id="{6A772A4B-DA1B-7207-E83F-FCFA77C79AE0}"/>
                </a:ext>
              </a:extLst>
            </p:cNvPr>
            <p:cNvSpPr>
              <a:spLocks noChangeArrowheads="1"/>
            </p:cNvSpPr>
            <p:nvPr/>
          </p:nvSpPr>
          <p:spPr bwMode="auto">
            <a:xfrm>
              <a:off x="2109" y="527"/>
              <a:ext cx="1996" cy="408"/>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46126" name="Rectangle 14">
              <a:extLst>
                <a:ext uri="{FF2B5EF4-FFF2-40B4-BE49-F238E27FC236}">
                  <a16:creationId xmlns:a16="http://schemas.microsoft.com/office/drawing/2014/main" id="{1193C61E-08CF-484D-A165-8C6314014836}"/>
                </a:ext>
              </a:extLst>
            </p:cNvPr>
            <p:cNvSpPr>
              <a:spLocks noChangeArrowheads="1"/>
            </p:cNvSpPr>
            <p:nvPr/>
          </p:nvSpPr>
          <p:spPr bwMode="auto">
            <a:xfrm>
              <a:off x="3764" y="618"/>
              <a:ext cx="1996" cy="2268"/>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346118" name="Rectangle 6">
            <a:extLst>
              <a:ext uri="{FF2B5EF4-FFF2-40B4-BE49-F238E27FC236}">
                <a16:creationId xmlns:a16="http://schemas.microsoft.com/office/drawing/2014/main" id="{D7137499-0654-583F-BEDB-AC29FB1CF6CC}"/>
              </a:ext>
            </a:extLst>
          </p:cNvPr>
          <p:cNvSpPr>
            <a:spLocks noChangeArrowheads="1"/>
          </p:cNvSpPr>
          <p:nvPr/>
        </p:nvSpPr>
        <p:spPr bwMode="auto">
          <a:xfrm>
            <a:off x="1150938" y="765175"/>
            <a:ext cx="4284662" cy="1223963"/>
          </a:xfrm>
          <a:prstGeom prst="rect">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solidFill>
                  <a:schemeClr val="tx1"/>
                </a:solidFill>
                <a:latin typeface="Arial" panose="020B0604020202020204" pitchFamily="34" charset="0"/>
                <a:cs typeface="Arial" panose="020B0604020202020204" pitchFamily="34" charset="0"/>
              </a:rPr>
              <a:t>Transcellular water (0.8L) </a:t>
            </a:r>
          </a:p>
          <a:p>
            <a:pPr algn="ctr"/>
            <a:r>
              <a:rPr lang="en-GB" altLang="en-US" sz="1800">
                <a:solidFill>
                  <a:schemeClr val="tx1"/>
                </a:solidFill>
                <a:latin typeface="Arial" panose="020B0604020202020204" pitchFamily="34" charset="0"/>
                <a:cs typeface="Arial" panose="020B0604020202020204" pitchFamily="34" charset="0"/>
              </a:rPr>
              <a:t>The extracellular fluid in spaces such as</a:t>
            </a:r>
          </a:p>
          <a:p>
            <a:pPr algn="ctr"/>
            <a:r>
              <a:rPr lang="en-GB" altLang="en-US" sz="1800">
                <a:solidFill>
                  <a:schemeClr val="tx1"/>
                </a:solidFill>
                <a:latin typeface="Arial" panose="020B0604020202020204" pitchFamily="34" charset="0"/>
                <a:cs typeface="Arial" panose="020B0604020202020204" pitchFamily="34" charset="0"/>
              </a:rPr>
              <a:t> the brain ventricles, peritoneal cavity, </a:t>
            </a:r>
          </a:p>
          <a:p>
            <a:pPr algn="ctr"/>
            <a:r>
              <a:rPr lang="en-GB" altLang="en-US" sz="1800">
                <a:solidFill>
                  <a:schemeClr val="tx1"/>
                </a:solidFill>
                <a:latin typeface="Arial" panose="020B0604020202020204" pitchFamily="34" charset="0"/>
                <a:cs typeface="Arial" panose="020B0604020202020204" pitchFamily="34" charset="0"/>
              </a:rPr>
              <a:t>joint capsules and eyes</a:t>
            </a:r>
          </a:p>
        </p:txBody>
      </p:sp>
      <p:sp>
        <p:nvSpPr>
          <p:cNvPr id="346119" name="Rectangle 7">
            <a:extLst>
              <a:ext uri="{FF2B5EF4-FFF2-40B4-BE49-F238E27FC236}">
                <a16:creationId xmlns:a16="http://schemas.microsoft.com/office/drawing/2014/main" id="{3C9414B6-16CC-3D4E-1545-246436259E2A}"/>
              </a:ext>
            </a:extLst>
          </p:cNvPr>
          <p:cNvSpPr>
            <a:spLocks noChangeArrowheads="1"/>
          </p:cNvSpPr>
          <p:nvPr/>
        </p:nvSpPr>
        <p:spPr bwMode="auto">
          <a:xfrm>
            <a:off x="5688013" y="1341438"/>
            <a:ext cx="3205162" cy="1223962"/>
          </a:xfrm>
          <a:prstGeom prst="rect">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solidFill>
                  <a:schemeClr val="tx1"/>
                </a:solidFill>
                <a:latin typeface="Arial" panose="020B0604020202020204" pitchFamily="34" charset="0"/>
                <a:cs typeface="Arial" panose="020B0604020202020204" pitchFamily="34" charset="0"/>
              </a:rPr>
              <a:t>Interstitial water (10.4L) </a:t>
            </a:r>
          </a:p>
          <a:p>
            <a:pPr algn="ctr"/>
            <a:r>
              <a:rPr lang="en-GB" altLang="en-US" sz="1800">
                <a:solidFill>
                  <a:schemeClr val="tx1"/>
                </a:solidFill>
                <a:latin typeface="Arial" panose="020B0604020202020204" pitchFamily="34" charset="0"/>
                <a:cs typeface="Arial" panose="020B0604020202020204" pitchFamily="34" charset="0"/>
              </a:rPr>
              <a:t>The extracellular fluid that</a:t>
            </a:r>
          </a:p>
          <a:p>
            <a:pPr algn="ctr"/>
            <a:r>
              <a:rPr lang="en-GB" altLang="en-US" sz="1800">
                <a:solidFill>
                  <a:schemeClr val="tx1"/>
                </a:solidFill>
                <a:latin typeface="Arial" panose="020B0604020202020204" pitchFamily="34" charset="0"/>
                <a:cs typeface="Arial" panose="020B0604020202020204" pitchFamily="34" charset="0"/>
              </a:rPr>
              <a:t>lies outside the blood </a:t>
            </a:r>
          </a:p>
          <a:p>
            <a:pPr algn="ctr"/>
            <a:r>
              <a:rPr lang="en-GB" altLang="en-US" sz="1800">
                <a:solidFill>
                  <a:schemeClr val="tx1"/>
                </a:solidFill>
                <a:latin typeface="Arial" panose="020B0604020202020204" pitchFamily="34" charset="0"/>
                <a:cs typeface="Arial" panose="020B0604020202020204" pitchFamily="34" charset="0"/>
              </a:rPr>
              <a:t>vessels and bathes the cells</a:t>
            </a:r>
          </a:p>
        </p:txBody>
      </p:sp>
      <p:sp>
        <p:nvSpPr>
          <p:cNvPr id="346120" name="Rectangle 8">
            <a:extLst>
              <a:ext uri="{FF2B5EF4-FFF2-40B4-BE49-F238E27FC236}">
                <a16:creationId xmlns:a16="http://schemas.microsoft.com/office/drawing/2014/main" id="{04057FEA-C751-A9A7-63EF-28505DBCF43F}"/>
              </a:ext>
            </a:extLst>
          </p:cNvPr>
          <p:cNvSpPr>
            <a:spLocks noChangeArrowheads="1"/>
          </p:cNvSpPr>
          <p:nvPr/>
        </p:nvSpPr>
        <p:spPr bwMode="auto">
          <a:xfrm>
            <a:off x="6588125" y="4221163"/>
            <a:ext cx="2339975" cy="792162"/>
          </a:xfrm>
          <a:prstGeom prst="rect">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solidFill>
                  <a:schemeClr val="tx1"/>
                </a:solidFill>
                <a:latin typeface="Arial" panose="020B0604020202020204" pitchFamily="34" charset="0"/>
                <a:cs typeface="Arial" panose="020B0604020202020204" pitchFamily="34" charset="0"/>
              </a:rPr>
              <a:t>Plasma (2.8L) </a:t>
            </a:r>
          </a:p>
          <a:p>
            <a:pPr algn="ctr"/>
            <a:r>
              <a:rPr lang="en-GB" altLang="en-US" sz="1800">
                <a:solidFill>
                  <a:schemeClr val="tx1"/>
                </a:solidFill>
                <a:latin typeface="Arial" panose="020B0604020202020204" pitchFamily="34" charset="0"/>
                <a:cs typeface="Arial" panose="020B0604020202020204" pitchFamily="34" charset="0"/>
              </a:rPr>
              <a:t>The extracellular fluid</a:t>
            </a:r>
          </a:p>
          <a:p>
            <a:pPr algn="ctr"/>
            <a:r>
              <a:rPr lang="en-GB" altLang="en-US" sz="1800">
                <a:solidFill>
                  <a:schemeClr val="tx1"/>
                </a:solidFill>
                <a:latin typeface="Arial" panose="020B0604020202020204" pitchFamily="34" charset="0"/>
                <a:cs typeface="Arial" panose="020B0604020202020204" pitchFamily="34" charset="0"/>
              </a:rPr>
              <a:t> of the blood</a:t>
            </a:r>
          </a:p>
        </p:txBody>
      </p:sp>
      <p:sp>
        <p:nvSpPr>
          <p:cNvPr id="346123" name="Rectangle 11">
            <a:extLst>
              <a:ext uri="{FF2B5EF4-FFF2-40B4-BE49-F238E27FC236}">
                <a16:creationId xmlns:a16="http://schemas.microsoft.com/office/drawing/2014/main" id="{146E8184-C26D-EC5A-C374-37520E68F569}"/>
              </a:ext>
            </a:extLst>
          </p:cNvPr>
          <p:cNvSpPr>
            <a:spLocks noChangeArrowheads="1"/>
          </p:cNvSpPr>
          <p:nvPr/>
        </p:nvSpPr>
        <p:spPr bwMode="auto">
          <a:xfrm>
            <a:off x="5076825" y="2492375"/>
            <a:ext cx="2843213" cy="908050"/>
          </a:xfrm>
          <a:prstGeom prst="rect">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altLang="en-US" sz="1800">
                <a:solidFill>
                  <a:schemeClr val="tx1"/>
                </a:solidFill>
                <a:latin typeface="Arial" panose="020B0604020202020204" pitchFamily="34" charset="0"/>
                <a:cs typeface="Arial" panose="020B0604020202020204" pitchFamily="34" charset="0"/>
              </a:rPr>
              <a:t>Extracellular water </a:t>
            </a:r>
          </a:p>
          <a:p>
            <a:pPr algn="ctr"/>
            <a:r>
              <a:rPr lang="en-GB" altLang="en-US" sz="1800">
                <a:solidFill>
                  <a:schemeClr val="tx1"/>
                </a:solidFill>
                <a:latin typeface="Arial" panose="020B0604020202020204" pitchFamily="34" charset="0"/>
                <a:cs typeface="Arial" panose="020B0604020202020204" pitchFamily="34" charset="0"/>
              </a:rPr>
              <a:t>The water around cells</a:t>
            </a:r>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6117"/>
                                        </p:tgtEl>
                                        <p:attrNameLst>
                                          <p:attrName>style.visibility</p:attrName>
                                        </p:attrNameLst>
                                      </p:cBhvr>
                                      <p:to>
                                        <p:strVal val="visible"/>
                                      </p:to>
                                    </p:set>
                                    <p:animEffect transition="in" filter="blinds(horizontal)">
                                      <p:cBhvr>
                                        <p:cTn id="7" dur="500"/>
                                        <p:tgtEl>
                                          <p:spTgt spid="3461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46123"/>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46128"/>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xit" presetSubtype="0" fill="hold" nodeType="clickEffect">
                                  <p:stCondLst>
                                    <p:cond delay="0"/>
                                  </p:stCondLst>
                                  <p:childTnLst>
                                    <p:animEffect transition="out" filter="dissolve">
                                      <p:cBhvr>
                                        <p:cTn id="17" dur="500"/>
                                        <p:tgtEl>
                                          <p:spTgt spid="346128"/>
                                        </p:tgtEl>
                                      </p:cBhvr>
                                    </p:animEffect>
                                    <p:set>
                                      <p:cBhvr>
                                        <p:cTn id="18" dur="1" fill="hold">
                                          <p:stCondLst>
                                            <p:cond delay="499"/>
                                          </p:stCondLst>
                                        </p:cTn>
                                        <p:tgtEl>
                                          <p:spTgt spid="346128"/>
                                        </p:tgtEl>
                                        <p:attrNameLst>
                                          <p:attrName>style.visibility</p:attrName>
                                        </p:attrNameLst>
                                      </p:cBhvr>
                                      <p:to>
                                        <p:strVal val="hidden"/>
                                      </p:to>
                                    </p:set>
                                  </p:childTnLst>
                                </p:cTn>
                              </p:par>
                              <p:par>
                                <p:cTn id="19" presetID="9" presetClass="exit" presetSubtype="0" fill="hold" grpId="1" nodeType="withEffect">
                                  <p:stCondLst>
                                    <p:cond delay="0"/>
                                  </p:stCondLst>
                                  <p:childTnLst>
                                    <p:animEffect transition="out" filter="dissolve">
                                      <p:cBhvr>
                                        <p:cTn id="20" dur="500"/>
                                        <p:tgtEl>
                                          <p:spTgt spid="346123"/>
                                        </p:tgtEl>
                                      </p:cBhvr>
                                    </p:animEffect>
                                    <p:set>
                                      <p:cBhvr>
                                        <p:cTn id="21" dur="1" fill="hold">
                                          <p:stCondLst>
                                            <p:cond delay="499"/>
                                          </p:stCondLst>
                                        </p:cTn>
                                        <p:tgtEl>
                                          <p:spTgt spid="346123"/>
                                        </p:tgtEl>
                                        <p:attrNameLst>
                                          <p:attrName>style.visibility</p:attrName>
                                        </p:attrNameLst>
                                      </p:cBhvr>
                                      <p:to>
                                        <p:strVal val="hidden"/>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346118"/>
                                        </p:tgtEl>
                                        <p:attrNameLst>
                                          <p:attrName>style.visibility</p:attrName>
                                        </p:attrNameLst>
                                      </p:cBhvr>
                                      <p:to>
                                        <p:strVal val="visible"/>
                                      </p:to>
                                    </p:set>
                                    <p:animEffect transition="in" filter="blinds(horizontal)">
                                      <p:cBhvr>
                                        <p:cTn id="26" dur="500"/>
                                        <p:tgtEl>
                                          <p:spTgt spid="34611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346119"/>
                                        </p:tgtEl>
                                        <p:attrNameLst>
                                          <p:attrName>style.visibility</p:attrName>
                                        </p:attrNameLst>
                                      </p:cBhvr>
                                      <p:to>
                                        <p:strVal val="visible"/>
                                      </p:to>
                                    </p:set>
                                    <p:animEffect transition="in" filter="blinds(horizontal)">
                                      <p:cBhvr>
                                        <p:cTn id="31" dur="500"/>
                                        <p:tgtEl>
                                          <p:spTgt spid="34611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46120"/>
                                        </p:tgtEl>
                                        <p:attrNameLst>
                                          <p:attrName>style.visibility</p:attrName>
                                        </p:attrNameLst>
                                      </p:cBhvr>
                                      <p:to>
                                        <p:strVal val="visible"/>
                                      </p:to>
                                    </p:set>
                                    <p:animEffect transition="in" filter="blinds(horizontal)">
                                      <p:cBhvr>
                                        <p:cTn id="36" dur="500"/>
                                        <p:tgtEl>
                                          <p:spTgt spid="346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6117" grpId="0" animBg="1"/>
      <p:bldP spid="346118" grpId="0" animBg="1"/>
      <p:bldP spid="346119" grpId="0" animBg="1"/>
      <p:bldP spid="346120" grpId="0" animBg="1"/>
      <p:bldP spid="346123" grpId="0" animBg="1"/>
      <p:bldP spid="346123"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Text Box 2">
            <a:extLst>
              <a:ext uri="{FF2B5EF4-FFF2-40B4-BE49-F238E27FC236}">
                <a16:creationId xmlns:a16="http://schemas.microsoft.com/office/drawing/2014/main" id="{84D15001-3063-275F-2EE8-ECE5B1F92DEE}"/>
              </a:ext>
            </a:extLst>
          </p:cNvPr>
          <p:cNvSpPr txBox="1">
            <a:spLocks noChangeArrowheads="1"/>
          </p:cNvSpPr>
          <p:nvPr/>
        </p:nvSpPr>
        <p:spPr bwMode="auto">
          <a:xfrm>
            <a:off x="647700" y="762000"/>
            <a:ext cx="7812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000099"/>
                </a:solidFill>
                <a:latin typeface="Arial" panose="020B0604020202020204" pitchFamily="34" charset="0"/>
                <a:cs typeface="Arial" panose="020B0604020202020204" pitchFamily="34" charset="0"/>
              </a:rPr>
              <a:t>Total body water = extracellular fluid + intracellular fluid</a:t>
            </a:r>
          </a:p>
        </p:txBody>
      </p:sp>
      <p:sp>
        <p:nvSpPr>
          <p:cNvPr id="347139" name="Text Box 3">
            <a:extLst>
              <a:ext uri="{FF2B5EF4-FFF2-40B4-BE49-F238E27FC236}">
                <a16:creationId xmlns:a16="http://schemas.microsoft.com/office/drawing/2014/main" id="{CB57CF6D-BDBD-E2A7-FABD-FD86A12CEF17}"/>
              </a:ext>
            </a:extLst>
          </p:cNvPr>
          <p:cNvSpPr txBox="1">
            <a:spLocks noChangeArrowheads="1"/>
          </p:cNvSpPr>
          <p:nvPr/>
        </p:nvSpPr>
        <p:spPr bwMode="auto">
          <a:xfrm>
            <a:off x="647700" y="1600200"/>
            <a:ext cx="7696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000099"/>
                </a:solidFill>
                <a:latin typeface="Arial" panose="020B0604020202020204" pitchFamily="34" charset="0"/>
                <a:cs typeface="Arial" panose="020B0604020202020204" pitchFamily="34" charset="0"/>
              </a:rPr>
              <a:t>Extracellular fluid = plasma + interstitial fluid</a:t>
            </a:r>
          </a:p>
        </p:txBody>
      </p:sp>
      <p:sp>
        <p:nvSpPr>
          <p:cNvPr id="347140" name="Text Box 4">
            <a:extLst>
              <a:ext uri="{FF2B5EF4-FFF2-40B4-BE49-F238E27FC236}">
                <a16:creationId xmlns:a16="http://schemas.microsoft.com/office/drawing/2014/main" id="{089B783B-468A-1646-F09F-4EC18DBFCE6E}"/>
              </a:ext>
            </a:extLst>
          </p:cNvPr>
          <p:cNvSpPr txBox="1">
            <a:spLocks noChangeArrowheads="1"/>
          </p:cNvSpPr>
          <p:nvPr/>
        </p:nvSpPr>
        <p:spPr bwMode="auto">
          <a:xfrm>
            <a:off x="647700" y="2514600"/>
            <a:ext cx="8077200" cy="210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000099"/>
                </a:solidFill>
                <a:latin typeface="Arial" panose="020B0604020202020204" pitchFamily="34" charset="0"/>
                <a:cs typeface="Arial" panose="020B0604020202020204" pitchFamily="34" charset="0"/>
              </a:rPr>
              <a:t>If we can measure total body water, the plasma volume and the volume of the extracellular fluid, we can calculate the volumes of the interstitial and intracellular compartments. </a:t>
            </a:r>
          </a:p>
          <a:p>
            <a:pPr>
              <a:spcBef>
                <a:spcPct val="50000"/>
              </a:spcBef>
            </a:pPr>
            <a:endParaRPr lang="en-GB" altLang="en-US">
              <a:solidFill>
                <a:srgbClr val="000099"/>
              </a:solidFill>
              <a:latin typeface="Arial" panose="020B0604020202020204" pitchFamily="34" charset="0"/>
              <a:cs typeface="Arial" panose="020B0604020202020204" pitchFamily="34" charset="0"/>
            </a:endParaRPr>
          </a:p>
        </p:txBody>
      </p:sp>
      <p:sp>
        <p:nvSpPr>
          <p:cNvPr id="347141" name="Text Box 5">
            <a:extLst>
              <a:ext uri="{FF2B5EF4-FFF2-40B4-BE49-F238E27FC236}">
                <a16:creationId xmlns:a16="http://schemas.microsoft.com/office/drawing/2014/main" id="{6269D7B4-120C-B6AF-9980-EE7D70F8D7E3}"/>
              </a:ext>
            </a:extLst>
          </p:cNvPr>
          <p:cNvSpPr txBox="1">
            <a:spLocks noChangeArrowheads="1"/>
          </p:cNvSpPr>
          <p:nvPr/>
        </p:nvSpPr>
        <p:spPr bwMode="auto">
          <a:xfrm>
            <a:off x="647700" y="4248150"/>
            <a:ext cx="76200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a:solidFill>
                  <a:srgbClr val="000099"/>
                </a:solidFill>
                <a:latin typeface="Arial" panose="020B0604020202020204" pitchFamily="34" charset="0"/>
                <a:cs typeface="Arial" panose="020B0604020202020204" pitchFamily="34" charset="0"/>
              </a:rPr>
              <a:t>If total body water is 43 litres, the plasma volume is 3 litres and the extracellular fluid volume is 16 litres</a:t>
            </a:r>
          </a:p>
          <a:p>
            <a:pPr>
              <a:spcBef>
                <a:spcPct val="50000"/>
              </a:spcBef>
            </a:pPr>
            <a:r>
              <a:rPr lang="en-GB" altLang="en-US">
                <a:solidFill>
                  <a:srgbClr val="000099"/>
                </a:solidFill>
                <a:latin typeface="Arial" panose="020B0604020202020204" pitchFamily="34" charset="0"/>
                <a:cs typeface="Arial" panose="020B0604020202020204" pitchFamily="34" charset="0"/>
              </a:rPr>
              <a:t>Intracellular fluid volume = 43 - 16 = 27 L</a:t>
            </a:r>
          </a:p>
          <a:p>
            <a:pPr>
              <a:spcBef>
                <a:spcPct val="50000"/>
              </a:spcBef>
            </a:pPr>
            <a:r>
              <a:rPr lang="en-GB" altLang="en-US">
                <a:solidFill>
                  <a:srgbClr val="000099"/>
                </a:solidFill>
                <a:latin typeface="Arial" panose="020B0604020202020204" pitchFamily="34" charset="0"/>
                <a:cs typeface="Arial" panose="020B0604020202020204" pitchFamily="34" charset="0"/>
              </a:rPr>
              <a:t>Interstitial fluid volume = 16 - 3 = 13 L</a:t>
            </a:r>
          </a:p>
        </p:txBody>
      </p:sp>
      <p:sp>
        <p:nvSpPr>
          <p:cNvPr id="347142" name="Rectangle 6">
            <a:extLst>
              <a:ext uri="{FF2B5EF4-FFF2-40B4-BE49-F238E27FC236}">
                <a16:creationId xmlns:a16="http://schemas.microsoft.com/office/drawing/2014/main" id="{3AC211A1-2D87-04BD-D675-757E8DBD54AA}"/>
              </a:ext>
            </a:extLst>
          </p:cNvPr>
          <p:cNvSpPr>
            <a:spLocks noChangeArrowheads="1"/>
          </p:cNvSpPr>
          <p:nvPr/>
        </p:nvSpPr>
        <p:spPr bwMode="auto">
          <a:xfrm>
            <a:off x="755650" y="79375"/>
            <a:ext cx="5545138"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lgn="ctr">
              <a:defRPr sz="4400">
                <a:solidFill>
                  <a:srgbClr val="FFFF00"/>
                </a:solidFill>
                <a:latin typeface="Arial" panose="020B0604020202020204" pitchFamily="34" charset="0"/>
                <a:cs typeface="Arial" panose="020B0604020202020204" pitchFamily="34" charset="0"/>
              </a:defRPr>
            </a:lvl1pPr>
            <a:lvl2pPr algn="ctr">
              <a:defRPr sz="4400">
                <a:solidFill>
                  <a:srgbClr val="FFFF00"/>
                </a:solidFill>
                <a:latin typeface="Arial" panose="020B0604020202020204" pitchFamily="34" charset="0"/>
                <a:cs typeface="Arial" panose="020B0604020202020204" pitchFamily="34" charset="0"/>
              </a:defRPr>
            </a:lvl2pPr>
            <a:lvl3pPr algn="ctr">
              <a:defRPr sz="4400">
                <a:solidFill>
                  <a:srgbClr val="FFFF00"/>
                </a:solidFill>
                <a:latin typeface="Arial" panose="020B0604020202020204" pitchFamily="34" charset="0"/>
                <a:cs typeface="Arial" panose="020B0604020202020204" pitchFamily="34" charset="0"/>
              </a:defRPr>
            </a:lvl3pPr>
            <a:lvl4pPr algn="ctr">
              <a:defRPr sz="4400">
                <a:solidFill>
                  <a:srgbClr val="FFFF00"/>
                </a:solidFill>
                <a:latin typeface="Arial" panose="020B0604020202020204" pitchFamily="34" charset="0"/>
                <a:cs typeface="Arial" panose="020B0604020202020204" pitchFamily="34" charset="0"/>
              </a:defRPr>
            </a:lvl4pPr>
            <a:lvl5pPr algn="ctr">
              <a:defRPr sz="4400">
                <a:solidFill>
                  <a:srgbClr val="FFFF00"/>
                </a:solidFill>
                <a:latin typeface="Arial" panose="020B0604020202020204" pitchFamily="34" charset="0"/>
                <a:cs typeface="Arial" panose="020B0604020202020204" pitchFamily="34" charset="0"/>
              </a:defRPr>
            </a:lvl5pPr>
            <a:lvl6pPr marL="4572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6pPr>
            <a:lvl7pPr marL="9144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7pPr>
            <a:lvl8pPr marL="13716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8pPr>
            <a:lvl9pPr marL="18288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9pPr>
          </a:lstStyle>
          <a:p>
            <a:pPr algn="l"/>
            <a:r>
              <a:rPr lang="en-GB" altLang="en-US" sz="4000" b="1"/>
              <a:t>Total Body Water</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4714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4714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4714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41"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96AB6-F084-20E1-F846-EB8160A90586}"/>
            </a:ext>
          </a:extLst>
        </p:cNvPr>
        <p:cNvGrpSpPr/>
        <p:nvPr/>
      </p:nvGrpSpPr>
      <p:grpSpPr>
        <a:xfrm>
          <a:off x="0" y="0"/>
          <a:ext cx="0" cy="0"/>
          <a:chOff x="0" y="0"/>
          <a:chExt cx="0" cy="0"/>
        </a:xfrm>
      </p:grpSpPr>
      <p:pic>
        <p:nvPicPr>
          <p:cNvPr id="2" name="Picture 1" descr="27_01">
            <a:extLst>
              <a:ext uri="{FF2B5EF4-FFF2-40B4-BE49-F238E27FC236}">
                <a16:creationId xmlns:a16="http://schemas.microsoft.com/office/drawing/2014/main" id="{D04130BD-13EA-2D53-4364-A986B826CB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980728"/>
            <a:ext cx="8704805" cy="5472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6">
            <a:extLst>
              <a:ext uri="{FF2B5EF4-FFF2-40B4-BE49-F238E27FC236}">
                <a16:creationId xmlns:a16="http://schemas.microsoft.com/office/drawing/2014/main" id="{C9F23230-5A00-9E1D-5B2C-AC896FD491E5}"/>
              </a:ext>
            </a:extLst>
          </p:cNvPr>
          <p:cNvSpPr>
            <a:spLocks noChangeArrowheads="1"/>
          </p:cNvSpPr>
          <p:nvPr/>
        </p:nvSpPr>
        <p:spPr bwMode="auto">
          <a:xfrm>
            <a:off x="179512" y="0"/>
            <a:ext cx="7992888" cy="76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lgn="ctr">
              <a:defRPr sz="4400">
                <a:solidFill>
                  <a:srgbClr val="FFFF00"/>
                </a:solidFill>
                <a:latin typeface="Arial" panose="020B0604020202020204" pitchFamily="34" charset="0"/>
                <a:cs typeface="Arial" panose="020B0604020202020204" pitchFamily="34" charset="0"/>
              </a:defRPr>
            </a:lvl1pPr>
            <a:lvl2pPr algn="ctr">
              <a:defRPr sz="4400">
                <a:solidFill>
                  <a:srgbClr val="FFFF00"/>
                </a:solidFill>
                <a:latin typeface="Arial" panose="020B0604020202020204" pitchFamily="34" charset="0"/>
                <a:cs typeface="Arial" panose="020B0604020202020204" pitchFamily="34" charset="0"/>
              </a:defRPr>
            </a:lvl2pPr>
            <a:lvl3pPr algn="ctr">
              <a:defRPr sz="4400">
                <a:solidFill>
                  <a:srgbClr val="FFFF00"/>
                </a:solidFill>
                <a:latin typeface="Arial" panose="020B0604020202020204" pitchFamily="34" charset="0"/>
                <a:cs typeface="Arial" panose="020B0604020202020204" pitchFamily="34" charset="0"/>
              </a:defRPr>
            </a:lvl3pPr>
            <a:lvl4pPr algn="ctr">
              <a:defRPr sz="4400">
                <a:solidFill>
                  <a:srgbClr val="FFFF00"/>
                </a:solidFill>
                <a:latin typeface="Arial" panose="020B0604020202020204" pitchFamily="34" charset="0"/>
                <a:cs typeface="Arial" panose="020B0604020202020204" pitchFamily="34" charset="0"/>
              </a:defRPr>
            </a:lvl4pPr>
            <a:lvl5pPr algn="ctr">
              <a:defRPr sz="4400">
                <a:solidFill>
                  <a:srgbClr val="FFFF00"/>
                </a:solidFill>
                <a:latin typeface="Arial" panose="020B0604020202020204" pitchFamily="34" charset="0"/>
                <a:cs typeface="Arial" panose="020B0604020202020204" pitchFamily="34" charset="0"/>
              </a:defRPr>
            </a:lvl5pPr>
            <a:lvl6pPr marL="4572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6pPr>
            <a:lvl7pPr marL="9144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7pPr>
            <a:lvl8pPr marL="13716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8pPr>
            <a:lvl9pPr marL="18288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4000" b="1" i="0" u="none" strike="noStrike" kern="1200" cap="none" spc="0" normalizeH="0" baseline="0" noProof="0" dirty="0">
                <a:ln>
                  <a:noFill/>
                </a:ln>
                <a:solidFill>
                  <a:srgbClr val="FFFF00"/>
                </a:solidFill>
                <a:effectLst/>
                <a:uLnTx/>
                <a:uFillTx/>
                <a:latin typeface="Arial" panose="020B0604020202020204" pitchFamily="34" charset="0"/>
                <a:ea typeface="+mn-ea"/>
                <a:cs typeface="Arial" panose="020B0604020202020204" pitchFamily="34" charset="0"/>
              </a:rPr>
              <a:t>Body Fluid Compartments</a:t>
            </a:r>
          </a:p>
        </p:txBody>
      </p:sp>
    </p:spTree>
    <p:extLst>
      <p:ext uri="{BB962C8B-B14F-4D97-AF65-F5344CB8AC3E}">
        <p14:creationId xmlns:p14="http://schemas.microsoft.com/office/powerpoint/2010/main" val="3136207229"/>
      </p:ext>
    </p:extLst>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62" name="Rectangle 2">
            <a:extLst>
              <a:ext uri="{FF2B5EF4-FFF2-40B4-BE49-F238E27FC236}">
                <a16:creationId xmlns:a16="http://schemas.microsoft.com/office/drawing/2014/main" id="{70BC7DFD-7529-25CA-1899-21A3A64D00C4}"/>
              </a:ext>
            </a:extLst>
          </p:cNvPr>
          <p:cNvSpPr>
            <a:spLocks noGrp="1" noChangeArrowheads="1"/>
          </p:cNvSpPr>
          <p:nvPr>
            <p:ph type="title"/>
          </p:nvPr>
        </p:nvSpPr>
        <p:spPr>
          <a:xfrm>
            <a:off x="-608013" y="557213"/>
            <a:ext cx="7772401" cy="1143000"/>
          </a:xfrm>
        </p:spPr>
        <p:txBody>
          <a:bodyPr/>
          <a:lstStyle/>
          <a:p>
            <a:r>
              <a:rPr lang="en-GB" altLang="en-US" sz="2400">
                <a:solidFill>
                  <a:srgbClr val="000099"/>
                </a:solidFill>
              </a:rPr>
              <a:t>Measurement of body fluid volumes</a:t>
            </a:r>
          </a:p>
        </p:txBody>
      </p:sp>
      <p:sp>
        <p:nvSpPr>
          <p:cNvPr id="348163" name="Rectangle 3">
            <a:extLst>
              <a:ext uri="{FF2B5EF4-FFF2-40B4-BE49-F238E27FC236}">
                <a16:creationId xmlns:a16="http://schemas.microsoft.com/office/drawing/2014/main" id="{9FFD9BEE-CF1E-C914-810C-11BB94BB4792}"/>
              </a:ext>
            </a:extLst>
          </p:cNvPr>
          <p:cNvSpPr>
            <a:spLocks noGrp="1" noChangeArrowheads="1"/>
          </p:cNvSpPr>
          <p:nvPr>
            <p:ph type="body" idx="1"/>
          </p:nvPr>
        </p:nvSpPr>
        <p:spPr>
          <a:xfrm>
            <a:off x="685800" y="1524000"/>
            <a:ext cx="7772400" cy="4572000"/>
          </a:xfrm>
        </p:spPr>
        <p:txBody>
          <a:bodyPr/>
          <a:lstStyle/>
          <a:p>
            <a:r>
              <a:rPr lang="en-GB" altLang="en-US" sz="2400">
                <a:solidFill>
                  <a:srgbClr val="000099"/>
                </a:solidFill>
              </a:rPr>
              <a:t>Volumes of irregularly shaped objects can be measured by dilution methods.</a:t>
            </a:r>
          </a:p>
          <a:p>
            <a:pPr lvl="1"/>
            <a:r>
              <a:rPr lang="en-GB" altLang="en-US" sz="2400">
                <a:solidFill>
                  <a:srgbClr val="000099"/>
                </a:solidFill>
              </a:rPr>
              <a:t>Concentration = mass/volume</a:t>
            </a:r>
          </a:p>
          <a:p>
            <a:pPr lvl="1"/>
            <a:r>
              <a:rPr lang="en-GB" altLang="en-US" sz="2400">
                <a:solidFill>
                  <a:srgbClr val="000099"/>
                </a:solidFill>
                <a:sym typeface="Symbol" panose="05050102010706020507" pitchFamily="18" charset="2"/>
              </a:rPr>
              <a:t></a:t>
            </a:r>
            <a:r>
              <a:rPr lang="en-GB" altLang="en-US" sz="2400">
                <a:solidFill>
                  <a:srgbClr val="000099"/>
                </a:solidFill>
              </a:rPr>
              <a:t>volume= mass/concentration</a:t>
            </a:r>
          </a:p>
          <a:p>
            <a:pPr lvl="1">
              <a:buFontTx/>
              <a:buNone/>
            </a:pPr>
            <a:endParaRPr lang="en-GB" altLang="en-US" sz="2400">
              <a:solidFill>
                <a:srgbClr val="000099"/>
              </a:solidFill>
            </a:endParaRPr>
          </a:p>
          <a:p>
            <a:r>
              <a:rPr lang="en-GB" altLang="en-US" sz="2400">
                <a:solidFill>
                  <a:srgbClr val="000099"/>
                </a:solidFill>
              </a:rPr>
              <a:t>Total body water can be measured using </a:t>
            </a:r>
            <a:r>
              <a:rPr lang="en-GB" altLang="en-US" sz="2400" baseline="30000">
                <a:solidFill>
                  <a:srgbClr val="000099"/>
                </a:solidFill>
              </a:rPr>
              <a:t>3</a:t>
            </a:r>
            <a:r>
              <a:rPr lang="en-GB" altLang="en-US" sz="2400">
                <a:solidFill>
                  <a:srgbClr val="000099"/>
                </a:solidFill>
              </a:rPr>
              <a:t>H</a:t>
            </a:r>
            <a:r>
              <a:rPr lang="en-GB" altLang="en-US" sz="2400" baseline="-25000">
                <a:solidFill>
                  <a:srgbClr val="000099"/>
                </a:solidFill>
              </a:rPr>
              <a:t>2</a:t>
            </a:r>
            <a:r>
              <a:rPr lang="en-GB" altLang="en-US" sz="2400">
                <a:solidFill>
                  <a:srgbClr val="000099"/>
                </a:solidFill>
              </a:rPr>
              <a:t>O</a:t>
            </a:r>
          </a:p>
          <a:p>
            <a:r>
              <a:rPr lang="en-GB" altLang="en-US" sz="2400">
                <a:solidFill>
                  <a:srgbClr val="000099"/>
                </a:solidFill>
              </a:rPr>
              <a:t>Plasma volume can be measured using the dye Evans Blue</a:t>
            </a:r>
          </a:p>
          <a:p>
            <a:r>
              <a:rPr lang="en-GB" altLang="en-US" sz="2400">
                <a:solidFill>
                  <a:srgbClr val="000099"/>
                </a:solidFill>
              </a:rPr>
              <a:t>Extracellular volume can be measured using a plant polysaccharide called inulin (NOT insulin)</a:t>
            </a:r>
          </a:p>
        </p:txBody>
      </p:sp>
      <p:sp>
        <p:nvSpPr>
          <p:cNvPr id="348164" name="Rectangle 4">
            <a:extLst>
              <a:ext uri="{FF2B5EF4-FFF2-40B4-BE49-F238E27FC236}">
                <a16:creationId xmlns:a16="http://schemas.microsoft.com/office/drawing/2014/main" id="{19AC6574-DE89-146B-15CD-6DB7C0214A72}"/>
              </a:ext>
            </a:extLst>
          </p:cNvPr>
          <p:cNvSpPr>
            <a:spLocks noChangeArrowheads="1"/>
          </p:cNvSpPr>
          <p:nvPr/>
        </p:nvSpPr>
        <p:spPr bwMode="auto">
          <a:xfrm>
            <a:off x="755650" y="79375"/>
            <a:ext cx="5545138"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lgn="ctr">
              <a:defRPr sz="4400">
                <a:solidFill>
                  <a:srgbClr val="FFFF00"/>
                </a:solidFill>
                <a:latin typeface="Arial" panose="020B0604020202020204" pitchFamily="34" charset="0"/>
                <a:cs typeface="Arial" panose="020B0604020202020204" pitchFamily="34" charset="0"/>
              </a:defRPr>
            </a:lvl1pPr>
            <a:lvl2pPr algn="ctr">
              <a:defRPr sz="4400">
                <a:solidFill>
                  <a:srgbClr val="FFFF00"/>
                </a:solidFill>
                <a:latin typeface="Arial" panose="020B0604020202020204" pitchFamily="34" charset="0"/>
                <a:cs typeface="Arial" panose="020B0604020202020204" pitchFamily="34" charset="0"/>
              </a:defRPr>
            </a:lvl2pPr>
            <a:lvl3pPr algn="ctr">
              <a:defRPr sz="4400">
                <a:solidFill>
                  <a:srgbClr val="FFFF00"/>
                </a:solidFill>
                <a:latin typeface="Arial" panose="020B0604020202020204" pitchFamily="34" charset="0"/>
                <a:cs typeface="Arial" panose="020B0604020202020204" pitchFamily="34" charset="0"/>
              </a:defRPr>
            </a:lvl3pPr>
            <a:lvl4pPr algn="ctr">
              <a:defRPr sz="4400">
                <a:solidFill>
                  <a:srgbClr val="FFFF00"/>
                </a:solidFill>
                <a:latin typeface="Arial" panose="020B0604020202020204" pitchFamily="34" charset="0"/>
                <a:cs typeface="Arial" panose="020B0604020202020204" pitchFamily="34" charset="0"/>
              </a:defRPr>
            </a:lvl4pPr>
            <a:lvl5pPr algn="ctr">
              <a:defRPr sz="4400">
                <a:solidFill>
                  <a:srgbClr val="FFFF00"/>
                </a:solidFill>
                <a:latin typeface="Arial" panose="020B0604020202020204" pitchFamily="34" charset="0"/>
                <a:cs typeface="Arial" panose="020B0604020202020204" pitchFamily="34" charset="0"/>
              </a:defRPr>
            </a:lvl5pPr>
            <a:lvl6pPr marL="4572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6pPr>
            <a:lvl7pPr marL="9144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7pPr>
            <a:lvl8pPr marL="13716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8pPr>
            <a:lvl9pPr marL="18288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9pPr>
          </a:lstStyle>
          <a:p>
            <a:pPr algn="l"/>
            <a:r>
              <a:rPr lang="en-GB" altLang="en-US" sz="4000" b="1"/>
              <a:t>Body Fluid Volumes</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8163">
                                            <p:txEl>
                                              <p:pRg st="0" end="0"/>
                                            </p:txEl>
                                          </p:spTgt>
                                        </p:tgtEl>
                                        <p:attrNameLst>
                                          <p:attrName>style.visibility</p:attrName>
                                        </p:attrNameLst>
                                      </p:cBhvr>
                                      <p:to>
                                        <p:strVal val="visible"/>
                                      </p:to>
                                    </p:set>
                                    <p:animEffect transition="in" filter="wipe(left)">
                                      <p:cBhvr>
                                        <p:cTn id="7" dur="500"/>
                                        <p:tgtEl>
                                          <p:spTgt spid="34816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48163">
                                            <p:txEl>
                                              <p:pRg st="1" end="1"/>
                                            </p:txEl>
                                          </p:spTgt>
                                        </p:tgtEl>
                                        <p:attrNameLst>
                                          <p:attrName>style.visibility</p:attrName>
                                        </p:attrNameLst>
                                      </p:cBhvr>
                                      <p:to>
                                        <p:strVal val="visible"/>
                                      </p:to>
                                    </p:set>
                                    <p:animEffect transition="in" filter="wipe(left)">
                                      <p:cBhvr>
                                        <p:cTn id="10" dur="500"/>
                                        <p:tgtEl>
                                          <p:spTgt spid="34816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48163">
                                            <p:txEl>
                                              <p:pRg st="2" end="2"/>
                                            </p:txEl>
                                          </p:spTgt>
                                        </p:tgtEl>
                                        <p:attrNameLst>
                                          <p:attrName>style.visibility</p:attrName>
                                        </p:attrNameLst>
                                      </p:cBhvr>
                                      <p:to>
                                        <p:strVal val="visible"/>
                                      </p:to>
                                    </p:set>
                                    <p:animEffect transition="in" filter="wipe(left)">
                                      <p:cBhvr>
                                        <p:cTn id="13" dur="500"/>
                                        <p:tgtEl>
                                          <p:spTgt spid="348163">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48163">
                                            <p:txEl>
                                              <p:pRg st="4" end="4"/>
                                            </p:txEl>
                                          </p:spTgt>
                                        </p:tgtEl>
                                        <p:attrNameLst>
                                          <p:attrName>style.visibility</p:attrName>
                                        </p:attrNameLst>
                                      </p:cBhvr>
                                      <p:to>
                                        <p:strVal val="visible"/>
                                      </p:to>
                                    </p:set>
                                    <p:animEffect transition="in" filter="wipe(left)">
                                      <p:cBhvr>
                                        <p:cTn id="18" dur="500"/>
                                        <p:tgtEl>
                                          <p:spTgt spid="348163">
                                            <p:txEl>
                                              <p:pRg st="4" end="4"/>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48163">
                                            <p:txEl>
                                              <p:pRg st="5" end="5"/>
                                            </p:txEl>
                                          </p:spTgt>
                                        </p:tgtEl>
                                        <p:attrNameLst>
                                          <p:attrName>style.visibility</p:attrName>
                                        </p:attrNameLst>
                                      </p:cBhvr>
                                      <p:to>
                                        <p:strVal val="visible"/>
                                      </p:to>
                                    </p:set>
                                    <p:animEffect transition="in" filter="wipe(left)">
                                      <p:cBhvr>
                                        <p:cTn id="23" dur="500"/>
                                        <p:tgtEl>
                                          <p:spTgt spid="348163">
                                            <p:txEl>
                                              <p:pRg st="5" end="5"/>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48163">
                                            <p:txEl>
                                              <p:pRg st="6" end="6"/>
                                            </p:txEl>
                                          </p:spTgt>
                                        </p:tgtEl>
                                        <p:attrNameLst>
                                          <p:attrName>style.visibility</p:attrName>
                                        </p:attrNameLst>
                                      </p:cBhvr>
                                      <p:to>
                                        <p:strVal val="visible"/>
                                      </p:to>
                                    </p:set>
                                    <p:animEffect transition="in" filter="wipe(left)">
                                      <p:cBhvr>
                                        <p:cTn id="28" dur="500"/>
                                        <p:tgtEl>
                                          <p:spTgt spid="34816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63"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9187" name="Rectangle 3">
            <a:extLst>
              <a:ext uri="{FF2B5EF4-FFF2-40B4-BE49-F238E27FC236}">
                <a16:creationId xmlns:a16="http://schemas.microsoft.com/office/drawing/2014/main" id="{F960B42D-4DE8-EE28-394B-DBD55DF49132}"/>
              </a:ext>
            </a:extLst>
          </p:cNvPr>
          <p:cNvSpPr>
            <a:spLocks noGrp="1" noChangeArrowheads="1"/>
          </p:cNvSpPr>
          <p:nvPr>
            <p:ph type="body" idx="1"/>
          </p:nvPr>
        </p:nvSpPr>
        <p:spPr>
          <a:xfrm>
            <a:off x="609600" y="1600200"/>
            <a:ext cx="7772400" cy="4572000"/>
          </a:xfrm>
        </p:spPr>
        <p:txBody>
          <a:bodyPr/>
          <a:lstStyle/>
          <a:p>
            <a:r>
              <a:rPr lang="en-GB" altLang="en-US" sz="2400">
                <a:solidFill>
                  <a:srgbClr val="000099"/>
                </a:solidFill>
              </a:rPr>
              <a:t>10 ml of a 1% solution of Evans Blue was injected into a subject’s vein. </a:t>
            </a:r>
          </a:p>
          <a:p>
            <a:r>
              <a:rPr lang="en-GB" altLang="en-US" sz="2400">
                <a:solidFill>
                  <a:srgbClr val="000099"/>
                </a:solidFill>
              </a:rPr>
              <a:t>After 5 min a sample of blood was taken and the plasma was found to have 0.037 mg of dye per ml of blood.</a:t>
            </a:r>
          </a:p>
          <a:p>
            <a:r>
              <a:rPr lang="en-GB" altLang="en-US" sz="2400">
                <a:solidFill>
                  <a:srgbClr val="000099"/>
                </a:solidFill>
              </a:rPr>
              <a:t>mass of dye given = 0.1 g or 100 mg</a:t>
            </a:r>
          </a:p>
          <a:p>
            <a:r>
              <a:rPr lang="en-GB" altLang="en-US" sz="2400">
                <a:solidFill>
                  <a:srgbClr val="000099"/>
                </a:solidFill>
              </a:rPr>
              <a:t>As volume = mass/concentration</a:t>
            </a:r>
          </a:p>
          <a:p>
            <a:r>
              <a:rPr lang="en-GB" altLang="en-US" sz="2400">
                <a:solidFill>
                  <a:srgbClr val="000099"/>
                </a:solidFill>
              </a:rPr>
              <a:t>Plasma volume = 100/0.037 = 2702 ml</a:t>
            </a:r>
          </a:p>
          <a:p>
            <a:endParaRPr lang="en-GB" altLang="en-US" sz="2400">
              <a:solidFill>
                <a:srgbClr val="000099"/>
              </a:solidFill>
            </a:endParaRPr>
          </a:p>
        </p:txBody>
      </p:sp>
      <p:sp>
        <p:nvSpPr>
          <p:cNvPr id="349188" name="Rectangle 4">
            <a:extLst>
              <a:ext uri="{FF2B5EF4-FFF2-40B4-BE49-F238E27FC236}">
                <a16:creationId xmlns:a16="http://schemas.microsoft.com/office/drawing/2014/main" id="{6B2A3B83-A4A0-6E25-34F9-3996A20CCD91}"/>
              </a:ext>
            </a:extLst>
          </p:cNvPr>
          <p:cNvSpPr>
            <a:spLocks noChangeArrowheads="1"/>
          </p:cNvSpPr>
          <p:nvPr/>
        </p:nvSpPr>
        <p:spPr bwMode="auto">
          <a:xfrm>
            <a:off x="755650" y="79375"/>
            <a:ext cx="5545138"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lgn="ctr">
              <a:defRPr sz="4400">
                <a:solidFill>
                  <a:srgbClr val="FFFF00"/>
                </a:solidFill>
                <a:latin typeface="Arial" panose="020B0604020202020204" pitchFamily="34" charset="0"/>
                <a:cs typeface="Arial" panose="020B0604020202020204" pitchFamily="34" charset="0"/>
              </a:defRPr>
            </a:lvl1pPr>
            <a:lvl2pPr algn="ctr">
              <a:defRPr sz="4400">
                <a:solidFill>
                  <a:srgbClr val="FFFF00"/>
                </a:solidFill>
                <a:latin typeface="Arial" panose="020B0604020202020204" pitchFamily="34" charset="0"/>
                <a:cs typeface="Arial" panose="020B0604020202020204" pitchFamily="34" charset="0"/>
              </a:defRPr>
            </a:lvl2pPr>
            <a:lvl3pPr algn="ctr">
              <a:defRPr sz="4400">
                <a:solidFill>
                  <a:srgbClr val="FFFF00"/>
                </a:solidFill>
                <a:latin typeface="Arial" panose="020B0604020202020204" pitchFamily="34" charset="0"/>
                <a:cs typeface="Arial" panose="020B0604020202020204" pitchFamily="34" charset="0"/>
              </a:defRPr>
            </a:lvl3pPr>
            <a:lvl4pPr algn="ctr">
              <a:defRPr sz="4400">
                <a:solidFill>
                  <a:srgbClr val="FFFF00"/>
                </a:solidFill>
                <a:latin typeface="Arial" panose="020B0604020202020204" pitchFamily="34" charset="0"/>
                <a:cs typeface="Arial" panose="020B0604020202020204" pitchFamily="34" charset="0"/>
              </a:defRPr>
            </a:lvl4pPr>
            <a:lvl5pPr algn="ctr">
              <a:defRPr sz="4400">
                <a:solidFill>
                  <a:srgbClr val="FFFF00"/>
                </a:solidFill>
                <a:latin typeface="Arial" panose="020B0604020202020204" pitchFamily="34" charset="0"/>
                <a:cs typeface="Arial" panose="020B0604020202020204" pitchFamily="34" charset="0"/>
              </a:defRPr>
            </a:lvl5pPr>
            <a:lvl6pPr marL="4572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6pPr>
            <a:lvl7pPr marL="9144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7pPr>
            <a:lvl8pPr marL="13716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8pPr>
            <a:lvl9pPr marL="18288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9pPr>
          </a:lstStyle>
          <a:p>
            <a:pPr algn="l"/>
            <a:r>
              <a:rPr lang="en-GB" altLang="en-US" sz="4000" b="1"/>
              <a:t>Example</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9187">
                                            <p:txEl>
                                              <p:pRg st="0" end="0"/>
                                            </p:txEl>
                                          </p:spTgt>
                                        </p:tgtEl>
                                        <p:attrNameLst>
                                          <p:attrName>style.visibility</p:attrName>
                                        </p:attrNameLst>
                                      </p:cBhvr>
                                      <p:to>
                                        <p:strVal val="visible"/>
                                      </p:to>
                                    </p:set>
                                    <p:animEffect transition="in" filter="wipe(left)">
                                      <p:cBhvr>
                                        <p:cTn id="7" dur="500"/>
                                        <p:tgtEl>
                                          <p:spTgt spid="349187">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49187">
                                            <p:txEl>
                                              <p:pRg st="1" end="1"/>
                                            </p:txEl>
                                          </p:spTgt>
                                        </p:tgtEl>
                                        <p:attrNameLst>
                                          <p:attrName>style.visibility</p:attrName>
                                        </p:attrNameLst>
                                      </p:cBhvr>
                                      <p:to>
                                        <p:strVal val="visible"/>
                                      </p:to>
                                    </p:set>
                                    <p:animEffect transition="in" filter="wipe(left)">
                                      <p:cBhvr>
                                        <p:cTn id="10" dur="500"/>
                                        <p:tgtEl>
                                          <p:spTgt spid="349187">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49187">
                                            <p:txEl>
                                              <p:pRg st="2" end="2"/>
                                            </p:txEl>
                                          </p:spTgt>
                                        </p:tgtEl>
                                        <p:attrNameLst>
                                          <p:attrName>style.visibility</p:attrName>
                                        </p:attrNameLst>
                                      </p:cBhvr>
                                      <p:to>
                                        <p:strVal val="visible"/>
                                      </p:to>
                                    </p:set>
                                    <p:animEffect transition="in" filter="wipe(left)">
                                      <p:cBhvr>
                                        <p:cTn id="15" dur="500"/>
                                        <p:tgtEl>
                                          <p:spTgt spid="349187">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49187">
                                            <p:txEl>
                                              <p:pRg st="3" end="3"/>
                                            </p:txEl>
                                          </p:spTgt>
                                        </p:tgtEl>
                                        <p:attrNameLst>
                                          <p:attrName>style.visibility</p:attrName>
                                        </p:attrNameLst>
                                      </p:cBhvr>
                                      <p:to>
                                        <p:strVal val="visible"/>
                                      </p:to>
                                    </p:set>
                                    <p:animEffect transition="in" filter="wipe(left)">
                                      <p:cBhvr>
                                        <p:cTn id="20" dur="500"/>
                                        <p:tgtEl>
                                          <p:spTgt spid="349187">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49187">
                                            <p:txEl>
                                              <p:pRg st="4" end="4"/>
                                            </p:txEl>
                                          </p:spTgt>
                                        </p:tgtEl>
                                        <p:attrNameLst>
                                          <p:attrName>style.visibility</p:attrName>
                                        </p:attrNameLst>
                                      </p:cBhvr>
                                      <p:to>
                                        <p:strVal val="visible"/>
                                      </p:to>
                                    </p:set>
                                    <p:animEffect transition="in" filter="wipe(left)">
                                      <p:cBhvr>
                                        <p:cTn id="25" dur="500"/>
                                        <p:tgtEl>
                                          <p:spTgt spid="34918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187" grpId="0" uiExpand="1"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0211" name="Rectangle 3">
            <a:extLst>
              <a:ext uri="{FF2B5EF4-FFF2-40B4-BE49-F238E27FC236}">
                <a16:creationId xmlns:a16="http://schemas.microsoft.com/office/drawing/2014/main" id="{108D46A9-BACA-F823-2103-A496E7B3EE2A}"/>
              </a:ext>
            </a:extLst>
          </p:cNvPr>
          <p:cNvSpPr>
            <a:spLocks noGrp="1" noChangeArrowheads="1"/>
          </p:cNvSpPr>
          <p:nvPr>
            <p:ph type="body" idx="1"/>
          </p:nvPr>
        </p:nvSpPr>
        <p:spPr>
          <a:xfrm>
            <a:off x="395288" y="895350"/>
            <a:ext cx="8283575" cy="5486400"/>
          </a:xfrm>
        </p:spPr>
        <p:txBody>
          <a:bodyPr/>
          <a:lstStyle/>
          <a:p>
            <a:pPr>
              <a:lnSpc>
                <a:spcPct val="90000"/>
              </a:lnSpc>
            </a:pPr>
            <a:r>
              <a:rPr lang="en-GB" altLang="en-US" sz="2400">
                <a:solidFill>
                  <a:srgbClr val="000099"/>
                </a:solidFill>
              </a:rPr>
              <a:t>Water accounts for 50-60% of total body mass</a:t>
            </a:r>
          </a:p>
          <a:p>
            <a:pPr>
              <a:lnSpc>
                <a:spcPct val="90000"/>
              </a:lnSpc>
            </a:pPr>
            <a:r>
              <a:rPr lang="en-GB" altLang="en-US" sz="2400">
                <a:solidFill>
                  <a:srgbClr val="000099"/>
                </a:solidFill>
              </a:rPr>
              <a:t>It is the chief solvent of the body</a:t>
            </a:r>
          </a:p>
          <a:p>
            <a:pPr>
              <a:lnSpc>
                <a:spcPct val="90000"/>
              </a:lnSpc>
            </a:pPr>
            <a:r>
              <a:rPr lang="en-GB" altLang="en-US" sz="2400">
                <a:solidFill>
                  <a:srgbClr val="000099"/>
                </a:solidFill>
              </a:rPr>
              <a:t>It is divided between two main compartments: the intracellular fluid and the extracellular fluid</a:t>
            </a:r>
          </a:p>
          <a:p>
            <a:pPr>
              <a:lnSpc>
                <a:spcPct val="90000"/>
              </a:lnSpc>
            </a:pPr>
            <a:r>
              <a:rPr lang="en-GB" altLang="en-US" sz="2400">
                <a:solidFill>
                  <a:srgbClr val="000099"/>
                </a:solidFill>
              </a:rPr>
              <a:t>The extracellular fluid is made up of the plasma and the interstitial fluid</a:t>
            </a:r>
          </a:p>
          <a:p>
            <a:pPr>
              <a:lnSpc>
                <a:spcPct val="90000"/>
              </a:lnSpc>
            </a:pPr>
            <a:r>
              <a:rPr lang="en-GB" altLang="en-US" sz="2400">
                <a:solidFill>
                  <a:srgbClr val="000099"/>
                </a:solidFill>
              </a:rPr>
              <a:t>The volumes of these compartments can be measured using dilution methods</a:t>
            </a:r>
          </a:p>
          <a:p>
            <a:pPr>
              <a:lnSpc>
                <a:spcPct val="90000"/>
              </a:lnSpc>
            </a:pPr>
            <a:r>
              <a:rPr lang="en-GB" altLang="en-US" sz="2400">
                <a:solidFill>
                  <a:srgbClr val="000099"/>
                </a:solidFill>
              </a:rPr>
              <a:t>When substances dissolve in water, they exert an osmotic pressure that is proportional to their molar concentration</a:t>
            </a:r>
          </a:p>
          <a:p>
            <a:pPr>
              <a:lnSpc>
                <a:spcPct val="90000"/>
              </a:lnSpc>
            </a:pPr>
            <a:r>
              <a:rPr lang="en-GB" altLang="en-US" sz="2400">
                <a:solidFill>
                  <a:srgbClr val="000099"/>
                </a:solidFill>
              </a:rPr>
              <a:t>The intracellular and extracellular fluids are isotonic with each other</a:t>
            </a:r>
          </a:p>
          <a:p>
            <a:pPr>
              <a:lnSpc>
                <a:spcPct val="90000"/>
              </a:lnSpc>
            </a:pPr>
            <a:r>
              <a:rPr lang="en-GB" altLang="en-US" sz="2400">
                <a:solidFill>
                  <a:srgbClr val="000099"/>
                </a:solidFill>
              </a:rPr>
              <a:t>Cells swell (or burst) by placing them in distilled water and shrink cells by placing them in concentrated salt solutions.</a:t>
            </a:r>
          </a:p>
        </p:txBody>
      </p:sp>
      <p:sp>
        <p:nvSpPr>
          <p:cNvPr id="350212" name="Rectangle 4">
            <a:extLst>
              <a:ext uri="{FF2B5EF4-FFF2-40B4-BE49-F238E27FC236}">
                <a16:creationId xmlns:a16="http://schemas.microsoft.com/office/drawing/2014/main" id="{DCD595F5-9BAB-7900-1D32-DABAB3403E03}"/>
              </a:ext>
            </a:extLst>
          </p:cNvPr>
          <p:cNvSpPr>
            <a:spLocks noChangeArrowheads="1"/>
          </p:cNvSpPr>
          <p:nvPr/>
        </p:nvSpPr>
        <p:spPr bwMode="auto">
          <a:xfrm>
            <a:off x="755650" y="79375"/>
            <a:ext cx="5545138"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lgn="ctr">
              <a:defRPr sz="4400">
                <a:solidFill>
                  <a:srgbClr val="FFFF00"/>
                </a:solidFill>
                <a:latin typeface="Arial" panose="020B0604020202020204" pitchFamily="34" charset="0"/>
                <a:cs typeface="Arial" panose="020B0604020202020204" pitchFamily="34" charset="0"/>
              </a:defRPr>
            </a:lvl1pPr>
            <a:lvl2pPr algn="ctr">
              <a:defRPr sz="4400">
                <a:solidFill>
                  <a:srgbClr val="FFFF00"/>
                </a:solidFill>
                <a:latin typeface="Arial" panose="020B0604020202020204" pitchFamily="34" charset="0"/>
                <a:cs typeface="Arial" panose="020B0604020202020204" pitchFamily="34" charset="0"/>
              </a:defRPr>
            </a:lvl2pPr>
            <a:lvl3pPr algn="ctr">
              <a:defRPr sz="4400">
                <a:solidFill>
                  <a:srgbClr val="FFFF00"/>
                </a:solidFill>
                <a:latin typeface="Arial" panose="020B0604020202020204" pitchFamily="34" charset="0"/>
                <a:cs typeface="Arial" panose="020B0604020202020204" pitchFamily="34" charset="0"/>
              </a:defRPr>
            </a:lvl3pPr>
            <a:lvl4pPr algn="ctr">
              <a:defRPr sz="4400">
                <a:solidFill>
                  <a:srgbClr val="FFFF00"/>
                </a:solidFill>
                <a:latin typeface="Arial" panose="020B0604020202020204" pitchFamily="34" charset="0"/>
                <a:cs typeface="Arial" panose="020B0604020202020204" pitchFamily="34" charset="0"/>
              </a:defRPr>
            </a:lvl4pPr>
            <a:lvl5pPr algn="ctr">
              <a:defRPr sz="4400">
                <a:solidFill>
                  <a:srgbClr val="FFFF00"/>
                </a:solidFill>
                <a:latin typeface="Arial" panose="020B0604020202020204" pitchFamily="34" charset="0"/>
                <a:cs typeface="Arial" panose="020B0604020202020204" pitchFamily="34" charset="0"/>
              </a:defRPr>
            </a:lvl5pPr>
            <a:lvl6pPr marL="4572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6pPr>
            <a:lvl7pPr marL="9144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7pPr>
            <a:lvl8pPr marL="13716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8pPr>
            <a:lvl9pPr marL="1828800" algn="ctr" eaLnBrk="0" fontAlgn="base" hangingPunct="0">
              <a:spcBef>
                <a:spcPct val="0"/>
              </a:spcBef>
              <a:spcAft>
                <a:spcPct val="0"/>
              </a:spcAft>
              <a:defRPr sz="4400">
                <a:solidFill>
                  <a:srgbClr val="FFFF00"/>
                </a:solidFill>
                <a:latin typeface="Arial" panose="020B0604020202020204" pitchFamily="34" charset="0"/>
                <a:cs typeface="Arial" panose="020B0604020202020204" pitchFamily="34" charset="0"/>
              </a:defRPr>
            </a:lvl9pPr>
          </a:lstStyle>
          <a:p>
            <a:pPr algn="l"/>
            <a:r>
              <a:rPr lang="en-GB" altLang="en-US" sz="4000" b="1"/>
              <a:t>Summary</a:t>
            </a:r>
          </a:p>
        </p:txBody>
      </p:sp>
    </p:spTree>
  </p:cSld>
  <p:clrMapOvr>
    <a:masterClrMapping/>
  </p:clrMapOvr>
  <p:transition>
    <p:zoom/>
  </p:transition>
</p:sld>
</file>

<file path=ppt/tags/tag1.xml><?xml version="1.0" encoding="utf-8"?>
<p:tagLst xmlns:a="http://schemas.openxmlformats.org/drawingml/2006/main" xmlns:r="http://schemas.openxmlformats.org/officeDocument/2006/relationships" xmlns:p="http://schemas.openxmlformats.org/presentationml/2006/main">
  <p:tag name="TIMING" val="|8.3"/>
</p:tagLst>
</file>

<file path=ppt/theme/theme1.xml><?xml version="1.0" encoding="utf-8"?>
<a:theme xmlns:a="http://schemas.openxmlformats.org/drawingml/2006/main" name="Default Design">
  <a:themeElements>
    <a:clrScheme name="">
      <a:dk1>
        <a:srgbClr val="000000"/>
      </a:dk1>
      <a:lt1>
        <a:srgbClr val="3365FB"/>
      </a:lt1>
      <a:dk2>
        <a:srgbClr val="000000"/>
      </a:dk2>
      <a:lt2>
        <a:srgbClr val="919191"/>
      </a:lt2>
      <a:accent1>
        <a:srgbClr val="618FFD"/>
      </a:accent1>
      <a:accent2>
        <a:srgbClr val="00AE00"/>
      </a:accent2>
      <a:accent3>
        <a:srgbClr val="ADB8FD"/>
      </a:accent3>
      <a:accent4>
        <a:srgbClr val="000000"/>
      </a:accent4>
      <a:accent5>
        <a:srgbClr val="B7C6FE"/>
      </a:accent5>
      <a:accent6>
        <a:srgbClr val="009D00"/>
      </a:accent6>
      <a:hlink>
        <a:srgbClr val="FC0128"/>
      </a:hlink>
      <a:folHlink>
        <a:srgbClr val="CECECE"/>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altLang="en-US" sz="2400" b="0" i="0" u="none" strike="noStrike" cap="none" normalizeH="0" baseline="0" smtClean="0">
            <a:ln>
              <a:noFill/>
            </a:ln>
            <a:solidFill>
              <a:srgbClr val="FFFFFF"/>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altLang="en-US" sz="2400" b="0" i="0" u="none" strike="noStrike" cap="none" normalizeH="0" baseline="0" smtClean="0">
            <a:ln>
              <a:noFill/>
            </a:ln>
            <a:solidFill>
              <a:srgbClr val="FFFFFF"/>
            </a:solidFill>
            <a:effectLst/>
            <a:latin typeface="Times New Roman" panose="02020603050405020304"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faf88fe-a998-4c5b-93c9-210a11d9a5c2}" enabled="0" method="" siteId="{1faf88fe-a998-4c5b-93c9-210a11d9a5c2}" removed="1"/>
</clbl:labelList>
</file>

<file path=docProps/app.xml><?xml version="1.0" encoding="utf-8"?>
<Properties xmlns="http://schemas.openxmlformats.org/officeDocument/2006/extended-properties" xmlns:vt="http://schemas.openxmlformats.org/officeDocument/2006/docPropsVTypes">
  <Template>......:Microsoft Office:Microsoft PowerPoint 4:</Template>
  <TotalTime>2678</TotalTime>
  <Pages>21</Pages>
  <Words>1548</Words>
  <Application>Microsoft Office PowerPoint</Application>
  <PresentationFormat>On-screen Show (4:3)</PresentationFormat>
  <Paragraphs>145</Paragraphs>
  <Slides>27</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33" baseType="lpstr">
      <vt:lpstr>Arial</vt:lpstr>
      <vt:lpstr>Symbol</vt:lpstr>
      <vt:lpstr>Times New Roman</vt:lpstr>
      <vt:lpstr>Wingdings 2</vt:lpstr>
      <vt:lpstr>Default Design</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Osmotic Pressure</vt:lpstr>
      <vt:lpstr>PowerPoint Presentation</vt:lpstr>
      <vt:lpstr>Osmotic Pressure</vt:lpstr>
      <vt:lpstr>Reverse Osmosis</vt:lpstr>
      <vt:lpstr>Osmotic Pressure</vt:lpstr>
      <vt:lpstr>The total osmolality of a solution is the sum of the osmolality due each of the constituents of the solution</vt:lpstr>
      <vt:lpstr>Why proteins exert such a small osmotic pressure</vt:lpstr>
      <vt:lpstr>PowerPoint Presentation</vt:lpstr>
      <vt:lpstr>PowerPoint Presentation</vt:lpstr>
      <vt:lpstr>PowerPoint Presentation</vt:lpstr>
      <vt:lpstr>Osmotic Phenomenons</vt:lpstr>
      <vt:lpstr>PowerPoint Presentation</vt:lpstr>
      <vt:lpstr>PowerPoint Presentation</vt:lpstr>
      <vt:lpstr>PowerPoint Presentation</vt:lpstr>
      <vt:lpstr>Measurement of body fluid volumes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dc:title>
  <dc:subject>Ghrelin</dc:subject>
  <dc:creator>PowerMacintosh User</dc:creator>
  <cp:keywords/>
  <dc:description/>
  <cp:lastModifiedBy>Jigisha Patel</cp:lastModifiedBy>
  <cp:revision>164</cp:revision>
  <cp:lastPrinted>1601-01-01T00:00:00Z</cp:lastPrinted>
  <dcterms:created xsi:type="dcterms:W3CDTF">2000-02-01T12:46:55Z</dcterms:created>
  <dcterms:modified xsi:type="dcterms:W3CDTF">2026-10-05T09:21:06Z</dcterms:modified>
</cp:coreProperties>
</file>