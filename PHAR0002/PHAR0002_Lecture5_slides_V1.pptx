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A1BA08E-ABA3-4210-8644-76F50817ACFC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3124080" y="6356520"/>
            <a:ext cx="28951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655272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</a:tabLst>
            </a:pPr>
            <a:fld id="{AD481A0F-F733-4169-8B98-0A9FF5D24384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2"/>
          </p:nvPr>
        </p:nvSpPr>
        <p:spPr>
          <a:xfrm>
            <a:off x="45684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x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/>
          <p:nvPr/>
        </p:nvPicPr>
        <p:blipFill>
          <a:blip r:embed="rId1"/>
          <a:stretch/>
        </p:blipFill>
        <p:spPr>
          <a:xfrm>
            <a:off x="1517760" y="2120760"/>
            <a:ext cx="6168960" cy="145764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399960" y="4784760"/>
            <a:ext cx="7962120" cy="772200"/>
          </a:xfrm>
          <a:custGeom>
            <a:avLst/>
            <a:gdLst>
              <a:gd name="textAreaLeft" fmla="*/ 0 w 7962120"/>
              <a:gd name="textAreaRight" fmla="*/ 7962840 w 7962120"/>
              <a:gd name="textAreaTop" fmla="*/ 0 h 772200"/>
              <a:gd name="textAreaBottom" fmla="*/ 772920 h 772200"/>
              <a:gd name="GluePoint1X" fmla="*/ 7962900 w 7963270"/>
              <a:gd name="GluePoint1Y" fmla="*/ 44423 h 772503"/>
              <a:gd name="GluePoint2X" fmla="*/ 7048542 w 7963270"/>
              <a:gd name="GluePoint2Y" fmla="*/ 115501 h 772503"/>
              <a:gd name="GluePoint3X" fmla="*/ 6515907 w 7963270"/>
              <a:gd name="GluePoint3Y" fmla="*/ 239886 h 772503"/>
              <a:gd name="GluePoint4X" fmla="*/ 5637059 w 7963270"/>
              <a:gd name="GluePoint4Y" fmla="*/ 648582 h 772503"/>
              <a:gd name="GluePoint5X" fmla="*/ 4669438 w 7963270"/>
              <a:gd name="GluePoint5Y" fmla="*/ 755198 h 772503"/>
              <a:gd name="GluePoint6X" fmla="*/ 3426622 w 7963270"/>
              <a:gd name="GluePoint6Y" fmla="*/ 772967 h 772503"/>
              <a:gd name="GluePoint7X" fmla="*/ 2414614 w 7963270"/>
              <a:gd name="GluePoint7Y" fmla="*/ 755198 h 772503"/>
              <a:gd name="GluePoint8X" fmla="*/ 1633415 w 7963270"/>
              <a:gd name="GluePoint8Y" fmla="*/ 675236 h 772503"/>
              <a:gd name="GluePoint9X" fmla="*/ 949867 w 7963270"/>
              <a:gd name="GluePoint9Y" fmla="*/ 479773 h 772503"/>
              <a:gd name="GluePoint10X" fmla="*/ 417232 w 7963270"/>
              <a:gd name="GluePoint10Y" fmla="*/ 88847 h 772503"/>
              <a:gd name="GluePoint11X" fmla="*/ 0 w 7963270"/>
              <a:gd name="GluePoint11Y" fmla="*/ 0 h 7725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7963270" h="772503">
                <a:moveTo>
                  <a:pt x="7963270" y="44388"/>
                </a:moveTo>
                <a:cubicBezTo>
                  <a:pt x="7626658" y="63623"/>
                  <a:pt x="7290047" y="82859"/>
                  <a:pt x="7048870" y="115410"/>
                </a:cubicBezTo>
                <a:cubicBezTo>
                  <a:pt x="6807693" y="147961"/>
                  <a:pt x="6751468" y="150920"/>
                  <a:pt x="6516210" y="239697"/>
                </a:cubicBezTo>
                <a:cubicBezTo>
                  <a:pt x="6280952" y="328474"/>
                  <a:pt x="5945080" y="562253"/>
                  <a:pt x="5637321" y="648070"/>
                </a:cubicBezTo>
                <a:cubicBezTo>
                  <a:pt x="5329562" y="733887"/>
                  <a:pt x="5038078" y="733888"/>
                  <a:pt x="4669655" y="754602"/>
                </a:cubicBezTo>
                <a:cubicBezTo>
                  <a:pt x="4301232" y="775317"/>
                  <a:pt x="3802602" y="772357"/>
                  <a:pt x="3426781" y="772357"/>
                </a:cubicBezTo>
                <a:cubicBezTo>
                  <a:pt x="3050960" y="772357"/>
                  <a:pt x="2713608" y="770878"/>
                  <a:pt x="2414726" y="754602"/>
                </a:cubicBezTo>
                <a:cubicBezTo>
                  <a:pt x="2115844" y="738326"/>
                  <a:pt x="1877627" y="720571"/>
                  <a:pt x="1633491" y="674703"/>
                </a:cubicBezTo>
                <a:cubicBezTo>
                  <a:pt x="1389355" y="628835"/>
                  <a:pt x="1152618" y="577048"/>
                  <a:pt x="949911" y="479394"/>
                </a:cubicBezTo>
                <a:cubicBezTo>
                  <a:pt x="747204" y="381740"/>
                  <a:pt x="575570" y="168676"/>
                  <a:pt x="417251" y="88777"/>
                </a:cubicBezTo>
                <a:cubicBezTo>
                  <a:pt x="258932" y="8878"/>
                  <a:pt x="129466" y="4439"/>
                  <a:pt x="0" y="0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581120" y="363600"/>
            <a:ext cx="4874400" cy="4380840"/>
          </a:xfrm>
          <a:custGeom>
            <a:avLst/>
            <a:gdLst>
              <a:gd name="textAreaLeft" fmla="*/ 0 w 4874400"/>
              <a:gd name="textAreaRight" fmla="*/ 4875120 w 4874400"/>
              <a:gd name="textAreaTop" fmla="*/ 0 h 4380840"/>
              <a:gd name="textAreaBottom" fmla="*/ 4381560 h 4380840"/>
              <a:gd name="GluePoint1X" fmla="*/ 2894851 w 4875911"/>
              <a:gd name="GluePoint1Y" fmla="*/ 26507 h 4381571"/>
              <a:gd name="GluePoint2X" fmla="*/ 2850469 w 4875911"/>
              <a:gd name="GluePoint2Y" fmla="*/ 763341 h 4381571"/>
              <a:gd name="GluePoint3X" fmla="*/ 2956986 w 4875911"/>
              <a:gd name="GluePoint3Y" fmla="*/ 1651094 h 4381571"/>
              <a:gd name="GluePoint4X" fmla="*/ 3658221 w 4875911"/>
              <a:gd name="GluePoint4Y" fmla="*/ 2077215 h 4381571"/>
              <a:gd name="GluePoint5X" fmla="*/ 4412715 w 4875911"/>
              <a:gd name="GluePoint5Y" fmla="*/ 2592112 h 4381571"/>
              <a:gd name="GluePoint6X" fmla="*/ 4821029 w 4875911"/>
              <a:gd name="GluePoint6Y" fmla="*/ 3115886 h 4381571"/>
              <a:gd name="GluePoint7X" fmla="*/ 4856535 w 4875911"/>
              <a:gd name="GluePoint7Y" fmla="*/ 3533130 h 4381571"/>
              <a:gd name="GluePoint8X" fmla="*/ 4687884 w 4875911"/>
              <a:gd name="GluePoint8Y" fmla="*/ 3959251 h 4381571"/>
              <a:gd name="GluePoint9X" fmla="*/ 4110916 w 4875911"/>
              <a:gd name="GluePoint9Y" fmla="*/ 4261086 h 4381571"/>
              <a:gd name="GluePoint10X" fmla="*/ 2442153 w 4875911"/>
              <a:gd name="GluePoint10Y" fmla="*/ 4376495 h 4381571"/>
              <a:gd name="GluePoint11X" fmla="*/ 1110694 w 4875911"/>
              <a:gd name="GluePoint11Y" fmla="*/ 4358739 h 4381571"/>
              <a:gd name="GluePoint12X" fmla="*/ 391706 w 4875911"/>
              <a:gd name="GluePoint12Y" fmla="*/ 4154557 h 4381571"/>
              <a:gd name="GluePoint13X" fmla="*/ 27774 w 4875911"/>
              <a:gd name="GluePoint13Y" fmla="*/ 3613027 h 4381571"/>
              <a:gd name="GluePoint14X" fmla="*/ 152043 w 4875911"/>
              <a:gd name="GluePoint14Y" fmla="*/ 2769662 h 4381571"/>
              <a:gd name="GluePoint15X" fmla="*/ 1155076 w 4875911"/>
              <a:gd name="GluePoint15Y" fmla="*/ 1979563 h 4381571"/>
              <a:gd name="GluePoint16X" fmla="*/ 1856314 w 4875911"/>
              <a:gd name="GluePoint16Y" fmla="*/ 1553441 h 4381571"/>
              <a:gd name="GluePoint17X" fmla="*/ 2007210 w 4875911"/>
              <a:gd name="GluePoint17Y" fmla="*/ 541403 h 4381571"/>
              <a:gd name="GluePoint18X" fmla="*/ 2007212 w 4875911"/>
              <a:gd name="GluePoint18Y" fmla="*/ 8751 h 438157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4875911" h="4381571">
                <a:moveTo>
                  <a:pt x="2895265" y="26507"/>
                </a:moveTo>
                <a:cubicBezTo>
                  <a:pt x="2832382" y="381614"/>
                  <a:pt x="2840520" y="492584"/>
                  <a:pt x="2850877" y="763353"/>
                </a:cubicBezTo>
                <a:cubicBezTo>
                  <a:pt x="2861234" y="1034122"/>
                  <a:pt x="2822764" y="1432138"/>
                  <a:pt x="2957409" y="1651121"/>
                </a:cubicBezTo>
                <a:cubicBezTo>
                  <a:pt x="3092054" y="1870104"/>
                  <a:pt x="3416089" y="1920410"/>
                  <a:pt x="3658745" y="2077249"/>
                </a:cubicBezTo>
                <a:cubicBezTo>
                  <a:pt x="3901401" y="2234088"/>
                  <a:pt x="4219518" y="2419040"/>
                  <a:pt x="4413347" y="2592154"/>
                </a:cubicBezTo>
                <a:cubicBezTo>
                  <a:pt x="4607176" y="2765269"/>
                  <a:pt x="4747739" y="2959097"/>
                  <a:pt x="4821719" y="3115936"/>
                </a:cubicBezTo>
                <a:cubicBezTo>
                  <a:pt x="4895699" y="3272775"/>
                  <a:pt x="4879424" y="3392624"/>
                  <a:pt x="4857230" y="3533187"/>
                </a:cubicBezTo>
                <a:cubicBezTo>
                  <a:pt x="4835036" y="3673750"/>
                  <a:pt x="4812842" y="3837987"/>
                  <a:pt x="4688555" y="3959315"/>
                </a:cubicBezTo>
                <a:cubicBezTo>
                  <a:pt x="4564268" y="4080643"/>
                  <a:pt x="4485847" y="4191613"/>
                  <a:pt x="4111505" y="4261155"/>
                </a:cubicBezTo>
                <a:cubicBezTo>
                  <a:pt x="3737163" y="4330697"/>
                  <a:pt x="2942612" y="4360290"/>
                  <a:pt x="2442503" y="4376566"/>
                </a:cubicBezTo>
                <a:cubicBezTo>
                  <a:pt x="1942394" y="4392842"/>
                  <a:pt x="1554736" y="4364729"/>
                  <a:pt x="1110853" y="4358810"/>
                </a:cubicBezTo>
                <a:cubicBezTo>
                  <a:pt x="769063" y="4321820"/>
                  <a:pt x="572275" y="4278911"/>
                  <a:pt x="391762" y="4154624"/>
                </a:cubicBezTo>
                <a:cubicBezTo>
                  <a:pt x="211249" y="4030337"/>
                  <a:pt x="67727" y="3843905"/>
                  <a:pt x="27778" y="3613086"/>
                </a:cubicBezTo>
                <a:cubicBezTo>
                  <a:pt x="-12171" y="3382267"/>
                  <a:pt x="-35845" y="3041955"/>
                  <a:pt x="152065" y="2769707"/>
                </a:cubicBezTo>
                <a:cubicBezTo>
                  <a:pt x="339975" y="2497459"/>
                  <a:pt x="871155" y="2182302"/>
                  <a:pt x="1155241" y="1979595"/>
                </a:cubicBezTo>
                <a:cubicBezTo>
                  <a:pt x="1439327" y="1776888"/>
                  <a:pt x="1714537" y="1793163"/>
                  <a:pt x="1856580" y="1553466"/>
                </a:cubicBezTo>
                <a:cubicBezTo>
                  <a:pt x="1998623" y="1313769"/>
                  <a:pt x="1982344" y="798864"/>
                  <a:pt x="2007497" y="541412"/>
                </a:cubicBezTo>
                <a:cubicBezTo>
                  <a:pt x="2032650" y="283960"/>
                  <a:pt x="2019336" y="-59311"/>
                  <a:pt x="2007499" y="8751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 rot="5400000">
            <a:off x="3427560" y="544320"/>
            <a:ext cx="194400" cy="35316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 rot="5400000">
            <a:off x="3402360" y="1192320"/>
            <a:ext cx="194760" cy="35316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 flipH="1" rot="16200000">
            <a:off x="4365720" y="865080"/>
            <a:ext cx="194400" cy="35352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2166840" y="620640"/>
            <a:ext cx="931320" cy="737640"/>
          </a:xfrm>
          <a:custGeom>
            <a:avLst/>
            <a:gdLst>
              <a:gd name="textAreaLeft" fmla="*/ 0 w 931320"/>
              <a:gd name="textAreaRight" fmla="*/ 932040 w 931320"/>
              <a:gd name="textAreaTop" fmla="*/ 0 h 737640"/>
              <a:gd name="textAreaBottom" fmla="*/ 738360 h 737640"/>
              <a:gd name="GluePoint1X" fmla="*/ 0 w 5180397"/>
              <a:gd name="GluePoint1Y" fmla="*/ 650807 h 2474181"/>
              <a:gd name="GluePoint2X" fmla="*/ 290351 w 5180397"/>
              <a:gd name="GluePoint2Y" fmla="*/ 646062 h 2474181"/>
              <a:gd name="GluePoint3X" fmla="*/ 361866 w 5180397"/>
              <a:gd name="GluePoint3Y" fmla="*/ 624711 h 2474181"/>
              <a:gd name="GluePoint4X" fmla="*/ 377599 w 5180397"/>
              <a:gd name="GluePoint4Y" fmla="*/ 513212 h 2474181"/>
              <a:gd name="GluePoint5X" fmla="*/ 381890 w 5180397"/>
              <a:gd name="GluePoint5Y" fmla="*/ 22142 h 2474181"/>
              <a:gd name="GluePoint6X" fmla="*/ 381890 w 5180397"/>
              <a:gd name="GluePoint6Y" fmla="*/ 22142 h 2474181"/>
              <a:gd name="GluePoint7X" fmla="*/ 387611 w 5180397"/>
              <a:gd name="GluePoint7Y" fmla="*/ 3163 h 2474181"/>
              <a:gd name="GluePoint8X" fmla="*/ 389041 w 5180397"/>
              <a:gd name="GluePoint8Y" fmla="*/ 3163 h 2474181"/>
              <a:gd name="GluePoint9X" fmla="*/ 390472 w 5180397"/>
              <a:gd name="GluePoint9Y" fmla="*/ 5536 h 2474181"/>
              <a:gd name="GluePoint10X" fmla="*/ 394763 w 5180397"/>
              <a:gd name="GluePoint10Y" fmla="*/ 22142 h 2474181"/>
              <a:gd name="GluePoint11X" fmla="*/ 403344 w 5180397"/>
              <a:gd name="GluePoint11Y" fmla="*/ 136013 h 2474181"/>
              <a:gd name="GluePoint12X" fmla="*/ 417647 w 5180397"/>
              <a:gd name="GluePoint12Y" fmla="*/ 330543 h 2474181"/>
              <a:gd name="GluePoint13X" fmla="*/ 429090 w 5180397"/>
              <a:gd name="GluePoint13Y" fmla="*/ 487116 h 2474181"/>
              <a:gd name="GluePoint14X" fmla="*/ 439102 w 5180397"/>
              <a:gd name="GluePoint14Y" fmla="*/ 631828 h 2474181"/>
              <a:gd name="GluePoint15X" fmla="*/ 447684 w 5180397"/>
              <a:gd name="GluePoint15Y" fmla="*/ 707742 h 2474181"/>
              <a:gd name="GluePoint16X" fmla="*/ 467708 w 5180397"/>
              <a:gd name="GluePoint16Y" fmla="*/ 733838 h 2474181"/>
              <a:gd name="GluePoint17X" fmla="*/ 492023 w 5180397"/>
              <a:gd name="GluePoint17Y" fmla="*/ 733838 h 2474181"/>
              <a:gd name="GluePoint18X" fmla="*/ 527780 w 5180397"/>
              <a:gd name="GluePoint18Y" fmla="*/ 710115 h 2474181"/>
              <a:gd name="GluePoint19X" fmla="*/ 559247 w 5180397"/>
              <a:gd name="GluePoint19Y" fmla="*/ 679274 h 2474181"/>
              <a:gd name="GluePoint20X" fmla="*/ 602076 w 5180397"/>
              <a:gd name="GluePoint20Y" fmla="*/ 642854 h 2474181"/>
              <a:gd name="GluePoint21X" fmla="*/ 646897 w 5180397"/>
              <a:gd name="GluePoint21Y" fmla="*/ 630767 h 2474181"/>
              <a:gd name="GluePoint22X" fmla="*/ 931862 w 5180397"/>
              <a:gd name="GluePoint22Y" fmla="*/ 630767 h 247418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5180397" h="2474181">
                <a:moveTo>
                  <a:pt x="0" y="2181308"/>
                </a:moveTo>
                <a:lnTo>
                  <a:pt x="1614115" y="2165406"/>
                </a:lnTo>
                <a:cubicBezTo>
                  <a:pt x="1949395" y="2150829"/>
                  <a:pt x="1930842" y="2168056"/>
                  <a:pt x="2011680" y="2093844"/>
                </a:cubicBezTo>
                <a:cubicBezTo>
                  <a:pt x="2092518" y="2019632"/>
                  <a:pt x="2080591" y="2056738"/>
                  <a:pt x="2099144" y="1720133"/>
                </a:cubicBezTo>
                <a:cubicBezTo>
                  <a:pt x="2117697" y="1383528"/>
                  <a:pt x="2122998" y="74213"/>
                  <a:pt x="2122998" y="74213"/>
                </a:cubicBezTo>
                <a:lnTo>
                  <a:pt x="2122998" y="74213"/>
                </a:lnTo>
                <a:cubicBezTo>
                  <a:pt x="2128299" y="63611"/>
                  <a:pt x="2148178" y="21204"/>
                  <a:pt x="2154804" y="10602"/>
                </a:cubicBezTo>
                <a:cubicBezTo>
                  <a:pt x="2161430" y="0"/>
                  <a:pt x="2160105" y="9277"/>
                  <a:pt x="2162755" y="10602"/>
                </a:cubicBezTo>
                <a:cubicBezTo>
                  <a:pt x="2165405" y="11927"/>
                  <a:pt x="2165405" y="7952"/>
                  <a:pt x="2170706" y="18554"/>
                </a:cubicBezTo>
                <a:cubicBezTo>
                  <a:pt x="2176007" y="29156"/>
                  <a:pt x="2182633" y="1326"/>
                  <a:pt x="2194560" y="74213"/>
                </a:cubicBezTo>
                <a:cubicBezTo>
                  <a:pt x="2206487" y="147100"/>
                  <a:pt x="2221065" y="283597"/>
                  <a:pt x="2242268" y="455875"/>
                </a:cubicBezTo>
                <a:cubicBezTo>
                  <a:pt x="2263471" y="628153"/>
                  <a:pt x="2297927" y="911750"/>
                  <a:pt x="2321781" y="1107882"/>
                </a:cubicBezTo>
                <a:cubicBezTo>
                  <a:pt x="2345635" y="1304014"/>
                  <a:pt x="2365513" y="1464365"/>
                  <a:pt x="2385391" y="1632668"/>
                </a:cubicBezTo>
                <a:cubicBezTo>
                  <a:pt x="2405269" y="1800971"/>
                  <a:pt x="2423823" y="1994453"/>
                  <a:pt x="2441051" y="2117698"/>
                </a:cubicBezTo>
                <a:cubicBezTo>
                  <a:pt x="2458279" y="2240943"/>
                  <a:pt x="2462254" y="2315156"/>
                  <a:pt x="2488758" y="2372140"/>
                </a:cubicBezTo>
                <a:cubicBezTo>
                  <a:pt x="2515262" y="2429124"/>
                  <a:pt x="2558995" y="2445027"/>
                  <a:pt x="2600077" y="2459604"/>
                </a:cubicBezTo>
                <a:cubicBezTo>
                  <a:pt x="2641159" y="2474181"/>
                  <a:pt x="2679590" y="2472856"/>
                  <a:pt x="2735249" y="2459604"/>
                </a:cubicBezTo>
                <a:cubicBezTo>
                  <a:pt x="2790908" y="2446352"/>
                  <a:pt x="2871746" y="2410571"/>
                  <a:pt x="2934031" y="2380091"/>
                </a:cubicBezTo>
                <a:cubicBezTo>
                  <a:pt x="2996316" y="2349611"/>
                  <a:pt x="3040123" y="2314297"/>
                  <a:pt x="3108960" y="2276724"/>
                </a:cubicBezTo>
                <a:cubicBezTo>
                  <a:pt x="3177797" y="2239151"/>
                  <a:pt x="3266215" y="2185135"/>
                  <a:pt x="3347053" y="2154655"/>
                </a:cubicBezTo>
                <a:cubicBezTo>
                  <a:pt x="3475599" y="2100321"/>
                  <a:pt x="3516708" y="2134019"/>
                  <a:pt x="3596221" y="2114141"/>
                </a:cubicBezTo>
                <a:cubicBezTo>
                  <a:pt x="3883793" y="2096913"/>
                  <a:pt x="4533028" y="2133356"/>
                  <a:pt x="5180397" y="2114141"/>
                </a:cubicBezTo>
              </a:path>
            </a:pathLst>
          </a:custGeom>
          <a:noFill/>
          <a:ln w="9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4797360" y="85572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" name=""/>
          <p:cNvCxnSpPr/>
          <p:nvPr/>
        </p:nvCxnSpPr>
        <p:spPr>
          <a:xfrm flipH="1">
            <a:off x="4139640" y="1039320"/>
            <a:ext cx="720360" cy="468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cxnSp>
        <p:nvCxnSpPr>
          <p:cNvPr id="16" name=""/>
          <p:cNvCxnSpPr/>
          <p:nvPr/>
        </p:nvCxnSpPr>
        <p:spPr>
          <a:xfrm>
            <a:off x="3098520" y="717120"/>
            <a:ext cx="826920" cy="468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cxnSp>
        <p:nvCxnSpPr>
          <p:cNvPr id="17" name=""/>
          <p:cNvCxnSpPr/>
          <p:nvPr/>
        </p:nvCxnSpPr>
        <p:spPr>
          <a:xfrm>
            <a:off x="3098520" y="1359000"/>
            <a:ext cx="826920" cy="288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sp>
        <p:nvSpPr>
          <p:cNvPr id="18" name=""/>
          <p:cNvSpPr/>
          <p:nvPr/>
        </p:nvSpPr>
        <p:spPr>
          <a:xfrm>
            <a:off x="5364000" y="442800"/>
            <a:ext cx="109512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cha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nn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846440" y="5362560"/>
            <a:ext cx="4402800" cy="1072440"/>
          </a:xfrm>
          <a:custGeom>
            <a:avLst/>
            <a:gdLst>
              <a:gd name="textAreaLeft" fmla="*/ 0 w 4402800"/>
              <a:gd name="textAreaRight" fmla="*/ 4403520 w 4402800"/>
              <a:gd name="textAreaTop" fmla="*/ 0 h 1072440"/>
              <a:gd name="textAreaBottom" fmla="*/ 1073160 h 1072440"/>
              <a:gd name="GluePoint1X" fmla="*/ 4403725 w 4403325"/>
              <a:gd name="GluePoint1Y" fmla="*/ 0 h 1074198"/>
              <a:gd name="GluePoint2X" fmla="*/ 4066342 w 4403325"/>
              <a:gd name="GluePoint2Y" fmla="*/ 620831 h 1074198"/>
              <a:gd name="GluePoint3X" fmla="*/ 3214009 w 4403325"/>
              <a:gd name="GluePoint3Y" fmla="*/ 957853 h 1074198"/>
              <a:gd name="GluePoint4X" fmla="*/ 1899995 w 4403325"/>
              <a:gd name="GluePoint4Y" fmla="*/ 1073150 h 1074198"/>
              <a:gd name="GluePoint5X" fmla="*/ 932241 w 4403325"/>
              <a:gd name="GluePoint5Y" fmla="*/ 957853 h 1074198"/>
              <a:gd name="GluePoint6X" fmla="*/ 195327 w 4403325"/>
              <a:gd name="GluePoint6Y" fmla="*/ 461188 h 1074198"/>
              <a:gd name="GluePoint7X" fmla="*/ 0 w 4403325"/>
              <a:gd name="GluePoint7Y" fmla="*/ 62082 h 10741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03325" h="1074198">
                <a:moveTo>
                  <a:pt x="4403325" y="0"/>
                </a:moveTo>
                <a:cubicBezTo>
                  <a:pt x="4333783" y="230819"/>
                  <a:pt x="4264241" y="461639"/>
                  <a:pt x="4065973" y="621437"/>
                </a:cubicBezTo>
                <a:cubicBezTo>
                  <a:pt x="3867705" y="781235"/>
                  <a:pt x="3574742" y="883328"/>
                  <a:pt x="3213717" y="958788"/>
                </a:cubicBezTo>
                <a:cubicBezTo>
                  <a:pt x="2852692" y="1034248"/>
                  <a:pt x="2280082" y="1074198"/>
                  <a:pt x="1899822" y="1074198"/>
                </a:cubicBezTo>
                <a:cubicBezTo>
                  <a:pt x="1519562" y="1074198"/>
                  <a:pt x="1216241" y="1060881"/>
                  <a:pt x="932156" y="958788"/>
                </a:cubicBezTo>
                <a:cubicBezTo>
                  <a:pt x="648071" y="856695"/>
                  <a:pt x="350668" y="611079"/>
                  <a:pt x="195309" y="461638"/>
                </a:cubicBezTo>
                <a:cubicBezTo>
                  <a:pt x="39950" y="312197"/>
                  <a:pt x="19975" y="187170"/>
                  <a:pt x="0" y="62143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404640" y="6120000"/>
            <a:ext cx="9039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596960" y="4502160"/>
            <a:ext cx="310320" cy="870840"/>
          </a:xfrm>
          <a:custGeom>
            <a:avLst/>
            <a:gdLst>
              <a:gd name="textAreaLeft" fmla="*/ 198720 w 310320"/>
              <a:gd name="textAreaRight" fmla="*/ 311400 w 310320"/>
              <a:gd name="textAreaTop" fmla="*/ 7920 h 870840"/>
              <a:gd name="textAreaBottom" fmla="*/ 863640 h 87084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322"/>
                  <a:pt x="10800" y="643"/>
                </a:cubicBezTo>
                <a:lnTo>
                  <a:pt x="10800" y="10157"/>
                </a:lnTo>
                <a:cubicBezTo>
                  <a:pt x="10800" y="10479"/>
                  <a:pt x="5400" y="10800"/>
                  <a:pt x="0" y="10800"/>
                </a:cubicBezTo>
                <a:cubicBezTo>
                  <a:pt x="5400" y="10800"/>
                  <a:pt x="10800" y="11122"/>
                  <a:pt x="10800" y="11443"/>
                </a:cubicBezTo>
                <a:lnTo>
                  <a:pt x="10800" y="20957"/>
                </a:lnTo>
                <a:cubicBezTo>
                  <a:pt x="10800" y="21279"/>
                  <a:pt x="16200" y="21600"/>
                  <a:pt x="21600" y="21600"/>
                </a:cubicBezTo>
              </a:path>
            </a:pathLst>
          </a:custGeom>
          <a:noFill/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966960" y="4562640"/>
            <a:ext cx="86400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Synaptic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Cleft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639960" y="179280"/>
            <a:ext cx="8280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AXON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" name=""/>
          <p:cNvGrpSpPr/>
          <p:nvPr/>
        </p:nvGrpSpPr>
        <p:grpSpPr>
          <a:xfrm>
            <a:off x="2184480" y="5157000"/>
            <a:ext cx="3610440" cy="1646280"/>
            <a:chOff x="2184480" y="5157000"/>
            <a:chExt cx="3610440" cy="1646280"/>
          </a:xfrm>
        </p:grpSpPr>
        <p:grpSp>
          <p:nvGrpSpPr>
            <p:cNvPr id="25" name=""/>
            <p:cNvGrpSpPr/>
            <p:nvPr/>
          </p:nvGrpSpPr>
          <p:grpSpPr>
            <a:xfrm>
              <a:off x="2612880" y="5157000"/>
              <a:ext cx="566280" cy="817560"/>
              <a:chOff x="2612880" y="5157000"/>
              <a:chExt cx="566280" cy="817560"/>
            </a:xfrm>
          </p:grpSpPr>
          <p:sp>
            <p:nvSpPr>
              <p:cNvPr id="26" name=""/>
              <p:cNvSpPr/>
              <p:nvPr/>
            </p:nvSpPr>
            <p:spPr>
              <a:xfrm>
                <a:off x="2649600" y="5373720"/>
                <a:ext cx="502560" cy="35316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2797200" y="5373720"/>
                <a:ext cx="194400" cy="353160"/>
              </a:xfrm>
              <a:prstGeom prst="can">
                <a:avLst>
                  <a:gd name="adj" fmla="val 21490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2765520" y="5184720"/>
                <a:ext cx="115200" cy="789840"/>
              </a:xfrm>
              <a:custGeom>
                <a:avLst/>
                <a:gdLst>
                  <a:gd name="textAreaLeft" fmla="*/ 0 w 115200"/>
                  <a:gd name="textAreaRight" fmla="*/ 115920 w 115200"/>
                  <a:gd name="textAreaTop" fmla="*/ 0 h 789840"/>
                  <a:gd name="textAreaBottom" fmla="*/ 790560 h 789840"/>
                  <a:gd name="GluePoint1X" fmla="*/ 0 w 115435"/>
                  <a:gd name="GluePoint1Y" fmla="*/ 0 h 790113"/>
                  <a:gd name="GluePoint2X" fmla="*/ 98037 w 115435"/>
                  <a:gd name="GluePoint2Y" fmla="*/ 142126 h 790113"/>
                  <a:gd name="GluePoint3X" fmla="*/ 115862 w 115435"/>
                  <a:gd name="GluePoint3Y" fmla="*/ 790575 h 790113"/>
                  <a:gd name="GluePoint4X" fmla="*/ 115862 w 115435"/>
                  <a:gd name="GluePoint4Y" fmla="*/ 790575 h 790113"/>
                  <a:gd name="GluePoint5X" fmla="*/ 115862 w 115435"/>
                  <a:gd name="GluePoint5Y" fmla="*/ 790575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600" tIns="46800" rIns="576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 flipH="1" flipV="1">
                <a:off x="2926080" y="5157000"/>
                <a:ext cx="113400" cy="788400"/>
              </a:xfrm>
              <a:custGeom>
                <a:avLst/>
                <a:gdLst>
                  <a:gd name="textAreaLeft" fmla="*/ 360 w 113400"/>
                  <a:gd name="textAreaRight" fmla="*/ 114480 w 113400"/>
                  <a:gd name="textAreaTop" fmla="*/ -360 h 788400"/>
                  <a:gd name="textAreaBottom" fmla="*/ 788760 h 788400"/>
                  <a:gd name="GluePoint1X" fmla="*/ 0 w 115435"/>
                  <a:gd name="GluePoint1Y" fmla="*/ 0 h 790113"/>
                  <a:gd name="GluePoint2X" fmla="*/ 96694 w 115435"/>
                  <a:gd name="GluePoint2Y" fmla="*/ 141841 h 790113"/>
                  <a:gd name="GluePoint3X" fmla="*/ 114274 w 115435"/>
                  <a:gd name="GluePoint3Y" fmla="*/ 788987 h 790113"/>
                  <a:gd name="GluePoint4X" fmla="*/ 114274 w 115435"/>
                  <a:gd name="GluePoint4Y" fmla="*/ 788987 h 790113"/>
                  <a:gd name="GluePoint5X" fmla="*/ 114274 w 115435"/>
                  <a:gd name="GluePoint5Y" fmla="*/ 788987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0000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6880" tIns="46800" rIns="5688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2612880" y="5334120"/>
                <a:ext cx="124920" cy="15624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2640" tIns="46800" rIns="626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3054240" y="5315040"/>
                <a:ext cx="124920" cy="1548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2640" tIns="46800" rIns="626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" name=""/>
            <p:cNvGrpSpPr/>
            <p:nvPr/>
          </p:nvGrpSpPr>
          <p:grpSpPr>
            <a:xfrm>
              <a:off x="3572280" y="5157000"/>
              <a:ext cx="556560" cy="817560"/>
              <a:chOff x="3572280" y="5157000"/>
              <a:chExt cx="556560" cy="817560"/>
            </a:xfrm>
          </p:grpSpPr>
          <p:sp>
            <p:nvSpPr>
              <p:cNvPr id="33" name=""/>
              <p:cNvSpPr/>
              <p:nvPr/>
            </p:nvSpPr>
            <p:spPr>
              <a:xfrm>
                <a:off x="3601080" y="5373720"/>
                <a:ext cx="502560" cy="35316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3750120" y="5373720"/>
                <a:ext cx="192960" cy="353160"/>
              </a:xfrm>
              <a:prstGeom prst="can">
                <a:avLst>
                  <a:gd name="adj" fmla="val 21314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>
                <a:off x="3572280" y="5361120"/>
                <a:ext cx="126360" cy="1548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360" tIns="46800" rIns="633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>
                <a:off x="4002480" y="5361120"/>
                <a:ext cx="126360" cy="1548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360" tIns="46800" rIns="633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>
                <a:off x="3700800" y="5184720"/>
                <a:ext cx="113760" cy="78984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789840"/>
                  <a:gd name="textAreaBottom" fmla="*/ 790560 h 789840"/>
                  <a:gd name="GluePoint1X" fmla="*/ 0 w 115435"/>
                  <a:gd name="GluePoint1Y" fmla="*/ 0 h 790113"/>
                  <a:gd name="GluePoint2X" fmla="*/ 96694 w 115435"/>
                  <a:gd name="GluePoint2Y" fmla="*/ 142126 h 790113"/>
                  <a:gd name="GluePoint3X" fmla="*/ 114274 w 115435"/>
                  <a:gd name="GluePoint3Y" fmla="*/ 790575 h 790113"/>
                  <a:gd name="GluePoint4X" fmla="*/ 114274 w 115435"/>
                  <a:gd name="GluePoint4Y" fmla="*/ 790575 h 790113"/>
                  <a:gd name="GluePoint5X" fmla="*/ 114274 w 115435"/>
                  <a:gd name="GluePoint5Y" fmla="*/ 790575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6880" tIns="46800" rIns="5688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 flipH="1" flipV="1">
                <a:off x="3870000" y="5157000"/>
                <a:ext cx="113760" cy="788400"/>
              </a:xfrm>
              <a:custGeom>
                <a:avLst/>
                <a:gdLst>
                  <a:gd name="textAreaLeft" fmla="*/ -360 w 113760"/>
                  <a:gd name="textAreaRight" fmla="*/ 114120 w 113760"/>
                  <a:gd name="textAreaTop" fmla="*/ -360 h 788400"/>
                  <a:gd name="textAreaBottom" fmla="*/ 788760 h 788400"/>
                  <a:gd name="GluePoint1X" fmla="*/ 0 w 115435"/>
                  <a:gd name="GluePoint1Y" fmla="*/ 0 h 790113"/>
                  <a:gd name="GluePoint2X" fmla="*/ 96694 w 115435"/>
                  <a:gd name="GluePoint2Y" fmla="*/ 141841 h 790113"/>
                  <a:gd name="GluePoint3X" fmla="*/ 114274 w 115435"/>
                  <a:gd name="GluePoint3Y" fmla="*/ 788987 h 790113"/>
                  <a:gd name="GluePoint4X" fmla="*/ 114274 w 115435"/>
                  <a:gd name="GluePoint4Y" fmla="*/ 788987 h 790113"/>
                  <a:gd name="GluePoint5X" fmla="*/ 114274 w 115435"/>
                  <a:gd name="GluePoint5Y" fmla="*/ 788987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0000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6880" tIns="46800" rIns="5688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" name=""/>
            <p:cNvGrpSpPr/>
            <p:nvPr/>
          </p:nvGrpSpPr>
          <p:grpSpPr>
            <a:xfrm>
              <a:off x="4534560" y="5157000"/>
              <a:ext cx="577080" cy="817560"/>
              <a:chOff x="4534560" y="5157000"/>
              <a:chExt cx="577080" cy="817560"/>
            </a:xfrm>
          </p:grpSpPr>
          <p:sp>
            <p:nvSpPr>
              <p:cNvPr id="40" name=""/>
              <p:cNvSpPr/>
              <p:nvPr/>
            </p:nvSpPr>
            <p:spPr>
              <a:xfrm>
                <a:off x="4536360" y="5378400"/>
                <a:ext cx="502560" cy="35352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>
                <a:off x="4721760" y="5378400"/>
                <a:ext cx="192960" cy="353520"/>
              </a:xfrm>
              <a:prstGeom prst="can">
                <a:avLst>
                  <a:gd name="adj" fmla="val 21314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4534560" y="5351400"/>
                <a:ext cx="126000" cy="1548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000" tIns="46800" rIns="63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>
                <a:off x="4985280" y="5343480"/>
                <a:ext cx="126360" cy="1548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360" tIns="46800" rIns="633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>
                <a:off x="4688280" y="5184720"/>
                <a:ext cx="115200" cy="789840"/>
              </a:xfrm>
              <a:custGeom>
                <a:avLst/>
                <a:gdLst>
                  <a:gd name="textAreaLeft" fmla="*/ 0 w 115200"/>
                  <a:gd name="textAreaRight" fmla="*/ 115920 w 115200"/>
                  <a:gd name="textAreaTop" fmla="*/ 0 h 789840"/>
                  <a:gd name="textAreaBottom" fmla="*/ 790560 h 789840"/>
                  <a:gd name="GluePoint1X" fmla="*/ 0 w 115435"/>
                  <a:gd name="GluePoint1Y" fmla="*/ 0 h 790113"/>
                  <a:gd name="GluePoint2X" fmla="*/ 98037 w 115435"/>
                  <a:gd name="GluePoint2Y" fmla="*/ 142126 h 790113"/>
                  <a:gd name="GluePoint3X" fmla="*/ 115862 w 115435"/>
                  <a:gd name="GluePoint3Y" fmla="*/ 790575 h 790113"/>
                  <a:gd name="GluePoint4X" fmla="*/ 115862 w 115435"/>
                  <a:gd name="GluePoint4Y" fmla="*/ 790575 h 790113"/>
                  <a:gd name="GluePoint5X" fmla="*/ 115862 w 115435"/>
                  <a:gd name="GluePoint5Y" fmla="*/ 790575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600" tIns="46800" rIns="576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 flipH="1" flipV="1">
                <a:off x="4850640" y="5157000"/>
                <a:ext cx="114840" cy="788400"/>
              </a:xfrm>
              <a:custGeom>
                <a:avLst/>
                <a:gdLst>
                  <a:gd name="textAreaLeft" fmla="*/ 360 w 114840"/>
                  <a:gd name="textAreaRight" fmla="*/ 115920 w 114840"/>
                  <a:gd name="textAreaTop" fmla="*/ -360 h 788400"/>
                  <a:gd name="textAreaBottom" fmla="*/ 788760 h 788400"/>
                  <a:gd name="GluePoint1X" fmla="*/ 0 w 115435"/>
                  <a:gd name="GluePoint1Y" fmla="*/ 0 h 790113"/>
                  <a:gd name="GluePoint2X" fmla="*/ 98036 w 115435"/>
                  <a:gd name="GluePoint2Y" fmla="*/ 141841 h 790113"/>
                  <a:gd name="GluePoint3X" fmla="*/ 115861 w 115435"/>
                  <a:gd name="GluePoint3Y" fmla="*/ 788987 h 790113"/>
                  <a:gd name="GluePoint4X" fmla="*/ 115861 w 115435"/>
                  <a:gd name="GluePoint4Y" fmla="*/ 788987 h 790113"/>
                  <a:gd name="GluePoint5X" fmla="*/ 115861 w 115435"/>
                  <a:gd name="GluePoint5Y" fmla="*/ 788987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0000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600" tIns="46800" rIns="576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" name=""/>
            <p:cNvSpPr/>
            <p:nvPr/>
          </p:nvSpPr>
          <p:spPr>
            <a:xfrm>
              <a:off x="2184480" y="6435720"/>
              <a:ext cx="361044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A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e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t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y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l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o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l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i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e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r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e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e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p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t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o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r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s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-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i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o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t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i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i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" name=""/>
          <p:cNvSpPr/>
          <p:nvPr/>
        </p:nvSpPr>
        <p:spPr>
          <a:xfrm>
            <a:off x="258840" y="189000"/>
            <a:ext cx="266940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Release of transmitter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 rot="1860000">
            <a:off x="1274760" y="5106960"/>
            <a:ext cx="194400" cy="35316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 rot="19380000">
            <a:off x="6527160" y="4995360"/>
            <a:ext cx="194400" cy="35352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" name=""/>
          <p:cNvGrpSpPr/>
          <p:nvPr/>
        </p:nvGrpSpPr>
        <p:grpSpPr>
          <a:xfrm>
            <a:off x="1676880" y="1851120"/>
            <a:ext cx="5379120" cy="1279080"/>
            <a:chOff x="1676880" y="1851120"/>
            <a:chExt cx="5379120" cy="1279080"/>
          </a:xfrm>
        </p:grpSpPr>
        <p:sp>
          <p:nvSpPr>
            <p:cNvPr id="51" name=""/>
            <p:cNvSpPr/>
            <p:nvPr/>
          </p:nvSpPr>
          <p:spPr>
            <a:xfrm>
              <a:off x="5960880" y="1851120"/>
              <a:ext cx="1095120" cy="64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  <a:ea typeface="DejaVu Sans"/>
                </a:rPr>
                <a:t>Ca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  <a:ea typeface="DejaVu Sans"/>
                </a:rPr>
                <a:t>channels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" name=""/>
            <p:cNvGrpSpPr/>
            <p:nvPr/>
          </p:nvGrpSpPr>
          <p:grpSpPr>
            <a:xfrm>
              <a:off x="1676880" y="2673000"/>
              <a:ext cx="457200" cy="457200"/>
              <a:chOff x="1676880" y="2673000"/>
              <a:chExt cx="457200" cy="457200"/>
            </a:xfrm>
          </p:grpSpPr>
          <p:sp>
            <p:nvSpPr>
              <p:cNvPr id="53" name=""/>
              <p:cNvSpPr/>
              <p:nvPr/>
            </p:nvSpPr>
            <p:spPr>
              <a:xfrm rot="7860000">
                <a:off x="1813320" y="2741040"/>
                <a:ext cx="194400" cy="35352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1676880" y="2673000"/>
                <a:ext cx="457200" cy="4572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5" name=""/>
            <p:cNvGrpSpPr/>
            <p:nvPr/>
          </p:nvGrpSpPr>
          <p:grpSpPr>
            <a:xfrm>
              <a:off x="2468880" y="2097000"/>
              <a:ext cx="457200" cy="457200"/>
              <a:chOff x="2468880" y="2097000"/>
              <a:chExt cx="457200" cy="457200"/>
            </a:xfrm>
          </p:grpSpPr>
          <p:sp>
            <p:nvSpPr>
              <p:cNvPr id="56" name=""/>
              <p:cNvSpPr/>
              <p:nvPr/>
            </p:nvSpPr>
            <p:spPr>
              <a:xfrm rot="7860000">
                <a:off x="2607120" y="2187000"/>
                <a:ext cx="194400" cy="35352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2468880" y="2097000"/>
                <a:ext cx="457200" cy="4572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8" name=""/>
            <p:cNvGrpSpPr/>
            <p:nvPr/>
          </p:nvGrpSpPr>
          <p:grpSpPr>
            <a:xfrm>
              <a:off x="4895280" y="2111400"/>
              <a:ext cx="355320" cy="572400"/>
              <a:chOff x="4895280" y="2111400"/>
              <a:chExt cx="355320" cy="572400"/>
            </a:xfrm>
          </p:grpSpPr>
          <p:sp>
            <p:nvSpPr>
              <p:cNvPr id="59" name=""/>
              <p:cNvSpPr/>
              <p:nvPr/>
            </p:nvSpPr>
            <p:spPr>
              <a:xfrm rot="12780000">
                <a:off x="4975560" y="2207880"/>
                <a:ext cx="194400" cy="35316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 flipH="1">
                <a:off x="4923360" y="2111400"/>
                <a:ext cx="300240" cy="5724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1" name=""/>
            <p:cNvGrpSpPr/>
            <p:nvPr/>
          </p:nvGrpSpPr>
          <p:grpSpPr>
            <a:xfrm>
              <a:off x="5555160" y="2514600"/>
              <a:ext cx="355680" cy="561600"/>
              <a:chOff x="5555160" y="2514600"/>
              <a:chExt cx="355680" cy="561600"/>
            </a:xfrm>
          </p:grpSpPr>
          <p:sp>
            <p:nvSpPr>
              <p:cNvPr id="62" name=""/>
              <p:cNvSpPr/>
              <p:nvPr/>
            </p:nvSpPr>
            <p:spPr>
              <a:xfrm rot="12780000">
                <a:off x="5635440" y="2604960"/>
                <a:ext cx="194400" cy="35352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 flipH="1">
                <a:off x="5558400" y="2514600"/>
                <a:ext cx="319680" cy="5616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4" name=""/>
          <p:cNvGrpSpPr/>
          <p:nvPr/>
        </p:nvGrpSpPr>
        <p:grpSpPr>
          <a:xfrm>
            <a:off x="2843640" y="2852640"/>
            <a:ext cx="2057040" cy="2237760"/>
            <a:chOff x="2843640" y="2852640"/>
            <a:chExt cx="2057040" cy="2237760"/>
          </a:xfrm>
        </p:grpSpPr>
        <p:grpSp>
          <p:nvGrpSpPr>
            <p:cNvPr id="65" name=""/>
            <p:cNvGrpSpPr/>
            <p:nvPr/>
          </p:nvGrpSpPr>
          <p:grpSpPr>
            <a:xfrm>
              <a:off x="2843640" y="2852640"/>
              <a:ext cx="2029680" cy="2237760"/>
              <a:chOff x="2843640" y="2852640"/>
              <a:chExt cx="2029680" cy="2237760"/>
            </a:xfrm>
          </p:grpSpPr>
          <p:sp>
            <p:nvSpPr>
              <p:cNvPr id="66" name=""/>
              <p:cNvSpPr/>
              <p:nvPr/>
            </p:nvSpPr>
            <p:spPr>
              <a:xfrm>
                <a:off x="2961360" y="2852640"/>
                <a:ext cx="419760" cy="4424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>
                <a:off x="3663000" y="3271680"/>
                <a:ext cx="419760" cy="4406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>
                <a:off x="4424760" y="3068640"/>
                <a:ext cx="420120" cy="44208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>
                <a:off x="3501000" y="4280040"/>
                <a:ext cx="418320" cy="4406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>
                <a:off x="4280400" y="4280040"/>
                <a:ext cx="420120" cy="4406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>
                <a:off x="2870640" y="4280040"/>
                <a:ext cx="420120" cy="4406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72" name=""/>
              <p:cNvCxnSpPr/>
              <p:nvPr/>
            </p:nvCxnSpPr>
            <p:spPr>
              <a:xfrm flipH="1">
                <a:off x="3090600" y="3460320"/>
                <a:ext cx="36360" cy="68724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triangle" w="med"/>
              </a:ln>
            </p:spPr>
          </p:cxnSp>
          <p:cxnSp>
            <p:nvCxnSpPr>
              <p:cNvPr id="73" name=""/>
              <p:cNvCxnSpPr/>
              <p:nvPr/>
            </p:nvCxnSpPr>
            <p:spPr>
              <a:xfrm flipH="1">
                <a:off x="3780000" y="3860280"/>
                <a:ext cx="33120" cy="27468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arrow" w="med"/>
              </a:ln>
            </p:spPr>
          </p:cxnSp>
          <p:cxnSp>
            <p:nvCxnSpPr>
              <p:cNvPr id="74" name=""/>
              <p:cNvCxnSpPr/>
              <p:nvPr/>
            </p:nvCxnSpPr>
            <p:spPr>
              <a:xfrm flipH="1">
                <a:off x="4572000" y="3614760"/>
                <a:ext cx="61560" cy="53496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arrow" w="med"/>
              </a:ln>
            </p:spPr>
          </p:cxnSp>
          <p:sp>
            <p:nvSpPr>
              <p:cNvPr id="75" name=""/>
              <p:cNvSpPr/>
              <p:nvPr/>
            </p:nvSpPr>
            <p:spPr>
              <a:xfrm>
                <a:off x="2843640" y="4784760"/>
                <a:ext cx="123120" cy="1533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3077280" y="4937040"/>
                <a:ext cx="123120" cy="1533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3508920" y="4857840"/>
                <a:ext cx="123120" cy="151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3852000" y="4869000"/>
                <a:ext cx="123120" cy="1530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4462920" y="4869000"/>
                <a:ext cx="123120" cy="1530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4752000" y="4869000"/>
                <a:ext cx="121320" cy="1530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0840" tIns="46800" rIns="608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3013560" y="4616280"/>
                <a:ext cx="123120" cy="15192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3653280" y="4653000"/>
                <a:ext cx="123120" cy="151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4445640" y="4645080"/>
                <a:ext cx="123120" cy="151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" name=""/>
            <p:cNvSpPr/>
            <p:nvPr/>
          </p:nvSpPr>
          <p:spPr>
            <a:xfrm>
              <a:off x="2935800" y="293580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3655800" y="336816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4267800" y="4376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</a:t>
              </a: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3475800" y="4376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2863800" y="4340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4447800" y="3152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" name=""/>
          <p:cNvSpPr/>
          <p:nvPr/>
        </p:nvSpPr>
        <p:spPr>
          <a:xfrm>
            <a:off x="6633720" y="539208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874080" y="546444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 flipV="1">
            <a:off x="1197720" y="5029200"/>
            <a:ext cx="402480" cy="4568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 flipH="1" flipV="1">
            <a:off x="6472800" y="4944600"/>
            <a:ext cx="385200" cy="541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399960" y="4784760"/>
            <a:ext cx="7962120" cy="772200"/>
          </a:xfrm>
          <a:custGeom>
            <a:avLst/>
            <a:gdLst>
              <a:gd name="textAreaLeft" fmla="*/ 0 w 7962120"/>
              <a:gd name="textAreaRight" fmla="*/ 7962840 w 7962120"/>
              <a:gd name="textAreaTop" fmla="*/ 0 h 772200"/>
              <a:gd name="textAreaBottom" fmla="*/ 772920 h 772200"/>
              <a:gd name="GluePoint1X" fmla="*/ 7962900 w 7963270"/>
              <a:gd name="GluePoint1Y" fmla="*/ 44423 h 772503"/>
              <a:gd name="GluePoint2X" fmla="*/ 7048542 w 7963270"/>
              <a:gd name="GluePoint2Y" fmla="*/ 115501 h 772503"/>
              <a:gd name="GluePoint3X" fmla="*/ 6515907 w 7963270"/>
              <a:gd name="GluePoint3Y" fmla="*/ 239886 h 772503"/>
              <a:gd name="GluePoint4X" fmla="*/ 5637059 w 7963270"/>
              <a:gd name="GluePoint4Y" fmla="*/ 648582 h 772503"/>
              <a:gd name="GluePoint5X" fmla="*/ 4669438 w 7963270"/>
              <a:gd name="GluePoint5Y" fmla="*/ 755198 h 772503"/>
              <a:gd name="GluePoint6X" fmla="*/ 3426622 w 7963270"/>
              <a:gd name="GluePoint6Y" fmla="*/ 772967 h 772503"/>
              <a:gd name="GluePoint7X" fmla="*/ 2414614 w 7963270"/>
              <a:gd name="GluePoint7Y" fmla="*/ 755198 h 772503"/>
              <a:gd name="GluePoint8X" fmla="*/ 1633415 w 7963270"/>
              <a:gd name="GluePoint8Y" fmla="*/ 675236 h 772503"/>
              <a:gd name="GluePoint9X" fmla="*/ 949867 w 7963270"/>
              <a:gd name="GluePoint9Y" fmla="*/ 479773 h 772503"/>
              <a:gd name="GluePoint10X" fmla="*/ 417232 w 7963270"/>
              <a:gd name="GluePoint10Y" fmla="*/ 88847 h 772503"/>
              <a:gd name="GluePoint11X" fmla="*/ 0 w 7963270"/>
              <a:gd name="GluePoint11Y" fmla="*/ 0 h 7725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7963270" h="772503">
                <a:moveTo>
                  <a:pt x="7963270" y="44388"/>
                </a:moveTo>
                <a:cubicBezTo>
                  <a:pt x="7626658" y="63623"/>
                  <a:pt x="7290047" y="82859"/>
                  <a:pt x="7048870" y="115410"/>
                </a:cubicBezTo>
                <a:cubicBezTo>
                  <a:pt x="6807693" y="147961"/>
                  <a:pt x="6751468" y="150920"/>
                  <a:pt x="6516210" y="239697"/>
                </a:cubicBezTo>
                <a:cubicBezTo>
                  <a:pt x="6280952" y="328474"/>
                  <a:pt x="5945080" y="562253"/>
                  <a:pt x="5637321" y="648070"/>
                </a:cubicBezTo>
                <a:cubicBezTo>
                  <a:pt x="5329562" y="733887"/>
                  <a:pt x="5038078" y="733888"/>
                  <a:pt x="4669655" y="754602"/>
                </a:cubicBezTo>
                <a:cubicBezTo>
                  <a:pt x="4301232" y="775317"/>
                  <a:pt x="3802602" y="772357"/>
                  <a:pt x="3426781" y="772357"/>
                </a:cubicBezTo>
                <a:cubicBezTo>
                  <a:pt x="3050960" y="772357"/>
                  <a:pt x="2713608" y="770878"/>
                  <a:pt x="2414726" y="754602"/>
                </a:cubicBezTo>
                <a:cubicBezTo>
                  <a:pt x="2115844" y="738326"/>
                  <a:pt x="1877627" y="720571"/>
                  <a:pt x="1633491" y="674703"/>
                </a:cubicBezTo>
                <a:cubicBezTo>
                  <a:pt x="1389355" y="628835"/>
                  <a:pt x="1152618" y="577048"/>
                  <a:pt x="949911" y="479394"/>
                </a:cubicBezTo>
                <a:cubicBezTo>
                  <a:pt x="747204" y="381740"/>
                  <a:pt x="575570" y="168676"/>
                  <a:pt x="417251" y="88777"/>
                </a:cubicBezTo>
                <a:cubicBezTo>
                  <a:pt x="258932" y="8878"/>
                  <a:pt x="129466" y="4439"/>
                  <a:pt x="0" y="0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581120" y="363600"/>
            <a:ext cx="4874400" cy="4380840"/>
          </a:xfrm>
          <a:custGeom>
            <a:avLst/>
            <a:gdLst>
              <a:gd name="textAreaLeft" fmla="*/ 0 w 4874400"/>
              <a:gd name="textAreaRight" fmla="*/ 4875120 w 4874400"/>
              <a:gd name="textAreaTop" fmla="*/ 0 h 4380840"/>
              <a:gd name="textAreaBottom" fmla="*/ 4381560 h 4380840"/>
              <a:gd name="GluePoint1X" fmla="*/ 2894851 w 4875911"/>
              <a:gd name="GluePoint1Y" fmla="*/ 26507 h 4381571"/>
              <a:gd name="GluePoint2X" fmla="*/ 2850469 w 4875911"/>
              <a:gd name="GluePoint2Y" fmla="*/ 763341 h 4381571"/>
              <a:gd name="GluePoint3X" fmla="*/ 2956986 w 4875911"/>
              <a:gd name="GluePoint3Y" fmla="*/ 1651094 h 4381571"/>
              <a:gd name="GluePoint4X" fmla="*/ 3658221 w 4875911"/>
              <a:gd name="GluePoint4Y" fmla="*/ 2077215 h 4381571"/>
              <a:gd name="GluePoint5X" fmla="*/ 4412715 w 4875911"/>
              <a:gd name="GluePoint5Y" fmla="*/ 2592112 h 4381571"/>
              <a:gd name="GluePoint6X" fmla="*/ 4821029 w 4875911"/>
              <a:gd name="GluePoint6Y" fmla="*/ 3115886 h 4381571"/>
              <a:gd name="GluePoint7X" fmla="*/ 4856535 w 4875911"/>
              <a:gd name="GluePoint7Y" fmla="*/ 3533130 h 4381571"/>
              <a:gd name="GluePoint8X" fmla="*/ 4687884 w 4875911"/>
              <a:gd name="GluePoint8Y" fmla="*/ 3959251 h 4381571"/>
              <a:gd name="GluePoint9X" fmla="*/ 4110916 w 4875911"/>
              <a:gd name="GluePoint9Y" fmla="*/ 4261086 h 4381571"/>
              <a:gd name="GluePoint10X" fmla="*/ 2442153 w 4875911"/>
              <a:gd name="GluePoint10Y" fmla="*/ 4376495 h 4381571"/>
              <a:gd name="GluePoint11X" fmla="*/ 1110694 w 4875911"/>
              <a:gd name="GluePoint11Y" fmla="*/ 4358739 h 4381571"/>
              <a:gd name="GluePoint12X" fmla="*/ 391706 w 4875911"/>
              <a:gd name="GluePoint12Y" fmla="*/ 4154557 h 4381571"/>
              <a:gd name="GluePoint13X" fmla="*/ 27774 w 4875911"/>
              <a:gd name="GluePoint13Y" fmla="*/ 3613027 h 4381571"/>
              <a:gd name="GluePoint14X" fmla="*/ 152043 w 4875911"/>
              <a:gd name="GluePoint14Y" fmla="*/ 2769662 h 4381571"/>
              <a:gd name="GluePoint15X" fmla="*/ 1155076 w 4875911"/>
              <a:gd name="GluePoint15Y" fmla="*/ 1979563 h 4381571"/>
              <a:gd name="GluePoint16X" fmla="*/ 1856314 w 4875911"/>
              <a:gd name="GluePoint16Y" fmla="*/ 1553441 h 4381571"/>
              <a:gd name="GluePoint17X" fmla="*/ 2007210 w 4875911"/>
              <a:gd name="GluePoint17Y" fmla="*/ 541403 h 4381571"/>
              <a:gd name="GluePoint18X" fmla="*/ 2007212 w 4875911"/>
              <a:gd name="GluePoint18Y" fmla="*/ 8751 h 438157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4875911" h="4381571">
                <a:moveTo>
                  <a:pt x="2895265" y="26507"/>
                </a:moveTo>
                <a:cubicBezTo>
                  <a:pt x="2832382" y="381614"/>
                  <a:pt x="2840520" y="492584"/>
                  <a:pt x="2850877" y="763353"/>
                </a:cubicBezTo>
                <a:cubicBezTo>
                  <a:pt x="2861234" y="1034122"/>
                  <a:pt x="2822764" y="1432138"/>
                  <a:pt x="2957409" y="1651121"/>
                </a:cubicBezTo>
                <a:cubicBezTo>
                  <a:pt x="3092054" y="1870104"/>
                  <a:pt x="3416089" y="1920410"/>
                  <a:pt x="3658745" y="2077249"/>
                </a:cubicBezTo>
                <a:cubicBezTo>
                  <a:pt x="3901401" y="2234088"/>
                  <a:pt x="4219518" y="2419040"/>
                  <a:pt x="4413347" y="2592154"/>
                </a:cubicBezTo>
                <a:cubicBezTo>
                  <a:pt x="4607176" y="2765269"/>
                  <a:pt x="4747739" y="2959097"/>
                  <a:pt x="4821719" y="3115936"/>
                </a:cubicBezTo>
                <a:cubicBezTo>
                  <a:pt x="4895699" y="3272775"/>
                  <a:pt x="4879424" y="3392624"/>
                  <a:pt x="4857230" y="3533187"/>
                </a:cubicBezTo>
                <a:cubicBezTo>
                  <a:pt x="4835036" y="3673750"/>
                  <a:pt x="4812842" y="3837987"/>
                  <a:pt x="4688555" y="3959315"/>
                </a:cubicBezTo>
                <a:cubicBezTo>
                  <a:pt x="4564268" y="4080643"/>
                  <a:pt x="4485847" y="4191613"/>
                  <a:pt x="4111505" y="4261155"/>
                </a:cubicBezTo>
                <a:cubicBezTo>
                  <a:pt x="3737163" y="4330697"/>
                  <a:pt x="2942612" y="4360290"/>
                  <a:pt x="2442503" y="4376566"/>
                </a:cubicBezTo>
                <a:cubicBezTo>
                  <a:pt x="1942394" y="4392842"/>
                  <a:pt x="1554736" y="4364729"/>
                  <a:pt x="1110853" y="4358810"/>
                </a:cubicBezTo>
                <a:cubicBezTo>
                  <a:pt x="769063" y="4321820"/>
                  <a:pt x="572275" y="4278911"/>
                  <a:pt x="391762" y="4154624"/>
                </a:cubicBezTo>
                <a:cubicBezTo>
                  <a:pt x="211249" y="4030337"/>
                  <a:pt x="67727" y="3843905"/>
                  <a:pt x="27778" y="3613086"/>
                </a:cubicBezTo>
                <a:cubicBezTo>
                  <a:pt x="-12171" y="3382267"/>
                  <a:pt x="-35845" y="3041955"/>
                  <a:pt x="152065" y="2769707"/>
                </a:cubicBezTo>
                <a:cubicBezTo>
                  <a:pt x="339975" y="2497459"/>
                  <a:pt x="871155" y="2182302"/>
                  <a:pt x="1155241" y="1979595"/>
                </a:cubicBezTo>
                <a:cubicBezTo>
                  <a:pt x="1439327" y="1776888"/>
                  <a:pt x="1714537" y="1793163"/>
                  <a:pt x="1856580" y="1553466"/>
                </a:cubicBezTo>
                <a:cubicBezTo>
                  <a:pt x="1998623" y="1313769"/>
                  <a:pt x="1982344" y="798864"/>
                  <a:pt x="2007497" y="541412"/>
                </a:cubicBezTo>
                <a:cubicBezTo>
                  <a:pt x="2032650" y="283960"/>
                  <a:pt x="2019336" y="-59311"/>
                  <a:pt x="2007499" y="8751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2889360" y="2852640"/>
            <a:ext cx="423000" cy="44532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846160" y="2887560"/>
            <a:ext cx="5270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591000" y="3271680"/>
            <a:ext cx="423000" cy="44388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3566880" y="3306600"/>
            <a:ext cx="5270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352760" y="3068640"/>
            <a:ext cx="423360" cy="44532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4328640" y="3105000"/>
            <a:ext cx="5270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429000" y="4280040"/>
            <a:ext cx="421560" cy="44352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3404880" y="4314960"/>
            <a:ext cx="5270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4208400" y="4280040"/>
            <a:ext cx="423360" cy="44352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4184280" y="4314960"/>
            <a:ext cx="5270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2798640" y="4280040"/>
            <a:ext cx="423360" cy="44352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774520" y="4314960"/>
            <a:ext cx="5270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"/>
          <p:cNvCxnSpPr/>
          <p:nvPr/>
        </p:nvCxnSpPr>
        <p:spPr>
          <a:xfrm flipH="1">
            <a:off x="3020760" y="3460680"/>
            <a:ext cx="39600" cy="69048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cxnSp>
        <p:nvCxnSpPr>
          <p:cNvPr id="109" name=""/>
          <p:cNvCxnSpPr/>
          <p:nvPr/>
        </p:nvCxnSpPr>
        <p:spPr>
          <a:xfrm flipH="1">
            <a:off x="3707640" y="3860640"/>
            <a:ext cx="36360" cy="27900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cxnSp>
        <p:nvCxnSpPr>
          <p:cNvPr id="110" name=""/>
          <p:cNvCxnSpPr/>
          <p:nvPr/>
        </p:nvCxnSpPr>
        <p:spPr>
          <a:xfrm flipH="1">
            <a:off x="4500360" y="3614760"/>
            <a:ext cx="64800" cy="53640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sp>
        <p:nvSpPr>
          <p:cNvPr id="111" name=""/>
          <p:cNvSpPr/>
          <p:nvPr/>
        </p:nvSpPr>
        <p:spPr>
          <a:xfrm>
            <a:off x="3160800" y="5373720"/>
            <a:ext cx="502560" cy="35316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3308400" y="5373720"/>
            <a:ext cx="194400" cy="353160"/>
          </a:xfrm>
          <a:prstGeom prst="can">
            <a:avLst>
              <a:gd name="adj" fmla="val 21490"/>
            </a:avLst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941560" y="4616280"/>
            <a:ext cx="126360" cy="1551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3581280" y="4653000"/>
            <a:ext cx="126360" cy="15480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4373640" y="4645080"/>
            <a:ext cx="126360" cy="15480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132000" y="5361120"/>
            <a:ext cx="124920" cy="15480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3562200" y="5361120"/>
            <a:ext cx="126360" cy="15480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3260880" y="5184720"/>
            <a:ext cx="113400" cy="789840"/>
          </a:xfrm>
          <a:custGeom>
            <a:avLst/>
            <a:gdLst>
              <a:gd name="textAreaLeft" fmla="*/ 0 w 113400"/>
              <a:gd name="textAreaRight" fmla="*/ 114120 w 113400"/>
              <a:gd name="textAreaTop" fmla="*/ 0 h 789840"/>
              <a:gd name="textAreaBottom" fmla="*/ 790560 h 789840"/>
              <a:gd name="GluePoint1X" fmla="*/ 0 w 115435"/>
              <a:gd name="GluePoint1Y" fmla="*/ 0 h 790113"/>
              <a:gd name="GluePoint2X" fmla="*/ 96694 w 115435"/>
              <a:gd name="GluePoint2Y" fmla="*/ 142126 h 790113"/>
              <a:gd name="GluePoint3X" fmla="*/ 114274 w 115435"/>
              <a:gd name="GluePoint3Y" fmla="*/ 790575 h 790113"/>
              <a:gd name="GluePoint4X" fmla="*/ 114274 w 115435"/>
              <a:gd name="GluePoint4Y" fmla="*/ 790575 h 790113"/>
              <a:gd name="GluePoint5X" fmla="*/ 114274 w 115435"/>
              <a:gd name="GluePoint5Y" fmla="*/ 790575 h 790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15435" h="790113">
                <a:moveTo>
                  <a:pt x="0" y="0"/>
                </a:moveTo>
                <a:cubicBezTo>
                  <a:pt x="39209" y="5179"/>
                  <a:pt x="78419" y="10358"/>
                  <a:pt x="97654" y="142043"/>
                </a:cubicBezTo>
                <a:cubicBezTo>
                  <a:pt x="116889" y="273728"/>
                  <a:pt x="115409" y="790113"/>
                  <a:pt x="115409" y="790113"/>
                </a:cubicBezTo>
                <a:lnTo>
                  <a:pt x="115409" y="790113"/>
                </a:lnTo>
                <a:lnTo>
                  <a:pt x="115409" y="790113"/>
                </a:lnTo>
              </a:path>
            </a:pathLst>
          </a:custGeom>
          <a:noFill/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56880" tIns="46800" rIns="5688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2852640" y="498780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 flipH="1" flipV="1">
            <a:off x="3428280" y="5157000"/>
            <a:ext cx="115200" cy="788400"/>
          </a:xfrm>
          <a:custGeom>
            <a:avLst/>
            <a:gdLst>
              <a:gd name="textAreaLeft" fmla="*/ -360 w 115200"/>
              <a:gd name="textAreaRight" fmla="*/ 115560 w 115200"/>
              <a:gd name="textAreaTop" fmla="*/ -360 h 788400"/>
              <a:gd name="textAreaBottom" fmla="*/ 788760 h 788400"/>
              <a:gd name="GluePoint1X" fmla="*/ 0 w 115435"/>
              <a:gd name="GluePoint1Y" fmla="*/ 0 h 790113"/>
              <a:gd name="GluePoint2X" fmla="*/ 98037 w 115435"/>
              <a:gd name="GluePoint2Y" fmla="*/ 141841 h 790113"/>
              <a:gd name="GluePoint3X" fmla="*/ 115862 w 115435"/>
              <a:gd name="GluePoint3Y" fmla="*/ 788987 h 790113"/>
              <a:gd name="GluePoint4X" fmla="*/ 115862 w 115435"/>
              <a:gd name="GluePoint4Y" fmla="*/ 788987 h 790113"/>
              <a:gd name="GluePoint5X" fmla="*/ 115862 w 115435"/>
              <a:gd name="GluePoint5Y" fmla="*/ 788987 h 790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15435" h="790113">
                <a:moveTo>
                  <a:pt x="0" y="0"/>
                </a:moveTo>
                <a:cubicBezTo>
                  <a:pt x="39209" y="5179"/>
                  <a:pt x="78419" y="10358"/>
                  <a:pt x="97654" y="142043"/>
                </a:cubicBezTo>
                <a:cubicBezTo>
                  <a:pt x="116889" y="273728"/>
                  <a:pt x="115409" y="790113"/>
                  <a:pt x="115409" y="790113"/>
                </a:cubicBezTo>
                <a:lnTo>
                  <a:pt x="115409" y="790113"/>
                </a:lnTo>
                <a:lnTo>
                  <a:pt x="115409" y="790113"/>
                </a:lnTo>
              </a:path>
            </a:pathLst>
          </a:custGeom>
          <a:noFill/>
          <a:ln w="25560">
            <a:solidFill>
              <a:srgbClr val="0000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57600" tIns="46800" rIns="576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487680" y="5769000"/>
            <a:ext cx="4100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K</a:t>
            </a:r>
            <a:r>
              <a:rPr lang="en-GB" sz="1800" b="0" u="none" strike="noStrike" baseline="30000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846440" y="5362560"/>
            <a:ext cx="4402800" cy="1072440"/>
          </a:xfrm>
          <a:custGeom>
            <a:avLst/>
            <a:gdLst>
              <a:gd name="textAreaLeft" fmla="*/ 0 w 4402800"/>
              <a:gd name="textAreaRight" fmla="*/ 4403520 w 4402800"/>
              <a:gd name="textAreaTop" fmla="*/ 0 h 1072440"/>
              <a:gd name="textAreaBottom" fmla="*/ 1073160 h 1072440"/>
              <a:gd name="GluePoint1X" fmla="*/ 4403725 w 4403325"/>
              <a:gd name="GluePoint1Y" fmla="*/ 0 h 1074198"/>
              <a:gd name="GluePoint2X" fmla="*/ 4066342 w 4403325"/>
              <a:gd name="GluePoint2Y" fmla="*/ 620831 h 1074198"/>
              <a:gd name="GluePoint3X" fmla="*/ 3214009 w 4403325"/>
              <a:gd name="GluePoint3Y" fmla="*/ 957853 h 1074198"/>
              <a:gd name="GluePoint4X" fmla="*/ 1899995 w 4403325"/>
              <a:gd name="GluePoint4Y" fmla="*/ 1073150 h 1074198"/>
              <a:gd name="GluePoint5X" fmla="*/ 932241 w 4403325"/>
              <a:gd name="GluePoint5Y" fmla="*/ 957853 h 1074198"/>
              <a:gd name="GluePoint6X" fmla="*/ 195327 w 4403325"/>
              <a:gd name="GluePoint6Y" fmla="*/ 461188 h 1074198"/>
              <a:gd name="GluePoint7X" fmla="*/ 0 w 4403325"/>
              <a:gd name="GluePoint7Y" fmla="*/ 62082 h 10741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03325" h="1074198">
                <a:moveTo>
                  <a:pt x="4403325" y="0"/>
                </a:moveTo>
                <a:cubicBezTo>
                  <a:pt x="4333783" y="230819"/>
                  <a:pt x="4264241" y="461639"/>
                  <a:pt x="4065973" y="621437"/>
                </a:cubicBezTo>
                <a:cubicBezTo>
                  <a:pt x="3867705" y="781235"/>
                  <a:pt x="3574742" y="883328"/>
                  <a:pt x="3213717" y="958788"/>
                </a:cubicBezTo>
                <a:cubicBezTo>
                  <a:pt x="2852692" y="1034248"/>
                  <a:pt x="2280082" y="1074198"/>
                  <a:pt x="1899822" y="1074198"/>
                </a:cubicBezTo>
                <a:cubicBezTo>
                  <a:pt x="1519562" y="1074198"/>
                  <a:pt x="1216241" y="1060881"/>
                  <a:pt x="932156" y="958788"/>
                </a:cubicBezTo>
                <a:cubicBezTo>
                  <a:pt x="648071" y="856695"/>
                  <a:pt x="350668" y="611079"/>
                  <a:pt x="195309" y="461638"/>
                </a:cubicBezTo>
                <a:cubicBezTo>
                  <a:pt x="39950" y="312197"/>
                  <a:pt x="19975" y="187170"/>
                  <a:pt x="0" y="62143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04640" y="5580000"/>
            <a:ext cx="9039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639960" y="179280"/>
            <a:ext cx="8280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AXON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2241720" y="6435720"/>
            <a:ext cx="34959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etyl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line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ept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or -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Nic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otin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174240" y="212760"/>
            <a:ext cx="2179800" cy="12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Termination of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transmitter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action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 rot="1860000">
            <a:off x="1274760" y="5106960"/>
            <a:ext cx="194400" cy="35316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6151680" y="3191040"/>
            <a:ext cx="462600" cy="453240"/>
          </a:xfrm>
          <a:prstGeom prst="flowChartSummingJunction">
            <a:avLst/>
          </a:prstGeom>
          <a:solidFill>
            <a:srgbClr val="DDD9C3"/>
          </a:soli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6803640" y="3430440"/>
            <a:ext cx="919080" cy="6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GB" sz="3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GB" sz="36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521320" y="357336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329520" y="3471840"/>
            <a:ext cx="126000" cy="15480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000" tIns="46800" rIns="63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326280" y="3211560"/>
            <a:ext cx="126360" cy="15480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6737400" y="2852640"/>
            <a:ext cx="955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Choline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000840" y="3657600"/>
            <a:ext cx="816840" cy="123120"/>
          </a:xfrm>
          <a:custGeom>
            <a:avLst/>
            <a:gdLst>
              <a:gd name="textAreaLeft" fmla="*/ 0 w 816840"/>
              <a:gd name="textAreaRight" fmla="*/ 817560 w 816840"/>
              <a:gd name="textAreaTop" fmla="*/ 0 h 123120"/>
              <a:gd name="textAreaBottom" fmla="*/ 123840 h 123120"/>
              <a:gd name="GluePoint1X" fmla="*/ 817563 w 816745"/>
              <a:gd name="GluePoint1Y" fmla="*/ 106152 h 124401"/>
              <a:gd name="GluePoint2X" fmla="*/ 444328 w 816745"/>
              <a:gd name="GluePoint2Y" fmla="*/ 113 h 124401"/>
              <a:gd name="GluePoint3X" fmla="*/ 0 w 816745"/>
              <a:gd name="GluePoint3Y" fmla="*/ 123825 h 124401"/>
              <a:gd name="GluePoint4X" fmla="*/ 0 w 816745"/>
              <a:gd name="GluePoint4Y" fmla="*/ 123825 h 124401"/>
              <a:gd name="GluePoint5X" fmla="*/ 0 w 816745"/>
              <a:gd name="GluePoint5Y" fmla="*/ 123825 h 12440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816745" h="124401">
                <a:moveTo>
                  <a:pt x="816745" y="106646"/>
                </a:moveTo>
                <a:cubicBezTo>
                  <a:pt x="698376" y="51900"/>
                  <a:pt x="580007" y="-2845"/>
                  <a:pt x="443883" y="114"/>
                </a:cubicBezTo>
                <a:cubicBezTo>
                  <a:pt x="307759" y="3073"/>
                  <a:pt x="0" y="124401"/>
                  <a:pt x="0" y="124401"/>
                </a:cubicBezTo>
                <a:lnTo>
                  <a:pt x="0" y="124401"/>
                </a:lnTo>
                <a:lnTo>
                  <a:pt x="0" y="124401"/>
                </a:lnTo>
              </a:path>
            </a:pathLst>
          </a:custGeom>
          <a:noFill/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5942160" y="3081240"/>
            <a:ext cx="789840" cy="99360"/>
          </a:xfrm>
          <a:custGeom>
            <a:avLst/>
            <a:gdLst>
              <a:gd name="textAreaLeft" fmla="*/ 0 w 789840"/>
              <a:gd name="textAreaRight" fmla="*/ 790560 w 789840"/>
              <a:gd name="textAreaTop" fmla="*/ 0 h 99360"/>
              <a:gd name="textAreaBottom" fmla="*/ 100080 h 99360"/>
              <a:gd name="GluePoint1X" fmla="*/ 790575 w 790112"/>
              <a:gd name="GluePoint1Y" fmla="*/ 0 h 101289"/>
              <a:gd name="GluePoint2X" fmla="*/ 399729 w 790112"/>
              <a:gd name="GluePoint2Y" fmla="*/ 96424 h 101289"/>
              <a:gd name="GluePoint3X" fmla="*/ 0 w 790112"/>
              <a:gd name="GluePoint3Y" fmla="*/ 70127 h 1012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790112" h="101289">
                <a:moveTo>
                  <a:pt x="790112" y="0"/>
                </a:moveTo>
                <a:cubicBezTo>
                  <a:pt x="660646" y="42909"/>
                  <a:pt x="531180" y="85818"/>
                  <a:pt x="399495" y="97655"/>
                </a:cubicBezTo>
                <a:cubicBezTo>
                  <a:pt x="267810" y="109492"/>
                  <a:pt x="133905" y="90257"/>
                  <a:pt x="0" y="7102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5959800" y="2340000"/>
            <a:ext cx="2416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Choline uptake carrier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"/>
          <p:cNvPicPr/>
          <p:nvPr/>
        </p:nvPicPr>
        <p:blipFill>
          <a:blip r:embed="rId1"/>
          <a:srcRect l="26661" t="4037" r="26185" b="50004"/>
          <a:stretch/>
        </p:blipFill>
        <p:spPr>
          <a:xfrm rot="4980000">
            <a:off x="4883040" y="5001840"/>
            <a:ext cx="999360" cy="9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5010120" y="5126040"/>
            <a:ext cx="124560" cy="15660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2280" tIns="46800" rIns="6228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3736800" y="5113440"/>
            <a:ext cx="1153440" cy="256320"/>
          </a:xfrm>
          <a:custGeom>
            <a:avLst/>
            <a:gdLst>
              <a:gd name="textAreaLeft" fmla="*/ 0 w 1153440"/>
              <a:gd name="textAreaRight" fmla="*/ 1154160 w 1153440"/>
              <a:gd name="textAreaTop" fmla="*/ 0 h 256320"/>
              <a:gd name="textAreaBottom" fmla="*/ 257040 h 256320"/>
              <a:gd name="GluePoint1X" fmla="*/ 0 w 1154097"/>
              <a:gd name="GluePoint1Y" fmla="*/ 257175 h 257643"/>
              <a:gd name="GluePoint2X" fmla="*/ 612567 w 1154097"/>
              <a:gd name="GluePoint2Y" fmla="*/ 17913 h 257643"/>
              <a:gd name="GluePoint3X" fmla="*/ 1154113 w 1154097"/>
              <a:gd name="GluePoint3Y" fmla="*/ 35637 h 2576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154097" h="257643">
                <a:moveTo>
                  <a:pt x="0" y="257643"/>
                </a:moveTo>
                <a:cubicBezTo>
                  <a:pt x="210105" y="156289"/>
                  <a:pt x="420210" y="54936"/>
                  <a:pt x="612559" y="17946"/>
                </a:cubicBezTo>
                <a:cubicBezTo>
                  <a:pt x="804908" y="-19044"/>
                  <a:pt x="979502" y="8329"/>
                  <a:pt x="1154097" y="3570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000840" y="4730760"/>
            <a:ext cx="126360" cy="15660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6068880" y="4998960"/>
            <a:ext cx="124920" cy="15480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6240600" y="3276720"/>
            <a:ext cx="1508760" cy="1480320"/>
          </a:xfrm>
          <a:custGeom>
            <a:avLst/>
            <a:gdLst>
              <a:gd name="textAreaLeft" fmla="*/ 0 w 1508760"/>
              <a:gd name="textAreaRight" fmla="*/ 1509480 w 1508760"/>
              <a:gd name="textAreaTop" fmla="*/ 0 h 1480320"/>
              <a:gd name="textAreaBottom" fmla="*/ 1481040 h 1480320"/>
              <a:gd name="GluePoint1X" fmla="*/ 0 w 1508990"/>
              <a:gd name="GluePoint1Y" fmla="*/ 1481138 h 1482570"/>
              <a:gd name="GluePoint2X" fmla="*/ 1234586 w 1508990"/>
              <a:gd name="GluePoint2Y" fmla="*/ 1135243 h 1482570"/>
              <a:gd name="GluePoint3X" fmla="*/ 1501044 w 1508990"/>
              <a:gd name="GluePoint3Y" fmla="*/ 576491 h 1482570"/>
              <a:gd name="GluePoint4X" fmla="*/ 1412224 w 1508990"/>
              <a:gd name="GluePoint4Y" fmla="*/ 150774 h 1482570"/>
              <a:gd name="GluePoint5X" fmla="*/ 1092475 w 1508990"/>
              <a:gd name="GluePoint5Y" fmla="*/ 17738 h 1482570"/>
              <a:gd name="GluePoint6X" fmla="*/ 692789 w 1508990"/>
              <a:gd name="GluePoint6Y" fmla="*/ 0 h 148257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08990" h="1482570">
                <a:moveTo>
                  <a:pt x="0" y="1482570"/>
                </a:moveTo>
                <a:cubicBezTo>
                  <a:pt x="491971" y="1384915"/>
                  <a:pt x="983942" y="1287261"/>
                  <a:pt x="1233996" y="1136341"/>
                </a:cubicBezTo>
                <a:cubicBezTo>
                  <a:pt x="1484050" y="985421"/>
                  <a:pt x="1470734" y="741285"/>
                  <a:pt x="1500326" y="577048"/>
                </a:cubicBezTo>
                <a:cubicBezTo>
                  <a:pt x="1529918" y="412811"/>
                  <a:pt x="1479611" y="244135"/>
                  <a:pt x="1411549" y="150920"/>
                </a:cubicBezTo>
                <a:cubicBezTo>
                  <a:pt x="1343487" y="57705"/>
                  <a:pt x="1211801" y="42908"/>
                  <a:pt x="1091953" y="17755"/>
                </a:cubicBezTo>
                <a:cubicBezTo>
                  <a:pt x="972105" y="-7398"/>
                  <a:pt x="924757" y="3699"/>
                  <a:pt x="692458" y="0"/>
                </a:cubicBezTo>
              </a:path>
            </a:pathLst>
          </a:custGeom>
          <a:noFill/>
          <a:ln w="25560">
            <a:solidFill>
              <a:srgbClr val="00B050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5548320" y="4979880"/>
            <a:ext cx="354960" cy="88200"/>
          </a:xfrm>
          <a:custGeom>
            <a:avLst/>
            <a:gdLst>
              <a:gd name="textAreaLeft" fmla="*/ 0 w 354960"/>
              <a:gd name="textAreaRight" fmla="*/ 355680 w 354960"/>
              <a:gd name="textAreaTop" fmla="*/ 0 h 88200"/>
              <a:gd name="textAreaBottom" fmla="*/ 88920 h 88200"/>
              <a:gd name="GluePoint1X" fmla="*/ 0 w 355106"/>
              <a:gd name="GluePoint1Y" fmla="*/ 88900 h 88777"/>
              <a:gd name="GluePoint2X" fmla="*/ 355600 w 355106"/>
              <a:gd name="GluePoint2Y" fmla="*/ 0 h 8877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55106" h="88777">
                <a:moveTo>
                  <a:pt x="0" y="88777"/>
                </a:moveTo>
                <a:lnTo>
                  <a:pt x="355106" y="0"/>
                </a:ln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2120" rIns="90000" bIns="421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6302520" y="4562640"/>
            <a:ext cx="1704240" cy="453240"/>
          </a:xfrm>
          <a:custGeom>
            <a:avLst/>
            <a:gdLst>
              <a:gd name="textAreaLeft" fmla="*/ 0 w 1704240"/>
              <a:gd name="textAreaRight" fmla="*/ 1704960 w 1704240"/>
              <a:gd name="textAreaTop" fmla="*/ 0 h 453240"/>
              <a:gd name="textAreaBottom" fmla="*/ 453960 h 453240"/>
              <a:gd name="GluePoint1X" fmla="*/ 0 w 1704512"/>
              <a:gd name="GluePoint1Y" fmla="*/ 454025 h 452761"/>
              <a:gd name="GluePoint2X" fmla="*/ 825847 w 1704512"/>
              <a:gd name="GluePoint2Y" fmla="*/ 213659 h 452761"/>
              <a:gd name="GluePoint3X" fmla="*/ 1704975 w 1704512"/>
              <a:gd name="GluePoint3Y" fmla="*/ 0 h 4527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704512" h="452761">
                <a:moveTo>
                  <a:pt x="0" y="452761"/>
                </a:moveTo>
                <a:cubicBezTo>
                  <a:pt x="270769" y="370642"/>
                  <a:pt x="541538" y="288524"/>
                  <a:pt x="825623" y="213064"/>
                </a:cubicBezTo>
                <a:cubicBezTo>
                  <a:pt x="1109708" y="137604"/>
                  <a:pt x="1407110" y="68802"/>
                  <a:pt x="1704512" y="0"/>
                </a:cubicBezTo>
              </a:path>
            </a:pathLst>
          </a:custGeom>
          <a:noFill/>
          <a:ln w="25560">
            <a:solidFill>
              <a:srgbClr val="00B050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721560" y="3195720"/>
            <a:ext cx="126360" cy="1562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8101080" y="4467240"/>
            <a:ext cx="124560" cy="15480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2280" tIns="46800" rIns="6228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858080" y="4076640"/>
            <a:ext cx="955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5726160" y="3063960"/>
            <a:ext cx="126360" cy="1562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099840" y="5590080"/>
            <a:ext cx="22766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Acetylcholinesterase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399960" y="4784760"/>
            <a:ext cx="7962120" cy="772200"/>
          </a:xfrm>
          <a:custGeom>
            <a:avLst/>
            <a:gdLst>
              <a:gd name="textAreaLeft" fmla="*/ 0 w 7962120"/>
              <a:gd name="textAreaRight" fmla="*/ 7962840 w 7962120"/>
              <a:gd name="textAreaTop" fmla="*/ 0 h 772200"/>
              <a:gd name="textAreaBottom" fmla="*/ 772920 h 772200"/>
              <a:gd name="GluePoint1X" fmla="*/ 7962900 w 7963270"/>
              <a:gd name="GluePoint1Y" fmla="*/ 44423 h 772503"/>
              <a:gd name="GluePoint2X" fmla="*/ 7048542 w 7963270"/>
              <a:gd name="GluePoint2Y" fmla="*/ 115501 h 772503"/>
              <a:gd name="GluePoint3X" fmla="*/ 6515907 w 7963270"/>
              <a:gd name="GluePoint3Y" fmla="*/ 239886 h 772503"/>
              <a:gd name="GluePoint4X" fmla="*/ 5637059 w 7963270"/>
              <a:gd name="GluePoint4Y" fmla="*/ 648582 h 772503"/>
              <a:gd name="GluePoint5X" fmla="*/ 4669438 w 7963270"/>
              <a:gd name="GluePoint5Y" fmla="*/ 755198 h 772503"/>
              <a:gd name="GluePoint6X" fmla="*/ 3426622 w 7963270"/>
              <a:gd name="GluePoint6Y" fmla="*/ 772967 h 772503"/>
              <a:gd name="GluePoint7X" fmla="*/ 2414614 w 7963270"/>
              <a:gd name="GluePoint7Y" fmla="*/ 755198 h 772503"/>
              <a:gd name="GluePoint8X" fmla="*/ 1633415 w 7963270"/>
              <a:gd name="GluePoint8Y" fmla="*/ 675236 h 772503"/>
              <a:gd name="GluePoint9X" fmla="*/ 949867 w 7963270"/>
              <a:gd name="GluePoint9Y" fmla="*/ 479773 h 772503"/>
              <a:gd name="GluePoint10X" fmla="*/ 417232 w 7963270"/>
              <a:gd name="GluePoint10Y" fmla="*/ 88847 h 772503"/>
              <a:gd name="GluePoint11X" fmla="*/ 0 w 7963270"/>
              <a:gd name="GluePoint11Y" fmla="*/ 0 h 7725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7963270" h="772503">
                <a:moveTo>
                  <a:pt x="7963270" y="44388"/>
                </a:moveTo>
                <a:cubicBezTo>
                  <a:pt x="7626658" y="63623"/>
                  <a:pt x="7290047" y="82859"/>
                  <a:pt x="7048870" y="115410"/>
                </a:cubicBezTo>
                <a:cubicBezTo>
                  <a:pt x="6807693" y="147961"/>
                  <a:pt x="6751468" y="150920"/>
                  <a:pt x="6516210" y="239697"/>
                </a:cubicBezTo>
                <a:cubicBezTo>
                  <a:pt x="6280952" y="328474"/>
                  <a:pt x="5945080" y="562253"/>
                  <a:pt x="5637321" y="648070"/>
                </a:cubicBezTo>
                <a:cubicBezTo>
                  <a:pt x="5329562" y="733887"/>
                  <a:pt x="5038078" y="733888"/>
                  <a:pt x="4669655" y="754602"/>
                </a:cubicBezTo>
                <a:cubicBezTo>
                  <a:pt x="4301232" y="775317"/>
                  <a:pt x="3802602" y="772357"/>
                  <a:pt x="3426781" y="772357"/>
                </a:cubicBezTo>
                <a:cubicBezTo>
                  <a:pt x="3050960" y="772357"/>
                  <a:pt x="2713608" y="770878"/>
                  <a:pt x="2414726" y="754602"/>
                </a:cubicBezTo>
                <a:cubicBezTo>
                  <a:pt x="2115844" y="738326"/>
                  <a:pt x="1877627" y="720571"/>
                  <a:pt x="1633491" y="674703"/>
                </a:cubicBezTo>
                <a:cubicBezTo>
                  <a:pt x="1389355" y="628835"/>
                  <a:pt x="1152618" y="577048"/>
                  <a:pt x="949911" y="479394"/>
                </a:cubicBezTo>
                <a:cubicBezTo>
                  <a:pt x="747204" y="381740"/>
                  <a:pt x="575570" y="168676"/>
                  <a:pt x="417251" y="88777"/>
                </a:cubicBezTo>
                <a:cubicBezTo>
                  <a:pt x="258932" y="8878"/>
                  <a:pt x="129466" y="4439"/>
                  <a:pt x="0" y="0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1581120" y="363600"/>
            <a:ext cx="4874400" cy="4380840"/>
          </a:xfrm>
          <a:custGeom>
            <a:avLst/>
            <a:gdLst>
              <a:gd name="textAreaLeft" fmla="*/ 0 w 4874400"/>
              <a:gd name="textAreaRight" fmla="*/ 4875120 w 4874400"/>
              <a:gd name="textAreaTop" fmla="*/ 0 h 4380840"/>
              <a:gd name="textAreaBottom" fmla="*/ 4381560 h 4380840"/>
              <a:gd name="GluePoint1X" fmla="*/ 2894851 w 4875911"/>
              <a:gd name="GluePoint1Y" fmla="*/ 26507 h 4381571"/>
              <a:gd name="GluePoint2X" fmla="*/ 2850469 w 4875911"/>
              <a:gd name="GluePoint2Y" fmla="*/ 763341 h 4381571"/>
              <a:gd name="GluePoint3X" fmla="*/ 2956986 w 4875911"/>
              <a:gd name="GluePoint3Y" fmla="*/ 1651094 h 4381571"/>
              <a:gd name="GluePoint4X" fmla="*/ 3658221 w 4875911"/>
              <a:gd name="GluePoint4Y" fmla="*/ 2077215 h 4381571"/>
              <a:gd name="GluePoint5X" fmla="*/ 4412715 w 4875911"/>
              <a:gd name="GluePoint5Y" fmla="*/ 2592112 h 4381571"/>
              <a:gd name="GluePoint6X" fmla="*/ 4821029 w 4875911"/>
              <a:gd name="GluePoint6Y" fmla="*/ 3115886 h 4381571"/>
              <a:gd name="GluePoint7X" fmla="*/ 4856535 w 4875911"/>
              <a:gd name="GluePoint7Y" fmla="*/ 3533130 h 4381571"/>
              <a:gd name="GluePoint8X" fmla="*/ 4687884 w 4875911"/>
              <a:gd name="GluePoint8Y" fmla="*/ 3959251 h 4381571"/>
              <a:gd name="GluePoint9X" fmla="*/ 4110916 w 4875911"/>
              <a:gd name="GluePoint9Y" fmla="*/ 4261086 h 4381571"/>
              <a:gd name="GluePoint10X" fmla="*/ 2442153 w 4875911"/>
              <a:gd name="GluePoint10Y" fmla="*/ 4376495 h 4381571"/>
              <a:gd name="GluePoint11X" fmla="*/ 1110694 w 4875911"/>
              <a:gd name="GluePoint11Y" fmla="*/ 4358739 h 4381571"/>
              <a:gd name="GluePoint12X" fmla="*/ 391706 w 4875911"/>
              <a:gd name="GluePoint12Y" fmla="*/ 4154557 h 4381571"/>
              <a:gd name="GluePoint13X" fmla="*/ 27774 w 4875911"/>
              <a:gd name="GluePoint13Y" fmla="*/ 3613027 h 4381571"/>
              <a:gd name="GluePoint14X" fmla="*/ 152043 w 4875911"/>
              <a:gd name="GluePoint14Y" fmla="*/ 2769662 h 4381571"/>
              <a:gd name="GluePoint15X" fmla="*/ 1155076 w 4875911"/>
              <a:gd name="GluePoint15Y" fmla="*/ 1979563 h 4381571"/>
              <a:gd name="GluePoint16X" fmla="*/ 1856314 w 4875911"/>
              <a:gd name="GluePoint16Y" fmla="*/ 1553441 h 4381571"/>
              <a:gd name="GluePoint17X" fmla="*/ 2007210 w 4875911"/>
              <a:gd name="GluePoint17Y" fmla="*/ 541403 h 4381571"/>
              <a:gd name="GluePoint18X" fmla="*/ 2007212 w 4875911"/>
              <a:gd name="GluePoint18Y" fmla="*/ 8751 h 438157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4875911" h="4381571">
                <a:moveTo>
                  <a:pt x="2895265" y="26507"/>
                </a:moveTo>
                <a:cubicBezTo>
                  <a:pt x="2832382" y="381614"/>
                  <a:pt x="2840520" y="492584"/>
                  <a:pt x="2850877" y="763353"/>
                </a:cubicBezTo>
                <a:cubicBezTo>
                  <a:pt x="2861234" y="1034122"/>
                  <a:pt x="2822764" y="1432138"/>
                  <a:pt x="2957409" y="1651121"/>
                </a:cubicBezTo>
                <a:cubicBezTo>
                  <a:pt x="3092054" y="1870104"/>
                  <a:pt x="3416089" y="1920410"/>
                  <a:pt x="3658745" y="2077249"/>
                </a:cubicBezTo>
                <a:cubicBezTo>
                  <a:pt x="3901401" y="2234088"/>
                  <a:pt x="4219518" y="2419040"/>
                  <a:pt x="4413347" y="2592154"/>
                </a:cubicBezTo>
                <a:cubicBezTo>
                  <a:pt x="4607176" y="2765269"/>
                  <a:pt x="4747739" y="2959097"/>
                  <a:pt x="4821719" y="3115936"/>
                </a:cubicBezTo>
                <a:cubicBezTo>
                  <a:pt x="4895699" y="3272775"/>
                  <a:pt x="4879424" y="3392624"/>
                  <a:pt x="4857230" y="3533187"/>
                </a:cubicBezTo>
                <a:cubicBezTo>
                  <a:pt x="4835036" y="3673750"/>
                  <a:pt x="4812842" y="3837987"/>
                  <a:pt x="4688555" y="3959315"/>
                </a:cubicBezTo>
                <a:cubicBezTo>
                  <a:pt x="4564268" y="4080643"/>
                  <a:pt x="4485847" y="4191613"/>
                  <a:pt x="4111505" y="4261155"/>
                </a:cubicBezTo>
                <a:cubicBezTo>
                  <a:pt x="3737163" y="4330697"/>
                  <a:pt x="2942612" y="4360290"/>
                  <a:pt x="2442503" y="4376566"/>
                </a:cubicBezTo>
                <a:cubicBezTo>
                  <a:pt x="1942394" y="4392842"/>
                  <a:pt x="1554736" y="4364729"/>
                  <a:pt x="1110853" y="4358810"/>
                </a:cubicBezTo>
                <a:cubicBezTo>
                  <a:pt x="769063" y="4321820"/>
                  <a:pt x="572275" y="4278911"/>
                  <a:pt x="391762" y="4154624"/>
                </a:cubicBezTo>
                <a:cubicBezTo>
                  <a:pt x="211249" y="4030337"/>
                  <a:pt x="67727" y="3843905"/>
                  <a:pt x="27778" y="3613086"/>
                </a:cubicBezTo>
                <a:cubicBezTo>
                  <a:pt x="-12171" y="3382267"/>
                  <a:pt x="-35845" y="3041955"/>
                  <a:pt x="152065" y="2769707"/>
                </a:cubicBezTo>
                <a:cubicBezTo>
                  <a:pt x="339975" y="2497459"/>
                  <a:pt x="871155" y="2182302"/>
                  <a:pt x="1155241" y="1979595"/>
                </a:cubicBezTo>
                <a:cubicBezTo>
                  <a:pt x="1439327" y="1776888"/>
                  <a:pt x="1714537" y="1793163"/>
                  <a:pt x="1856580" y="1553466"/>
                </a:cubicBezTo>
                <a:cubicBezTo>
                  <a:pt x="1998623" y="1313769"/>
                  <a:pt x="1982344" y="798864"/>
                  <a:pt x="2007497" y="541412"/>
                </a:cubicBezTo>
                <a:cubicBezTo>
                  <a:pt x="2032650" y="283960"/>
                  <a:pt x="2019336" y="-59311"/>
                  <a:pt x="2007499" y="8751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2798640" y="3933720"/>
            <a:ext cx="423360" cy="44388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2757240" y="3995640"/>
            <a:ext cx="5270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3160800" y="5373720"/>
            <a:ext cx="502560" cy="35316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3308400" y="5373720"/>
            <a:ext cx="194400" cy="353160"/>
          </a:xfrm>
          <a:prstGeom prst="can">
            <a:avLst>
              <a:gd name="adj" fmla="val 21490"/>
            </a:avLst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132000" y="5361120"/>
            <a:ext cx="124920" cy="15480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3562200" y="5361120"/>
            <a:ext cx="126360" cy="15480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260880" y="5184720"/>
            <a:ext cx="113400" cy="789840"/>
          </a:xfrm>
          <a:custGeom>
            <a:avLst/>
            <a:gdLst>
              <a:gd name="textAreaLeft" fmla="*/ 0 w 113400"/>
              <a:gd name="textAreaRight" fmla="*/ 114120 w 113400"/>
              <a:gd name="textAreaTop" fmla="*/ 0 h 789840"/>
              <a:gd name="textAreaBottom" fmla="*/ 790560 h 789840"/>
              <a:gd name="GluePoint1X" fmla="*/ 0 w 115435"/>
              <a:gd name="GluePoint1Y" fmla="*/ 0 h 790113"/>
              <a:gd name="GluePoint2X" fmla="*/ 96694 w 115435"/>
              <a:gd name="GluePoint2Y" fmla="*/ 142126 h 790113"/>
              <a:gd name="GluePoint3X" fmla="*/ 114274 w 115435"/>
              <a:gd name="GluePoint3Y" fmla="*/ 790575 h 790113"/>
              <a:gd name="GluePoint4X" fmla="*/ 114274 w 115435"/>
              <a:gd name="GluePoint4Y" fmla="*/ 790575 h 790113"/>
              <a:gd name="GluePoint5X" fmla="*/ 114274 w 115435"/>
              <a:gd name="GluePoint5Y" fmla="*/ 790575 h 790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15435" h="790113">
                <a:moveTo>
                  <a:pt x="0" y="0"/>
                </a:moveTo>
                <a:cubicBezTo>
                  <a:pt x="39209" y="5179"/>
                  <a:pt x="78419" y="10358"/>
                  <a:pt x="97654" y="142043"/>
                </a:cubicBezTo>
                <a:cubicBezTo>
                  <a:pt x="116889" y="273728"/>
                  <a:pt x="115409" y="790113"/>
                  <a:pt x="115409" y="790113"/>
                </a:cubicBezTo>
                <a:lnTo>
                  <a:pt x="115409" y="790113"/>
                </a:lnTo>
                <a:lnTo>
                  <a:pt x="115409" y="790113"/>
                </a:lnTo>
              </a:path>
            </a:pathLst>
          </a:custGeom>
          <a:noFill/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56880" tIns="46800" rIns="5688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2852640" y="498780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 flipH="1" flipV="1">
            <a:off x="3428280" y="5157000"/>
            <a:ext cx="115200" cy="788400"/>
          </a:xfrm>
          <a:custGeom>
            <a:avLst/>
            <a:gdLst>
              <a:gd name="textAreaLeft" fmla="*/ -360 w 115200"/>
              <a:gd name="textAreaRight" fmla="*/ 115560 w 115200"/>
              <a:gd name="textAreaTop" fmla="*/ -360 h 788400"/>
              <a:gd name="textAreaBottom" fmla="*/ 788760 h 788400"/>
              <a:gd name="GluePoint1X" fmla="*/ 0 w 115435"/>
              <a:gd name="GluePoint1Y" fmla="*/ 0 h 790113"/>
              <a:gd name="GluePoint2X" fmla="*/ 98037 w 115435"/>
              <a:gd name="GluePoint2Y" fmla="*/ 141841 h 790113"/>
              <a:gd name="GluePoint3X" fmla="*/ 115862 w 115435"/>
              <a:gd name="GluePoint3Y" fmla="*/ 788987 h 790113"/>
              <a:gd name="GluePoint4X" fmla="*/ 115862 w 115435"/>
              <a:gd name="GluePoint4Y" fmla="*/ 788987 h 790113"/>
              <a:gd name="GluePoint5X" fmla="*/ 115862 w 115435"/>
              <a:gd name="GluePoint5Y" fmla="*/ 788987 h 790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15435" h="790113">
                <a:moveTo>
                  <a:pt x="0" y="0"/>
                </a:moveTo>
                <a:cubicBezTo>
                  <a:pt x="39209" y="5179"/>
                  <a:pt x="78419" y="10358"/>
                  <a:pt x="97654" y="142043"/>
                </a:cubicBezTo>
                <a:cubicBezTo>
                  <a:pt x="116889" y="273728"/>
                  <a:pt x="115409" y="790113"/>
                  <a:pt x="115409" y="790113"/>
                </a:cubicBezTo>
                <a:lnTo>
                  <a:pt x="115409" y="790113"/>
                </a:lnTo>
                <a:lnTo>
                  <a:pt x="115409" y="790113"/>
                </a:lnTo>
              </a:path>
            </a:pathLst>
          </a:custGeom>
          <a:noFill/>
          <a:ln w="25560">
            <a:solidFill>
              <a:srgbClr val="0000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57600" tIns="46800" rIns="576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3487680" y="5769000"/>
            <a:ext cx="4100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K</a:t>
            </a:r>
            <a:r>
              <a:rPr lang="en-GB" sz="1800" b="0" u="none" strike="noStrike" baseline="30000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1846440" y="5362560"/>
            <a:ext cx="4402800" cy="1072440"/>
          </a:xfrm>
          <a:custGeom>
            <a:avLst/>
            <a:gdLst>
              <a:gd name="textAreaLeft" fmla="*/ 0 w 4402800"/>
              <a:gd name="textAreaRight" fmla="*/ 4403520 w 4402800"/>
              <a:gd name="textAreaTop" fmla="*/ 0 h 1072440"/>
              <a:gd name="textAreaBottom" fmla="*/ 1073160 h 1072440"/>
              <a:gd name="GluePoint1X" fmla="*/ 4403725 w 4403325"/>
              <a:gd name="GluePoint1Y" fmla="*/ 0 h 1074198"/>
              <a:gd name="GluePoint2X" fmla="*/ 4066342 w 4403325"/>
              <a:gd name="GluePoint2Y" fmla="*/ 620831 h 1074198"/>
              <a:gd name="GluePoint3X" fmla="*/ 3214009 w 4403325"/>
              <a:gd name="GluePoint3Y" fmla="*/ 957853 h 1074198"/>
              <a:gd name="GluePoint4X" fmla="*/ 1899995 w 4403325"/>
              <a:gd name="GluePoint4Y" fmla="*/ 1073150 h 1074198"/>
              <a:gd name="GluePoint5X" fmla="*/ 932241 w 4403325"/>
              <a:gd name="GluePoint5Y" fmla="*/ 957853 h 1074198"/>
              <a:gd name="GluePoint6X" fmla="*/ 195327 w 4403325"/>
              <a:gd name="GluePoint6Y" fmla="*/ 461188 h 1074198"/>
              <a:gd name="GluePoint7X" fmla="*/ 0 w 4403325"/>
              <a:gd name="GluePoint7Y" fmla="*/ 62082 h 10741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03325" h="1074198">
                <a:moveTo>
                  <a:pt x="4403325" y="0"/>
                </a:moveTo>
                <a:cubicBezTo>
                  <a:pt x="4333783" y="230819"/>
                  <a:pt x="4264241" y="461639"/>
                  <a:pt x="4065973" y="621437"/>
                </a:cubicBezTo>
                <a:cubicBezTo>
                  <a:pt x="3867705" y="781235"/>
                  <a:pt x="3574742" y="883328"/>
                  <a:pt x="3213717" y="958788"/>
                </a:cubicBezTo>
                <a:cubicBezTo>
                  <a:pt x="2852692" y="1034248"/>
                  <a:pt x="2280082" y="1074198"/>
                  <a:pt x="1899822" y="1074198"/>
                </a:cubicBezTo>
                <a:cubicBezTo>
                  <a:pt x="1519562" y="1074198"/>
                  <a:pt x="1216241" y="1060881"/>
                  <a:pt x="932156" y="958788"/>
                </a:cubicBezTo>
                <a:cubicBezTo>
                  <a:pt x="648071" y="856695"/>
                  <a:pt x="350668" y="611079"/>
                  <a:pt x="195309" y="461638"/>
                </a:cubicBezTo>
                <a:cubicBezTo>
                  <a:pt x="39950" y="312197"/>
                  <a:pt x="19975" y="187170"/>
                  <a:pt x="0" y="62143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404640" y="5580000"/>
            <a:ext cx="9039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3613320" y="324000"/>
            <a:ext cx="8280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AXON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2241720" y="6435720"/>
            <a:ext cx="34959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Acetyl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cholin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recept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or -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Nicotin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179280" y="189000"/>
            <a:ext cx="344592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Sy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nth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esi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s 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of 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tra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ns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mit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 rot="1860000">
            <a:off x="1274760" y="5106960"/>
            <a:ext cx="194400" cy="35316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6151680" y="3191040"/>
            <a:ext cx="462600" cy="453240"/>
          </a:xfrm>
          <a:prstGeom prst="flowChartSummingJunction">
            <a:avLst/>
          </a:prstGeom>
          <a:solidFill>
            <a:srgbClr val="DDD9C3"/>
          </a:soli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803640" y="3430440"/>
            <a:ext cx="919080" cy="6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36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5740560" y="378144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6329520" y="3471840"/>
            <a:ext cx="126000" cy="15480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000" tIns="46800" rIns="63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6326280" y="3211560"/>
            <a:ext cx="126360" cy="15480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737400" y="2852640"/>
            <a:ext cx="955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Choline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6000840" y="3657600"/>
            <a:ext cx="816840" cy="123120"/>
          </a:xfrm>
          <a:custGeom>
            <a:avLst/>
            <a:gdLst>
              <a:gd name="textAreaLeft" fmla="*/ 0 w 816840"/>
              <a:gd name="textAreaRight" fmla="*/ 817560 w 816840"/>
              <a:gd name="textAreaTop" fmla="*/ 0 h 123120"/>
              <a:gd name="textAreaBottom" fmla="*/ 123840 h 123120"/>
              <a:gd name="GluePoint1X" fmla="*/ 817563 w 816745"/>
              <a:gd name="GluePoint1Y" fmla="*/ 106152 h 124401"/>
              <a:gd name="GluePoint2X" fmla="*/ 444328 w 816745"/>
              <a:gd name="GluePoint2Y" fmla="*/ 113 h 124401"/>
              <a:gd name="GluePoint3X" fmla="*/ 0 w 816745"/>
              <a:gd name="GluePoint3Y" fmla="*/ 123825 h 124401"/>
              <a:gd name="GluePoint4X" fmla="*/ 0 w 816745"/>
              <a:gd name="GluePoint4Y" fmla="*/ 123825 h 124401"/>
              <a:gd name="GluePoint5X" fmla="*/ 0 w 816745"/>
              <a:gd name="GluePoint5Y" fmla="*/ 123825 h 12440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816745" h="124401">
                <a:moveTo>
                  <a:pt x="816745" y="106646"/>
                </a:moveTo>
                <a:cubicBezTo>
                  <a:pt x="698376" y="51900"/>
                  <a:pt x="580007" y="-2845"/>
                  <a:pt x="443883" y="114"/>
                </a:cubicBezTo>
                <a:cubicBezTo>
                  <a:pt x="307759" y="3073"/>
                  <a:pt x="0" y="124401"/>
                  <a:pt x="0" y="124401"/>
                </a:cubicBezTo>
                <a:lnTo>
                  <a:pt x="0" y="124401"/>
                </a:lnTo>
                <a:lnTo>
                  <a:pt x="0" y="124401"/>
                </a:lnTo>
              </a:path>
            </a:pathLst>
          </a:custGeom>
          <a:noFill/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5942160" y="3081240"/>
            <a:ext cx="789840" cy="99360"/>
          </a:xfrm>
          <a:custGeom>
            <a:avLst/>
            <a:gdLst>
              <a:gd name="textAreaLeft" fmla="*/ 0 w 789840"/>
              <a:gd name="textAreaRight" fmla="*/ 790560 w 789840"/>
              <a:gd name="textAreaTop" fmla="*/ 0 h 99360"/>
              <a:gd name="textAreaBottom" fmla="*/ 100080 h 99360"/>
              <a:gd name="GluePoint1X" fmla="*/ 790575 w 790112"/>
              <a:gd name="GluePoint1Y" fmla="*/ 0 h 101289"/>
              <a:gd name="GluePoint2X" fmla="*/ 399729 w 790112"/>
              <a:gd name="GluePoint2Y" fmla="*/ 96424 h 101289"/>
              <a:gd name="GluePoint3X" fmla="*/ 0 w 790112"/>
              <a:gd name="GluePoint3Y" fmla="*/ 70127 h 1012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790112" h="101289">
                <a:moveTo>
                  <a:pt x="790112" y="0"/>
                </a:moveTo>
                <a:cubicBezTo>
                  <a:pt x="660646" y="42909"/>
                  <a:pt x="531180" y="85818"/>
                  <a:pt x="399495" y="97655"/>
                </a:cubicBezTo>
                <a:cubicBezTo>
                  <a:pt x="267810" y="109492"/>
                  <a:pt x="133905" y="90257"/>
                  <a:pt x="0" y="7102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5959800" y="2340000"/>
            <a:ext cx="2416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h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oli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pt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k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ar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ri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"/>
          <p:cNvPicPr/>
          <p:nvPr/>
        </p:nvPicPr>
        <p:blipFill>
          <a:blip r:embed="rId1"/>
          <a:srcRect l="26661" t="4037" r="26185" b="50004"/>
          <a:stretch/>
        </p:blipFill>
        <p:spPr>
          <a:xfrm rot="4980000">
            <a:off x="4883040" y="5001840"/>
            <a:ext cx="999360" cy="9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"/>
          <p:cNvSpPr/>
          <p:nvPr/>
        </p:nvSpPr>
        <p:spPr>
          <a:xfrm>
            <a:off x="6099480" y="5589720"/>
            <a:ext cx="22766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Acetylch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olinester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5010120" y="5126040"/>
            <a:ext cx="124560" cy="15660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2280" tIns="46800" rIns="6228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3736800" y="5113440"/>
            <a:ext cx="1153440" cy="256320"/>
          </a:xfrm>
          <a:custGeom>
            <a:avLst/>
            <a:gdLst>
              <a:gd name="textAreaLeft" fmla="*/ 0 w 1153440"/>
              <a:gd name="textAreaRight" fmla="*/ 1154160 w 1153440"/>
              <a:gd name="textAreaTop" fmla="*/ 0 h 256320"/>
              <a:gd name="textAreaBottom" fmla="*/ 257040 h 256320"/>
              <a:gd name="GluePoint1X" fmla="*/ 0 w 1154097"/>
              <a:gd name="GluePoint1Y" fmla="*/ 257175 h 257643"/>
              <a:gd name="GluePoint2X" fmla="*/ 612567 w 1154097"/>
              <a:gd name="GluePoint2Y" fmla="*/ 17913 h 257643"/>
              <a:gd name="GluePoint3X" fmla="*/ 1154113 w 1154097"/>
              <a:gd name="GluePoint3Y" fmla="*/ 35637 h 2576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154097" h="257643">
                <a:moveTo>
                  <a:pt x="0" y="257643"/>
                </a:moveTo>
                <a:cubicBezTo>
                  <a:pt x="210105" y="156289"/>
                  <a:pt x="420210" y="54936"/>
                  <a:pt x="612559" y="17946"/>
                </a:cubicBezTo>
                <a:cubicBezTo>
                  <a:pt x="804908" y="-19044"/>
                  <a:pt x="979502" y="8329"/>
                  <a:pt x="1154097" y="3570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6000840" y="4730760"/>
            <a:ext cx="126360" cy="15660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6068880" y="4998960"/>
            <a:ext cx="124920" cy="15480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240600" y="3276720"/>
            <a:ext cx="1508760" cy="1480320"/>
          </a:xfrm>
          <a:custGeom>
            <a:avLst/>
            <a:gdLst>
              <a:gd name="textAreaLeft" fmla="*/ 0 w 1508760"/>
              <a:gd name="textAreaRight" fmla="*/ 1509480 w 1508760"/>
              <a:gd name="textAreaTop" fmla="*/ 0 h 1480320"/>
              <a:gd name="textAreaBottom" fmla="*/ 1481040 h 1480320"/>
              <a:gd name="GluePoint1X" fmla="*/ 0 w 1508990"/>
              <a:gd name="GluePoint1Y" fmla="*/ 1481138 h 1482570"/>
              <a:gd name="GluePoint2X" fmla="*/ 1234586 w 1508990"/>
              <a:gd name="GluePoint2Y" fmla="*/ 1135243 h 1482570"/>
              <a:gd name="GluePoint3X" fmla="*/ 1501044 w 1508990"/>
              <a:gd name="GluePoint3Y" fmla="*/ 576491 h 1482570"/>
              <a:gd name="GluePoint4X" fmla="*/ 1412224 w 1508990"/>
              <a:gd name="GluePoint4Y" fmla="*/ 150774 h 1482570"/>
              <a:gd name="GluePoint5X" fmla="*/ 1092475 w 1508990"/>
              <a:gd name="GluePoint5Y" fmla="*/ 17738 h 1482570"/>
              <a:gd name="GluePoint6X" fmla="*/ 692789 w 1508990"/>
              <a:gd name="GluePoint6Y" fmla="*/ 0 h 148257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08990" h="1482570">
                <a:moveTo>
                  <a:pt x="0" y="1482570"/>
                </a:moveTo>
                <a:cubicBezTo>
                  <a:pt x="491971" y="1384915"/>
                  <a:pt x="983942" y="1287261"/>
                  <a:pt x="1233996" y="1136341"/>
                </a:cubicBezTo>
                <a:cubicBezTo>
                  <a:pt x="1484050" y="985421"/>
                  <a:pt x="1470734" y="741285"/>
                  <a:pt x="1500326" y="577048"/>
                </a:cubicBezTo>
                <a:cubicBezTo>
                  <a:pt x="1529918" y="412811"/>
                  <a:pt x="1479611" y="244135"/>
                  <a:pt x="1411549" y="150920"/>
                </a:cubicBezTo>
                <a:cubicBezTo>
                  <a:pt x="1343487" y="57705"/>
                  <a:pt x="1211801" y="42908"/>
                  <a:pt x="1091953" y="17755"/>
                </a:cubicBezTo>
                <a:cubicBezTo>
                  <a:pt x="972105" y="-7398"/>
                  <a:pt x="924757" y="3699"/>
                  <a:pt x="692458" y="0"/>
                </a:cubicBezTo>
              </a:path>
            </a:pathLst>
          </a:custGeom>
          <a:noFill/>
          <a:ln w="25560">
            <a:solidFill>
              <a:srgbClr val="00B050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5548320" y="4979880"/>
            <a:ext cx="354960" cy="88200"/>
          </a:xfrm>
          <a:custGeom>
            <a:avLst/>
            <a:gdLst>
              <a:gd name="textAreaLeft" fmla="*/ 0 w 354960"/>
              <a:gd name="textAreaRight" fmla="*/ 355680 w 354960"/>
              <a:gd name="textAreaTop" fmla="*/ 0 h 88200"/>
              <a:gd name="textAreaBottom" fmla="*/ 88920 h 88200"/>
              <a:gd name="GluePoint1X" fmla="*/ 0 w 355106"/>
              <a:gd name="GluePoint1Y" fmla="*/ 88900 h 88777"/>
              <a:gd name="GluePoint2X" fmla="*/ 355600 w 355106"/>
              <a:gd name="GluePoint2Y" fmla="*/ 0 h 8877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55106" h="88777">
                <a:moveTo>
                  <a:pt x="0" y="88777"/>
                </a:moveTo>
                <a:lnTo>
                  <a:pt x="355106" y="0"/>
                </a:ln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2120" rIns="90000" bIns="421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302520" y="4562640"/>
            <a:ext cx="1704240" cy="453240"/>
          </a:xfrm>
          <a:custGeom>
            <a:avLst/>
            <a:gdLst>
              <a:gd name="textAreaLeft" fmla="*/ 0 w 1704240"/>
              <a:gd name="textAreaRight" fmla="*/ 1704960 w 1704240"/>
              <a:gd name="textAreaTop" fmla="*/ 0 h 453240"/>
              <a:gd name="textAreaBottom" fmla="*/ 453960 h 453240"/>
              <a:gd name="GluePoint1X" fmla="*/ 0 w 1704512"/>
              <a:gd name="GluePoint1Y" fmla="*/ 454025 h 452761"/>
              <a:gd name="GluePoint2X" fmla="*/ 825847 w 1704512"/>
              <a:gd name="GluePoint2Y" fmla="*/ 213659 h 452761"/>
              <a:gd name="GluePoint3X" fmla="*/ 1704975 w 1704512"/>
              <a:gd name="GluePoint3Y" fmla="*/ 0 h 4527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704512" h="452761">
                <a:moveTo>
                  <a:pt x="0" y="452761"/>
                </a:moveTo>
                <a:cubicBezTo>
                  <a:pt x="270769" y="370642"/>
                  <a:pt x="541538" y="288524"/>
                  <a:pt x="825623" y="213064"/>
                </a:cubicBezTo>
                <a:cubicBezTo>
                  <a:pt x="1109708" y="137604"/>
                  <a:pt x="1407110" y="68802"/>
                  <a:pt x="1704512" y="0"/>
                </a:cubicBezTo>
              </a:path>
            </a:pathLst>
          </a:custGeom>
          <a:noFill/>
          <a:ln w="25560">
            <a:solidFill>
              <a:srgbClr val="00B050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721560" y="3195720"/>
            <a:ext cx="126360" cy="1562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8101080" y="4467240"/>
            <a:ext cx="124560" cy="15480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2280" tIns="46800" rIns="6228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7858080" y="4076640"/>
            <a:ext cx="955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5726160" y="3063960"/>
            <a:ext cx="126360" cy="1562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3335400" y="2320920"/>
            <a:ext cx="1215360" cy="430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3411360" y="2368440"/>
            <a:ext cx="1036080" cy="370800"/>
          </a:xfrm>
          <a:custGeom>
            <a:avLst/>
            <a:gdLst>
              <a:gd name="textAreaLeft" fmla="*/ 0 w 1036080"/>
              <a:gd name="textAreaRight" fmla="*/ 1037160 w 1036080"/>
              <a:gd name="textAreaTop" fmla="*/ 0 h 370800"/>
              <a:gd name="textAreaBottom" fmla="*/ 371880 h 370800"/>
              <a:gd name="GluePoint1X" fmla="*/ 15171 w 1036863"/>
              <a:gd name="GluePoint1Y" fmla="*/ 242809 h 371775"/>
              <a:gd name="GluePoint2X" fmla="*/ 6295 w 1036863"/>
              <a:gd name="GluePoint2Y" fmla="*/ 74269 h 371775"/>
              <a:gd name="GluePoint3X" fmla="*/ 86176 w 1036863"/>
              <a:gd name="GluePoint3Y" fmla="*/ 21046 h 371775"/>
              <a:gd name="GluePoint4X" fmla="*/ 228188 w 1036863"/>
              <a:gd name="GluePoint4Y" fmla="*/ 21046 h 371775"/>
              <a:gd name="GluePoint5X" fmla="*/ 316946 w 1036863"/>
              <a:gd name="GluePoint5Y" fmla="*/ 118622 h 371775"/>
              <a:gd name="GluePoint6X" fmla="*/ 334697 w 1036863"/>
              <a:gd name="GluePoint6Y" fmla="*/ 171845 h 371775"/>
              <a:gd name="GluePoint7X" fmla="*/ 343573 w 1036863"/>
              <a:gd name="GluePoint7Y" fmla="*/ 198457 h 371775"/>
              <a:gd name="GluePoint8X" fmla="*/ 441206 w 1036863"/>
              <a:gd name="GluePoint8Y" fmla="*/ 189586 h 371775"/>
              <a:gd name="GluePoint9X" fmla="*/ 467833 w 1036863"/>
              <a:gd name="GluePoint9Y" fmla="*/ 74269 h 371775"/>
              <a:gd name="GluePoint10X" fmla="*/ 476709 w 1036863"/>
              <a:gd name="GluePoint10Y" fmla="*/ 47658 h 371775"/>
              <a:gd name="GluePoint11X" fmla="*/ 565467 w 1036863"/>
              <a:gd name="GluePoint11Y" fmla="*/ 3305 h 371775"/>
              <a:gd name="GluePoint12X" fmla="*/ 654223 w 1036863"/>
              <a:gd name="GluePoint12Y" fmla="*/ 12176 h 371775"/>
              <a:gd name="GluePoint13X" fmla="*/ 663099 w 1036863"/>
              <a:gd name="GluePoint13Y" fmla="*/ 83140 h 371775"/>
              <a:gd name="GluePoint14X" fmla="*/ 689727 w 1036863"/>
              <a:gd name="GluePoint14Y" fmla="*/ 162974 h 371775"/>
              <a:gd name="GluePoint15X" fmla="*/ 689727 w 1036863"/>
              <a:gd name="GluePoint15Y" fmla="*/ 162974 h 371775"/>
              <a:gd name="GluePoint16X" fmla="*/ 760732 w 1036863"/>
              <a:gd name="GluePoint16Y" fmla="*/ 189586 h 371775"/>
              <a:gd name="GluePoint17X" fmla="*/ 822863 w 1036863"/>
              <a:gd name="GluePoint17Y" fmla="*/ 162974 h 371775"/>
              <a:gd name="GluePoint18X" fmla="*/ 849490 w 1036863"/>
              <a:gd name="GluePoint18Y" fmla="*/ 38788 h 371775"/>
              <a:gd name="GluePoint19X" fmla="*/ 884993 w 1036863"/>
              <a:gd name="GluePoint19Y" fmla="*/ 12176 h 371775"/>
              <a:gd name="GluePoint20X" fmla="*/ 1000377 w 1036863"/>
              <a:gd name="GluePoint20Y" fmla="*/ 38788 h 371775"/>
              <a:gd name="GluePoint21X" fmla="*/ 1018129 w 1036863"/>
              <a:gd name="GluePoint21Y" fmla="*/ 127492 h 371775"/>
              <a:gd name="GluePoint22X" fmla="*/ 1035880 w 1036863"/>
              <a:gd name="GluePoint22Y" fmla="*/ 331514 h 371775"/>
              <a:gd name="GluePoint23X" fmla="*/ 991502 w 1036863"/>
              <a:gd name="GluePoint23Y" fmla="*/ 366996 h 371775"/>
              <a:gd name="GluePoint24X" fmla="*/ 920495 w 1036863"/>
              <a:gd name="GluePoint24Y" fmla="*/ 269420 h 371775"/>
              <a:gd name="GluePoint25X" fmla="*/ 920495 w 1036863"/>
              <a:gd name="GluePoint25Y" fmla="*/ 162974 h 371775"/>
              <a:gd name="GluePoint26X" fmla="*/ 831739 w 1036863"/>
              <a:gd name="GluePoint26Y" fmla="*/ 296032 h 371775"/>
              <a:gd name="GluePoint27X" fmla="*/ 742981 w 1036863"/>
              <a:gd name="GluePoint27Y" fmla="*/ 322643 h 371775"/>
              <a:gd name="GluePoint28X" fmla="*/ 654223 w 1036863"/>
              <a:gd name="GluePoint28Y" fmla="*/ 251680 h 371775"/>
              <a:gd name="GluePoint29X" fmla="*/ 609845 w 1036863"/>
              <a:gd name="GluePoint29Y" fmla="*/ 162974 h 371775"/>
              <a:gd name="GluePoint30X" fmla="*/ 547715 w 1036863"/>
              <a:gd name="GluePoint30Y" fmla="*/ 251680 h 371775"/>
              <a:gd name="GluePoint31X" fmla="*/ 476709 w 1036863"/>
              <a:gd name="GluePoint31Y" fmla="*/ 278291 h 371775"/>
              <a:gd name="GluePoint32X" fmla="*/ 370200 w 1036863"/>
              <a:gd name="GluePoint32Y" fmla="*/ 296032 h 371775"/>
              <a:gd name="GluePoint33X" fmla="*/ 281443 w 1036863"/>
              <a:gd name="GluePoint33Y" fmla="*/ 242809 h 371775"/>
              <a:gd name="GluePoint34X" fmla="*/ 219313 w 1036863"/>
              <a:gd name="GluePoint34Y" fmla="*/ 136363 h 371775"/>
              <a:gd name="GluePoint35X" fmla="*/ 174934 w 1036863"/>
              <a:gd name="GluePoint35Y" fmla="*/ 136363 h 371775"/>
              <a:gd name="GluePoint36X" fmla="*/ 130556 w 1036863"/>
              <a:gd name="GluePoint36Y" fmla="*/ 136363 h 371775"/>
              <a:gd name="GluePoint37X" fmla="*/ 183810 w 1036863"/>
              <a:gd name="GluePoint37Y" fmla="*/ 269420 h 371775"/>
              <a:gd name="GluePoint38X" fmla="*/ 157183 w 1036863"/>
              <a:gd name="GluePoint38Y" fmla="*/ 278291 h 371775"/>
              <a:gd name="GluePoint39X" fmla="*/ 95052 w 1036863"/>
              <a:gd name="GluePoint39Y" fmla="*/ 260550 h 371775"/>
              <a:gd name="GluePoint40X" fmla="*/ 15171 w 1036863"/>
              <a:gd name="GluePoint40Y" fmla="*/ 242809 h 37177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</a:cxnLst>
            <a:rect l="textAreaLeft" t="textAreaTop" r="textAreaRight" b="textAreaBottom"/>
            <a:pathLst>
              <a:path w="1036863" h="371775">
                <a:moveTo>
                  <a:pt x="15174" y="243005"/>
                </a:moveTo>
                <a:cubicBezTo>
                  <a:pt x="378" y="211933"/>
                  <a:pt x="-5541" y="111319"/>
                  <a:pt x="6296" y="74329"/>
                </a:cubicBezTo>
                <a:cubicBezTo>
                  <a:pt x="18133" y="37339"/>
                  <a:pt x="49205" y="29941"/>
                  <a:pt x="86195" y="21063"/>
                </a:cubicBezTo>
                <a:cubicBezTo>
                  <a:pt x="123185" y="12185"/>
                  <a:pt x="189768" y="4787"/>
                  <a:pt x="228238" y="21063"/>
                </a:cubicBezTo>
                <a:cubicBezTo>
                  <a:pt x="266708" y="37339"/>
                  <a:pt x="299260" y="93565"/>
                  <a:pt x="317015" y="118718"/>
                </a:cubicBezTo>
                <a:cubicBezTo>
                  <a:pt x="334770" y="143871"/>
                  <a:pt x="334770" y="171984"/>
                  <a:pt x="334770" y="171984"/>
                </a:cubicBezTo>
                <a:cubicBezTo>
                  <a:pt x="339209" y="185300"/>
                  <a:pt x="325893" y="195658"/>
                  <a:pt x="343648" y="198617"/>
                </a:cubicBezTo>
                <a:cubicBezTo>
                  <a:pt x="361403" y="201576"/>
                  <a:pt x="420588" y="210454"/>
                  <a:pt x="441302" y="189739"/>
                </a:cubicBezTo>
                <a:cubicBezTo>
                  <a:pt x="462016" y="169024"/>
                  <a:pt x="462017" y="98003"/>
                  <a:pt x="467935" y="74329"/>
                </a:cubicBezTo>
                <a:cubicBezTo>
                  <a:pt x="473853" y="50655"/>
                  <a:pt x="460537" y="59533"/>
                  <a:pt x="476813" y="47696"/>
                </a:cubicBezTo>
                <a:cubicBezTo>
                  <a:pt x="493089" y="35859"/>
                  <a:pt x="535998" y="9226"/>
                  <a:pt x="565590" y="3308"/>
                </a:cubicBezTo>
                <a:cubicBezTo>
                  <a:pt x="595182" y="-2610"/>
                  <a:pt x="638090" y="-1130"/>
                  <a:pt x="654366" y="12186"/>
                </a:cubicBezTo>
                <a:cubicBezTo>
                  <a:pt x="670642" y="25502"/>
                  <a:pt x="657326" y="58054"/>
                  <a:pt x="663244" y="83207"/>
                </a:cubicBezTo>
                <a:cubicBezTo>
                  <a:pt x="669163" y="108360"/>
                  <a:pt x="689877" y="163106"/>
                  <a:pt x="689877" y="163106"/>
                </a:cubicBezTo>
                <a:lnTo>
                  <a:pt x="689877" y="163106"/>
                </a:lnTo>
                <a:cubicBezTo>
                  <a:pt x="701714" y="167545"/>
                  <a:pt x="738704" y="189739"/>
                  <a:pt x="760898" y="189739"/>
                </a:cubicBezTo>
                <a:cubicBezTo>
                  <a:pt x="783092" y="189739"/>
                  <a:pt x="808246" y="188259"/>
                  <a:pt x="823042" y="163106"/>
                </a:cubicBezTo>
                <a:cubicBezTo>
                  <a:pt x="837838" y="137953"/>
                  <a:pt x="839318" y="63972"/>
                  <a:pt x="849675" y="38819"/>
                </a:cubicBezTo>
                <a:cubicBezTo>
                  <a:pt x="860032" y="13666"/>
                  <a:pt x="860033" y="12186"/>
                  <a:pt x="885186" y="12186"/>
                </a:cubicBezTo>
                <a:cubicBezTo>
                  <a:pt x="910339" y="12186"/>
                  <a:pt x="978401" y="19584"/>
                  <a:pt x="1000595" y="38819"/>
                </a:cubicBezTo>
                <a:cubicBezTo>
                  <a:pt x="1022789" y="58054"/>
                  <a:pt x="1012433" y="78768"/>
                  <a:pt x="1018351" y="127595"/>
                </a:cubicBezTo>
                <a:cubicBezTo>
                  <a:pt x="1024270" y="176422"/>
                  <a:pt x="1040545" y="291833"/>
                  <a:pt x="1036106" y="331782"/>
                </a:cubicBezTo>
                <a:cubicBezTo>
                  <a:pt x="1031667" y="371731"/>
                  <a:pt x="1010953" y="377649"/>
                  <a:pt x="991718" y="367292"/>
                </a:cubicBezTo>
                <a:cubicBezTo>
                  <a:pt x="972483" y="356935"/>
                  <a:pt x="932533" y="303669"/>
                  <a:pt x="920696" y="269638"/>
                </a:cubicBezTo>
                <a:cubicBezTo>
                  <a:pt x="908859" y="235607"/>
                  <a:pt x="935492" y="158667"/>
                  <a:pt x="920696" y="163106"/>
                </a:cubicBezTo>
                <a:cubicBezTo>
                  <a:pt x="905900" y="167545"/>
                  <a:pt x="861512" y="269638"/>
                  <a:pt x="831920" y="296271"/>
                </a:cubicBezTo>
                <a:cubicBezTo>
                  <a:pt x="802328" y="322904"/>
                  <a:pt x="772735" y="330302"/>
                  <a:pt x="743143" y="322904"/>
                </a:cubicBezTo>
                <a:cubicBezTo>
                  <a:pt x="713551" y="315506"/>
                  <a:pt x="676560" y="278516"/>
                  <a:pt x="654366" y="251883"/>
                </a:cubicBezTo>
                <a:cubicBezTo>
                  <a:pt x="632172" y="225250"/>
                  <a:pt x="627733" y="163106"/>
                  <a:pt x="609978" y="163106"/>
                </a:cubicBezTo>
                <a:cubicBezTo>
                  <a:pt x="592223" y="163106"/>
                  <a:pt x="570028" y="232648"/>
                  <a:pt x="547834" y="251883"/>
                </a:cubicBezTo>
                <a:cubicBezTo>
                  <a:pt x="525640" y="271118"/>
                  <a:pt x="506405" y="271118"/>
                  <a:pt x="476813" y="278516"/>
                </a:cubicBezTo>
                <a:cubicBezTo>
                  <a:pt x="447221" y="285914"/>
                  <a:pt x="402833" y="302190"/>
                  <a:pt x="370281" y="296271"/>
                </a:cubicBezTo>
                <a:cubicBezTo>
                  <a:pt x="337729" y="290352"/>
                  <a:pt x="306657" y="269638"/>
                  <a:pt x="281504" y="243005"/>
                </a:cubicBezTo>
                <a:cubicBezTo>
                  <a:pt x="256351" y="216372"/>
                  <a:pt x="237116" y="154228"/>
                  <a:pt x="219361" y="136473"/>
                </a:cubicBezTo>
                <a:cubicBezTo>
                  <a:pt x="201606" y="118718"/>
                  <a:pt x="174972" y="136473"/>
                  <a:pt x="174972" y="136473"/>
                </a:cubicBezTo>
                <a:cubicBezTo>
                  <a:pt x="160176" y="136473"/>
                  <a:pt x="129104" y="114279"/>
                  <a:pt x="130584" y="136473"/>
                </a:cubicBezTo>
                <a:cubicBezTo>
                  <a:pt x="132064" y="158667"/>
                  <a:pt x="179411" y="245964"/>
                  <a:pt x="183850" y="269638"/>
                </a:cubicBezTo>
                <a:cubicBezTo>
                  <a:pt x="188289" y="293312"/>
                  <a:pt x="172013" y="279996"/>
                  <a:pt x="157217" y="278516"/>
                </a:cubicBezTo>
                <a:cubicBezTo>
                  <a:pt x="142421" y="277036"/>
                  <a:pt x="115788" y="269638"/>
                  <a:pt x="95073" y="260760"/>
                </a:cubicBezTo>
                <a:cubicBezTo>
                  <a:pt x="74358" y="251882"/>
                  <a:pt x="29970" y="274077"/>
                  <a:pt x="15174" y="243005"/>
                </a:cubicBez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              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065400" y="2887560"/>
            <a:ext cx="126360" cy="15480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2128680" y="2781360"/>
            <a:ext cx="955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2664000" y="2538360"/>
            <a:ext cx="612000" cy="231120"/>
          </a:xfrm>
          <a:custGeom>
            <a:avLst/>
            <a:gdLst>
              <a:gd name="textAreaLeft" fmla="*/ 0 w 612000"/>
              <a:gd name="textAreaRight" fmla="*/ 612720 w 612000"/>
              <a:gd name="textAreaTop" fmla="*/ 0 h 231120"/>
              <a:gd name="textAreaBottom" fmla="*/ 231840 h 231120"/>
              <a:gd name="GluePoint1X" fmla="*/ 0 w 612559"/>
              <a:gd name="GluePoint1Y" fmla="*/ 231775 h 230819"/>
              <a:gd name="GluePoint2X" fmla="*/ 328590 w 612559"/>
              <a:gd name="GluePoint2Y" fmla="*/ 53487 h 230819"/>
              <a:gd name="GluePoint3X" fmla="*/ 612775 w 612559"/>
              <a:gd name="GluePoint3Y" fmla="*/ 0 h 230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612559" h="230819">
                <a:moveTo>
                  <a:pt x="0" y="230819"/>
                </a:moveTo>
                <a:cubicBezTo>
                  <a:pt x="113190" y="161277"/>
                  <a:pt x="226381" y="91736"/>
                  <a:pt x="328474" y="53266"/>
                </a:cubicBezTo>
                <a:cubicBezTo>
                  <a:pt x="430567" y="14796"/>
                  <a:pt x="521563" y="7398"/>
                  <a:pt x="612559" y="0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4570560" y="2965320"/>
            <a:ext cx="1140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AcCoA  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4651200" y="2476440"/>
            <a:ext cx="451800" cy="372240"/>
          </a:xfrm>
          <a:custGeom>
            <a:avLst/>
            <a:gdLst>
              <a:gd name="textAreaLeft" fmla="*/ 0 w 451800"/>
              <a:gd name="textAreaRight" fmla="*/ 452520 w 451800"/>
              <a:gd name="textAreaTop" fmla="*/ 0 h 372240"/>
              <a:gd name="textAreaBottom" fmla="*/ 372960 h 372240"/>
              <a:gd name="GluePoint1X" fmla="*/ 0 w 451143"/>
              <a:gd name="GluePoint1Y" fmla="*/ 0 h 372862"/>
              <a:gd name="GluePoint2X" fmla="*/ 391739 w 451143"/>
              <a:gd name="GluePoint2Y" fmla="*/ 248709 h 372862"/>
              <a:gd name="GluePoint3X" fmla="*/ 445158 w 451143"/>
              <a:gd name="GluePoint3Y" fmla="*/ 373063 h 37286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451143" h="372862">
                <a:moveTo>
                  <a:pt x="0" y="0"/>
                </a:moveTo>
                <a:cubicBezTo>
                  <a:pt x="158318" y="93215"/>
                  <a:pt x="316637" y="186431"/>
                  <a:pt x="390618" y="248575"/>
                </a:cubicBezTo>
                <a:cubicBezTo>
                  <a:pt x="464599" y="310719"/>
                  <a:pt x="454241" y="341790"/>
                  <a:pt x="443884" y="37286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4676760" y="3995640"/>
            <a:ext cx="6246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8" name=""/>
          <p:cNvCxnSpPr/>
          <p:nvPr/>
        </p:nvCxnSpPr>
        <p:spPr>
          <a:xfrm flipH="1">
            <a:off x="5076360" y="3414600"/>
            <a:ext cx="307440" cy="520560"/>
          </a:xfrm>
          <a:prstGeom prst="straightConnector1">
            <a:avLst/>
          </a:prstGeom>
          <a:ln w="9360">
            <a:solidFill>
              <a:srgbClr val="0000FF"/>
            </a:solidFill>
            <a:miter/>
            <a:tailEnd len="med" type="arrow" w="med"/>
          </a:ln>
        </p:spPr>
      </p:cxnSp>
      <p:sp>
        <p:nvSpPr>
          <p:cNvPr id="199" name=""/>
          <p:cNvSpPr/>
          <p:nvPr/>
        </p:nvSpPr>
        <p:spPr>
          <a:xfrm>
            <a:off x="2608560" y="3375000"/>
            <a:ext cx="27594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Choline acetyltransferase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4913640" y="1125360"/>
            <a:ext cx="31730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  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= 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et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yl 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zy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e 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1" name=""/>
          <p:cNvCxnSpPr/>
          <p:nvPr/>
        </p:nvCxnSpPr>
        <p:spPr>
          <a:xfrm flipH="1">
            <a:off x="3796560" y="4179960"/>
            <a:ext cx="919080" cy="2880"/>
          </a:xfrm>
          <a:prstGeom prst="straightConnector1">
            <a:avLst/>
          </a:prstGeom>
          <a:ln w="9360">
            <a:solidFill>
              <a:srgbClr val="00B050"/>
            </a:solidFill>
            <a:miter/>
            <a:tailEnd len="med" type="arrow" w="med"/>
          </a:ln>
        </p:spPr>
      </p:cxnSp>
      <p:sp>
        <p:nvSpPr>
          <p:cNvPr id="202" name=""/>
          <p:cNvSpPr/>
          <p:nvPr/>
        </p:nvSpPr>
        <p:spPr>
          <a:xfrm rot="21300000">
            <a:off x="2846880" y="3815280"/>
            <a:ext cx="302400" cy="134280"/>
          </a:xfrm>
          <a:custGeom>
            <a:avLst/>
            <a:gdLst>
              <a:gd name="textAreaLeft" fmla="*/ 0 w 302400"/>
              <a:gd name="textAreaRight" fmla="*/ 303120 w 302400"/>
              <a:gd name="textAreaTop" fmla="*/ 0 h 134280"/>
              <a:gd name="textAreaBottom" fmla="*/ 135000 h 134280"/>
              <a:gd name="GluePoint1X" fmla="*/ 22490 w 303213"/>
              <a:gd name="GluePoint1Y" fmla="*/ 0 h 134938"/>
              <a:gd name="GluePoint2X" fmla="*/ 280723 w 303213"/>
              <a:gd name="GluePoint2Y" fmla="*/ 0 h 134938"/>
              <a:gd name="GluePoint3X" fmla="*/ 303213 w 303213"/>
              <a:gd name="GluePoint3Y" fmla="*/ 22490 h 134938"/>
              <a:gd name="GluePoint4X" fmla="*/ 303213 w 303213"/>
              <a:gd name="GluePoint4Y" fmla="*/ 134938 h 134938"/>
              <a:gd name="GluePoint5X" fmla="*/ 303213 w 303213"/>
              <a:gd name="GluePoint5Y" fmla="*/ 134938 h 134938"/>
              <a:gd name="GluePoint6X" fmla="*/ 0 w 303213"/>
              <a:gd name="GluePoint6Y" fmla="*/ 134938 h 134938"/>
              <a:gd name="GluePoint7X" fmla="*/ 0 w 303213"/>
              <a:gd name="GluePoint7Y" fmla="*/ 134938 h 134938"/>
              <a:gd name="GluePoint8X" fmla="*/ 0 w 303213"/>
              <a:gd name="GluePoint8Y" fmla="*/ 22490 h 134938"/>
              <a:gd name="GluePoint9X" fmla="*/ 22490 w 303213"/>
              <a:gd name="GluePoint9Y" fmla="*/ 0 h 13493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303213" h="134938">
                <a:moveTo>
                  <a:pt x="22490" y="0"/>
                </a:moveTo>
                <a:lnTo>
                  <a:pt x="280723" y="0"/>
                </a:lnTo>
                <a:lnTo>
                  <a:pt x="303213" y="22490"/>
                </a:lnTo>
                <a:lnTo>
                  <a:pt x="303213" y="134938"/>
                </a:lnTo>
                <a:lnTo>
                  <a:pt x="303213" y="134938"/>
                </a:lnTo>
                <a:lnTo>
                  <a:pt x="0" y="134938"/>
                </a:lnTo>
                <a:lnTo>
                  <a:pt x="0" y="134938"/>
                </a:lnTo>
                <a:lnTo>
                  <a:pt x="0" y="22490"/>
                </a:lnTo>
                <a:lnTo>
                  <a:pt x="22490" y="0"/>
                </a:lnTo>
                <a:close/>
              </a:path>
            </a:pathLst>
          </a:custGeom>
          <a:solidFill>
            <a:srgbClr val="00B050"/>
          </a:solidFill>
          <a:ln w="25560">
            <a:solidFill>
              <a:srgbClr val="00B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81080" y="2595600"/>
            <a:ext cx="1526760" cy="12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Vesic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ular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Acetyl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cholin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Trans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porter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(VAC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hT)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 flipH="1" flipV="1">
            <a:off x="1603440" y="3242880"/>
            <a:ext cx="1272960" cy="568440"/>
          </a:xfrm>
          <a:prstGeom prst="line">
            <a:avLst/>
          </a:prstGeom>
          <a:ln w="93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3262320" y="3860640"/>
            <a:ext cx="6246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3186000" y="3835440"/>
            <a:ext cx="285120" cy="132480"/>
          </a:xfrm>
          <a:custGeom>
            <a:avLst/>
            <a:gdLst>
              <a:gd name="textAreaLeft" fmla="*/ 0 w 285120"/>
              <a:gd name="textAreaRight" fmla="*/ 285840 w 285120"/>
              <a:gd name="textAreaTop" fmla="*/ 0 h 132480"/>
              <a:gd name="textAreaBottom" fmla="*/ 133200 h 132480"/>
              <a:gd name="GluePoint1X" fmla="*/ 285750 w 284850"/>
              <a:gd name="GluePoint1Y" fmla="*/ 62330 h 133352"/>
              <a:gd name="GluePoint2X" fmla="*/ 125447 w 284850"/>
              <a:gd name="GluePoint2Y" fmla="*/ 187 h 133352"/>
              <a:gd name="GluePoint3X" fmla="*/ 18579 w 284850"/>
              <a:gd name="GluePoint3Y" fmla="*/ 80085 h 133352"/>
              <a:gd name="GluePoint4X" fmla="*/ 766 w 284850"/>
              <a:gd name="GluePoint4Y" fmla="*/ 133350 h 1333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84850" h="133352">
                <a:moveTo>
                  <a:pt x="284850" y="62331"/>
                </a:moveTo>
                <a:cubicBezTo>
                  <a:pt x="227145" y="29779"/>
                  <a:pt x="169440" y="-2772"/>
                  <a:pt x="125052" y="187"/>
                </a:cubicBezTo>
                <a:cubicBezTo>
                  <a:pt x="80664" y="3146"/>
                  <a:pt x="39235" y="57892"/>
                  <a:pt x="18520" y="80086"/>
                </a:cubicBezTo>
                <a:cubicBezTo>
                  <a:pt x="-2195" y="102280"/>
                  <a:pt x="-716" y="117816"/>
                  <a:pt x="764" y="13335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2610000" y="3835440"/>
            <a:ext cx="211680" cy="132480"/>
          </a:xfrm>
          <a:custGeom>
            <a:avLst/>
            <a:gdLst>
              <a:gd name="textAreaLeft" fmla="*/ 0 w 211680"/>
              <a:gd name="textAreaRight" fmla="*/ 212400 w 211680"/>
              <a:gd name="textAreaTop" fmla="*/ 0 h 132480"/>
              <a:gd name="textAreaBottom" fmla="*/ 133200 h 132480"/>
              <a:gd name="GluePoint1X" fmla="*/ 212725 w 213064"/>
              <a:gd name="GluePoint1Y" fmla="*/ 133350 h 133165"/>
              <a:gd name="GluePoint2X" fmla="*/ 159544 w 213064"/>
              <a:gd name="GluePoint2Y" fmla="*/ 44451 h 133165"/>
              <a:gd name="GluePoint3X" fmla="*/ 0 w 213064"/>
              <a:gd name="GluePoint3Y" fmla="*/ 0 h 13316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3064" h="133165">
                <a:moveTo>
                  <a:pt x="213064" y="133165"/>
                </a:moveTo>
                <a:cubicBezTo>
                  <a:pt x="204186" y="99874"/>
                  <a:pt x="195309" y="66583"/>
                  <a:pt x="159798" y="44389"/>
                </a:cubicBezTo>
                <a:cubicBezTo>
                  <a:pt x="124287" y="22195"/>
                  <a:pt x="62143" y="11097"/>
                  <a:pt x="0" y="0"/>
                </a:cubicBezTo>
              </a:path>
            </a:pathLst>
          </a:custGeom>
          <a:noFill/>
          <a:ln w="25560">
            <a:solidFill>
              <a:srgbClr val="E46C0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2340000" y="3789360"/>
            <a:ext cx="4226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E46C0A"/>
                </a:solidFill>
                <a:effectLst/>
                <a:uFillTx/>
                <a:latin typeface="Arial"/>
                <a:ea typeface="DejaVu Sans"/>
              </a:rPr>
              <a:t>H</a:t>
            </a:r>
            <a:r>
              <a:rPr lang="en-GB" sz="1800" b="0" u="none" strike="noStrike" baseline="30000">
                <a:solidFill>
                  <a:srgbClr val="E46C0A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5294160" y="4102200"/>
            <a:ext cx="126360" cy="15624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1604880" y="1677960"/>
            <a:ext cx="14886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558ED5"/>
                </a:solidFill>
                <a:effectLst/>
                <a:uFillTx/>
                <a:latin typeface="Arial"/>
                <a:ea typeface="DejaVu Sans"/>
              </a:rPr>
              <a:t>mitochondria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2754360" y="2048040"/>
            <a:ext cx="620640" cy="291960"/>
          </a:xfrm>
          <a:prstGeom prst="line">
            <a:avLst/>
          </a:prstGeom>
          <a:ln w="9360">
            <a:solidFill>
              <a:srgbClr val="0070C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 txBox="1"/>
          <p:nvPr/>
        </p:nvSpPr>
        <p:spPr>
          <a:xfrm>
            <a:off x="685800" y="457200"/>
            <a:ext cx="7276680" cy="5857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Processes involved in synaptic transmission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592200" y="2897280"/>
            <a:ext cx="3205800" cy="445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2: Release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of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transmitte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592200" y="3571200"/>
            <a:ext cx="6123600" cy="445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592200" y="4257000"/>
            <a:ext cx="5943600" cy="80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4: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act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iva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tio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of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tra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592200" y="2199600"/>
            <a:ext cx="3430440" cy="445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Synthesis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of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transmitt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217" name=""/>
          <p:cNvGrpSpPr/>
          <p:nvPr/>
        </p:nvGrpSpPr>
        <p:grpSpPr>
          <a:xfrm>
            <a:off x="6822000" y="2271600"/>
            <a:ext cx="2020680" cy="2619360"/>
            <a:chOff x="6822000" y="2271600"/>
            <a:chExt cx="2020680" cy="2619360"/>
          </a:xfrm>
        </p:grpSpPr>
        <p:grpSp>
          <p:nvGrpSpPr>
            <p:cNvPr id="218" name=""/>
            <p:cNvGrpSpPr/>
            <p:nvPr/>
          </p:nvGrpSpPr>
          <p:grpSpPr>
            <a:xfrm>
              <a:off x="6822000" y="2271600"/>
              <a:ext cx="1919160" cy="2619360"/>
              <a:chOff x="6822000" y="2271600"/>
              <a:chExt cx="1919160" cy="2619360"/>
            </a:xfrm>
          </p:grpSpPr>
          <p:sp>
            <p:nvSpPr>
              <p:cNvPr id="219" name=""/>
              <p:cNvSpPr/>
              <p:nvPr/>
            </p:nvSpPr>
            <p:spPr>
              <a:xfrm>
                <a:off x="6822000" y="2271600"/>
                <a:ext cx="359640" cy="1143000"/>
              </a:xfrm>
              <a:custGeom>
                <a:avLst/>
                <a:gdLst>
                  <a:gd name="textAreaLeft" fmla="*/ 0 w 359640"/>
                  <a:gd name="textAreaRight" fmla="*/ 129960 w 359640"/>
                  <a:gd name="textAreaTop" fmla="*/ 29520 h 1143000"/>
                  <a:gd name="textAreaBottom" fmla="*/ 1113480 h 1143000"/>
                  <a:gd name="GluePoint1X" fmla="*/ 0 w 21600"/>
                  <a:gd name="GluePoint1Y" fmla="*/ 0 h 21600"/>
                  <a:gd name="GluePoint2X" fmla="*/ 0 w 21600"/>
                  <a:gd name="GluePoint2Y" fmla="*/ 21600 h 21600"/>
                  <a:gd name="GluePoint3X" fmla="*/ 21600 w 21600"/>
                  <a:gd name="GluePoint3Y" fmla="*/ 1080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cubicBezTo>
                      <a:pt x="5400" y="0"/>
                      <a:pt x="10800" y="900"/>
                      <a:pt x="10800" y="1800"/>
                    </a:cubicBezTo>
                    <a:lnTo>
                      <a:pt x="10800" y="9000"/>
                    </a:lnTo>
                    <a:cubicBezTo>
                      <a:pt x="10800" y="9900"/>
                      <a:pt x="16200" y="10800"/>
                      <a:pt x="21600" y="10800"/>
                    </a:cubicBezTo>
                    <a:cubicBezTo>
                      <a:pt x="16200" y="10800"/>
                      <a:pt x="10800" y="11700"/>
                      <a:pt x="10800" y="12600"/>
                    </a:cubicBezTo>
                    <a:lnTo>
                      <a:pt x="10800" y="19800"/>
                    </a:lnTo>
                    <a:cubicBezTo>
                      <a:pt x="10800" y="20700"/>
                      <a:pt x="5400" y="21600"/>
                      <a:pt x="0" y="21600"/>
                    </a:cubicBezTo>
                  </a:path>
                </a:pathLst>
              </a:custGeom>
              <a:solidFill>
                <a:srgbClr val="FFFFFF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"/>
              <p:cNvSpPr/>
              <p:nvPr/>
            </p:nvSpPr>
            <p:spPr>
              <a:xfrm>
                <a:off x="6822360" y="3747960"/>
                <a:ext cx="359640" cy="1143000"/>
              </a:xfrm>
              <a:custGeom>
                <a:avLst/>
                <a:gdLst>
                  <a:gd name="textAreaLeft" fmla="*/ 0 w 359640"/>
                  <a:gd name="textAreaRight" fmla="*/ 129960 w 359640"/>
                  <a:gd name="textAreaTop" fmla="*/ 29520 h 1143000"/>
                  <a:gd name="textAreaBottom" fmla="*/ 1113480 h 1143000"/>
                  <a:gd name="GluePoint1X" fmla="*/ 0 w 21600"/>
                  <a:gd name="GluePoint1Y" fmla="*/ 0 h 21600"/>
                  <a:gd name="GluePoint2X" fmla="*/ 0 w 21600"/>
                  <a:gd name="GluePoint2Y" fmla="*/ 21600 h 21600"/>
                  <a:gd name="GluePoint3X" fmla="*/ 21600 w 21600"/>
                  <a:gd name="GluePoint3Y" fmla="*/ 1080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cubicBezTo>
                      <a:pt x="5400" y="0"/>
                      <a:pt x="10800" y="900"/>
                      <a:pt x="10800" y="1800"/>
                    </a:cubicBezTo>
                    <a:lnTo>
                      <a:pt x="10800" y="9000"/>
                    </a:lnTo>
                    <a:cubicBezTo>
                      <a:pt x="10800" y="9900"/>
                      <a:pt x="16200" y="10800"/>
                      <a:pt x="21600" y="10800"/>
                    </a:cubicBezTo>
                    <a:cubicBezTo>
                      <a:pt x="16200" y="10800"/>
                      <a:pt x="10800" y="11700"/>
                      <a:pt x="10800" y="12600"/>
                    </a:cubicBezTo>
                    <a:lnTo>
                      <a:pt x="10800" y="19800"/>
                    </a:lnTo>
                    <a:cubicBezTo>
                      <a:pt x="10800" y="20700"/>
                      <a:pt x="5400" y="21600"/>
                      <a:pt x="0" y="21600"/>
                    </a:cubicBezTo>
                  </a:path>
                </a:pathLst>
              </a:custGeom>
              <a:solidFill>
                <a:srgbClr val="FFFFFF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"/>
              <p:cNvSpPr txBox="1"/>
              <p:nvPr/>
            </p:nvSpPr>
            <p:spPr>
              <a:xfrm>
                <a:off x="7315200" y="2743200"/>
                <a:ext cx="1425960" cy="3463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90000" tIns="45000" rIns="90000" bIns="45000" anchor="t">
                <a:spAutoFit/>
              </a:bodyPr>
              <a:p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pre-synaptic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2" name=""/>
            <p:cNvSpPr txBox="1"/>
            <p:nvPr/>
          </p:nvSpPr>
          <p:spPr>
            <a:xfrm>
              <a:off x="7315200" y="4163400"/>
              <a:ext cx="152748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post-synaptic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>
            <a:off x="1763640" y="585720"/>
            <a:ext cx="1800" cy="52275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1773360" y="5813280"/>
            <a:ext cx="6240240" cy="180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1757520" y="3949560"/>
            <a:ext cx="6249240" cy="710640"/>
          </a:xfrm>
          <a:custGeom>
            <a:avLst/>
            <a:gdLst>
              <a:gd name="textAreaLeft" fmla="*/ 0 w 6249240"/>
              <a:gd name="textAreaRight" fmla="*/ 6249960 w 6249240"/>
              <a:gd name="textAreaTop" fmla="*/ 0 h 710640"/>
              <a:gd name="textAreaBottom" fmla="*/ 711360 h 710640"/>
              <a:gd name="GluePoint1X" fmla="*/ 0 w 6249879"/>
              <a:gd name="GluePoint1Y" fmla="*/ 711200 h 711286"/>
              <a:gd name="GluePoint2X" fmla="*/ 1704541 w 6249879"/>
              <a:gd name="GluePoint2Y" fmla="*/ 684570 h 711286"/>
              <a:gd name="GluePoint3X" fmla="*/ 2130677 w 6249879"/>
              <a:gd name="GluePoint3Y" fmla="*/ 649064 h 711286"/>
              <a:gd name="GluePoint4X" fmla="*/ 2219455 w 6249879"/>
              <a:gd name="GluePoint4Y" fmla="*/ 418271 h 711286"/>
              <a:gd name="GluePoint5X" fmla="*/ 2246089 w 6249879"/>
              <a:gd name="GluePoint5Y" fmla="*/ 151974 h 711286"/>
              <a:gd name="GluePoint6X" fmla="*/ 2281600 w 6249879"/>
              <a:gd name="GluePoint6Y" fmla="*/ 27702 h 711286"/>
              <a:gd name="GluePoint7X" fmla="*/ 2379257 w 6249879"/>
              <a:gd name="GluePoint7Y" fmla="*/ 27701 h 711286"/>
              <a:gd name="GluePoint8X" fmla="*/ 2672224 w 6249879"/>
              <a:gd name="GluePoint8Y" fmla="*/ 329507 h 711286"/>
              <a:gd name="GluePoint9X" fmla="*/ 3000704 w 6249879"/>
              <a:gd name="GluePoint9Y" fmla="*/ 533668 h 711286"/>
              <a:gd name="GluePoint10X" fmla="*/ 3426840 w 6249879"/>
              <a:gd name="GluePoint10Y" fmla="*/ 657939 h 711286"/>
              <a:gd name="GluePoint11X" fmla="*/ 3870731 w 6249879"/>
              <a:gd name="GluePoint11Y" fmla="*/ 666817 h 711286"/>
              <a:gd name="GluePoint12X" fmla="*/ 4820657 w 6249879"/>
              <a:gd name="GluePoint12Y" fmla="*/ 666816 h 711286"/>
              <a:gd name="GluePoint13X" fmla="*/ 6249987 w 6249879"/>
              <a:gd name="GluePoint13Y" fmla="*/ 684569 h 7112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249879" h="711286">
                <a:moveTo>
                  <a:pt x="0" y="711286"/>
                </a:moveTo>
                <a:lnTo>
                  <a:pt x="1704512" y="684653"/>
                </a:lnTo>
                <a:cubicBezTo>
                  <a:pt x="2059619" y="674296"/>
                  <a:pt x="2044823" y="693530"/>
                  <a:pt x="2130640" y="649142"/>
                </a:cubicBezTo>
                <a:cubicBezTo>
                  <a:pt x="2216457" y="604754"/>
                  <a:pt x="2200182" y="501180"/>
                  <a:pt x="2219417" y="418322"/>
                </a:cubicBezTo>
                <a:cubicBezTo>
                  <a:pt x="2238652" y="335464"/>
                  <a:pt x="2235693" y="217095"/>
                  <a:pt x="2246050" y="151992"/>
                </a:cubicBezTo>
                <a:cubicBezTo>
                  <a:pt x="2256407" y="86889"/>
                  <a:pt x="2259367" y="48420"/>
                  <a:pt x="2281561" y="27705"/>
                </a:cubicBezTo>
                <a:cubicBezTo>
                  <a:pt x="2303755" y="6990"/>
                  <a:pt x="2314113" y="-22603"/>
                  <a:pt x="2379216" y="27704"/>
                </a:cubicBezTo>
                <a:cubicBezTo>
                  <a:pt x="2444319" y="78011"/>
                  <a:pt x="2568605" y="245209"/>
                  <a:pt x="2672178" y="329547"/>
                </a:cubicBezTo>
                <a:cubicBezTo>
                  <a:pt x="2775751" y="413885"/>
                  <a:pt x="2874885" y="478988"/>
                  <a:pt x="3000652" y="533733"/>
                </a:cubicBezTo>
                <a:cubicBezTo>
                  <a:pt x="3126419" y="588478"/>
                  <a:pt x="3281779" y="635825"/>
                  <a:pt x="3426781" y="658019"/>
                </a:cubicBezTo>
                <a:cubicBezTo>
                  <a:pt x="3571783" y="680213"/>
                  <a:pt x="3638365" y="665418"/>
                  <a:pt x="3870664" y="666898"/>
                </a:cubicBezTo>
                <a:lnTo>
                  <a:pt x="4820574" y="666897"/>
                </a:lnTo>
                <a:cubicBezTo>
                  <a:pt x="5217110" y="669856"/>
                  <a:pt x="5752729" y="693530"/>
                  <a:pt x="6249879" y="684652"/>
                </a:cubicBezTo>
              </a:path>
            </a:pathLst>
          </a:custGeom>
          <a:noFill/>
          <a:ln w="2556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1773360" y="4653000"/>
            <a:ext cx="6242040" cy="144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1763640" y="4305240"/>
            <a:ext cx="6249240" cy="347040"/>
          </a:xfrm>
          <a:custGeom>
            <a:avLst/>
            <a:gdLst>
              <a:gd name="textAreaLeft" fmla="*/ 0 w 6249240"/>
              <a:gd name="textAreaRight" fmla="*/ 6249960 w 6249240"/>
              <a:gd name="textAreaTop" fmla="*/ 0 h 347040"/>
              <a:gd name="textAreaBottom" fmla="*/ 347760 h 347040"/>
              <a:gd name="GluePoint1X" fmla="*/ 0 w 6249879"/>
              <a:gd name="GluePoint1Y" fmla="*/ 347663 h 711286"/>
              <a:gd name="GluePoint2X" fmla="*/ 1704541 w 6249879"/>
              <a:gd name="GluePoint2Y" fmla="*/ 334645 h 711286"/>
              <a:gd name="GluePoint3X" fmla="*/ 2130677 w 6249879"/>
              <a:gd name="GluePoint3Y" fmla="*/ 317288 h 711286"/>
              <a:gd name="GluePoint4X" fmla="*/ 2219455 w 6249879"/>
              <a:gd name="GluePoint4Y" fmla="*/ 204468 h 711286"/>
              <a:gd name="GluePoint5X" fmla="*/ 2246089 w 6249879"/>
              <a:gd name="GluePoint5Y" fmla="*/ 74291 h 711286"/>
              <a:gd name="GluePoint6X" fmla="*/ 2281600 w 6249879"/>
              <a:gd name="GluePoint6Y" fmla="*/ 13542 h 711286"/>
              <a:gd name="GluePoint7X" fmla="*/ 2379257 w 6249879"/>
              <a:gd name="GluePoint7Y" fmla="*/ 13541 h 711286"/>
              <a:gd name="GluePoint8X" fmla="*/ 2672224 w 6249879"/>
              <a:gd name="GluePoint8Y" fmla="*/ 161076 h 711286"/>
              <a:gd name="GluePoint9X" fmla="*/ 3000704 w 6249879"/>
              <a:gd name="GluePoint9Y" fmla="*/ 260878 h 711286"/>
              <a:gd name="GluePoint10X" fmla="*/ 3426840 w 6249879"/>
              <a:gd name="GluePoint10Y" fmla="*/ 321627 h 711286"/>
              <a:gd name="GluePoint11X" fmla="*/ 3870731 w 6249879"/>
              <a:gd name="GluePoint11Y" fmla="*/ 325967 h 711286"/>
              <a:gd name="GluePoint12X" fmla="*/ 4820657 w 6249879"/>
              <a:gd name="GluePoint12Y" fmla="*/ 325967 h 711286"/>
              <a:gd name="GluePoint13X" fmla="*/ 6249987 w 6249879"/>
              <a:gd name="GluePoint13Y" fmla="*/ 334645 h 7112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249879" h="711286">
                <a:moveTo>
                  <a:pt x="0" y="711286"/>
                </a:moveTo>
                <a:lnTo>
                  <a:pt x="1704512" y="684653"/>
                </a:lnTo>
                <a:cubicBezTo>
                  <a:pt x="2059619" y="674296"/>
                  <a:pt x="2044823" y="693530"/>
                  <a:pt x="2130640" y="649142"/>
                </a:cubicBezTo>
                <a:cubicBezTo>
                  <a:pt x="2216457" y="604754"/>
                  <a:pt x="2200182" y="501180"/>
                  <a:pt x="2219417" y="418322"/>
                </a:cubicBezTo>
                <a:cubicBezTo>
                  <a:pt x="2238652" y="335464"/>
                  <a:pt x="2235693" y="217095"/>
                  <a:pt x="2246050" y="151992"/>
                </a:cubicBezTo>
                <a:cubicBezTo>
                  <a:pt x="2256407" y="86889"/>
                  <a:pt x="2259367" y="48420"/>
                  <a:pt x="2281561" y="27705"/>
                </a:cubicBezTo>
                <a:cubicBezTo>
                  <a:pt x="2303755" y="6990"/>
                  <a:pt x="2314113" y="-22603"/>
                  <a:pt x="2379216" y="27704"/>
                </a:cubicBezTo>
                <a:cubicBezTo>
                  <a:pt x="2444319" y="78011"/>
                  <a:pt x="2568605" y="245209"/>
                  <a:pt x="2672178" y="329547"/>
                </a:cubicBezTo>
                <a:cubicBezTo>
                  <a:pt x="2775751" y="413885"/>
                  <a:pt x="2874885" y="478988"/>
                  <a:pt x="3000652" y="533733"/>
                </a:cubicBezTo>
                <a:cubicBezTo>
                  <a:pt x="3126419" y="588478"/>
                  <a:pt x="3281779" y="635825"/>
                  <a:pt x="3426781" y="658019"/>
                </a:cubicBezTo>
                <a:cubicBezTo>
                  <a:pt x="3571783" y="680213"/>
                  <a:pt x="3638365" y="665418"/>
                  <a:pt x="3870664" y="666898"/>
                </a:cubicBezTo>
                <a:lnTo>
                  <a:pt x="4820574" y="666897"/>
                </a:lnTo>
                <a:cubicBezTo>
                  <a:pt x="5217110" y="669856"/>
                  <a:pt x="5752729" y="693530"/>
                  <a:pt x="6249879" y="684652"/>
                </a:cubicBezTo>
              </a:path>
            </a:pathLst>
          </a:custGeom>
          <a:noFill/>
          <a:ln w="25560">
            <a:solidFill>
              <a:srgbClr val="0000F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1763640" y="1197000"/>
            <a:ext cx="6266880" cy="3447360"/>
          </a:xfrm>
          <a:custGeom>
            <a:avLst/>
            <a:gdLst>
              <a:gd name="textAreaLeft" fmla="*/ 0 w 6266880"/>
              <a:gd name="textAreaRight" fmla="*/ 6267600 w 6266880"/>
              <a:gd name="textAreaTop" fmla="*/ 0 h 3447360"/>
              <a:gd name="textAreaBottom" fmla="*/ 3448080 h 3447360"/>
              <a:gd name="GluePoint1X" fmla="*/ 0 w 6267635"/>
              <a:gd name="GluePoint1Y" fmla="*/ 3448050 h 711156"/>
              <a:gd name="GluePoint2X" fmla="*/ 1766603 w 6267635"/>
              <a:gd name="GluePoint2Y" fmla="*/ 3443245 h 711156"/>
              <a:gd name="GluePoint3X" fmla="*/ 2157209 w 6267635"/>
              <a:gd name="GluePoint3Y" fmla="*/ 3368753 h 711156"/>
              <a:gd name="GluePoint4X" fmla="*/ 2222320 w 6267635"/>
              <a:gd name="GluePoint4Y" fmla="*/ 2949419 h 711156"/>
              <a:gd name="GluePoint5X" fmla="*/ 2237106 w 6267635"/>
              <a:gd name="GluePoint5Y" fmla="*/ 2018727 h 711156"/>
              <a:gd name="GluePoint6X" fmla="*/ 2245984 w 6267635"/>
              <a:gd name="GluePoint6Y" fmla="*/ 736305 h 711156"/>
              <a:gd name="GluePoint7X" fmla="*/ 2281494 w 6267635"/>
              <a:gd name="GluePoint7Y" fmla="*/ 133698 h 711156"/>
              <a:gd name="GluePoint8X" fmla="*/ 2379146 w 6267635"/>
              <a:gd name="GluePoint8Y" fmla="*/ 133693 h 711156"/>
              <a:gd name="GluePoint9X" fmla="*/ 2583326 w 6267635"/>
              <a:gd name="GluePoint9Y" fmla="*/ 1588301 h 711156"/>
              <a:gd name="GluePoint10X" fmla="*/ 2849648 w 6267635"/>
              <a:gd name="GluePoint10Y" fmla="*/ 2622702 h 711156"/>
              <a:gd name="GluePoint11X" fmla="*/ 3426680 w 6267635"/>
              <a:gd name="GluePoint11Y" fmla="*/ 3189784 h 711156"/>
              <a:gd name="GluePoint12X" fmla="*/ 3914936 w 6267635"/>
              <a:gd name="GluePoint12Y" fmla="*/ 3366042 h 711156"/>
              <a:gd name="GluePoint13X" fmla="*/ 4926961 w 6267635"/>
              <a:gd name="GluePoint13Y" fmla="*/ 3410440 h 711156"/>
              <a:gd name="GluePoint14X" fmla="*/ 6267450 w 6267635"/>
              <a:gd name="GluePoint14Y" fmla="*/ 3443240 h 7111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6267635" h="711156">
                <a:moveTo>
                  <a:pt x="0" y="711156"/>
                </a:moveTo>
                <a:lnTo>
                  <a:pt x="1766655" y="710165"/>
                </a:lnTo>
                <a:cubicBezTo>
                  <a:pt x="2126200" y="707439"/>
                  <a:pt x="2081318" y="711776"/>
                  <a:pt x="2157273" y="694801"/>
                </a:cubicBezTo>
                <a:cubicBezTo>
                  <a:pt x="2233228" y="677826"/>
                  <a:pt x="2209070" y="654721"/>
                  <a:pt x="2222386" y="608314"/>
                </a:cubicBezTo>
                <a:cubicBezTo>
                  <a:pt x="2235702" y="561907"/>
                  <a:pt x="2233228" y="492435"/>
                  <a:pt x="2237172" y="416360"/>
                </a:cubicBezTo>
                <a:cubicBezTo>
                  <a:pt x="2241116" y="340285"/>
                  <a:pt x="2238652" y="216659"/>
                  <a:pt x="2246050" y="151862"/>
                </a:cubicBezTo>
                <a:cubicBezTo>
                  <a:pt x="2253448" y="87065"/>
                  <a:pt x="2259367" y="48290"/>
                  <a:pt x="2281561" y="27575"/>
                </a:cubicBezTo>
                <a:cubicBezTo>
                  <a:pt x="2303755" y="6860"/>
                  <a:pt x="2328909" y="-22428"/>
                  <a:pt x="2379216" y="27574"/>
                </a:cubicBezTo>
                <a:cubicBezTo>
                  <a:pt x="2429523" y="77576"/>
                  <a:pt x="2504983" y="242026"/>
                  <a:pt x="2583402" y="327585"/>
                </a:cubicBezTo>
                <a:cubicBezTo>
                  <a:pt x="2661821" y="413144"/>
                  <a:pt x="2709169" y="485878"/>
                  <a:pt x="2849732" y="540929"/>
                </a:cubicBezTo>
                <a:cubicBezTo>
                  <a:pt x="2990295" y="595980"/>
                  <a:pt x="3249228" y="632337"/>
                  <a:pt x="3426781" y="657889"/>
                </a:cubicBezTo>
                <a:cubicBezTo>
                  <a:pt x="3604334" y="683441"/>
                  <a:pt x="3664998" y="686657"/>
                  <a:pt x="3915052" y="694242"/>
                </a:cubicBezTo>
                <a:cubicBezTo>
                  <a:pt x="4165106" y="701827"/>
                  <a:pt x="4535009" y="700745"/>
                  <a:pt x="4927106" y="703399"/>
                </a:cubicBezTo>
                <a:lnTo>
                  <a:pt x="6267635" y="710164"/>
                </a:lnTo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763640" y="4149720"/>
            <a:ext cx="6242040" cy="1440"/>
          </a:xfrm>
          <a:prstGeom prst="line">
            <a:avLst/>
          </a:prstGeom>
          <a:ln w="9360">
            <a:solidFill>
              <a:srgbClr val="00B05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4664160" y="1916280"/>
            <a:ext cx="40554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Muscle action potential (all-or-nothing)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4806720" y="4788000"/>
            <a:ext cx="4056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End plate potential (graded amplitude)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 flipV="1">
            <a:off x="2411280" y="4368960"/>
            <a:ext cx="1800" cy="27936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 rot="16200000">
            <a:off x="-294840" y="2997720"/>
            <a:ext cx="27590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Membrane potential (mV)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4287960" y="6227640"/>
            <a:ext cx="12006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Time (ms)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5" name=""/>
          <p:cNvCxnSpPr/>
          <p:nvPr/>
        </p:nvCxnSpPr>
        <p:spPr>
          <a:xfrm>
            <a:off x="2414160" y="4463640"/>
            <a:ext cx="1508040" cy="4680"/>
          </a:xfrm>
          <a:prstGeom prst="straightConnector1">
            <a:avLst/>
          </a:prstGeom>
          <a:ln w="9360">
            <a:solidFill>
              <a:srgbClr val="4A7EBB"/>
            </a:solidFill>
            <a:miter/>
            <a:headEnd len="med" type="arrow" w="med"/>
            <a:tailEnd len="med" type="arrow" w="med"/>
          </a:ln>
        </p:spPr>
      </p:cxnSp>
      <p:sp>
        <p:nvSpPr>
          <p:cNvPr id="236" name=""/>
          <p:cNvSpPr/>
          <p:nvPr/>
        </p:nvSpPr>
        <p:spPr>
          <a:xfrm>
            <a:off x="2487600" y="4921200"/>
            <a:ext cx="13536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Synaptic delay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1908000" y="4653000"/>
            <a:ext cx="11505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</a:t>
            </a: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rve </a:t>
            </a: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sti</a:t>
            </a: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1709640" y="3878280"/>
            <a:ext cx="172800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Threshold for action potential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1120680" y="5607000"/>
            <a:ext cx="6375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-100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1263600" y="3819600"/>
            <a:ext cx="5104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1417680" y="2111400"/>
            <a:ext cx="307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1263600" y="404640"/>
            <a:ext cx="567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1596960" y="5805360"/>
            <a:ext cx="307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4665600" y="5805360"/>
            <a:ext cx="307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7734240" y="5805360"/>
            <a:ext cx="4341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2173320" y="115920"/>
            <a:ext cx="681552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End plate potential &amp; ACh concentration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4940280" y="3213000"/>
            <a:ext cx="24206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Transmission success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5001840" y="3608280"/>
            <a:ext cx="22176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Transmi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ssion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failure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 flipH="1">
            <a:off x="4268520" y="3397320"/>
            <a:ext cx="647640" cy="6253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 flipH="1">
            <a:off x="4394160" y="3801960"/>
            <a:ext cx="649440" cy="6159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 flipV="1">
            <a:off x="3165480" y="4508640"/>
            <a:ext cx="1440" cy="44280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 txBox="1"/>
          <p:nvPr/>
        </p:nvSpPr>
        <p:spPr>
          <a:xfrm rot="21591000">
            <a:off x="1368720" y="1151280"/>
            <a:ext cx="6629400" cy="207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Inhibition of synaptic transmission:</a:t>
            </a:r>
            <a:endParaRPr lang="en-US" sz="2800" b="0" u="none" strike="noStrike">
              <a:solidFill>
                <a:srgbClr val="FF0000"/>
              </a:solidFill>
              <a:effectLst/>
              <a:uFillTx/>
              <a:latin typeface="Comic Sans MS"/>
            </a:endParaRPr>
          </a:p>
          <a:p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Pre-synaptic mechanisms.</a:t>
            </a:r>
            <a:endParaRPr lang="en-US" sz="2800" b="0" u="none" strike="noStrike">
              <a:solidFill>
                <a:srgbClr val="FF0000"/>
              </a:solidFill>
              <a:effectLst/>
              <a:uFillTx/>
              <a:latin typeface="Comic Sans MS"/>
            </a:endParaRPr>
          </a:p>
          <a:p>
            <a:endParaRPr lang="en-US" sz="2800" b="0" u="none" strike="noStrike">
              <a:solidFill>
                <a:srgbClr val="FF0000"/>
              </a:solidFill>
              <a:effectLst/>
              <a:uFillTx/>
              <a:latin typeface="Comic Sans MS"/>
            </a:endParaRPr>
          </a:p>
          <a:p>
            <a:endParaRPr lang="en-US" sz="2800" b="0" u="none" strike="noStrike">
              <a:solidFill>
                <a:srgbClr val="FF0000"/>
              </a:solidFill>
              <a:effectLst/>
              <a:uFillTx/>
              <a:latin typeface="Comic Sans MS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371600" y="2686320"/>
            <a:ext cx="3720600" cy="5140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.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371600" y="3657600"/>
            <a:ext cx="3748680" cy="5508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2.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hi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bi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ti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on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of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as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>
            <a:off x="179280" y="115920"/>
            <a:ext cx="2447640" cy="12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Dr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ug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s 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aff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ec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tin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g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ne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ur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otr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an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mi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tte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r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sy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nt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he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si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399960" y="4784760"/>
            <a:ext cx="7962480" cy="772560"/>
          </a:xfrm>
          <a:custGeom>
            <a:avLst/>
            <a:gdLst>
              <a:gd name="textAreaLeft" fmla="*/ 0 w 7962480"/>
              <a:gd name="textAreaRight" fmla="*/ 7962840 w 7962480"/>
              <a:gd name="textAreaTop" fmla="*/ 0 h 772560"/>
              <a:gd name="textAreaBottom" fmla="*/ 772920 h 772560"/>
              <a:gd name="GluePoint1X" fmla="*/ 7962900 w 7963270"/>
              <a:gd name="GluePoint1Y" fmla="*/ 44423 h 772503"/>
              <a:gd name="GluePoint2X" fmla="*/ 7048542 w 7963270"/>
              <a:gd name="GluePoint2Y" fmla="*/ 115501 h 772503"/>
              <a:gd name="GluePoint3X" fmla="*/ 6515907 w 7963270"/>
              <a:gd name="GluePoint3Y" fmla="*/ 239886 h 772503"/>
              <a:gd name="GluePoint4X" fmla="*/ 5637059 w 7963270"/>
              <a:gd name="GluePoint4Y" fmla="*/ 648582 h 772503"/>
              <a:gd name="GluePoint5X" fmla="*/ 4669438 w 7963270"/>
              <a:gd name="GluePoint5Y" fmla="*/ 755198 h 772503"/>
              <a:gd name="GluePoint6X" fmla="*/ 3426622 w 7963270"/>
              <a:gd name="GluePoint6Y" fmla="*/ 772967 h 772503"/>
              <a:gd name="GluePoint7X" fmla="*/ 2414614 w 7963270"/>
              <a:gd name="GluePoint7Y" fmla="*/ 755198 h 772503"/>
              <a:gd name="GluePoint8X" fmla="*/ 1633415 w 7963270"/>
              <a:gd name="GluePoint8Y" fmla="*/ 675236 h 772503"/>
              <a:gd name="GluePoint9X" fmla="*/ 949867 w 7963270"/>
              <a:gd name="GluePoint9Y" fmla="*/ 479773 h 772503"/>
              <a:gd name="GluePoint10X" fmla="*/ 417232 w 7963270"/>
              <a:gd name="GluePoint10Y" fmla="*/ 88847 h 772503"/>
              <a:gd name="GluePoint11X" fmla="*/ 0 w 7963270"/>
              <a:gd name="GluePoint11Y" fmla="*/ 0 h 7725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7963270" h="772503">
                <a:moveTo>
                  <a:pt x="7963270" y="44388"/>
                </a:moveTo>
                <a:cubicBezTo>
                  <a:pt x="7626658" y="63623"/>
                  <a:pt x="7290047" y="82859"/>
                  <a:pt x="7048870" y="115410"/>
                </a:cubicBezTo>
                <a:cubicBezTo>
                  <a:pt x="6807693" y="147961"/>
                  <a:pt x="6751468" y="150920"/>
                  <a:pt x="6516210" y="239697"/>
                </a:cubicBezTo>
                <a:cubicBezTo>
                  <a:pt x="6280952" y="328474"/>
                  <a:pt x="5945080" y="562253"/>
                  <a:pt x="5637321" y="648070"/>
                </a:cubicBezTo>
                <a:cubicBezTo>
                  <a:pt x="5329562" y="733887"/>
                  <a:pt x="5038078" y="733888"/>
                  <a:pt x="4669655" y="754602"/>
                </a:cubicBezTo>
                <a:cubicBezTo>
                  <a:pt x="4301232" y="775317"/>
                  <a:pt x="3802602" y="772357"/>
                  <a:pt x="3426781" y="772357"/>
                </a:cubicBezTo>
                <a:cubicBezTo>
                  <a:pt x="3050960" y="772357"/>
                  <a:pt x="2713608" y="770878"/>
                  <a:pt x="2414726" y="754602"/>
                </a:cubicBezTo>
                <a:cubicBezTo>
                  <a:pt x="2115844" y="738326"/>
                  <a:pt x="1877627" y="720571"/>
                  <a:pt x="1633491" y="674703"/>
                </a:cubicBezTo>
                <a:cubicBezTo>
                  <a:pt x="1389355" y="628835"/>
                  <a:pt x="1152618" y="577048"/>
                  <a:pt x="949911" y="479394"/>
                </a:cubicBezTo>
                <a:cubicBezTo>
                  <a:pt x="747204" y="381740"/>
                  <a:pt x="575570" y="168676"/>
                  <a:pt x="417251" y="88777"/>
                </a:cubicBezTo>
                <a:cubicBezTo>
                  <a:pt x="258932" y="8878"/>
                  <a:pt x="129466" y="4439"/>
                  <a:pt x="0" y="0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1581120" y="363600"/>
            <a:ext cx="4874760" cy="4381200"/>
          </a:xfrm>
          <a:custGeom>
            <a:avLst/>
            <a:gdLst>
              <a:gd name="textAreaLeft" fmla="*/ 0 w 4874760"/>
              <a:gd name="textAreaRight" fmla="*/ 4875120 w 4874760"/>
              <a:gd name="textAreaTop" fmla="*/ 0 h 4381200"/>
              <a:gd name="textAreaBottom" fmla="*/ 4381560 h 4381200"/>
              <a:gd name="GluePoint1X" fmla="*/ 2894851 w 4875911"/>
              <a:gd name="GluePoint1Y" fmla="*/ 26507 h 4381571"/>
              <a:gd name="GluePoint2X" fmla="*/ 2850469 w 4875911"/>
              <a:gd name="GluePoint2Y" fmla="*/ 763341 h 4381571"/>
              <a:gd name="GluePoint3X" fmla="*/ 2956986 w 4875911"/>
              <a:gd name="GluePoint3Y" fmla="*/ 1651094 h 4381571"/>
              <a:gd name="GluePoint4X" fmla="*/ 3658221 w 4875911"/>
              <a:gd name="GluePoint4Y" fmla="*/ 2077215 h 4381571"/>
              <a:gd name="GluePoint5X" fmla="*/ 4412715 w 4875911"/>
              <a:gd name="GluePoint5Y" fmla="*/ 2592112 h 4381571"/>
              <a:gd name="GluePoint6X" fmla="*/ 4821029 w 4875911"/>
              <a:gd name="GluePoint6Y" fmla="*/ 3115886 h 4381571"/>
              <a:gd name="GluePoint7X" fmla="*/ 4856535 w 4875911"/>
              <a:gd name="GluePoint7Y" fmla="*/ 3533130 h 4381571"/>
              <a:gd name="GluePoint8X" fmla="*/ 4687884 w 4875911"/>
              <a:gd name="GluePoint8Y" fmla="*/ 3959251 h 4381571"/>
              <a:gd name="GluePoint9X" fmla="*/ 4110916 w 4875911"/>
              <a:gd name="GluePoint9Y" fmla="*/ 4261086 h 4381571"/>
              <a:gd name="GluePoint10X" fmla="*/ 2442153 w 4875911"/>
              <a:gd name="GluePoint10Y" fmla="*/ 4376495 h 4381571"/>
              <a:gd name="GluePoint11X" fmla="*/ 1110694 w 4875911"/>
              <a:gd name="GluePoint11Y" fmla="*/ 4358739 h 4381571"/>
              <a:gd name="GluePoint12X" fmla="*/ 391706 w 4875911"/>
              <a:gd name="GluePoint12Y" fmla="*/ 4154557 h 4381571"/>
              <a:gd name="GluePoint13X" fmla="*/ 27774 w 4875911"/>
              <a:gd name="GluePoint13Y" fmla="*/ 3613027 h 4381571"/>
              <a:gd name="GluePoint14X" fmla="*/ 152043 w 4875911"/>
              <a:gd name="GluePoint14Y" fmla="*/ 2769662 h 4381571"/>
              <a:gd name="GluePoint15X" fmla="*/ 1155076 w 4875911"/>
              <a:gd name="GluePoint15Y" fmla="*/ 1979563 h 4381571"/>
              <a:gd name="GluePoint16X" fmla="*/ 1856314 w 4875911"/>
              <a:gd name="GluePoint16Y" fmla="*/ 1553441 h 4381571"/>
              <a:gd name="GluePoint17X" fmla="*/ 2007210 w 4875911"/>
              <a:gd name="GluePoint17Y" fmla="*/ 541403 h 4381571"/>
              <a:gd name="GluePoint18X" fmla="*/ 2007212 w 4875911"/>
              <a:gd name="GluePoint18Y" fmla="*/ 8751 h 438157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4875911" h="4381571">
                <a:moveTo>
                  <a:pt x="2895265" y="26507"/>
                </a:moveTo>
                <a:cubicBezTo>
                  <a:pt x="2832382" y="381614"/>
                  <a:pt x="2840520" y="492584"/>
                  <a:pt x="2850877" y="763353"/>
                </a:cubicBezTo>
                <a:cubicBezTo>
                  <a:pt x="2861234" y="1034122"/>
                  <a:pt x="2822764" y="1432138"/>
                  <a:pt x="2957409" y="1651121"/>
                </a:cubicBezTo>
                <a:cubicBezTo>
                  <a:pt x="3092054" y="1870104"/>
                  <a:pt x="3416089" y="1920410"/>
                  <a:pt x="3658745" y="2077249"/>
                </a:cubicBezTo>
                <a:cubicBezTo>
                  <a:pt x="3901401" y="2234088"/>
                  <a:pt x="4219518" y="2419040"/>
                  <a:pt x="4413347" y="2592154"/>
                </a:cubicBezTo>
                <a:cubicBezTo>
                  <a:pt x="4607176" y="2765269"/>
                  <a:pt x="4747739" y="2959097"/>
                  <a:pt x="4821719" y="3115936"/>
                </a:cubicBezTo>
                <a:cubicBezTo>
                  <a:pt x="4895699" y="3272775"/>
                  <a:pt x="4879424" y="3392624"/>
                  <a:pt x="4857230" y="3533187"/>
                </a:cubicBezTo>
                <a:cubicBezTo>
                  <a:pt x="4835036" y="3673750"/>
                  <a:pt x="4812842" y="3837987"/>
                  <a:pt x="4688555" y="3959315"/>
                </a:cubicBezTo>
                <a:cubicBezTo>
                  <a:pt x="4564268" y="4080643"/>
                  <a:pt x="4485847" y="4191613"/>
                  <a:pt x="4111505" y="4261155"/>
                </a:cubicBezTo>
                <a:cubicBezTo>
                  <a:pt x="3737163" y="4330697"/>
                  <a:pt x="2942612" y="4360290"/>
                  <a:pt x="2442503" y="4376566"/>
                </a:cubicBezTo>
                <a:cubicBezTo>
                  <a:pt x="1942394" y="4392842"/>
                  <a:pt x="1554736" y="4364729"/>
                  <a:pt x="1110853" y="4358810"/>
                </a:cubicBezTo>
                <a:cubicBezTo>
                  <a:pt x="769063" y="4321820"/>
                  <a:pt x="572275" y="4278911"/>
                  <a:pt x="391762" y="4154624"/>
                </a:cubicBezTo>
                <a:cubicBezTo>
                  <a:pt x="211249" y="4030337"/>
                  <a:pt x="67727" y="3843905"/>
                  <a:pt x="27778" y="3613086"/>
                </a:cubicBezTo>
                <a:cubicBezTo>
                  <a:pt x="-12171" y="3382267"/>
                  <a:pt x="-35845" y="3041955"/>
                  <a:pt x="152065" y="2769707"/>
                </a:cubicBezTo>
                <a:cubicBezTo>
                  <a:pt x="339975" y="2497459"/>
                  <a:pt x="871155" y="2182302"/>
                  <a:pt x="1155241" y="1979595"/>
                </a:cubicBezTo>
                <a:cubicBezTo>
                  <a:pt x="1439327" y="1776888"/>
                  <a:pt x="1714537" y="1793163"/>
                  <a:pt x="1856580" y="1553466"/>
                </a:cubicBezTo>
                <a:cubicBezTo>
                  <a:pt x="1998623" y="1313769"/>
                  <a:pt x="1982344" y="798864"/>
                  <a:pt x="2007497" y="541412"/>
                </a:cubicBezTo>
                <a:cubicBezTo>
                  <a:pt x="2032650" y="283960"/>
                  <a:pt x="2019336" y="-59311"/>
                  <a:pt x="2007499" y="8751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1846440" y="5362560"/>
            <a:ext cx="4403160" cy="1106280"/>
          </a:xfrm>
          <a:custGeom>
            <a:avLst/>
            <a:gdLst>
              <a:gd name="textAreaLeft" fmla="*/ 0 w 4403160"/>
              <a:gd name="textAreaRight" fmla="*/ 4403520 w 4403160"/>
              <a:gd name="textAreaTop" fmla="*/ 0 h 1106280"/>
              <a:gd name="textAreaBottom" fmla="*/ 1106640 h 1106280"/>
              <a:gd name="GluePoint1X" fmla="*/ 4403725 w 4403325"/>
              <a:gd name="GluePoint1Y" fmla="*/ 0 h 1106166"/>
              <a:gd name="GluePoint2X" fmla="*/ 4066342 w 4403325"/>
              <a:gd name="GluePoint2Y" fmla="*/ 621618 h 1106166"/>
              <a:gd name="GluePoint3X" fmla="*/ 3338307 w 4403325"/>
              <a:gd name="GluePoint3Y" fmla="*/ 1065630 h 1106166"/>
              <a:gd name="GluePoint4X" fmla="*/ 1899995 w 4403325"/>
              <a:gd name="GluePoint4Y" fmla="*/ 1074511 h 1106166"/>
              <a:gd name="GluePoint5X" fmla="*/ 932241 w 4403325"/>
              <a:gd name="GluePoint5Y" fmla="*/ 959067 h 1106166"/>
              <a:gd name="GluePoint6X" fmla="*/ 195327 w 4403325"/>
              <a:gd name="GluePoint6Y" fmla="*/ 461772 h 1106166"/>
              <a:gd name="GluePoint7X" fmla="*/ 0 w 4403325"/>
              <a:gd name="GluePoint7Y" fmla="*/ 62161 h 11061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03325" h="1106166">
                <a:moveTo>
                  <a:pt x="4403325" y="0"/>
                </a:moveTo>
                <a:cubicBezTo>
                  <a:pt x="4333783" y="230819"/>
                  <a:pt x="4243526" y="443884"/>
                  <a:pt x="4065973" y="621437"/>
                </a:cubicBezTo>
                <a:cubicBezTo>
                  <a:pt x="3888420" y="798990"/>
                  <a:pt x="3699029" y="989860"/>
                  <a:pt x="3338004" y="1065320"/>
                </a:cubicBezTo>
                <a:cubicBezTo>
                  <a:pt x="2976979" y="1140780"/>
                  <a:pt x="2300797" y="1091953"/>
                  <a:pt x="1899822" y="1074198"/>
                </a:cubicBezTo>
                <a:cubicBezTo>
                  <a:pt x="1498847" y="1056443"/>
                  <a:pt x="1216241" y="1060881"/>
                  <a:pt x="932156" y="958788"/>
                </a:cubicBezTo>
                <a:cubicBezTo>
                  <a:pt x="648071" y="856695"/>
                  <a:pt x="350668" y="611079"/>
                  <a:pt x="195309" y="461638"/>
                </a:cubicBezTo>
                <a:cubicBezTo>
                  <a:pt x="39950" y="312197"/>
                  <a:pt x="19975" y="187170"/>
                  <a:pt x="0" y="62143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3630600" y="179280"/>
            <a:ext cx="8283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AXON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2713320" y="6435720"/>
            <a:ext cx="25437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Acetylcholin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 receptors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1" name=""/>
          <p:cNvGrpSpPr/>
          <p:nvPr/>
        </p:nvGrpSpPr>
        <p:grpSpPr>
          <a:xfrm>
            <a:off x="4042440" y="2124000"/>
            <a:ext cx="4376880" cy="4255920"/>
            <a:chOff x="4042440" y="2124000"/>
            <a:chExt cx="4376880" cy="4255920"/>
          </a:xfrm>
        </p:grpSpPr>
        <p:sp>
          <p:nvSpPr>
            <p:cNvPr id="262" name=""/>
            <p:cNvSpPr/>
            <p:nvPr/>
          </p:nvSpPr>
          <p:spPr>
            <a:xfrm>
              <a:off x="4352760" y="3068640"/>
              <a:ext cx="420480" cy="442440"/>
            </a:xfrm>
            <a:prstGeom prst="ellipse">
              <a:avLst/>
            </a:prstGeom>
            <a:noFill/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4355280" y="3141720"/>
              <a:ext cx="42660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0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4424400" y="4280040"/>
              <a:ext cx="420120" cy="441000"/>
            </a:xfrm>
            <a:prstGeom prst="ellipse">
              <a:avLst/>
            </a:prstGeom>
            <a:noFill/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4426920" y="4335480"/>
              <a:ext cx="42660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0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66" name=""/>
            <p:cNvCxnSpPr/>
            <p:nvPr/>
          </p:nvCxnSpPr>
          <p:spPr>
            <a:xfrm>
              <a:off x="4564080" y="3614760"/>
              <a:ext cx="15480" cy="534600"/>
            </a:xfrm>
            <a:prstGeom prst="straightConnector1">
              <a:avLst/>
            </a:prstGeom>
            <a:ln w="9360">
              <a:solidFill>
                <a:srgbClr val="4A7EBB"/>
              </a:solidFill>
              <a:miter/>
              <a:tailEnd len="med" type="arrow" w="med"/>
            </a:ln>
          </p:spPr>
        </p:cxnSp>
        <p:sp>
          <p:nvSpPr>
            <p:cNvPr id="267" name=""/>
            <p:cNvSpPr/>
            <p:nvPr/>
          </p:nvSpPr>
          <p:spPr>
            <a:xfrm>
              <a:off x="4589640" y="4653000"/>
              <a:ext cx="123120" cy="15192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560" tIns="46800" rIns="6156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"/>
            <p:cNvSpPr/>
            <p:nvPr/>
          </p:nvSpPr>
          <p:spPr>
            <a:xfrm>
              <a:off x="6151680" y="3191040"/>
              <a:ext cx="459720" cy="450360"/>
            </a:xfrm>
            <a:prstGeom prst="flowChartSummingJunction">
              <a:avLst/>
            </a:prstGeom>
            <a:solidFill>
              <a:srgbClr val="DDD9C3"/>
            </a:solidFill>
            <a:ln w="255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"/>
            <p:cNvSpPr/>
            <p:nvPr/>
          </p:nvSpPr>
          <p:spPr>
            <a:xfrm>
              <a:off x="6801480" y="3430440"/>
              <a:ext cx="919440" cy="64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36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Na</a:t>
              </a:r>
              <a:r>
                <a:rPr lang="en-GB" sz="3600" b="0" u="none" strike="noStrike" baseline="30000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"/>
            <p:cNvSpPr/>
            <p:nvPr/>
          </p:nvSpPr>
          <p:spPr>
            <a:xfrm>
              <a:off x="5519160" y="3573360"/>
              <a:ext cx="5500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Na</a:t>
              </a:r>
              <a:r>
                <a:rPr lang="en-GB" sz="1800" b="0" u="none" strike="noStrike" baseline="30000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6327720" y="3471840"/>
              <a:ext cx="123480" cy="15192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"/>
            <p:cNvSpPr/>
            <p:nvPr/>
          </p:nvSpPr>
          <p:spPr>
            <a:xfrm>
              <a:off x="6324480" y="3211560"/>
              <a:ext cx="123480" cy="151920"/>
            </a:xfrm>
            <a:prstGeom prst="ellipse">
              <a:avLst/>
            </a:prstGeom>
            <a:solidFill>
              <a:srgbClr val="FFFFFF"/>
            </a:solidFill>
            <a:ln w="25560">
              <a:solidFill>
                <a:srgbClr val="E46C0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"/>
            <p:cNvSpPr/>
            <p:nvPr/>
          </p:nvSpPr>
          <p:spPr>
            <a:xfrm>
              <a:off x="6739920" y="2708280"/>
              <a:ext cx="16794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E46C0A"/>
                  </a:solidFill>
                  <a:effectLst/>
                  <a:uFillTx/>
                  <a:latin typeface="Arial"/>
                  <a:ea typeface="DejaVu Sans"/>
                </a:rPr>
                <a:t>Hemicholinium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6000840" y="3657600"/>
              <a:ext cx="813960" cy="120240"/>
            </a:xfrm>
            <a:custGeom>
              <a:avLst/>
              <a:gdLst>
                <a:gd name="textAreaLeft" fmla="*/ 0 w 813960"/>
                <a:gd name="textAreaRight" fmla="*/ 814320 w 813960"/>
                <a:gd name="textAreaTop" fmla="*/ 0 h 120240"/>
                <a:gd name="textAreaBottom" fmla="*/ 120600 h 120240"/>
                <a:gd name="GluePoint1X" fmla="*/ 817563 w 816745"/>
                <a:gd name="GluePoint1Y" fmla="*/ 106152 h 124401"/>
                <a:gd name="GluePoint2X" fmla="*/ 444328 w 816745"/>
                <a:gd name="GluePoint2Y" fmla="*/ 113 h 124401"/>
                <a:gd name="GluePoint3X" fmla="*/ 0 w 816745"/>
                <a:gd name="GluePoint3Y" fmla="*/ 123825 h 124401"/>
                <a:gd name="GluePoint4X" fmla="*/ 0 w 816745"/>
                <a:gd name="GluePoint4Y" fmla="*/ 123825 h 124401"/>
                <a:gd name="GluePoint5X" fmla="*/ 0 w 816745"/>
                <a:gd name="GluePoint5Y" fmla="*/ 123825 h 1244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816745" h="124401">
                  <a:moveTo>
                    <a:pt x="816745" y="106646"/>
                  </a:moveTo>
                  <a:cubicBezTo>
                    <a:pt x="698376" y="51900"/>
                    <a:pt x="580007" y="-2845"/>
                    <a:pt x="443883" y="114"/>
                  </a:cubicBezTo>
                  <a:cubicBezTo>
                    <a:pt x="307759" y="3073"/>
                    <a:pt x="0" y="124401"/>
                    <a:pt x="0" y="124401"/>
                  </a:cubicBezTo>
                  <a:lnTo>
                    <a:pt x="0" y="124401"/>
                  </a:lnTo>
                  <a:lnTo>
                    <a:pt x="0" y="124401"/>
                  </a:ln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"/>
            <p:cNvSpPr/>
            <p:nvPr/>
          </p:nvSpPr>
          <p:spPr>
            <a:xfrm>
              <a:off x="6265800" y="2708280"/>
              <a:ext cx="461520" cy="468000"/>
            </a:xfrm>
            <a:custGeom>
              <a:avLst/>
              <a:gdLst>
                <a:gd name="textAreaLeft" fmla="*/ 0 w 461520"/>
                <a:gd name="textAreaRight" fmla="*/ 461880 w 461520"/>
                <a:gd name="textAreaTop" fmla="*/ 0 h 468000"/>
                <a:gd name="textAreaBottom" fmla="*/ 468360 h 468000"/>
                <a:gd name="GluePoint1X" fmla="*/ 465138 w 464844"/>
                <a:gd name="GluePoint1Y" fmla="*/ 372027 h 472545"/>
                <a:gd name="GluePoint2X" fmla="*/ 74274 w 464844"/>
                <a:gd name="GluePoint2Y" fmla="*/ 469464 h 472545"/>
                <a:gd name="GluePoint3X" fmla="*/ 239 w 464844"/>
                <a:gd name="GluePoint3Y" fmla="*/ 283449 h 472545"/>
                <a:gd name="GluePoint4X" fmla="*/ 47625 w 464844"/>
                <a:gd name="GluePoint4Y" fmla="*/ 0 h 4725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464844" h="472545">
                  <a:moveTo>
                    <a:pt x="464844" y="372861"/>
                  </a:moveTo>
                  <a:cubicBezTo>
                    <a:pt x="335378" y="415770"/>
                    <a:pt x="151661" y="485312"/>
                    <a:pt x="74227" y="470516"/>
                  </a:cubicBezTo>
                  <a:cubicBezTo>
                    <a:pt x="-3207" y="455720"/>
                    <a:pt x="4678" y="362503"/>
                    <a:pt x="239" y="284084"/>
                  </a:cubicBezTo>
                  <a:cubicBezTo>
                    <a:pt x="-4200" y="205665"/>
                    <a:pt x="54498" y="35510"/>
                    <a:pt x="47595" y="0"/>
                  </a:cubicBezTo>
                </a:path>
              </a:pathLst>
            </a:custGeom>
            <a:noFill/>
            <a:ln w="25560">
              <a:solidFill>
                <a:srgbClr val="00B05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"/>
            <p:cNvSpPr/>
            <p:nvPr/>
          </p:nvSpPr>
          <p:spPr>
            <a:xfrm>
              <a:off x="5806800" y="2124000"/>
              <a:ext cx="24166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oli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e 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u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pt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a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k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e 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ar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ri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6719760" y="3195720"/>
              <a:ext cx="123480" cy="153720"/>
            </a:xfrm>
            <a:prstGeom prst="ellipse">
              <a:avLst/>
            </a:prstGeom>
            <a:solidFill>
              <a:srgbClr val="FFFFFF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"/>
            <p:cNvSpPr/>
            <p:nvPr/>
          </p:nvSpPr>
          <p:spPr>
            <a:xfrm>
              <a:off x="5726160" y="3063960"/>
              <a:ext cx="123480" cy="153720"/>
            </a:xfrm>
            <a:prstGeom prst="ellipse">
              <a:avLst/>
            </a:prstGeom>
            <a:solidFill>
              <a:srgbClr val="FFFFFF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"/>
            <p:cNvSpPr/>
            <p:nvPr/>
          </p:nvSpPr>
          <p:spPr>
            <a:xfrm>
              <a:off x="4473720" y="5400720"/>
              <a:ext cx="499680" cy="350280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4622760" y="5400720"/>
              <a:ext cx="191880" cy="350280"/>
            </a:xfrm>
            <a:prstGeom prst="can">
              <a:avLst>
                <a:gd name="adj" fmla="val 21490"/>
              </a:avLst>
            </a:prstGeom>
            <a:solidFill>
              <a:srgbClr val="FFFFFF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"/>
            <p:cNvSpPr/>
            <p:nvPr/>
          </p:nvSpPr>
          <p:spPr>
            <a:xfrm>
              <a:off x="4444920" y="5388120"/>
              <a:ext cx="123480" cy="15336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4876920" y="5388120"/>
              <a:ext cx="123480" cy="15336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4573440" y="5211720"/>
              <a:ext cx="112680" cy="78696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786960"/>
                <a:gd name="textAreaBottom" fmla="*/ 787320 h 786960"/>
                <a:gd name="GluePoint1X" fmla="*/ 0 w 115435"/>
                <a:gd name="GluePoint1Y" fmla="*/ 0 h 790113"/>
                <a:gd name="GluePoint2X" fmla="*/ 98036 w 115435"/>
                <a:gd name="GluePoint2Y" fmla="*/ 142126 h 790113"/>
                <a:gd name="GluePoint3X" fmla="*/ 115861 w 115435"/>
                <a:gd name="GluePoint3Y" fmla="*/ 790575 h 790113"/>
                <a:gd name="GluePoint4X" fmla="*/ 115861 w 115435"/>
                <a:gd name="GluePoint4Y" fmla="*/ 790575 h 790113"/>
                <a:gd name="GluePoint5X" fmla="*/ 115861 w 115435"/>
                <a:gd name="GluePoint5Y" fmla="*/ 790575 h 790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5435" h="790113">
                  <a:moveTo>
                    <a:pt x="0" y="0"/>
                  </a:moveTo>
                  <a:cubicBezTo>
                    <a:pt x="39209" y="5179"/>
                    <a:pt x="78419" y="10358"/>
                    <a:pt x="97654" y="142043"/>
                  </a:cubicBezTo>
                  <a:cubicBezTo>
                    <a:pt x="116889" y="273728"/>
                    <a:pt x="115409" y="790113"/>
                    <a:pt x="115409" y="790113"/>
                  </a:cubicBezTo>
                  <a:lnTo>
                    <a:pt x="115409" y="790113"/>
                  </a:lnTo>
                  <a:lnTo>
                    <a:pt x="115409" y="790113"/>
                  </a:ln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6520" tIns="46800" rIns="565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4165200" y="5014800"/>
              <a:ext cx="5500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Na</a:t>
              </a:r>
              <a:r>
                <a:rPr lang="en-GB" sz="1800" b="0" u="none" strike="noStrike" baseline="30000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"/>
            <p:cNvSpPr/>
            <p:nvPr/>
          </p:nvSpPr>
          <p:spPr>
            <a:xfrm flipH="1" flipV="1">
              <a:off x="4741200" y="5184000"/>
              <a:ext cx="112320" cy="785520"/>
            </a:xfrm>
            <a:custGeom>
              <a:avLst/>
              <a:gdLst>
                <a:gd name="textAreaLeft" fmla="*/ 360 w 112320"/>
                <a:gd name="textAreaRight" fmla="*/ 113040 w 112320"/>
                <a:gd name="textAreaTop" fmla="*/ 360 h 785520"/>
                <a:gd name="textAreaBottom" fmla="*/ 786240 h 785520"/>
                <a:gd name="GluePoint1X" fmla="*/ 0 w 115435"/>
                <a:gd name="GluePoint1Y" fmla="*/ 0 h 790113"/>
                <a:gd name="GluePoint2X" fmla="*/ 98037 w 115435"/>
                <a:gd name="GluePoint2Y" fmla="*/ 141841 h 790113"/>
                <a:gd name="GluePoint3X" fmla="*/ 115862 w 115435"/>
                <a:gd name="GluePoint3Y" fmla="*/ 788988 h 790113"/>
                <a:gd name="GluePoint4X" fmla="*/ 115862 w 115435"/>
                <a:gd name="GluePoint4Y" fmla="*/ 788988 h 790113"/>
                <a:gd name="GluePoint5X" fmla="*/ 115862 w 115435"/>
                <a:gd name="GluePoint5Y" fmla="*/ 788988 h 790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5435" h="790113">
                  <a:moveTo>
                    <a:pt x="0" y="0"/>
                  </a:moveTo>
                  <a:cubicBezTo>
                    <a:pt x="39209" y="5179"/>
                    <a:pt x="78419" y="10358"/>
                    <a:pt x="97654" y="142043"/>
                  </a:cubicBezTo>
                  <a:cubicBezTo>
                    <a:pt x="116889" y="273728"/>
                    <a:pt x="115409" y="790113"/>
                    <a:pt x="115409" y="790113"/>
                  </a:cubicBezTo>
                  <a:lnTo>
                    <a:pt x="115409" y="790113"/>
                  </a:lnTo>
                  <a:lnTo>
                    <a:pt x="115409" y="790113"/>
                  </a:lnTo>
                </a:path>
              </a:pathLst>
            </a:custGeom>
            <a:noFill/>
            <a:ln w="25560">
              <a:solidFill>
                <a:srgbClr val="0000FF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6160" tIns="46800" rIns="5616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4798440" y="5796000"/>
              <a:ext cx="4104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K</a:t>
              </a:r>
              <a:r>
                <a:rPr lang="en-GB" sz="1800" b="0" u="none" strike="noStrike" baseline="30000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"/>
            <p:cNvGrpSpPr/>
            <p:nvPr/>
          </p:nvGrpSpPr>
          <p:grpSpPr>
            <a:xfrm>
              <a:off x="5722920" y="2997360"/>
              <a:ext cx="137520" cy="284040"/>
              <a:chOff x="5722920" y="2997360"/>
              <a:chExt cx="137520" cy="284040"/>
            </a:xfrm>
          </p:grpSpPr>
          <p:sp>
            <p:nvSpPr>
              <p:cNvPr id="288" name=""/>
              <p:cNvSpPr/>
              <p:nvPr/>
            </p:nvSpPr>
            <p:spPr>
              <a:xfrm>
                <a:off x="5722920" y="2997360"/>
                <a:ext cx="135000" cy="2840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7320" tIns="46800" rIns="6732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"/>
              <p:cNvSpPr/>
              <p:nvPr/>
            </p:nvSpPr>
            <p:spPr>
              <a:xfrm flipH="1">
                <a:off x="5725440" y="2997360"/>
                <a:ext cx="135000" cy="2840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7320" tIns="46800" rIns="6732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"/>
            <p:cNvSpPr/>
            <p:nvPr/>
          </p:nvSpPr>
          <p:spPr>
            <a:xfrm>
              <a:off x="6586560" y="2852640"/>
              <a:ext cx="123480" cy="152280"/>
            </a:xfrm>
            <a:prstGeom prst="ellipse">
              <a:avLst/>
            </a:prstGeom>
            <a:solidFill>
              <a:srgbClr val="FFFFFF"/>
            </a:solidFill>
            <a:ln w="25560">
              <a:solidFill>
                <a:srgbClr val="E46C0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6847560" y="3095640"/>
              <a:ext cx="101916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ho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lin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e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4805280" y="4797360"/>
              <a:ext cx="123480" cy="15228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4859280" y="3094200"/>
              <a:ext cx="141120" cy="402840"/>
            </a:xfrm>
            <a:prstGeom prst="downArrow">
              <a:avLst>
                <a:gd name="adj1" fmla="val 50000"/>
                <a:gd name="adj2" fmla="val 50651"/>
              </a:avLst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0560" tIns="46800" rIns="7056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4042440" y="6012000"/>
              <a:ext cx="159156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Reduced ACh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5" name=""/>
          <p:cNvGrpSpPr/>
          <p:nvPr/>
        </p:nvGrpSpPr>
        <p:grpSpPr>
          <a:xfrm>
            <a:off x="38880" y="2060640"/>
            <a:ext cx="5024520" cy="4320360"/>
            <a:chOff x="38880" y="2060640"/>
            <a:chExt cx="5024520" cy="4320360"/>
          </a:xfrm>
        </p:grpSpPr>
        <p:sp>
          <p:nvSpPr>
            <p:cNvPr id="296" name=""/>
            <p:cNvSpPr/>
            <p:nvPr/>
          </p:nvSpPr>
          <p:spPr>
            <a:xfrm>
              <a:off x="2871720" y="2852640"/>
              <a:ext cx="463320" cy="442800"/>
            </a:xfrm>
            <a:prstGeom prst="ellipse">
              <a:avLst/>
            </a:prstGeom>
            <a:noFill/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"/>
            <p:cNvSpPr/>
            <p:nvPr/>
          </p:nvSpPr>
          <p:spPr>
            <a:xfrm>
              <a:off x="2778480" y="2906640"/>
              <a:ext cx="64296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4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ATEC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2781360" y="4280040"/>
              <a:ext cx="464760" cy="441000"/>
            </a:xfrm>
            <a:prstGeom prst="ellipse">
              <a:avLst/>
            </a:prstGeom>
            <a:noFill/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99" name=""/>
            <p:cNvCxnSpPr/>
            <p:nvPr/>
          </p:nvCxnSpPr>
          <p:spPr>
            <a:xfrm flipH="1">
              <a:off x="3020400" y="3460320"/>
              <a:ext cx="36000" cy="686880"/>
            </a:xfrm>
            <a:prstGeom prst="straightConnector1">
              <a:avLst/>
            </a:prstGeom>
            <a:ln w="9360">
              <a:solidFill>
                <a:srgbClr val="4A7EBB"/>
              </a:solidFill>
              <a:miter/>
              <a:tailEnd len="med" type="arrow" w="med"/>
            </a:ln>
          </p:spPr>
        </p:cxnSp>
        <p:sp>
          <p:nvSpPr>
            <p:cNvPr id="300" name=""/>
            <p:cNvSpPr/>
            <p:nvPr/>
          </p:nvSpPr>
          <p:spPr>
            <a:xfrm>
              <a:off x="2809800" y="5373720"/>
              <a:ext cx="499680" cy="350280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2959200" y="5373720"/>
              <a:ext cx="191520" cy="350280"/>
            </a:xfrm>
            <a:prstGeom prst="can">
              <a:avLst>
                <a:gd name="adj" fmla="val 21490"/>
              </a:avLst>
            </a:prstGeom>
            <a:solidFill>
              <a:srgbClr val="FFFFFF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"/>
            <p:cNvSpPr/>
            <p:nvPr/>
          </p:nvSpPr>
          <p:spPr>
            <a:xfrm>
              <a:off x="404280" y="5580000"/>
              <a:ext cx="90432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Muscle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"/>
            <p:cNvSpPr/>
            <p:nvPr/>
          </p:nvSpPr>
          <p:spPr>
            <a:xfrm rot="1860000">
              <a:off x="1275840" y="5106240"/>
              <a:ext cx="191880" cy="350640"/>
            </a:xfrm>
            <a:prstGeom prst="can">
              <a:avLst>
                <a:gd name="adj" fmla="val 21490"/>
              </a:avLst>
            </a:prstGeom>
            <a:solidFill>
              <a:srgbClr val="FF0000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1395360" y="3192480"/>
              <a:ext cx="460080" cy="450360"/>
            </a:xfrm>
            <a:prstGeom prst="flowChartSummingJunction">
              <a:avLst/>
            </a:prstGeom>
            <a:solidFill>
              <a:srgbClr val="DDD9C3"/>
            </a:solidFill>
            <a:ln w="255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"/>
            <p:cNvSpPr/>
            <p:nvPr/>
          </p:nvSpPr>
          <p:spPr>
            <a:xfrm>
              <a:off x="410040" y="3432240"/>
              <a:ext cx="919440" cy="64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36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Na</a:t>
              </a:r>
              <a:r>
                <a:rPr lang="en-GB" sz="3600" b="0" u="none" strike="noStrike" baseline="30000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2006280" y="3573360"/>
              <a:ext cx="5500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Na</a:t>
              </a:r>
              <a:r>
                <a:rPr lang="en-GB" sz="1800" b="0" u="none" strike="noStrike" baseline="30000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1574640" y="3471840"/>
              <a:ext cx="122040" cy="15372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200" tIns="46800" rIns="612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"/>
            <p:cNvSpPr/>
            <p:nvPr/>
          </p:nvSpPr>
          <p:spPr>
            <a:xfrm>
              <a:off x="1571760" y="3213000"/>
              <a:ext cx="121680" cy="152280"/>
            </a:xfrm>
            <a:prstGeom prst="ellipse">
              <a:avLst/>
            </a:prstGeom>
            <a:solidFill>
              <a:srgbClr val="FFFFFF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0840" tIns="46800" rIns="6084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115200" y="2266920"/>
              <a:ext cx="231912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Triethylcholine (TEC)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"/>
            <p:cNvSpPr/>
            <p:nvPr/>
          </p:nvSpPr>
          <p:spPr>
            <a:xfrm flipH="1">
              <a:off x="1245600" y="3659040"/>
              <a:ext cx="812160" cy="120600"/>
            </a:xfrm>
            <a:custGeom>
              <a:avLst/>
              <a:gdLst>
                <a:gd name="textAreaLeft" fmla="*/ 360 w 812160"/>
                <a:gd name="textAreaRight" fmla="*/ 812880 w 812160"/>
                <a:gd name="textAreaTop" fmla="*/ 0 h 120600"/>
                <a:gd name="textAreaBottom" fmla="*/ 120960 h 120600"/>
                <a:gd name="GluePoint1X" fmla="*/ 815975 w 816745"/>
                <a:gd name="GluePoint1Y" fmla="*/ 106152 h 124401"/>
                <a:gd name="GluePoint2X" fmla="*/ 443465 w 816745"/>
                <a:gd name="GluePoint2Y" fmla="*/ 113 h 124401"/>
                <a:gd name="GluePoint3X" fmla="*/ 0 w 816745"/>
                <a:gd name="GluePoint3Y" fmla="*/ 123825 h 124401"/>
                <a:gd name="GluePoint4X" fmla="*/ 0 w 816745"/>
                <a:gd name="GluePoint4Y" fmla="*/ 123825 h 124401"/>
                <a:gd name="GluePoint5X" fmla="*/ 0 w 816745"/>
                <a:gd name="GluePoint5Y" fmla="*/ 123825 h 1244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816745" h="124401">
                  <a:moveTo>
                    <a:pt x="816745" y="106646"/>
                  </a:moveTo>
                  <a:cubicBezTo>
                    <a:pt x="698376" y="51900"/>
                    <a:pt x="580007" y="-2845"/>
                    <a:pt x="443883" y="114"/>
                  </a:cubicBezTo>
                  <a:cubicBezTo>
                    <a:pt x="307759" y="3073"/>
                    <a:pt x="0" y="124401"/>
                    <a:pt x="0" y="124401"/>
                  </a:cubicBezTo>
                  <a:lnTo>
                    <a:pt x="0" y="124401"/>
                  </a:lnTo>
                  <a:lnTo>
                    <a:pt x="0" y="124401"/>
                  </a:ln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1967040" y="3197160"/>
              <a:ext cx="121680" cy="152280"/>
            </a:xfrm>
            <a:prstGeom prst="ellipse">
              <a:avLst/>
            </a:prstGeom>
            <a:solidFill>
              <a:srgbClr val="FFFFFF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0840" tIns="46800" rIns="6084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969840" y="3065400"/>
              <a:ext cx="123480" cy="152280"/>
            </a:xfrm>
            <a:prstGeom prst="ellipse">
              <a:avLst/>
            </a:prstGeom>
            <a:solidFill>
              <a:srgbClr val="FFFFFF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3222720" y="5334120"/>
              <a:ext cx="123480" cy="15192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"/>
            <p:cNvSpPr/>
            <p:nvPr/>
          </p:nvSpPr>
          <p:spPr>
            <a:xfrm flipH="1" flipV="1">
              <a:off x="1289880" y="3040920"/>
              <a:ext cx="813960" cy="120240"/>
            </a:xfrm>
            <a:custGeom>
              <a:avLst/>
              <a:gdLst>
                <a:gd name="textAreaLeft" fmla="*/ -360 w 813960"/>
                <a:gd name="textAreaRight" fmla="*/ 813960 w 813960"/>
                <a:gd name="textAreaTop" fmla="*/ 360 h 120240"/>
                <a:gd name="textAreaBottom" fmla="*/ 120960 h 120240"/>
                <a:gd name="GluePoint1X" fmla="*/ 817562 w 816745"/>
                <a:gd name="GluePoint1Y" fmla="*/ 106152 h 124401"/>
                <a:gd name="GluePoint2X" fmla="*/ 444327 w 816745"/>
                <a:gd name="GluePoint2Y" fmla="*/ 113 h 124401"/>
                <a:gd name="GluePoint3X" fmla="*/ 0 w 816745"/>
                <a:gd name="GluePoint3Y" fmla="*/ 123825 h 124401"/>
                <a:gd name="GluePoint4X" fmla="*/ 0 w 816745"/>
                <a:gd name="GluePoint4Y" fmla="*/ 123825 h 124401"/>
                <a:gd name="GluePoint5X" fmla="*/ 0 w 816745"/>
                <a:gd name="GluePoint5Y" fmla="*/ 123825 h 1244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816745" h="124401">
                  <a:moveTo>
                    <a:pt x="816745" y="106646"/>
                  </a:moveTo>
                  <a:cubicBezTo>
                    <a:pt x="698376" y="51900"/>
                    <a:pt x="580007" y="-2845"/>
                    <a:pt x="443883" y="114"/>
                  </a:cubicBezTo>
                  <a:cubicBezTo>
                    <a:pt x="307759" y="3073"/>
                    <a:pt x="0" y="124401"/>
                    <a:pt x="0" y="124401"/>
                  </a:cubicBezTo>
                  <a:lnTo>
                    <a:pt x="0" y="124401"/>
                  </a:lnTo>
                  <a:lnTo>
                    <a:pt x="0" y="124401"/>
                  </a:lnTo>
                </a:path>
              </a:pathLst>
            </a:custGeom>
            <a:noFill/>
            <a:ln w="25560">
              <a:solidFill>
                <a:srgbClr val="FF0000"/>
              </a:solidFill>
              <a:prstDash val="dash"/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"/>
            <p:cNvSpPr/>
            <p:nvPr/>
          </p:nvSpPr>
          <p:spPr>
            <a:xfrm flipH="1">
              <a:off x="1267560" y="2660760"/>
              <a:ext cx="461880" cy="469440"/>
            </a:xfrm>
            <a:custGeom>
              <a:avLst/>
              <a:gdLst>
                <a:gd name="textAreaLeft" fmla="*/ -360 w 461880"/>
                <a:gd name="textAreaRight" fmla="*/ 461880 w 461880"/>
                <a:gd name="textAreaTop" fmla="*/ 0 h 469440"/>
                <a:gd name="textAreaBottom" fmla="*/ 469800 h 469440"/>
                <a:gd name="GluePoint1X" fmla="*/ 465137 w 464844"/>
                <a:gd name="GluePoint1Y" fmla="*/ 373279 h 472545"/>
                <a:gd name="GluePoint2X" fmla="*/ 74274 w 464844"/>
                <a:gd name="GluePoint2Y" fmla="*/ 471044 h 472545"/>
                <a:gd name="GluePoint3X" fmla="*/ 239 w 464844"/>
                <a:gd name="GluePoint3Y" fmla="*/ 284403 h 472545"/>
                <a:gd name="GluePoint4X" fmla="*/ 47625 w 464844"/>
                <a:gd name="GluePoint4Y" fmla="*/ 0 h 4725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464844" h="472545">
                  <a:moveTo>
                    <a:pt x="464844" y="372861"/>
                  </a:moveTo>
                  <a:cubicBezTo>
                    <a:pt x="335378" y="415770"/>
                    <a:pt x="151661" y="485312"/>
                    <a:pt x="74227" y="470516"/>
                  </a:cubicBezTo>
                  <a:cubicBezTo>
                    <a:pt x="-3207" y="455720"/>
                    <a:pt x="4678" y="362503"/>
                    <a:pt x="239" y="284084"/>
                  </a:cubicBezTo>
                  <a:cubicBezTo>
                    <a:pt x="-4200" y="205665"/>
                    <a:pt x="54498" y="35510"/>
                    <a:pt x="47595" y="0"/>
                  </a:cubicBezTo>
                </a:path>
              </a:pathLst>
            </a:custGeom>
            <a:noFill/>
            <a:ln w="25560">
              <a:solidFill>
                <a:srgbClr val="00B05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6" name=""/>
            <p:cNvGrpSpPr/>
            <p:nvPr/>
          </p:nvGrpSpPr>
          <p:grpSpPr>
            <a:xfrm>
              <a:off x="1962000" y="3132000"/>
              <a:ext cx="141120" cy="284400"/>
              <a:chOff x="1962000" y="3132000"/>
              <a:chExt cx="141120" cy="284400"/>
            </a:xfrm>
          </p:grpSpPr>
          <p:sp>
            <p:nvSpPr>
              <p:cNvPr id="317" name=""/>
              <p:cNvSpPr/>
              <p:nvPr/>
            </p:nvSpPr>
            <p:spPr>
              <a:xfrm>
                <a:off x="1962000" y="3132000"/>
                <a:ext cx="138240" cy="28440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9120" tIns="46800" rIns="6912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8" name=""/>
              <p:cNvSpPr/>
              <p:nvPr/>
            </p:nvSpPr>
            <p:spPr>
              <a:xfrm flipH="1">
                <a:off x="1964880" y="3132000"/>
                <a:ext cx="138240" cy="28440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9120" tIns="46800" rIns="6912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9" name=""/>
            <p:cNvSpPr/>
            <p:nvPr/>
          </p:nvSpPr>
          <p:spPr>
            <a:xfrm>
              <a:off x="2176560" y="2924280"/>
              <a:ext cx="123480" cy="153360"/>
            </a:xfrm>
            <a:prstGeom prst="ellipse">
              <a:avLst/>
            </a:prstGeom>
            <a:solidFill>
              <a:srgbClr val="FFFFFF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"/>
            <p:cNvSpPr/>
            <p:nvPr/>
          </p:nvSpPr>
          <p:spPr>
            <a:xfrm>
              <a:off x="971640" y="2708280"/>
              <a:ext cx="123480" cy="153720"/>
            </a:xfrm>
            <a:prstGeom prst="ellipse">
              <a:avLst/>
            </a:prstGeom>
            <a:solidFill>
              <a:srgbClr val="FFFFFF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"/>
            <p:cNvSpPr/>
            <p:nvPr/>
          </p:nvSpPr>
          <p:spPr>
            <a:xfrm>
              <a:off x="38880" y="2952720"/>
              <a:ext cx="101916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Choline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"/>
            <p:cNvSpPr/>
            <p:nvPr/>
          </p:nvSpPr>
          <p:spPr>
            <a:xfrm>
              <a:off x="2771640" y="5327640"/>
              <a:ext cx="123480" cy="15192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2700720" y="4327560"/>
              <a:ext cx="64296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4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ATEC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"/>
            <p:cNvSpPr/>
            <p:nvPr/>
          </p:nvSpPr>
          <p:spPr>
            <a:xfrm>
              <a:off x="2952720" y="4653000"/>
              <a:ext cx="122040" cy="15192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200" tIns="46800" rIns="612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3203640" y="4941720"/>
              <a:ext cx="123480" cy="152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1920" tIns="46800" rIns="6192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"/>
            <p:cNvSpPr/>
            <p:nvPr/>
          </p:nvSpPr>
          <p:spPr>
            <a:xfrm>
              <a:off x="2656800" y="5732640"/>
              <a:ext cx="1260000" cy="64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transmitter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"/>
            <p:cNvSpPr/>
            <p:nvPr/>
          </p:nvSpPr>
          <p:spPr>
            <a:xfrm>
              <a:off x="2340000" y="2614680"/>
              <a:ext cx="698040" cy="263160"/>
            </a:xfrm>
            <a:custGeom>
              <a:avLst/>
              <a:gdLst>
                <a:gd name="textAreaLeft" fmla="*/ 0 w 698040"/>
                <a:gd name="textAreaRight" fmla="*/ 698400 w 698040"/>
                <a:gd name="textAreaTop" fmla="*/ 0 h 263160"/>
                <a:gd name="textAreaBottom" fmla="*/ 263520 h 263160"/>
                <a:gd name="GluePoint1X" fmla="*/ 0 w 701336"/>
                <a:gd name="GluePoint1Y" fmla="*/ 266700 h 265298"/>
                <a:gd name="GluePoint2X" fmla="*/ 222049 w 701336"/>
                <a:gd name="GluePoint2Y" fmla="*/ 52510 h 265298"/>
                <a:gd name="GluePoint3X" fmla="*/ 577328 w 701336"/>
                <a:gd name="GluePoint3Y" fmla="*/ 7886 h 265298"/>
                <a:gd name="GluePoint4X" fmla="*/ 701675 w 701336"/>
                <a:gd name="GluePoint4Y" fmla="*/ 177454 h 26529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701336" h="265298">
                  <a:moveTo>
                    <a:pt x="0" y="265298"/>
                  </a:moveTo>
                  <a:cubicBezTo>
                    <a:pt x="62883" y="180220"/>
                    <a:pt x="125767" y="95143"/>
                    <a:pt x="221942" y="52234"/>
                  </a:cubicBezTo>
                  <a:cubicBezTo>
                    <a:pt x="318117" y="9325"/>
                    <a:pt x="497150" y="-12869"/>
                    <a:pt x="577049" y="7845"/>
                  </a:cubicBezTo>
                  <a:cubicBezTo>
                    <a:pt x="656948" y="28559"/>
                    <a:pt x="679142" y="102540"/>
                    <a:pt x="701336" y="176521"/>
                  </a:cubicBez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"/>
            <p:cNvSpPr/>
            <p:nvPr/>
          </p:nvSpPr>
          <p:spPr>
            <a:xfrm>
              <a:off x="3142440" y="2060640"/>
              <a:ext cx="1920960" cy="64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Cholin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e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acetyl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transf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erase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"/>
            <p:cNvSpPr/>
            <p:nvPr/>
          </p:nvSpPr>
          <p:spPr>
            <a:xfrm flipH="1">
              <a:off x="2919240" y="2384280"/>
              <a:ext cx="214560" cy="23508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36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" dur="indefinite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41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2" dur="indefinite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dur="indefinite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"/>
          <p:cNvSpPr/>
          <p:nvPr/>
        </p:nvSpPr>
        <p:spPr>
          <a:xfrm>
            <a:off x="1763640" y="585720"/>
            <a:ext cx="1800" cy="52275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1773360" y="5813280"/>
            <a:ext cx="6240240" cy="180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1757520" y="3949560"/>
            <a:ext cx="6249240" cy="710640"/>
          </a:xfrm>
          <a:custGeom>
            <a:avLst/>
            <a:gdLst>
              <a:gd name="textAreaLeft" fmla="*/ 0 w 6249240"/>
              <a:gd name="textAreaRight" fmla="*/ 6249960 w 6249240"/>
              <a:gd name="textAreaTop" fmla="*/ 0 h 710640"/>
              <a:gd name="textAreaBottom" fmla="*/ 711360 h 710640"/>
              <a:gd name="GluePoint1X" fmla="*/ 0 w 6249879"/>
              <a:gd name="GluePoint1Y" fmla="*/ 711200 h 711286"/>
              <a:gd name="GluePoint2X" fmla="*/ 1704541 w 6249879"/>
              <a:gd name="GluePoint2Y" fmla="*/ 684570 h 711286"/>
              <a:gd name="GluePoint3X" fmla="*/ 2130677 w 6249879"/>
              <a:gd name="GluePoint3Y" fmla="*/ 649064 h 711286"/>
              <a:gd name="GluePoint4X" fmla="*/ 2219455 w 6249879"/>
              <a:gd name="GluePoint4Y" fmla="*/ 418271 h 711286"/>
              <a:gd name="GluePoint5X" fmla="*/ 2246089 w 6249879"/>
              <a:gd name="GluePoint5Y" fmla="*/ 151974 h 711286"/>
              <a:gd name="GluePoint6X" fmla="*/ 2281600 w 6249879"/>
              <a:gd name="GluePoint6Y" fmla="*/ 27702 h 711286"/>
              <a:gd name="GluePoint7X" fmla="*/ 2379257 w 6249879"/>
              <a:gd name="GluePoint7Y" fmla="*/ 27701 h 711286"/>
              <a:gd name="GluePoint8X" fmla="*/ 2672224 w 6249879"/>
              <a:gd name="GluePoint8Y" fmla="*/ 329507 h 711286"/>
              <a:gd name="GluePoint9X" fmla="*/ 3000704 w 6249879"/>
              <a:gd name="GluePoint9Y" fmla="*/ 533668 h 711286"/>
              <a:gd name="GluePoint10X" fmla="*/ 3426840 w 6249879"/>
              <a:gd name="GluePoint10Y" fmla="*/ 657939 h 711286"/>
              <a:gd name="GluePoint11X" fmla="*/ 3870731 w 6249879"/>
              <a:gd name="GluePoint11Y" fmla="*/ 666817 h 711286"/>
              <a:gd name="GluePoint12X" fmla="*/ 4820657 w 6249879"/>
              <a:gd name="GluePoint12Y" fmla="*/ 666816 h 711286"/>
              <a:gd name="GluePoint13X" fmla="*/ 6249987 w 6249879"/>
              <a:gd name="GluePoint13Y" fmla="*/ 684569 h 7112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249879" h="711286">
                <a:moveTo>
                  <a:pt x="0" y="711286"/>
                </a:moveTo>
                <a:lnTo>
                  <a:pt x="1704512" y="684653"/>
                </a:lnTo>
                <a:cubicBezTo>
                  <a:pt x="2059619" y="674296"/>
                  <a:pt x="2044823" y="693530"/>
                  <a:pt x="2130640" y="649142"/>
                </a:cubicBezTo>
                <a:cubicBezTo>
                  <a:pt x="2216457" y="604754"/>
                  <a:pt x="2200182" y="501180"/>
                  <a:pt x="2219417" y="418322"/>
                </a:cubicBezTo>
                <a:cubicBezTo>
                  <a:pt x="2238652" y="335464"/>
                  <a:pt x="2235693" y="217095"/>
                  <a:pt x="2246050" y="151992"/>
                </a:cubicBezTo>
                <a:cubicBezTo>
                  <a:pt x="2256407" y="86889"/>
                  <a:pt x="2259367" y="48420"/>
                  <a:pt x="2281561" y="27705"/>
                </a:cubicBezTo>
                <a:cubicBezTo>
                  <a:pt x="2303755" y="6990"/>
                  <a:pt x="2314113" y="-22603"/>
                  <a:pt x="2379216" y="27704"/>
                </a:cubicBezTo>
                <a:cubicBezTo>
                  <a:pt x="2444319" y="78011"/>
                  <a:pt x="2568605" y="245209"/>
                  <a:pt x="2672178" y="329547"/>
                </a:cubicBezTo>
                <a:cubicBezTo>
                  <a:pt x="2775751" y="413885"/>
                  <a:pt x="2874885" y="478988"/>
                  <a:pt x="3000652" y="533733"/>
                </a:cubicBezTo>
                <a:cubicBezTo>
                  <a:pt x="3126419" y="588478"/>
                  <a:pt x="3281779" y="635825"/>
                  <a:pt x="3426781" y="658019"/>
                </a:cubicBezTo>
                <a:cubicBezTo>
                  <a:pt x="3571783" y="680213"/>
                  <a:pt x="3638365" y="665418"/>
                  <a:pt x="3870664" y="666898"/>
                </a:cubicBezTo>
                <a:lnTo>
                  <a:pt x="4820574" y="666897"/>
                </a:lnTo>
                <a:cubicBezTo>
                  <a:pt x="5217110" y="669856"/>
                  <a:pt x="5752729" y="693530"/>
                  <a:pt x="6249879" y="684652"/>
                </a:cubicBezTo>
              </a:path>
            </a:pathLst>
          </a:custGeom>
          <a:noFill/>
          <a:ln w="2556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1773360" y="4653000"/>
            <a:ext cx="6242040" cy="144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1763640" y="4305240"/>
            <a:ext cx="6249240" cy="347040"/>
          </a:xfrm>
          <a:custGeom>
            <a:avLst/>
            <a:gdLst>
              <a:gd name="textAreaLeft" fmla="*/ 0 w 6249240"/>
              <a:gd name="textAreaRight" fmla="*/ 6249960 w 6249240"/>
              <a:gd name="textAreaTop" fmla="*/ 0 h 347040"/>
              <a:gd name="textAreaBottom" fmla="*/ 347760 h 347040"/>
              <a:gd name="GluePoint1X" fmla="*/ 0 w 6249879"/>
              <a:gd name="GluePoint1Y" fmla="*/ 347663 h 711286"/>
              <a:gd name="GluePoint2X" fmla="*/ 1704541 w 6249879"/>
              <a:gd name="GluePoint2Y" fmla="*/ 334645 h 711286"/>
              <a:gd name="GluePoint3X" fmla="*/ 2130677 w 6249879"/>
              <a:gd name="GluePoint3Y" fmla="*/ 317288 h 711286"/>
              <a:gd name="GluePoint4X" fmla="*/ 2219455 w 6249879"/>
              <a:gd name="GluePoint4Y" fmla="*/ 204468 h 711286"/>
              <a:gd name="GluePoint5X" fmla="*/ 2246089 w 6249879"/>
              <a:gd name="GluePoint5Y" fmla="*/ 74291 h 711286"/>
              <a:gd name="GluePoint6X" fmla="*/ 2281600 w 6249879"/>
              <a:gd name="GluePoint6Y" fmla="*/ 13542 h 711286"/>
              <a:gd name="GluePoint7X" fmla="*/ 2379257 w 6249879"/>
              <a:gd name="GluePoint7Y" fmla="*/ 13541 h 711286"/>
              <a:gd name="GluePoint8X" fmla="*/ 2672224 w 6249879"/>
              <a:gd name="GluePoint8Y" fmla="*/ 161076 h 711286"/>
              <a:gd name="GluePoint9X" fmla="*/ 3000704 w 6249879"/>
              <a:gd name="GluePoint9Y" fmla="*/ 260878 h 711286"/>
              <a:gd name="GluePoint10X" fmla="*/ 3426840 w 6249879"/>
              <a:gd name="GluePoint10Y" fmla="*/ 321627 h 711286"/>
              <a:gd name="GluePoint11X" fmla="*/ 3870731 w 6249879"/>
              <a:gd name="GluePoint11Y" fmla="*/ 325967 h 711286"/>
              <a:gd name="GluePoint12X" fmla="*/ 4820657 w 6249879"/>
              <a:gd name="GluePoint12Y" fmla="*/ 325967 h 711286"/>
              <a:gd name="GluePoint13X" fmla="*/ 6249987 w 6249879"/>
              <a:gd name="GluePoint13Y" fmla="*/ 334645 h 7112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249879" h="711286">
                <a:moveTo>
                  <a:pt x="0" y="711286"/>
                </a:moveTo>
                <a:lnTo>
                  <a:pt x="1704512" y="684653"/>
                </a:lnTo>
                <a:cubicBezTo>
                  <a:pt x="2059619" y="674296"/>
                  <a:pt x="2044823" y="693530"/>
                  <a:pt x="2130640" y="649142"/>
                </a:cubicBezTo>
                <a:cubicBezTo>
                  <a:pt x="2216457" y="604754"/>
                  <a:pt x="2200182" y="501180"/>
                  <a:pt x="2219417" y="418322"/>
                </a:cubicBezTo>
                <a:cubicBezTo>
                  <a:pt x="2238652" y="335464"/>
                  <a:pt x="2235693" y="217095"/>
                  <a:pt x="2246050" y="151992"/>
                </a:cubicBezTo>
                <a:cubicBezTo>
                  <a:pt x="2256407" y="86889"/>
                  <a:pt x="2259367" y="48420"/>
                  <a:pt x="2281561" y="27705"/>
                </a:cubicBezTo>
                <a:cubicBezTo>
                  <a:pt x="2303755" y="6990"/>
                  <a:pt x="2314113" y="-22603"/>
                  <a:pt x="2379216" y="27704"/>
                </a:cubicBezTo>
                <a:cubicBezTo>
                  <a:pt x="2444319" y="78011"/>
                  <a:pt x="2568605" y="245209"/>
                  <a:pt x="2672178" y="329547"/>
                </a:cubicBezTo>
                <a:cubicBezTo>
                  <a:pt x="2775751" y="413885"/>
                  <a:pt x="2874885" y="478988"/>
                  <a:pt x="3000652" y="533733"/>
                </a:cubicBezTo>
                <a:cubicBezTo>
                  <a:pt x="3126419" y="588478"/>
                  <a:pt x="3281779" y="635825"/>
                  <a:pt x="3426781" y="658019"/>
                </a:cubicBezTo>
                <a:cubicBezTo>
                  <a:pt x="3571783" y="680213"/>
                  <a:pt x="3638365" y="665418"/>
                  <a:pt x="3870664" y="666898"/>
                </a:cubicBezTo>
                <a:lnTo>
                  <a:pt x="4820574" y="666897"/>
                </a:lnTo>
                <a:cubicBezTo>
                  <a:pt x="5217110" y="669856"/>
                  <a:pt x="5752729" y="693530"/>
                  <a:pt x="6249879" y="684652"/>
                </a:cubicBezTo>
              </a:path>
            </a:pathLst>
          </a:custGeom>
          <a:noFill/>
          <a:ln w="25560">
            <a:solidFill>
              <a:srgbClr val="0000F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1763640" y="1197000"/>
            <a:ext cx="6266880" cy="3447360"/>
          </a:xfrm>
          <a:custGeom>
            <a:avLst/>
            <a:gdLst>
              <a:gd name="textAreaLeft" fmla="*/ 0 w 6266880"/>
              <a:gd name="textAreaRight" fmla="*/ 6267600 w 6266880"/>
              <a:gd name="textAreaTop" fmla="*/ 0 h 3447360"/>
              <a:gd name="textAreaBottom" fmla="*/ 3448080 h 3447360"/>
              <a:gd name="GluePoint1X" fmla="*/ 0 w 6267635"/>
              <a:gd name="GluePoint1Y" fmla="*/ 3448050 h 711156"/>
              <a:gd name="GluePoint2X" fmla="*/ 1766603 w 6267635"/>
              <a:gd name="GluePoint2Y" fmla="*/ 3443245 h 711156"/>
              <a:gd name="GluePoint3X" fmla="*/ 2157209 w 6267635"/>
              <a:gd name="GluePoint3Y" fmla="*/ 3368753 h 711156"/>
              <a:gd name="GluePoint4X" fmla="*/ 2222320 w 6267635"/>
              <a:gd name="GluePoint4Y" fmla="*/ 2949419 h 711156"/>
              <a:gd name="GluePoint5X" fmla="*/ 2237106 w 6267635"/>
              <a:gd name="GluePoint5Y" fmla="*/ 2018727 h 711156"/>
              <a:gd name="GluePoint6X" fmla="*/ 2245984 w 6267635"/>
              <a:gd name="GluePoint6Y" fmla="*/ 736305 h 711156"/>
              <a:gd name="GluePoint7X" fmla="*/ 2281494 w 6267635"/>
              <a:gd name="GluePoint7Y" fmla="*/ 133698 h 711156"/>
              <a:gd name="GluePoint8X" fmla="*/ 2379146 w 6267635"/>
              <a:gd name="GluePoint8Y" fmla="*/ 133693 h 711156"/>
              <a:gd name="GluePoint9X" fmla="*/ 2583326 w 6267635"/>
              <a:gd name="GluePoint9Y" fmla="*/ 1588301 h 711156"/>
              <a:gd name="GluePoint10X" fmla="*/ 2849648 w 6267635"/>
              <a:gd name="GluePoint10Y" fmla="*/ 2622702 h 711156"/>
              <a:gd name="GluePoint11X" fmla="*/ 3426680 w 6267635"/>
              <a:gd name="GluePoint11Y" fmla="*/ 3189784 h 711156"/>
              <a:gd name="GluePoint12X" fmla="*/ 3914936 w 6267635"/>
              <a:gd name="GluePoint12Y" fmla="*/ 3366042 h 711156"/>
              <a:gd name="GluePoint13X" fmla="*/ 4926961 w 6267635"/>
              <a:gd name="GluePoint13Y" fmla="*/ 3410440 h 711156"/>
              <a:gd name="GluePoint14X" fmla="*/ 6267450 w 6267635"/>
              <a:gd name="GluePoint14Y" fmla="*/ 3443240 h 7111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6267635" h="711156">
                <a:moveTo>
                  <a:pt x="0" y="711156"/>
                </a:moveTo>
                <a:lnTo>
                  <a:pt x="1766655" y="710165"/>
                </a:lnTo>
                <a:cubicBezTo>
                  <a:pt x="2126200" y="707439"/>
                  <a:pt x="2081318" y="711776"/>
                  <a:pt x="2157273" y="694801"/>
                </a:cubicBezTo>
                <a:cubicBezTo>
                  <a:pt x="2233228" y="677826"/>
                  <a:pt x="2209070" y="654721"/>
                  <a:pt x="2222386" y="608314"/>
                </a:cubicBezTo>
                <a:cubicBezTo>
                  <a:pt x="2235702" y="561907"/>
                  <a:pt x="2233228" y="492435"/>
                  <a:pt x="2237172" y="416360"/>
                </a:cubicBezTo>
                <a:cubicBezTo>
                  <a:pt x="2241116" y="340285"/>
                  <a:pt x="2238652" y="216659"/>
                  <a:pt x="2246050" y="151862"/>
                </a:cubicBezTo>
                <a:cubicBezTo>
                  <a:pt x="2253448" y="87065"/>
                  <a:pt x="2259367" y="48290"/>
                  <a:pt x="2281561" y="27575"/>
                </a:cubicBezTo>
                <a:cubicBezTo>
                  <a:pt x="2303755" y="6860"/>
                  <a:pt x="2328909" y="-22428"/>
                  <a:pt x="2379216" y="27574"/>
                </a:cubicBezTo>
                <a:cubicBezTo>
                  <a:pt x="2429523" y="77576"/>
                  <a:pt x="2504983" y="242026"/>
                  <a:pt x="2583402" y="327585"/>
                </a:cubicBezTo>
                <a:cubicBezTo>
                  <a:pt x="2661821" y="413144"/>
                  <a:pt x="2709169" y="485878"/>
                  <a:pt x="2849732" y="540929"/>
                </a:cubicBezTo>
                <a:cubicBezTo>
                  <a:pt x="2990295" y="595980"/>
                  <a:pt x="3249228" y="632337"/>
                  <a:pt x="3426781" y="657889"/>
                </a:cubicBezTo>
                <a:cubicBezTo>
                  <a:pt x="3604334" y="683441"/>
                  <a:pt x="3664998" y="686657"/>
                  <a:pt x="3915052" y="694242"/>
                </a:cubicBezTo>
                <a:cubicBezTo>
                  <a:pt x="4165106" y="701827"/>
                  <a:pt x="4535009" y="700745"/>
                  <a:pt x="4927106" y="703399"/>
                </a:cubicBezTo>
                <a:lnTo>
                  <a:pt x="6267635" y="710164"/>
                </a:lnTo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1763640" y="4149720"/>
            <a:ext cx="6242040" cy="1440"/>
          </a:xfrm>
          <a:prstGeom prst="line">
            <a:avLst/>
          </a:prstGeom>
          <a:ln w="9360">
            <a:solidFill>
              <a:srgbClr val="00B05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4664160" y="1916280"/>
            <a:ext cx="40554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Muscle action potential (all-or-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nothing)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4806720" y="4788000"/>
            <a:ext cx="4056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End plate potential (graded amplitude)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 flipV="1">
            <a:off x="2411280" y="4368960"/>
            <a:ext cx="1800" cy="27936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 rot="16200000">
            <a:off x="-294840" y="2997720"/>
            <a:ext cx="27590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Membrane potential (mV)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4287960" y="6227640"/>
            <a:ext cx="12006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Time (ms)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2" name=""/>
          <p:cNvCxnSpPr/>
          <p:nvPr/>
        </p:nvCxnSpPr>
        <p:spPr>
          <a:xfrm>
            <a:off x="2414160" y="4463640"/>
            <a:ext cx="1508040" cy="4680"/>
          </a:xfrm>
          <a:prstGeom prst="straightConnector1">
            <a:avLst/>
          </a:prstGeom>
          <a:ln w="9360">
            <a:solidFill>
              <a:srgbClr val="4A7EBB"/>
            </a:solidFill>
            <a:miter/>
            <a:headEnd len="med" type="arrow" w="med"/>
            <a:tailEnd len="med" type="arrow" w="med"/>
          </a:ln>
        </p:spPr>
      </p:cxnSp>
      <p:sp>
        <p:nvSpPr>
          <p:cNvPr id="343" name=""/>
          <p:cNvSpPr/>
          <p:nvPr/>
        </p:nvSpPr>
        <p:spPr>
          <a:xfrm>
            <a:off x="2487600" y="4921200"/>
            <a:ext cx="13536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Syn</a:t>
            </a: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apti</a:t>
            </a: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 </a:t>
            </a: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dela</a:t>
            </a: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1908000" y="4653000"/>
            <a:ext cx="11505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Nerve </a:t>
            </a: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stim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1709640" y="3878280"/>
            <a:ext cx="172800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Threshold for action potential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1120680" y="5607000"/>
            <a:ext cx="6375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-100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1263600" y="3819600"/>
            <a:ext cx="5104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1417680" y="2111400"/>
            <a:ext cx="307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1263600" y="404640"/>
            <a:ext cx="567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1596960" y="5805360"/>
            <a:ext cx="307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4665600" y="5805360"/>
            <a:ext cx="307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7734240" y="5805360"/>
            <a:ext cx="4341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2173320" y="115920"/>
            <a:ext cx="681552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d 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p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e 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p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l 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&amp; 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h 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4940280" y="3213000"/>
            <a:ext cx="24199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5001840" y="3608280"/>
            <a:ext cx="7707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+TEC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 flipH="1">
            <a:off x="4268520" y="3397320"/>
            <a:ext cx="647640" cy="6253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 flipH="1">
            <a:off x="4394160" y="3801960"/>
            <a:ext cx="649440" cy="6159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 flipV="1">
            <a:off x="3165480" y="4508640"/>
            <a:ext cx="1440" cy="44280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1773360" y="4608360"/>
            <a:ext cx="6233400" cy="0"/>
          </a:xfrm>
          <a:prstGeom prst="line">
            <a:avLst/>
          </a:prstGeom>
          <a:ln w="36720">
            <a:solidFill>
              <a:srgbClr val="FFB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-63360" rIns="108360" bIns="-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 flipH="1">
            <a:off x="4343400" y="3801960"/>
            <a:ext cx="700200" cy="806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" dur="indefinite" restart="never" nodeType="tmRoot">
          <p:childTnLst>
            <p:seq>
              <p:cTn id="49" dur="indefinite" nodeType="mainSeq">
                <p:childTnLst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"/>
          <p:cNvSpPr/>
          <p:nvPr/>
        </p:nvSpPr>
        <p:spPr>
          <a:xfrm>
            <a:off x="399960" y="4784760"/>
            <a:ext cx="7962120" cy="772200"/>
          </a:xfrm>
          <a:custGeom>
            <a:avLst/>
            <a:gdLst>
              <a:gd name="textAreaLeft" fmla="*/ 0 w 7962120"/>
              <a:gd name="textAreaRight" fmla="*/ 7962840 w 7962120"/>
              <a:gd name="textAreaTop" fmla="*/ 0 h 772200"/>
              <a:gd name="textAreaBottom" fmla="*/ 772920 h 772200"/>
              <a:gd name="GluePoint1X" fmla="*/ 7962900 w 7963270"/>
              <a:gd name="GluePoint1Y" fmla="*/ 44423 h 772503"/>
              <a:gd name="GluePoint2X" fmla="*/ 7048542 w 7963270"/>
              <a:gd name="GluePoint2Y" fmla="*/ 115501 h 772503"/>
              <a:gd name="GluePoint3X" fmla="*/ 6515907 w 7963270"/>
              <a:gd name="GluePoint3Y" fmla="*/ 239886 h 772503"/>
              <a:gd name="GluePoint4X" fmla="*/ 5637059 w 7963270"/>
              <a:gd name="GluePoint4Y" fmla="*/ 648582 h 772503"/>
              <a:gd name="GluePoint5X" fmla="*/ 4669438 w 7963270"/>
              <a:gd name="GluePoint5Y" fmla="*/ 755198 h 772503"/>
              <a:gd name="GluePoint6X" fmla="*/ 3426622 w 7963270"/>
              <a:gd name="GluePoint6Y" fmla="*/ 772967 h 772503"/>
              <a:gd name="GluePoint7X" fmla="*/ 2414614 w 7963270"/>
              <a:gd name="GluePoint7Y" fmla="*/ 755198 h 772503"/>
              <a:gd name="GluePoint8X" fmla="*/ 1633415 w 7963270"/>
              <a:gd name="GluePoint8Y" fmla="*/ 675236 h 772503"/>
              <a:gd name="GluePoint9X" fmla="*/ 949867 w 7963270"/>
              <a:gd name="GluePoint9Y" fmla="*/ 479773 h 772503"/>
              <a:gd name="GluePoint10X" fmla="*/ 417232 w 7963270"/>
              <a:gd name="GluePoint10Y" fmla="*/ 88847 h 772503"/>
              <a:gd name="GluePoint11X" fmla="*/ 0 w 7963270"/>
              <a:gd name="GluePoint11Y" fmla="*/ 0 h 7725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7963270" h="772503">
                <a:moveTo>
                  <a:pt x="7963270" y="44388"/>
                </a:moveTo>
                <a:cubicBezTo>
                  <a:pt x="7626658" y="63623"/>
                  <a:pt x="7290047" y="82859"/>
                  <a:pt x="7048870" y="115410"/>
                </a:cubicBezTo>
                <a:cubicBezTo>
                  <a:pt x="6807693" y="147961"/>
                  <a:pt x="6751468" y="150920"/>
                  <a:pt x="6516210" y="239697"/>
                </a:cubicBezTo>
                <a:cubicBezTo>
                  <a:pt x="6280952" y="328474"/>
                  <a:pt x="5945080" y="562253"/>
                  <a:pt x="5637321" y="648070"/>
                </a:cubicBezTo>
                <a:cubicBezTo>
                  <a:pt x="5329562" y="733887"/>
                  <a:pt x="5038078" y="733888"/>
                  <a:pt x="4669655" y="754602"/>
                </a:cubicBezTo>
                <a:cubicBezTo>
                  <a:pt x="4301232" y="775317"/>
                  <a:pt x="3802602" y="772357"/>
                  <a:pt x="3426781" y="772357"/>
                </a:cubicBezTo>
                <a:cubicBezTo>
                  <a:pt x="3050960" y="772357"/>
                  <a:pt x="2713608" y="770878"/>
                  <a:pt x="2414726" y="754602"/>
                </a:cubicBezTo>
                <a:cubicBezTo>
                  <a:pt x="2115844" y="738326"/>
                  <a:pt x="1877627" y="720571"/>
                  <a:pt x="1633491" y="674703"/>
                </a:cubicBezTo>
                <a:cubicBezTo>
                  <a:pt x="1389355" y="628835"/>
                  <a:pt x="1152618" y="577048"/>
                  <a:pt x="949911" y="479394"/>
                </a:cubicBezTo>
                <a:cubicBezTo>
                  <a:pt x="747204" y="381740"/>
                  <a:pt x="575570" y="168676"/>
                  <a:pt x="417251" y="88777"/>
                </a:cubicBezTo>
                <a:cubicBezTo>
                  <a:pt x="258932" y="8878"/>
                  <a:pt x="129466" y="4439"/>
                  <a:pt x="0" y="0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1581120" y="363600"/>
            <a:ext cx="4874400" cy="4380840"/>
          </a:xfrm>
          <a:custGeom>
            <a:avLst/>
            <a:gdLst>
              <a:gd name="textAreaLeft" fmla="*/ 0 w 4874400"/>
              <a:gd name="textAreaRight" fmla="*/ 4875120 w 4874400"/>
              <a:gd name="textAreaTop" fmla="*/ 0 h 4380840"/>
              <a:gd name="textAreaBottom" fmla="*/ 4381560 h 4380840"/>
              <a:gd name="GluePoint1X" fmla="*/ 2894851 w 4875911"/>
              <a:gd name="GluePoint1Y" fmla="*/ 26507 h 4381571"/>
              <a:gd name="GluePoint2X" fmla="*/ 2850469 w 4875911"/>
              <a:gd name="GluePoint2Y" fmla="*/ 763341 h 4381571"/>
              <a:gd name="GluePoint3X" fmla="*/ 2956986 w 4875911"/>
              <a:gd name="GluePoint3Y" fmla="*/ 1651094 h 4381571"/>
              <a:gd name="GluePoint4X" fmla="*/ 3658221 w 4875911"/>
              <a:gd name="GluePoint4Y" fmla="*/ 2077215 h 4381571"/>
              <a:gd name="GluePoint5X" fmla="*/ 4412715 w 4875911"/>
              <a:gd name="GluePoint5Y" fmla="*/ 2592112 h 4381571"/>
              <a:gd name="GluePoint6X" fmla="*/ 4821029 w 4875911"/>
              <a:gd name="GluePoint6Y" fmla="*/ 3115886 h 4381571"/>
              <a:gd name="GluePoint7X" fmla="*/ 4856535 w 4875911"/>
              <a:gd name="GluePoint7Y" fmla="*/ 3533130 h 4381571"/>
              <a:gd name="GluePoint8X" fmla="*/ 4687884 w 4875911"/>
              <a:gd name="GluePoint8Y" fmla="*/ 3959251 h 4381571"/>
              <a:gd name="GluePoint9X" fmla="*/ 4110916 w 4875911"/>
              <a:gd name="GluePoint9Y" fmla="*/ 4261086 h 4381571"/>
              <a:gd name="GluePoint10X" fmla="*/ 2442153 w 4875911"/>
              <a:gd name="GluePoint10Y" fmla="*/ 4376495 h 4381571"/>
              <a:gd name="GluePoint11X" fmla="*/ 1110694 w 4875911"/>
              <a:gd name="GluePoint11Y" fmla="*/ 4358739 h 4381571"/>
              <a:gd name="GluePoint12X" fmla="*/ 391706 w 4875911"/>
              <a:gd name="GluePoint12Y" fmla="*/ 4154557 h 4381571"/>
              <a:gd name="GluePoint13X" fmla="*/ 27774 w 4875911"/>
              <a:gd name="GluePoint13Y" fmla="*/ 3613027 h 4381571"/>
              <a:gd name="GluePoint14X" fmla="*/ 152043 w 4875911"/>
              <a:gd name="GluePoint14Y" fmla="*/ 2769662 h 4381571"/>
              <a:gd name="GluePoint15X" fmla="*/ 1155076 w 4875911"/>
              <a:gd name="GluePoint15Y" fmla="*/ 1979563 h 4381571"/>
              <a:gd name="GluePoint16X" fmla="*/ 1856314 w 4875911"/>
              <a:gd name="GluePoint16Y" fmla="*/ 1553441 h 4381571"/>
              <a:gd name="GluePoint17X" fmla="*/ 2007210 w 4875911"/>
              <a:gd name="GluePoint17Y" fmla="*/ 541403 h 4381571"/>
              <a:gd name="GluePoint18X" fmla="*/ 2007212 w 4875911"/>
              <a:gd name="GluePoint18Y" fmla="*/ 8751 h 438157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4875911" h="4381571">
                <a:moveTo>
                  <a:pt x="2895265" y="26507"/>
                </a:moveTo>
                <a:cubicBezTo>
                  <a:pt x="2832382" y="381614"/>
                  <a:pt x="2840520" y="492584"/>
                  <a:pt x="2850877" y="763353"/>
                </a:cubicBezTo>
                <a:cubicBezTo>
                  <a:pt x="2861234" y="1034122"/>
                  <a:pt x="2822764" y="1432138"/>
                  <a:pt x="2957409" y="1651121"/>
                </a:cubicBezTo>
                <a:cubicBezTo>
                  <a:pt x="3092054" y="1870104"/>
                  <a:pt x="3416089" y="1920410"/>
                  <a:pt x="3658745" y="2077249"/>
                </a:cubicBezTo>
                <a:cubicBezTo>
                  <a:pt x="3901401" y="2234088"/>
                  <a:pt x="4219518" y="2419040"/>
                  <a:pt x="4413347" y="2592154"/>
                </a:cubicBezTo>
                <a:cubicBezTo>
                  <a:pt x="4607176" y="2765269"/>
                  <a:pt x="4747739" y="2959097"/>
                  <a:pt x="4821719" y="3115936"/>
                </a:cubicBezTo>
                <a:cubicBezTo>
                  <a:pt x="4895699" y="3272775"/>
                  <a:pt x="4879424" y="3392624"/>
                  <a:pt x="4857230" y="3533187"/>
                </a:cubicBezTo>
                <a:cubicBezTo>
                  <a:pt x="4835036" y="3673750"/>
                  <a:pt x="4812842" y="3837987"/>
                  <a:pt x="4688555" y="3959315"/>
                </a:cubicBezTo>
                <a:cubicBezTo>
                  <a:pt x="4564268" y="4080643"/>
                  <a:pt x="4485847" y="4191613"/>
                  <a:pt x="4111505" y="4261155"/>
                </a:cubicBezTo>
                <a:cubicBezTo>
                  <a:pt x="3737163" y="4330697"/>
                  <a:pt x="2942612" y="4360290"/>
                  <a:pt x="2442503" y="4376566"/>
                </a:cubicBezTo>
                <a:cubicBezTo>
                  <a:pt x="1942394" y="4392842"/>
                  <a:pt x="1554736" y="4364729"/>
                  <a:pt x="1110853" y="4358810"/>
                </a:cubicBezTo>
                <a:cubicBezTo>
                  <a:pt x="769063" y="4321820"/>
                  <a:pt x="572275" y="4278911"/>
                  <a:pt x="391762" y="4154624"/>
                </a:cubicBezTo>
                <a:cubicBezTo>
                  <a:pt x="211249" y="4030337"/>
                  <a:pt x="67727" y="3843905"/>
                  <a:pt x="27778" y="3613086"/>
                </a:cubicBezTo>
                <a:cubicBezTo>
                  <a:pt x="-12171" y="3382267"/>
                  <a:pt x="-35845" y="3041955"/>
                  <a:pt x="152065" y="2769707"/>
                </a:cubicBezTo>
                <a:cubicBezTo>
                  <a:pt x="339975" y="2497459"/>
                  <a:pt x="871155" y="2182302"/>
                  <a:pt x="1155241" y="1979595"/>
                </a:cubicBezTo>
                <a:cubicBezTo>
                  <a:pt x="1439327" y="1776888"/>
                  <a:pt x="1714537" y="1793163"/>
                  <a:pt x="1856580" y="1553466"/>
                </a:cubicBezTo>
                <a:cubicBezTo>
                  <a:pt x="1998623" y="1313769"/>
                  <a:pt x="1982344" y="798864"/>
                  <a:pt x="2007497" y="541412"/>
                </a:cubicBezTo>
                <a:cubicBezTo>
                  <a:pt x="2032650" y="283960"/>
                  <a:pt x="2019336" y="-59311"/>
                  <a:pt x="2007499" y="8751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 rot="5400000">
            <a:off x="3427560" y="544320"/>
            <a:ext cx="194400" cy="35316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 rot="5400000">
            <a:off x="3402360" y="1192320"/>
            <a:ext cx="194760" cy="35316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 flipH="1" rot="16200000">
            <a:off x="4365720" y="865080"/>
            <a:ext cx="194400" cy="35352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2166840" y="620640"/>
            <a:ext cx="931320" cy="737640"/>
          </a:xfrm>
          <a:custGeom>
            <a:avLst/>
            <a:gdLst>
              <a:gd name="textAreaLeft" fmla="*/ 0 w 931320"/>
              <a:gd name="textAreaRight" fmla="*/ 932040 w 931320"/>
              <a:gd name="textAreaTop" fmla="*/ 0 h 737640"/>
              <a:gd name="textAreaBottom" fmla="*/ 738360 h 737640"/>
              <a:gd name="GluePoint1X" fmla="*/ 0 w 5180397"/>
              <a:gd name="GluePoint1Y" fmla="*/ 650807 h 2474181"/>
              <a:gd name="GluePoint2X" fmla="*/ 290351 w 5180397"/>
              <a:gd name="GluePoint2Y" fmla="*/ 646062 h 2474181"/>
              <a:gd name="GluePoint3X" fmla="*/ 361866 w 5180397"/>
              <a:gd name="GluePoint3Y" fmla="*/ 624711 h 2474181"/>
              <a:gd name="GluePoint4X" fmla="*/ 377599 w 5180397"/>
              <a:gd name="GluePoint4Y" fmla="*/ 513212 h 2474181"/>
              <a:gd name="GluePoint5X" fmla="*/ 381890 w 5180397"/>
              <a:gd name="GluePoint5Y" fmla="*/ 22142 h 2474181"/>
              <a:gd name="GluePoint6X" fmla="*/ 381890 w 5180397"/>
              <a:gd name="GluePoint6Y" fmla="*/ 22142 h 2474181"/>
              <a:gd name="GluePoint7X" fmla="*/ 387611 w 5180397"/>
              <a:gd name="GluePoint7Y" fmla="*/ 3163 h 2474181"/>
              <a:gd name="GluePoint8X" fmla="*/ 389041 w 5180397"/>
              <a:gd name="GluePoint8Y" fmla="*/ 3163 h 2474181"/>
              <a:gd name="GluePoint9X" fmla="*/ 390472 w 5180397"/>
              <a:gd name="GluePoint9Y" fmla="*/ 5536 h 2474181"/>
              <a:gd name="GluePoint10X" fmla="*/ 394763 w 5180397"/>
              <a:gd name="GluePoint10Y" fmla="*/ 22142 h 2474181"/>
              <a:gd name="GluePoint11X" fmla="*/ 403344 w 5180397"/>
              <a:gd name="GluePoint11Y" fmla="*/ 136013 h 2474181"/>
              <a:gd name="GluePoint12X" fmla="*/ 417647 w 5180397"/>
              <a:gd name="GluePoint12Y" fmla="*/ 330543 h 2474181"/>
              <a:gd name="GluePoint13X" fmla="*/ 429090 w 5180397"/>
              <a:gd name="GluePoint13Y" fmla="*/ 487116 h 2474181"/>
              <a:gd name="GluePoint14X" fmla="*/ 439102 w 5180397"/>
              <a:gd name="GluePoint14Y" fmla="*/ 631828 h 2474181"/>
              <a:gd name="GluePoint15X" fmla="*/ 447684 w 5180397"/>
              <a:gd name="GluePoint15Y" fmla="*/ 707742 h 2474181"/>
              <a:gd name="GluePoint16X" fmla="*/ 467708 w 5180397"/>
              <a:gd name="GluePoint16Y" fmla="*/ 733838 h 2474181"/>
              <a:gd name="GluePoint17X" fmla="*/ 492023 w 5180397"/>
              <a:gd name="GluePoint17Y" fmla="*/ 733838 h 2474181"/>
              <a:gd name="GluePoint18X" fmla="*/ 527780 w 5180397"/>
              <a:gd name="GluePoint18Y" fmla="*/ 710115 h 2474181"/>
              <a:gd name="GluePoint19X" fmla="*/ 559247 w 5180397"/>
              <a:gd name="GluePoint19Y" fmla="*/ 679274 h 2474181"/>
              <a:gd name="GluePoint20X" fmla="*/ 602076 w 5180397"/>
              <a:gd name="GluePoint20Y" fmla="*/ 642854 h 2474181"/>
              <a:gd name="GluePoint21X" fmla="*/ 646897 w 5180397"/>
              <a:gd name="GluePoint21Y" fmla="*/ 630767 h 2474181"/>
              <a:gd name="GluePoint22X" fmla="*/ 931862 w 5180397"/>
              <a:gd name="GluePoint22Y" fmla="*/ 630767 h 247418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5180397" h="2474181">
                <a:moveTo>
                  <a:pt x="0" y="2181308"/>
                </a:moveTo>
                <a:lnTo>
                  <a:pt x="1614115" y="2165406"/>
                </a:lnTo>
                <a:cubicBezTo>
                  <a:pt x="1949395" y="2150829"/>
                  <a:pt x="1930842" y="2168056"/>
                  <a:pt x="2011680" y="2093844"/>
                </a:cubicBezTo>
                <a:cubicBezTo>
                  <a:pt x="2092518" y="2019632"/>
                  <a:pt x="2080591" y="2056738"/>
                  <a:pt x="2099144" y="1720133"/>
                </a:cubicBezTo>
                <a:cubicBezTo>
                  <a:pt x="2117697" y="1383528"/>
                  <a:pt x="2122998" y="74213"/>
                  <a:pt x="2122998" y="74213"/>
                </a:cubicBezTo>
                <a:lnTo>
                  <a:pt x="2122998" y="74213"/>
                </a:lnTo>
                <a:cubicBezTo>
                  <a:pt x="2128299" y="63611"/>
                  <a:pt x="2148178" y="21204"/>
                  <a:pt x="2154804" y="10602"/>
                </a:cubicBezTo>
                <a:cubicBezTo>
                  <a:pt x="2161430" y="0"/>
                  <a:pt x="2160105" y="9277"/>
                  <a:pt x="2162755" y="10602"/>
                </a:cubicBezTo>
                <a:cubicBezTo>
                  <a:pt x="2165405" y="11927"/>
                  <a:pt x="2165405" y="7952"/>
                  <a:pt x="2170706" y="18554"/>
                </a:cubicBezTo>
                <a:cubicBezTo>
                  <a:pt x="2176007" y="29156"/>
                  <a:pt x="2182633" y="1326"/>
                  <a:pt x="2194560" y="74213"/>
                </a:cubicBezTo>
                <a:cubicBezTo>
                  <a:pt x="2206487" y="147100"/>
                  <a:pt x="2221065" y="283597"/>
                  <a:pt x="2242268" y="455875"/>
                </a:cubicBezTo>
                <a:cubicBezTo>
                  <a:pt x="2263471" y="628153"/>
                  <a:pt x="2297927" y="911750"/>
                  <a:pt x="2321781" y="1107882"/>
                </a:cubicBezTo>
                <a:cubicBezTo>
                  <a:pt x="2345635" y="1304014"/>
                  <a:pt x="2365513" y="1464365"/>
                  <a:pt x="2385391" y="1632668"/>
                </a:cubicBezTo>
                <a:cubicBezTo>
                  <a:pt x="2405269" y="1800971"/>
                  <a:pt x="2423823" y="1994453"/>
                  <a:pt x="2441051" y="2117698"/>
                </a:cubicBezTo>
                <a:cubicBezTo>
                  <a:pt x="2458279" y="2240943"/>
                  <a:pt x="2462254" y="2315156"/>
                  <a:pt x="2488758" y="2372140"/>
                </a:cubicBezTo>
                <a:cubicBezTo>
                  <a:pt x="2515262" y="2429124"/>
                  <a:pt x="2558995" y="2445027"/>
                  <a:pt x="2600077" y="2459604"/>
                </a:cubicBezTo>
                <a:cubicBezTo>
                  <a:pt x="2641159" y="2474181"/>
                  <a:pt x="2679590" y="2472856"/>
                  <a:pt x="2735249" y="2459604"/>
                </a:cubicBezTo>
                <a:cubicBezTo>
                  <a:pt x="2790908" y="2446352"/>
                  <a:pt x="2871746" y="2410571"/>
                  <a:pt x="2934031" y="2380091"/>
                </a:cubicBezTo>
                <a:cubicBezTo>
                  <a:pt x="2996316" y="2349611"/>
                  <a:pt x="3040123" y="2314297"/>
                  <a:pt x="3108960" y="2276724"/>
                </a:cubicBezTo>
                <a:cubicBezTo>
                  <a:pt x="3177797" y="2239151"/>
                  <a:pt x="3266215" y="2185135"/>
                  <a:pt x="3347053" y="2154655"/>
                </a:cubicBezTo>
                <a:cubicBezTo>
                  <a:pt x="3475599" y="2100321"/>
                  <a:pt x="3516708" y="2134019"/>
                  <a:pt x="3596221" y="2114141"/>
                </a:cubicBezTo>
                <a:cubicBezTo>
                  <a:pt x="3883793" y="2096913"/>
                  <a:pt x="4533028" y="2133356"/>
                  <a:pt x="5180397" y="2114141"/>
                </a:cubicBezTo>
              </a:path>
            </a:pathLst>
          </a:custGeom>
          <a:noFill/>
          <a:ln w="9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4797360" y="85572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8" name=""/>
          <p:cNvCxnSpPr/>
          <p:nvPr/>
        </p:nvCxnSpPr>
        <p:spPr>
          <a:xfrm flipH="1">
            <a:off x="4139640" y="1039320"/>
            <a:ext cx="720360" cy="468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cxnSp>
        <p:nvCxnSpPr>
          <p:cNvPr id="369" name=""/>
          <p:cNvCxnSpPr/>
          <p:nvPr/>
        </p:nvCxnSpPr>
        <p:spPr>
          <a:xfrm>
            <a:off x="3098520" y="717120"/>
            <a:ext cx="826920" cy="468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cxnSp>
        <p:nvCxnSpPr>
          <p:cNvPr id="370" name=""/>
          <p:cNvCxnSpPr/>
          <p:nvPr/>
        </p:nvCxnSpPr>
        <p:spPr>
          <a:xfrm>
            <a:off x="3098520" y="1359000"/>
            <a:ext cx="826920" cy="288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sp>
        <p:nvSpPr>
          <p:cNvPr id="371" name=""/>
          <p:cNvSpPr/>
          <p:nvPr/>
        </p:nvSpPr>
        <p:spPr>
          <a:xfrm>
            <a:off x="5364000" y="442800"/>
            <a:ext cx="109512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channels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1846440" y="5362560"/>
            <a:ext cx="4402800" cy="1072440"/>
          </a:xfrm>
          <a:custGeom>
            <a:avLst/>
            <a:gdLst>
              <a:gd name="textAreaLeft" fmla="*/ 0 w 4402800"/>
              <a:gd name="textAreaRight" fmla="*/ 4403520 w 4402800"/>
              <a:gd name="textAreaTop" fmla="*/ 0 h 1072440"/>
              <a:gd name="textAreaBottom" fmla="*/ 1073160 h 1072440"/>
              <a:gd name="GluePoint1X" fmla="*/ 4403725 w 4403325"/>
              <a:gd name="GluePoint1Y" fmla="*/ 0 h 1074198"/>
              <a:gd name="GluePoint2X" fmla="*/ 4066342 w 4403325"/>
              <a:gd name="GluePoint2Y" fmla="*/ 620831 h 1074198"/>
              <a:gd name="GluePoint3X" fmla="*/ 3214009 w 4403325"/>
              <a:gd name="GluePoint3Y" fmla="*/ 957853 h 1074198"/>
              <a:gd name="GluePoint4X" fmla="*/ 1899995 w 4403325"/>
              <a:gd name="GluePoint4Y" fmla="*/ 1073150 h 1074198"/>
              <a:gd name="GluePoint5X" fmla="*/ 932241 w 4403325"/>
              <a:gd name="GluePoint5Y" fmla="*/ 957853 h 1074198"/>
              <a:gd name="GluePoint6X" fmla="*/ 195327 w 4403325"/>
              <a:gd name="GluePoint6Y" fmla="*/ 461188 h 1074198"/>
              <a:gd name="GluePoint7X" fmla="*/ 0 w 4403325"/>
              <a:gd name="GluePoint7Y" fmla="*/ 62082 h 10741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03325" h="1074198">
                <a:moveTo>
                  <a:pt x="4403325" y="0"/>
                </a:moveTo>
                <a:cubicBezTo>
                  <a:pt x="4333783" y="230819"/>
                  <a:pt x="4264241" y="461639"/>
                  <a:pt x="4065973" y="621437"/>
                </a:cubicBezTo>
                <a:cubicBezTo>
                  <a:pt x="3867705" y="781235"/>
                  <a:pt x="3574742" y="883328"/>
                  <a:pt x="3213717" y="958788"/>
                </a:cubicBezTo>
                <a:cubicBezTo>
                  <a:pt x="2852692" y="1034248"/>
                  <a:pt x="2280082" y="1074198"/>
                  <a:pt x="1899822" y="1074198"/>
                </a:cubicBezTo>
                <a:cubicBezTo>
                  <a:pt x="1519562" y="1074198"/>
                  <a:pt x="1216241" y="1060881"/>
                  <a:pt x="932156" y="958788"/>
                </a:cubicBezTo>
                <a:cubicBezTo>
                  <a:pt x="648071" y="856695"/>
                  <a:pt x="350668" y="611079"/>
                  <a:pt x="195309" y="461638"/>
                </a:cubicBezTo>
                <a:cubicBezTo>
                  <a:pt x="39950" y="312197"/>
                  <a:pt x="19975" y="187170"/>
                  <a:pt x="0" y="62143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404640" y="6120000"/>
            <a:ext cx="9039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1596960" y="4502160"/>
            <a:ext cx="310320" cy="870840"/>
          </a:xfrm>
          <a:custGeom>
            <a:avLst/>
            <a:gdLst>
              <a:gd name="textAreaLeft" fmla="*/ 198720 w 310320"/>
              <a:gd name="textAreaRight" fmla="*/ 311400 w 310320"/>
              <a:gd name="textAreaTop" fmla="*/ 7920 h 870840"/>
              <a:gd name="textAreaBottom" fmla="*/ 863640 h 87084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322"/>
                  <a:pt x="10800" y="643"/>
                </a:cubicBezTo>
                <a:lnTo>
                  <a:pt x="10800" y="10157"/>
                </a:lnTo>
                <a:cubicBezTo>
                  <a:pt x="10800" y="10479"/>
                  <a:pt x="5400" y="10800"/>
                  <a:pt x="0" y="10800"/>
                </a:cubicBezTo>
                <a:cubicBezTo>
                  <a:pt x="5400" y="10800"/>
                  <a:pt x="10800" y="11122"/>
                  <a:pt x="10800" y="11443"/>
                </a:cubicBezTo>
                <a:lnTo>
                  <a:pt x="10800" y="20957"/>
                </a:lnTo>
                <a:cubicBezTo>
                  <a:pt x="10800" y="21279"/>
                  <a:pt x="16200" y="21600"/>
                  <a:pt x="21600" y="21600"/>
                </a:cubicBezTo>
              </a:path>
            </a:pathLst>
          </a:custGeom>
          <a:noFill/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966960" y="4562640"/>
            <a:ext cx="86400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Synaptic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Cleft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3639960" y="179280"/>
            <a:ext cx="8280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AXON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7" name=""/>
          <p:cNvGrpSpPr/>
          <p:nvPr/>
        </p:nvGrpSpPr>
        <p:grpSpPr>
          <a:xfrm>
            <a:off x="2184480" y="5157000"/>
            <a:ext cx="3610440" cy="1646280"/>
            <a:chOff x="2184480" y="5157000"/>
            <a:chExt cx="3610440" cy="1646280"/>
          </a:xfrm>
        </p:grpSpPr>
        <p:grpSp>
          <p:nvGrpSpPr>
            <p:cNvPr id="378" name=""/>
            <p:cNvGrpSpPr/>
            <p:nvPr/>
          </p:nvGrpSpPr>
          <p:grpSpPr>
            <a:xfrm>
              <a:off x="2612880" y="5157000"/>
              <a:ext cx="566280" cy="817560"/>
              <a:chOff x="2612880" y="5157000"/>
              <a:chExt cx="566280" cy="817560"/>
            </a:xfrm>
          </p:grpSpPr>
          <p:sp>
            <p:nvSpPr>
              <p:cNvPr id="379" name=""/>
              <p:cNvSpPr/>
              <p:nvPr/>
            </p:nvSpPr>
            <p:spPr>
              <a:xfrm>
                <a:off x="2649600" y="5373720"/>
                <a:ext cx="502560" cy="35316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"/>
              <p:cNvSpPr/>
              <p:nvPr/>
            </p:nvSpPr>
            <p:spPr>
              <a:xfrm>
                <a:off x="2797200" y="5373720"/>
                <a:ext cx="194400" cy="353160"/>
              </a:xfrm>
              <a:prstGeom prst="can">
                <a:avLst>
                  <a:gd name="adj" fmla="val 21490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"/>
              <p:cNvSpPr/>
              <p:nvPr/>
            </p:nvSpPr>
            <p:spPr>
              <a:xfrm>
                <a:off x="2765520" y="5184720"/>
                <a:ext cx="115200" cy="789840"/>
              </a:xfrm>
              <a:custGeom>
                <a:avLst/>
                <a:gdLst>
                  <a:gd name="textAreaLeft" fmla="*/ 0 w 115200"/>
                  <a:gd name="textAreaRight" fmla="*/ 115920 w 115200"/>
                  <a:gd name="textAreaTop" fmla="*/ 0 h 789840"/>
                  <a:gd name="textAreaBottom" fmla="*/ 790560 h 789840"/>
                  <a:gd name="GluePoint1X" fmla="*/ 0 w 115435"/>
                  <a:gd name="GluePoint1Y" fmla="*/ 0 h 790113"/>
                  <a:gd name="GluePoint2X" fmla="*/ 98037 w 115435"/>
                  <a:gd name="GluePoint2Y" fmla="*/ 142126 h 790113"/>
                  <a:gd name="GluePoint3X" fmla="*/ 115862 w 115435"/>
                  <a:gd name="GluePoint3Y" fmla="*/ 790575 h 790113"/>
                  <a:gd name="GluePoint4X" fmla="*/ 115862 w 115435"/>
                  <a:gd name="GluePoint4Y" fmla="*/ 790575 h 790113"/>
                  <a:gd name="GluePoint5X" fmla="*/ 115862 w 115435"/>
                  <a:gd name="GluePoint5Y" fmla="*/ 790575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600" tIns="46800" rIns="576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"/>
              <p:cNvSpPr/>
              <p:nvPr/>
            </p:nvSpPr>
            <p:spPr>
              <a:xfrm flipH="1" flipV="1">
                <a:off x="2926080" y="5157000"/>
                <a:ext cx="113400" cy="788400"/>
              </a:xfrm>
              <a:custGeom>
                <a:avLst/>
                <a:gdLst>
                  <a:gd name="textAreaLeft" fmla="*/ 360 w 113400"/>
                  <a:gd name="textAreaRight" fmla="*/ 114480 w 113400"/>
                  <a:gd name="textAreaTop" fmla="*/ -360 h 788400"/>
                  <a:gd name="textAreaBottom" fmla="*/ 788760 h 788400"/>
                  <a:gd name="GluePoint1X" fmla="*/ 0 w 115435"/>
                  <a:gd name="GluePoint1Y" fmla="*/ 0 h 790113"/>
                  <a:gd name="GluePoint2X" fmla="*/ 96694 w 115435"/>
                  <a:gd name="GluePoint2Y" fmla="*/ 141841 h 790113"/>
                  <a:gd name="GluePoint3X" fmla="*/ 114274 w 115435"/>
                  <a:gd name="GluePoint3Y" fmla="*/ 788987 h 790113"/>
                  <a:gd name="GluePoint4X" fmla="*/ 114274 w 115435"/>
                  <a:gd name="GluePoint4Y" fmla="*/ 788987 h 790113"/>
                  <a:gd name="GluePoint5X" fmla="*/ 114274 w 115435"/>
                  <a:gd name="GluePoint5Y" fmla="*/ 788987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0000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6880" tIns="46800" rIns="5688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"/>
              <p:cNvSpPr/>
              <p:nvPr/>
            </p:nvSpPr>
            <p:spPr>
              <a:xfrm>
                <a:off x="2612880" y="5334120"/>
                <a:ext cx="124920" cy="15624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2640" tIns="46800" rIns="626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"/>
              <p:cNvSpPr/>
              <p:nvPr/>
            </p:nvSpPr>
            <p:spPr>
              <a:xfrm>
                <a:off x="3054240" y="5315040"/>
                <a:ext cx="124920" cy="1548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2640" tIns="46800" rIns="626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85" name=""/>
            <p:cNvGrpSpPr/>
            <p:nvPr/>
          </p:nvGrpSpPr>
          <p:grpSpPr>
            <a:xfrm>
              <a:off x="3572280" y="5157000"/>
              <a:ext cx="556560" cy="817560"/>
              <a:chOff x="3572280" y="5157000"/>
              <a:chExt cx="556560" cy="817560"/>
            </a:xfrm>
          </p:grpSpPr>
          <p:sp>
            <p:nvSpPr>
              <p:cNvPr id="386" name=""/>
              <p:cNvSpPr/>
              <p:nvPr/>
            </p:nvSpPr>
            <p:spPr>
              <a:xfrm>
                <a:off x="3601080" y="5373720"/>
                <a:ext cx="502560" cy="35316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"/>
              <p:cNvSpPr/>
              <p:nvPr/>
            </p:nvSpPr>
            <p:spPr>
              <a:xfrm>
                <a:off x="3750120" y="5373720"/>
                <a:ext cx="192960" cy="353160"/>
              </a:xfrm>
              <a:prstGeom prst="can">
                <a:avLst>
                  <a:gd name="adj" fmla="val 21314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8" name=""/>
              <p:cNvSpPr/>
              <p:nvPr/>
            </p:nvSpPr>
            <p:spPr>
              <a:xfrm>
                <a:off x="3572280" y="5361120"/>
                <a:ext cx="126360" cy="1548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360" tIns="46800" rIns="633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"/>
              <p:cNvSpPr/>
              <p:nvPr/>
            </p:nvSpPr>
            <p:spPr>
              <a:xfrm>
                <a:off x="4002480" y="5361120"/>
                <a:ext cx="126360" cy="1548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360" tIns="46800" rIns="633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"/>
              <p:cNvSpPr/>
              <p:nvPr/>
            </p:nvSpPr>
            <p:spPr>
              <a:xfrm>
                <a:off x="3700800" y="5184720"/>
                <a:ext cx="113760" cy="78984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789840"/>
                  <a:gd name="textAreaBottom" fmla="*/ 790560 h 789840"/>
                  <a:gd name="GluePoint1X" fmla="*/ 0 w 115435"/>
                  <a:gd name="GluePoint1Y" fmla="*/ 0 h 790113"/>
                  <a:gd name="GluePoint2X" fmla="*/ 96694 w 115435"/>
                  <a:gd name="GluePoint2Y" fmla="*/ 142126 h 790113"/>
                  <a:gd name="GluePoint3X" fmla="*/ 114274 w 115435"/>
                  <a:gd name="GluePoint3Y" fmla="*/ 790575 h 790113"/>
                  <a:gd name="GluePoint4X" fmla="*/ 114274 w 115435"/>
                  <a:gd name="GluePoint4Y" fmla="*/ 790575 h 790113"/>
                  <a:gd name="GluePoint5X" fmla="*/ 114274 w 115435"/>
                  <a:gd name="GluePoint5Y" fmla="*/ 790575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6880" tIns="46800" rIns="5688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"/>
              <p:cNvSpPr/>
              <p:nvPr/>
            </p:nvSpPr>
            <p:spPr>
              <a:xfrm flipH="1" flipV="1">
                <a:off x="3870000" y="5157000"/>
                <a:ext cx="113760" cy="788400"/>
              </a:xfrm>
              <a:custGeom>
                <a:avLst/>
                <a:gdLst>
                  <a:gd name="textAreaLeft" fmla="*/ -360 w 113760"/>
                  <a:gd name="textAreaRight" fmla="*/ 114120 w 113760"/>
                  <a:gd name="textAreaTop" fmla="*/ -360 h 788400"/>
                  <a:gd name="textAreaBottom" fmla="*/ 788760 h 788400"/>
                  <a:gd name="GluePoint1X" fmla="*/ 0 w 115435"/>
                  <a:gd name="GluePoint1Y" fmla="*/ 0 h 790113"/>
                  <a:gd name="GluePoint2X" fmla="*/ 96694 w 115435"/>
                  <a:gd name="GluePoint2Y" fmla="*/ 141841 h 790113"/>
                  <a:gd name="GluePoint3X" fmla="*/ 114274 w 115435"/>
                  <a:gd name="GluePoint3Y" fmla="*/ 788987 h 790113"/>
                  <a:gd name="GluePoint4X" fmla="*/ 114274 w 115435"/>
                  <a:gd name="GluePoint4Y" fmla="*/ 788987 h 790113"/>
                  <a:gd name="GluePoint5X" fmla="*/ 114274 w 115435"/>
                  <a:gd name="GluePoint5Y" fmla="*/ 788987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0000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6880" tIns="46800" rIns="5688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2" name=""/>
            <p:cNvGrpSpPr/>
            <p:nvPr/>
          </p:nvGrpSpPr>
          <p:grpSpPr>
            <a:xfrm>
              <a:off x="4534560" y="5157000"/>
              <a:ext cx="577080" cy="817560"/>
              <a:chOff x="4534560" y="5157000"/>
              <a:chExt cx="577080" cy="817560"/>
            </a:xfrm>
          </p:grpSpPr>
          <p:sp>
            <p:nvSpPr>
              <p:cNvPr id="393" name=""/>
              <p:cNvSpPr/>
              <p:nvPr/>
            </p:nvSpPr>
            <p:spPr>
              <a:xfrm>
                <a:off x="4536360" y="5378400"/>
                <a:ext cx="502560" cy="35352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4" name=""/>
              <p:cNvSpPr/>
              <p:nvPr/>
            </p:nvSpPr>
            <p:spPr>
              <a:xfrm>
                <a:off x="4721760" y="5378400"/>
                <a:ext cx="192960" cy="353520"/>
              </a:xfrm>
              <a:prstGeom prst="can">
                <a:avLst>
                  <a:gd name="adj" fmla="val 21314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5" name=""/>
              <p:cNvSpPr/>
              <p:nvPr/>
            </p:nvSpPr>
            <p:spPr>
              <a:xfrm>
                <a:off x="4534560" y="5351400"/>
                <a:ext cx="126000" cy="1548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000" tIns="46800" rIns="63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6" name=""/>
              <p:cNvSpPr/>
              <p:nvPr/>
            </p:nvSpPr>
            <p:spPr>
              <a:xfrm>
                <a:off x="4985280" y="5343480"/>
                <a:ext cx="126360" cy="1548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360" tIns="46800" rIns="633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7" name=""/>
              <p:cNvSpPr/>
              <p:nvPr/>
            </p:nvSpPr>
            <p:spPr>
              <a:xfrm>
                <a:off x="4688280" y="5184720"/>
                <a:ext cx="115200" cy="789840"/>
              </a:xfrm>
              <a:custGeom>
                <a:avLst/>
                <a:gdLst>
                  <a:gd name="textAreaLeft" fmla="*/ 0 w 115200"/>
                  <a:gd name="textAreaRight" fmla="*/ 115920 w 115200"/>
                  <a:gd name="textAreaTop" fmla="*/ 0 h 789840"/>
                  <a:gd name="textAreaBottom" fmla="*/ 790560 h 789840"/>
                  <a:gd name="GluePoint1X" fmla="*/ 0 w 115435"/>
                  <a:gd name="GluePoint1Y" fmla="*/ 0 h 790113"/>
                  <a:gd name="GluePoint2X" fmla="*/ 98037 w 115435"/>
                  <a:gd name="GluePoint2Y" fmla="*/ 142126 h 790113"/>
                  <a:gd name="GluePoint3X" fmla="*/ 115862 w 115435"/>
                  <a:gd name="GluePoint3Y" fmla="*/ 790575 h 790113"/>
                  <a:gd name="GluePoint4X" fmla="*/ 115862 w 115435"/>
                  <a:gd name="GluePoint4Y" fmla="*/ 790575 h 790113"/>
                  <a:gd name="GluePoint5X" fmla="*/ 115862 w 115435"/>
                  <a:gd name="GluePoint5Y" fmla="*/ 790575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600" tIns="46800" rIns="576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8" name=""/>
              <p:cNvSpPr/>
              <p:nvPr/>
            </p:nvSpPr>
            <p:spPr>
              <a:xfrm flipH="1" flipV="1">
                <a:off x="4850640" y="5157000"/>
                <a:ext cx="114840" cy="788400"/>
              </a:xfrm>
              <a:custGeom>
                <a:avLst/>
                <a:gdLst>
                  <a:gd name="textAreaLeft" fmla="*/ 360 w 114840"/>
                  <a:gd name="textAreaRight" fmla="*/ 115920 w 114840"/>
                  <a:gd name="textAreaTop" fmla="*/ -360 h 788400"/>
                  <a:gd name="textAreaBottom" fmla="*/ 788760 h 788400"/>
                  <a:gd name="GluePoint1X" fmla="*/ 0 w 115435"/>
                  <a:gd name="GluePoint1Y" fmla="*/ 0 h 790113"/>
                  <a:gd name="GluePoint2X" fmla="*/ 98036 w 115435"/>
                  <a:gd name="GluePoint2Y" fmla="*/ 141841 h 790113"/>
                  <a:gd name="GluePoint3X" fmla="*/ 115861 w 115435"/>
                  <a:gd name="GluePoint3Y" fmla="*/ 788987 h 790113"/>
                  <a:gd name="GluePoint4X" fmla="*/ 115861 w 115435"/>
                  <a:gd name="GluePoint4Y" fmla="*/ 788987 h 790113"/>
                  <a:gd name="GluePoint5X" fmla="*/ 115861 w 115435"/>
                  <a:gd name="GluePoint5Y" fmla="*/ 788987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0000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600" tIns="46800" rIns="576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9" name=""/>
            <p:cNvSpPr/>
            <p:nvPr/>
          </p:nvSpPr>
          <p:spPr>
            <a:xfrm>
              <a:off x="2184480" y="6435720"/>
              <a:ext cx="361044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Acetylcholine </a:t>
              </a: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receptors - Nicotinic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0" name=""/>
          <p:cNvSpPr/>
          <p:nvPr/>
        </p:nvSpPr>
        <p:spPr>
          <a:xfrm>
            <a:off x="144000" y="189000"/>
            <a:ext cx="2387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Inhibit</a:t>
            </a: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ion of </a:t>
            </a: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releas</a:t>
            </a: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 rot="1860000">
            <a:off x="1274760" y="5106960"/>
            <a:ext cx="194400" cy="35316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 rot="19380000">
            <a:off x="6527160" y="4995360"/>
            <a:ext cx="194400" cy="35352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3" name=""/>
          <p:cNvGrpSpPr/>
          <p:nvPr/>
        </p:nvGrpSpPr>
        <p:grpSpPr>
          <a:xfrm>
            <a:off x="1676880" y="1851120"/>
            <a:ext cx="5379120" cy="1279080"/>
            <a:chOff x="1676880" y="1851120"/>
            <a:chExt cx="5379120" cy="1279080"/>
          </a:xfrm>
        </p:grpSpPr>
        <p:sp>
          <p:nvSpPr>
            <p:cNvPr id="404" name=""/>
            <p:cNvSpPr/>
            <p:nvPr/>
          </p:nvSpPr>
          <p:spPr>
            <a:xfrm>
              <a:off x="5960880" y="1851120"/>
              <a:ext cx="1095120" cy="64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  <a:ea typeface="DejaVu Sans"/>
                </a:rPr>
                <a:t>Ca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  <a:ea typeface="DejaVu Sans"/>
                </a:rPr>
                <a:t>channels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5" name=""/>
            <p:cNvGrpSpPr/>
            <p:nvPr/>
          </p:nvGrpSpPr>
          <p:grpSpPr>
            <a:xfrm>
              <a:off x="1676880" y="2673000"/>
              <a:ext cx="457200" cy="457200"/>
              <a:chOff x="1676880" y="2673000"/>
              <a:chExt cx="457200" cy="457200"/>
            </a:xfrm>
          </p:grpSpPr>
          <p:sp>
            <p:nvSpPr>
              <p:cNvPr id="406" name=""/>
              <p:cNvSpPr/>
              <p:nvPr/>
            </p:nvSpPr>
            <p:spPr>
              <a:xfrm rot="7860000">
                <a:off x="1813320" y="2741040"/>
                <a:ext cx="194400" cy="35352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"/>
              <p:cNvSpPr/>
              <p:nvPr/>
            </p:nvSpPr>
            <p:spPr>
              <a:xfrm>
                <a:off x="1676880" y="2673000"/>
                <a:ext cx="457200" cy="4572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08" name=""/>
            <p:cNvGrpSpPr/>
            <p:nvPr/>
          </p:nvGrpSpPr>
          <p:grpSpPr>
            <a:xfrm>
              <a:off x="2468880" y="2097000"/>
              <a:ext cx="457200" cy="457200"/>
              <a:chOff x="2468880" y="2097000"/>
              <a:chExt cx="457200" cy="457200"/>
            </a:xfrm>
          </p:grpSpPr>
          <p:sp>
            <p:nvSpPr>
              <p:cNvPr id="409" name=""/>
              <p:cNvSpPr/>
              <p:nvPr/>
            </p:nvSpPr>
            <p:spPr>
              <a:xfrm rot="7860000">
                <a:off x="2607120" y="2187000"/>
                <a:ext cx="194400" cy="35352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0" name=""/>
              <p:cNvSpPr/>
              <p:nvPr/>
            </p:nvSpPr>
            <p:spPr>
              <a:xfrm>
                <a:off x="2468880" y="2097000"/>
                <a:ext cx="457200" cy="4572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11" name=""/>
            <p:cNvGrpSpPr/>
            <p:nvPr/>
          </p:nvGrpSpPr>
          <p:grpSpPr>
            <a:xfrm>
              <a:off x="4895280" y="2111400"/>
              <a:ext cx="355320" cy="572400"/>
              <a:chOff x="4895280" y="2111400"/>
              <a:chExt cx="355320" cy="572400"/>
            </a:xfrm>
          </p:grpSpPr>
          <p:sp>
            <p:nvSpPr>
              <p:cNvPr id="412" name=""/>
              <p:cNvSpPr/>
              <p:nvPr/>
            </p:nvSpPr>
            <p:spPr>
              <a:xfrm rot="12780000">
                <a:off x="4975560" y="2207880"/>
                <a:ext cx="194400" cy="35316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3" name=""/>
              <p:cNvSpPr/>
              <p:nvPr/>
            </p:nvSpPr>
            <p:spPr>
              <a:xfrm flipH="1">
                <a:off x="4923360" y="2111400"/>
                <a:ext cx="300240" cy="5724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14" name=""/>
            <p:cNvGrpSpPr/>
            <p:nvPr/>
          </p:nvGrpSpPr>
          <p:grpSpPr>
            <a:xfrm>
              <a:off x="5555160" y="2514600"/>
              <a:ext cx="355680" cy="561600"/>
              <a:chOff x="5555160" y="2514600"/>
              <a:chExt cx="355680" cy="561600"/>
            </a:xfrm>
          </p:grpSpPr>
          <p:sp>
            <p:nvSpPr>
              <p:cNvPr id="415" name=""/>
              <p:cNvSpPr/>
              <p:nvPr/>
            </p:nvSpPr>
            <p:spPr>
              <a:xfrm rot="12780000">
                <a:off x="5635440" y="2604960"/>
                <a:ext cx="194400" cy="35352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6" name=""/>
              <p:cNvSpPr/>
              <p:nvPr/>
            </p:nvSpPr>
            <p:spPr>
              <a:xfrm flipH="1">
                <a:off x="5558400" y="2514600"/>
                <a:ext cx="319680" cy="5616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17" name=""/>
          <p:cNvGrpSpPr/>
          <p:nvPr/>
        </p:nvGrpSpPr>
        <p:grpSpPr>
          <a:xfrm>
            <a:off x="2843640" y="2852640"/>
            <a:ext cx="2057040" cy="2237760"/>
            <a:chOff x="2843640" y="2852640"/>
            <a:chExt cx="2057040" cy="2237760"/>
          </a:xfrm>
        </p:grpSpPr>
        <p:grpSp>
          <p:nvGrpSpPr>
            <p:cNvPr id="418" name=""/>
            <p:cNvGrpSpPr/>
            <p:nvPr/>
          </p:nvGrpSpPr>
          <p:grpSpPr>
            <a:xfrm>
              <a:off x="2843640" y="2852640"/>
              <a:ext cx="2029680" cy="2237760"/>
              <a:chOff x="2843640" y="2852640"/>
              <a:chExt cx="2029680" cy="2237760"/>
            </a:xfrm>
          </p:grpSpPr>
          <p:sp>
            <p:nvSpPr>
              <p:cNvPr id="419" name=""/>
              <p:cNvSpPr/>
              <p:nvPr/>
            </p:nvSpPr>
            <p:spPr>
              <a:xfrm>
                <a:off x="2961360" y="2852640"/>
                <a:ext cx="419760" cy="4424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"/>
              <p:cNvSpPr/>
              <p:nvPr/>
            </p:nvSpPr>
            <p:spPr>
              <a:xfrm>
                <a:off x="3663000" y="3271680"/>
                <a:ext cx="419760" cy="4406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"/>
              <p:cNvSpPr/>
              <p:nvPr/>
            </p:nvSpPr>
            <p:spPr>
              <a:xfrm>
                <a:off x="4424760" y="3068640"/>
                <a:ext cx="420120" cy="44208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"/>
              <p:cNvSpPr/>
              <p:nvPr/>
            </p:nvSpPr>
            <p:spPr>
              <a:xfrm>
                <a:off x="3501000" y="4280040"/>
                <a:ext cx="418320" cy="4406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3" name=""/>
              <p:cNvSpPr/>
              <p:nvPr/>
            </p:nvSpPr>
            <p:spPr>
              <a:xfrm>
                <a:off x="4280400" y="4280040"/>
                <a:ext cx="420120" cy="4406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"/>
              <p:cNvSpPr/>
              <p:nvPr/>
            </p:nvSpPr>
            <p:spPr>
              <a:xfrm>
                <a:off x="2870640" y="4280040"/>
                <a:ext cx="420120" cy="4406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425" name=""/>
              <p:cNvCxnSpPr/>
              <p:nvPr/>
            </p:nvCxnSpPr>
            <p:spPr>
              <a:xfrm flipH="1">
                <a:off x="3090600" y="3460320"/>
                <a:ext cx="36360" cy="68724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triangle" w="med"/>
              </a:ln>
            </p:spPr>
          </p:cxnSp>
          <p:cxnSp>
            <p:nvCxnSpPr>
              <p:cNvPr id="426" name=""/>
              <p:cNvCxnSpPr/>
              <p:nvPr/>
            </p:nvCxnSpPr>
            <p:spPr>
              <a:xfrm flipH="1">
                <a:off x="3780000" y="3860280"/>
                <a:ext cx="33120" cy="27468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arrow" w="med"/>
              </a:ln>
            </p:spPr>
          </p:cxnSp>
          <p:cxnSp>
            <p:nvCxnSpPr>
              <p:cNvPr id="427" name=""/>
              <p:cNvCxnSpPr/>
              <p:nvPr/>
            </p:nvCxnSpPr>
            <p:spPr>
              <a:xfrm flipH="1">
                <a:off x="4572000" y="3614760"/>
                <a:ext cx="61560" cy="53496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arrow" w="med"/>
              </a:ln>
            </p:spPr>
          </p:cxnSp>
          <p:sp>
            <p:nvSpPr>
              <p:cNvPr id="428" name=""/>
              <p:cNvSpPr/>
              <p:nvPr/>
            </p:nvSpPr>
            <p:spPr>
              <a:xfrm>
                <a:off x="2843640" y="4784760"/>
                <a:ext cx="123120" cy="1533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"/>
              <p:cNvSpPr/>
              <p:nvPr/>
            </p:nvSpPr>
            <p:spPr>
              <a:xfrm>
                <a:off x="3077280" y="4937040"/>
                <a:ext cx="123120" cy="1533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"/>
              <p:cNvSpPr/>
              <p:nvPr/>
            </p:nvSpPr>
            <p:spPr>
              <a:xfrm>
                <a:off x="3508920" y="4857840"/>
                <a:ext cx="123120" cy="151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"/>
              <p:cNvSpPr/>
              <p:nvPr/>
            </p:nvSpPr>
            <p:spPr>
              <a:xfrm>
                <a:off x="3852000" y="4869000"/>
                <a:ext cx="123120" cy="1530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"/>
              <p:cNvSpPr/>
              <p:nvPr/>
            </p:nvSpPr>
            <p:spPr>
              <a:xfrm>
                <a:off x="4462920" y="4869000"/>
                <a:ext cx="123120" cy="1530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"/>
              <p:cNvSpPr/>
              <p:nvPr/>
            </p:nvSpPr>
            <p:spPr>
              <a:xfrm>
                <a:off x="4752000" y="4869000"/>
                <a:ext cx="121320" cy="1530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0840" tIns="46800" rIns="608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"/>
              <p:cNvSpPr/>
              <p:nvPr/>
            </p:nvSpPr>
            <p:spPr>
              <a:xfrm>
                <a:off x="3013560" y="4616280"/>
                <a:ext cx="123120" cy="15192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5" name=""/>
              <p:cNvSpPr/>
              <p:nvPr/>
            </p:nvSpPr>
            <p:spPr>
              <a:xfrm>
                <a:off x="3653280" y="4653000"/>
                <a:ext cx="123120" cy="151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6" name=""/>
              <p:cNvSpPr/>
              <p:nvPr/>
            </p:nvSpPr>
            <p:spPr>
              <a:xfrm>
                <a:off x="4445640" y="4645080"/>
                <a:ext cx="123120" cy="151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7" name=""/>
            <p:cNvSpPr/>
            <p:nvPr/>
          </p:nvSpPr>
          <p:spPr>
            <a:xfrm>
              <a:off x="2935800" y="293580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"/>
            <p:cNvSpPr/>
            <p:nvPr/>
          </p:nvSpPr>
          <p:spPr>
            <a:xfrm>
              <a:off x="3655800" y="336816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"/>
            <p:cNvSpPr/>
            <p:nvPr/>
          </p:nvSpPr>
          <p:spPr>
            <a:xfrm>
              <a:off x="4267800" y="4376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"/>
            <p:cNvSpPr/>
            <p:nvPr/>
          </p:nvSpPr>
          <p:spPr>
            <a:xfrm>
              <a:off x="3475800" y="4376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"/>
            <p:cNvSpPr/>
            <p:nvPr/>
          </p:nvSpPr>
          <p:spPr>
            <a:xfrm>
              <a:off x="2863800" y="4340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"/>
            <p:cNvSpPr/>
            <p:nvPr/>
          </p:nvSpPr>
          <p:spPr>
            <a:xfrm>
              <a:off x="4447800" y="3152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3" name=""/>
          <p:cNvSpPr/>
          <p:nvPr/>
        </p:nvSpPr>
        <p:spPr>
          <a:xfrm>
            <a:off x="6633720" y="539208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874080" y="546444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 flipV="1">
            <a:off x="1197720" y="5029200"/>
            <a:ext cx="402480" cy="4568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 flipH="1" flipV="1">
            <a:off x="6472800" y="4944600"/>
            <a:ext cx="385200" cy="541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47" name=""/>
          <p:cNvGrpSpPr/>
          <p:nvPr/>
        </p:nvGrpSpPr>
        <p:grpSpPr>
          <a:xfrm>
            <a:off x="5364000" y="457200"/>
            <a:ext cx="1654200" cy="685800"/>
            <a:chOff x="5364000" y="457200"/>
            <a:chExt cx="1654200" cy="685800"/>
          </a:xfrm>
        </p:grpSpPr>
        <p:grpSp>
          <p:nvGrpSpPr>
            <p:cNvPr id="448" name=""/>
            <p:cNvGrpSpPr/>
            <p:nvPr/>
          </p:nvGrpSpPr>
          <p:grpSpPr>
            <a:xfrm>
              <a:off x="5364000" y="457200"/>
              <a:ext cx="914400" cy="685800"/>
              <a:chOff x="5364000" y="457200"/>
              <a:chExt cx="914400" cy="685800"/>
            </a:xfrm>
          </p:grpSpPr>
          <p:sp>
            <p:nvSpPr>
              <p:cNvPr id="449" name=""/>
              <p:cNvSpPr/>
              <p:nvPr/>
            </p:nvSpPr>
            <p:spPr>
              <a:xfrm>
                <a:off x="5364000" y="457200"/>
                <a:ext cx="914400" cy="685800"/>
              </a:xfrm>
              <a:prstGeom prst="line">
                <a:avLst/>
              </a:prstGeom>
              <a:ln w="5472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7360" tIns="72360" rIns="117360" bIns="723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0" name=""/>
              <p:cNvSpPr/>
              <p:nvPr/>
            </p:nvSpPr>
            <p:spPr>
              <a:xfrm flipH="1">
                <a:off x="5364000" y="457200"/>
                <a:ext cx="914400" cy="685800"/>
              </a:xfrm>
              <a:prstGeom prst="line">
                <a:avLst/>
              </a:prstGeom>
              <a:ln w="5472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7360" tIns="72360" rIns="117360" bIns="723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51" name=""/>
            <p:cNvSpPr txBox="1"/>
            <p:nvPr/>
          </p:nvSpPr>
          <p:spPr>
            <a:xfrm>
              <a:off x="6405840" y="512280"/>
              <a:ext cx="612360" cy="6022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TTX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LA’s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2" name=""/>
          <p:cNvGrpSpPr/>
          <p:nvPr/>
        </p:nvGrpSpPr>
        <p:grpSpPr>
          <a:xfrm>
            <a:off x="5862600" y="1838160"/>
            <a:ext cx="3013920" cy="685800"/>
            <a:chOff x="5862600" y="1838160"/>
            <a:chExt cx="3013920" cy="685800"/>
          </a:xfrm>
        </p:grpSpPr>
        <p:grpSp>
          <p:nvGrpSpPr>
            <p:cNvPr id="453" name=""/>
            <p:cNvGrpSpPr/>
            <p:nvPr/>
          </p:nvGrpSpPr>
          <p:grpSpPr>
            <a:xfrm>
              <a:off x="5862600" y="1838160"/>
              <a:ext cx="914400" cy="685800"/>
              <a:chOff x="5862600" y="1838160"/>
              <a:chExt cx="914400" cy="685800"/>
            </a:xfrm>
          </p:grpSpPr>
          <p:sp>
            <p:nvSpPr>
              <p:cNvPr id="454" name=""/>
              <p:cNvSpPr/>
              <p:nvPr/>
            </p:nvSpPr>
            <p:spPr>
              <a:xfrm>
                <a:off x="5862600" y="1838160"/>
                <a:ext cx="914400" cy="685800"/>
              </a:xfrm>
              <a:prstGeom prst="line">
                <a:avLst/>
              </a:prstGeom>
              <a:ln w="5472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7360" tIns="72360" rIns="117360" bIns="723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"/>
              <p:cNvSpPr/>
              <p:nvPr/>
            </p:nvSpPr>
            <p:spPr>
              <a:xfrm flipH="1">
                <a:off x="5862600" y="1838160"/>
                <a:ext cx="914400" cy="685800"/>
              </a:xfrm>
              <a:prstGeom prst="line">
                <a:avLst/>
              </a:prstGeom>
              <a:ln w="5472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7360" tIns="72360" rIns="117360" bIns="723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56" name=""/>
            <p:cNvSpPr txBox="1"/>
            <p:nvPr/>
          </p:nvSpPr>
          <p:spPr>
            <a:xfrm>
              <a:off x="6980400" y="1904400"/>
              <a:ext cx="1896120" cy="6022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Aminoglycosides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Mg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</a:rPr>
                <a:t>2+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, Co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</a:rPr>
                <a:t>2+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7" name=""/>
          <p:cNvGrpSpPr/>
          <p:nvPr/>
        </p:nvGrpSpPr>
        <p:grpSpPr>
          <a:xfrm>
            <a:off x="2743200" y="3729600"/>
            <a:ext cx="4391280" cy="346320"/>
            <a:chOff x="2743200" y="3729600"/>
            <a:chExt cx="4391280" cy="346320"/>
          </a:xfrm>
        </p:grpSpPr>
        <p:sp>
          <p:nvSpPr>
            <p:cNvPr id="458" name=""/>
            <p:cNvSpPr/>
            <p:nvPr/>
          </p:nvSpPr>
          <p:spPr>
            <a:xfrm>
              <a:off x="2743200" y="3886200"/>
              <a:ext cx="2514600" cy="0"/>
            </a:xfrm>
            <a:prstGeom prst="line">
              <a:avLst/>
            </a:prstGeom>
            <a:ln w="5472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7360" tIns="-72360" rIns="117360" bIns="-723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"/>
            <p:cNvSpPr txBox="1"/>
            <p:nvPr/>
          </p:nvSpPr>
          <p:spPr>
            <a:xfrm>
              <a:off x="5391000" y="3729600"/>
              <a:ext cx="174348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Botulin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um 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toxin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0" name=""/>
          <p:cNvSpPr txBox="1"/>
          <p:nvPr/>
        </p:nvSpPr>
        <p:spPr>
          <a:xfrm>
            <a:off x="3909600" y="2887200"/>
            <a:ext cx="5007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00A933"/>
                </a:solidFill>
                <a:effectLst/>
                <a:uFillTx/>
                <a:latin typeface="Arial"/>
              </a:rPr>
              <a:t>ACh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 rot="5020200">
            <a:off x="4625640" y="2943720"/>
            <a:ext cx="143640" cy="223200"/>
          </a:xfrm>
          <a:prstGeom prst="rect">
            <a:avLst/>
          </a:prstGeom>
          <a:solidFill>
            <a:srgbClr val="FF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4900680" y="3152520"/>
            <a:ext cx="2643120" cy="276480"/>
          </a:xfrm>
          <a:prstGeom prst="line">
            <a:avLst/>
          </a:prstGeom>
          <a:ln w="18360">
            <a:solidFill>
              <a:srgbClr val="FF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 flipH="1">
            <a:off x="4410000" y="2827440"/>
            <a:ext cx="285120" cy="132480"/>
          </a:xfrm>
          <a:custGeom>
            <a:avLst/>
            <a:gdLst>
              <a:gd name="textAreaLeft" fmla="*/ 0 w 285120"/>
              <a:gd name="textAreaRight" fmla="*/ 285840 w 285120"/>
              <a:gd name="textAreaTop" fmla="*/ 0 h 132480"/>
              <a:gd name="textAreaBottom" fmla="*/ 133200 h 132480"/>
              <a:gd name="GluePoint1X" fmla="*/ 285750 w 284850"/>
              <a:gd name="GluePoint1Y" fmla="*/ 62330 h 133352"/>
              <a:gd name="GluePoint2X" fmla="*/ 125447 w 284850"/>
              <a:gd name="GluePoint2Y" fmla="*/ 187 h 133352"/>
              <a:gd name="GluePoint3X" fmla="*/ 18579 w 284850"/>
              <a:gd name="GluePoint3Y" fmla="*/ 80085 h 133352"/>
              <a:gd name="GluePoint4X" fmla="*/ 766 w 284850"/>
              <a:gd name="GluePoint4Y" fmla="*/ 133350 h 1333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84850" h="133352">
                <a:moveTo>
                  <a:pt x="284850" y="62331"/>
                </a:moveTo>
                <a:cubicBezTo>
                  <a:pt x="227145" y="29779"/>
                  <a:pt x="169440" y="-2772"/>
                  <a:pt x="125052" y="187"/>
                </a:cubicBezTo>
                <a:cubicBezTo>
                  <a:pt x="80664" y="3146"/>
                  <a:pt x="39235" y="57892"/>
                  <a:pt x="18520" y="80086"/>
                </a:cubicBezTo>
                <a:cubicBezTo>
                  <a:pt x="-2195" y="102280"/>
                  <a:pt x="-716" y="117816"/>
                  <a:pt x="764" y="13335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7543800" y="3200400"/>
            <a:ext cx="12225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Vesamicol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" dur="indefinite" restart="never" nodeType="tmRoot">
          <p:childTnLst>
            <p:seq>
              <p:cTn id="63" dur="indefinite" nodeType="mainSeq">
                <p:childTnLst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"/>
          <p:cNvSpPr/>
          <p:nvPr/>
        </p:nvSpPr>
        <p:spPr>
          <a:xfrm>
            <a:off x="539640" y="303120"/>
            <a:ext cx="770400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Drugs affecting transmitter release – presynaptic site(s)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984240" y="1754280"/>
            <a:ext cx="3987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1. Block AP:  Local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anaesthetics, TTX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990720" y="2457360"/>
            <a:ext cx="6913800" cy="9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Block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entry: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Divalen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cations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– Mg,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Cd, Co,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Amino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glycosi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antibiot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ics :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strepto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mycin,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neomy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cin,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kanam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ycin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986040" y="3519000"/>
            <a:ext cx="49323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Preven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releas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 of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vesicle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–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Botulin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um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toxin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982800" y="1052640"/>
            <a:ext cx="22644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Inhibitors of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Release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984240" y="5363280"/>
            <a:ext cx="2556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Pot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enti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ator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s of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Rel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eas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1056960" y="5984640"/>
            <a:ext cx="62132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</a:t>
            </a:r>
            <a:r>
              <a:rPr lang="en-GB" sz="18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channel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blockers: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Tetraethylam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monium, 4-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Aminopyridin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957600" y="4030200"/>
            <a:ext cx="5161320" cy="13701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Reduc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availa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bility of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Ach: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Hemic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holiniu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m-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block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uptake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cholin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Vesam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icol-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preven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entry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Ach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into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vesicle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8" dur="indefinite" restart="never" nodeType="tmRoot">
          <p:childTnLst>
            <p:seq>
              <p:cTn id="89" dur="indefinite" nodeType="mainSeq">
                <p:childTnLst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"/>
          <p:cNvSpPr txBox="1"/>
          <p:nvPr/>
        </p:nvSpPr>
        <p:spPr>
          <a:xfrm>
            <a:off x="1193400" y="1398600"/>
            <a:ext cx="7308000" cy="5140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Drugs 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affecting 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termination 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of 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transmitter 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action</a:t>
            </a:r>
            <a:endParaRPr lang="en-US" sz="2400" b="0" u="none" strike="noStrike">
              <a:solidFill>
                <a:srgbClr val="FF0000"/>
              </a:solidFill>
              <a:effectLst/>
              <a:uFillTx/>
              <a:latin typeface="Comic Sans MS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1371600" y="2514600"/>
            <a:ext cx="35096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Acetyl choline esterase inhibitors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1371600" y="3200400"/>
            <a:ext cx="2023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Myasthenia gravis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0" dur="indefinite" restart="never" nodeType="tmRoot">
          <p:childTnLst>
            <p:seq>
              <p:cTn id="121" dur="indefinite" nodeType="mainSeq">
                <p:childTnLst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"/>
          <p:cNvSpPr/>
          <p:nvPr/>
        </p:nvSpPr>
        <p:spPr>
          <a:xfrm>
            <a:off x="399960" y="4784760"/>
            <a:ext cx="7962480" cy="772560"/>
          </a:xfrm>
          <a:custGeom>
            <a:avLst/>
            <a:gdLst>
              <a:gd name="textAreaLeft" fmla="*/ 0 w 7962480"/>
              <a:gd name="textAreaRight" fmla="*/ 7962840 w 7962480"/>
              <a:gd name="textAreaTop" fmla="*/ 0 h 772560"/>
              <a:gd name="textAreaBottom" fmla="*/ 772920 h 772560"/>
              <a:gd name="GluePoint1X" fmla="*/ 7962900 w 7963270"/>
              <a:gd name="GluePoint1Y" fmla="*/ 44423 h 772503"/>
              <a:gd name="GluePoint2X" fmla="*/ 7048542 w 7963270"/>
              <a:gd name="GluePoint2Y" fmla="*/ 115501 h 772503"/>
              <a:gd name="GluePoint3X" fmla="*/ 6515907 w 7963270"/>
              <a:gd name="GluePoint3Y" fmla="*/ 239886 h 772503"/>
              <a:gd name="GluePoint4X" fmla="*/ 5637059 w 7963270"/>
              <a:gd name="GluePoint4Y" fmla="*/ 648582 h 772503"/>
              <a:gd name="GluePoint5X" fmla="*/ 4669438 w 7963270"/>
              <a:gd name="GluePoint5Y" fmla="*/ 755198 h 772503"/>
              <a:gd name="GluePoint6X" fmla="*/ 3426622 w 7963270"/>
              <a:gd name="GluePoint6Y" fmla="*/ 772967 h 772503"/>
              <a:gd name="GluePoint7X" fmla="*/ 2414614 w 7963270"/>
              <a:gd name="GluePoint7Y" fmla="*/ 755198 h 772503"/>
              <a:gd name="GluePoint8X" fmla="*/ 1633415 w 7963270"/>
              <a:gd name="GluePoint8Y" fmla="*/ 675236 h 772503"/>
              <a:gd name="GluePoint9X" fmla="*/ 949867 w 7963270"/>
              <a:gd name="GluePoint9Y" fmla="*/ 479773 h 772503"/>
              <a:gd name="GluePoint10X" fmla="*/ 417232 w 7963270"/>
              <a:gd name="GluePoint10Y" fmla="*/ 88847 h 772503"/>
              <a:gd name="GluePoint11X" fmla="*/ 0 w 7963270"/>
              <a:gd name="GluePoint11Y" fmla="*/ 0 h 7725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7963270" h="772503">
                <a:moveTo>
                  <a:pt x="7963270" y="44388"/>
                </a:moveTo>
                <a:cubicBezTo>
                  <a:pt x="7626658" y="63623"/>
                  <a:pt x="7290047" y="82859"/>
                  <a:pt x="7048870" y="115410"/>
                </a:cubicBezTo>
                <a:cubicBezTo>
                  <a:pt x="6807693" y="147961"/>
                  <a:pt x="6751468" y="150920"/>
                  <a:pt x="6516210" y="239697"/>
                </a:cubicBezTo>
                <a:cubicBezTo>
                  <a:pt x="6280952" y="328474"/>
                  <a:pt x="5945080" y="562253"/>
                  <a:pt x="5637321" y="648070"/>
                </a:cubicBezTo>
                <a:cubicBezTo>
                  <a:pt x="5329562" y="733887"/>
                  <a:pt x="5038078" y="733888"/>
                  <a:pt x="4669655" y="754602"/>
                </a:cubicBezTo>
                <a:cubicBezTo>
                  <a:pt x="4301232" y="775317"/>
                  <a:pt x="3802602" y="772357"/>
                  <a:pt x="3426781" y="772357"/>
                </a:cubicBezTo>
                <a:cubicBezTo>
                  <a:pt x="3050960" y="772357"/>
                  <a:pt x="2713608" y="770878"/>
                  <a:pt x="2414726" y="754602"/>
                </a:cubicBezTo>
                <a:cubicBezTo>
                  <a:pt x="2115844" y="738326"/>
                  <a:pt x="1877627" y="720571"/>
                  <a:pt x="1633491" y="674703"/>
                </a:cubicBezTo>
                <a:cubicBezTo>
                  <a:pt x="1389355" y="628835"/>
                  <a:pt x="1152618" y="577048"/>
                  <a:pt x="949911" y="479394"/>
                </a:cubicBezTo>
                <a:cubicBezTo>
                  <a:pt x="747204" y="381740"/>
                  <a:pt x="575570" y="168676"/>
                  <a:pt x="417251" y="88777"/>
                </a:cubicBezTo>
                <a:cubicBezTo>
                  <a:pt x="258932" y="8878"/>
                  <a:pt x="129466" y="4439"/>
                  <a:pt x="0" y="0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1581120" y="363600"/>
            <a:ext cx="4874760" cy="4381200"/>
          </a:xfrm>
          <a:custGeom>
            <a:avLst/>
            <a:gdLst>
              <a:gd name="textAreaLeft" fmla="*/ 0 w 4874760"/>
              <a:gd name="textAreaRight" fmla="*/ 4875120 w 4874760"/>
              <a:gd name="textAreaTop" fmla="*/ 0 h 4381200"/>
              <a:gd name="textAreaBottom" fmla="*/ 4381560 h 4381200"/>
              <a:gd name="GluePoint1X" fmla="*/ 2894851 w 4875911"/>
              <a:gd name="GluePoint1Y" fmla="*/ 26507 h 4381571"/>
              <a:gd name="GluePoint2X" fmla="*/ 2850469 w 4875911"/>
              <a:gd name="GluePoint2Y" fmla="*/ 763341 h 4381571"/>
              <a:gd name="GluePoint3X" fmla="*/ 2956986 w 4875911"/>
              <a:gd name="GluePoint3Y" fmla="*/ 1651094 h 4381571"/>
              <a:gd name="GluePoint4X" fmla="*/ 3658221 w 4875911"/>
              <a:gd name="GluePoint4Y" fmla="*/ 2077215 h 4381571"/>
              <a:gd name="GluePoint5X" fmla="*/ 4412715 w 4875911"/>
              <a:gd name="GluePoint5Y" fmla="*/ 2592112 h 4381571"/>
              <a:gd name="GluePoint6X" fmla="*/ 4821029 w 4875911"/>
              <a:gd name="GluePoint6Y" fmla="*/ 3115886 h 4381571"/>
              <a:gd name="GluePoint7X" fmla="*/ 4856535 w 4875911"/>
              <a:gd name="GluePoint7Y" fmla="*/ 3533130 h 4381571"/>
              <a:gd name="GluePoint8X" fmla="*/ 4687884 w 4875911"/>
              <a:gd name="GluePoint8Y" fmla="*/ 3959251 h 4381571"/>
              <a:gd name="GluePoint9X" fmla="*/ 4110916 w 4875911"/>
              <a:gd name="GluePoint9Y" fmla="*/ 4261086 h 4381571"/>
              <a:gd name="GluePoint10X" fmla="*/ 2442153 w 4875911"/>
              <a:gd name="GluePoint10Y" fmla="*/ 4376495 h 4381571"/>
              <a:gd name="GluePoint11X" fmla="*/ 1110694 w 4875911"/>
              <a:gd name="GluePoint11Y" fmla="*/ 4358739 h 4381571"/>
              <a:gd name="GluePoint12X" fmla="*/ 391706 w 4875911"/>
              <a:gd name="GluePoint12Y" fmla="*/ 4154557 h 4381571"/>
              <a:gd name="GluePoint13X" fmla="*/ 27774 w 4875911"/>
              <a:gd name="GluePoint13Y" fmla="*/ 3613027 h 4381571"/>
              <a:gd name="GluePoint14X" fmla="*/ 152043 w 4875911"/>
              <a:gd name="GluePoint14Y" fmla="*/ 2769662 h 4381571"/>
              <a:gd name="GluePoint15X" fmla="*/ 1155076 w 4875911"/>
              <a:gd name="GluePoint15Y" fmla="*/ 1979563 h 4381571"/>
              <a:gd name="GluePoint16X" fmla="*/ 1856314 w 4875911"/>
              <a:gd name="GluePoint16Y" fmla="*/ 1553441 h 4381571"/>
              <a:gd name="GluePoint17X" fmla="*/ 2007210 w 4875911"/>
              <a:gd name="GluePoint17Y" fmla="*/ 541403 h 4381571"/>
              <a:gd name="GluePoint18X" fmla="*/ 2007212 w 4875911"/>
              <a:gd name="GluePoint18Y" fmla="*/ 8751 h 438157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4875911" h="4381571">
                <a:moveTo>
                  <a:pt x="2895265" y="26507"/>
                </a:moveTo>
                <a:cubicBezTo>
                  <a:pt x="2832382" y="381614"/>
                  <a:pt x="2840520" y="492584"/>
                  <a:pt x="2850877" y="763353"/>
                </a:cubicBezTo>
                <a:cubicBezTo>
                  <a:pt x="2861234" y="1034122"/>
                  <a:pt x="2822764" y="1432138"/>
                  <a:pt x="2957409" y="1651121"/>
                </a:cubicBezTo>
                <a:cubicBezTo>
                  <a:pt x="3092054" y="1870104"/>
                  <a:pt x="3416089" y="1920410"/>
                  <a:pt x="3658745" y="2077249"/>
                </a:cubicBezTo>
                <a:cubicBezTo>
                  <a:pt x="3901401" y="2234088"/>
                  <a:pt x="4219518" y="2419040"/>
                  <a:pt x="4413347" y="2592154"/>
                </a:cubicBezTo>
                <a:cubicBezTo>
                  <a:pt x="4607176" y="2765269"/>
                  <a:pt x="4747739" y="2959097"/>
                  <a:pt x="4821719" y="3115936"/>
                </a:cubicBezTo>
                <a:cubicBezTo>
                  <a:pt x="4895699" y="3272775"/>
                  <a:pt x="4879424" y="3392624"/>
                  <a:pt x="4857230" y="3533187"/>
                </a:cubicBezTo>
                <a:cubicBezTo>
                  <a:pt x="4835036" y="3673750"/>
                  <a:pt x="4812842" y="3837987"/>
                  <a:pt x="4688555" y="3959315"/>
                </a:cubicBezTo>
                <a:cubicBezTo>
                  <a:pt x="4564268" y="4080643"/>
                  <a:pt x="4485847" y="4191613"/>
                  <a:pt x="4111505" y="4261155"/>
                </a:cubicBezTo>
                <a:cubicBezTo>
                  <a:pt x="3737163" y="4330697"/>
                  <a:pt x="2942612" y="4360290"/>
                  <a:pt x="2442503" y="4376566"/>
                </a:cubicBezTo>
                <a:cubicBezTo>
                  <a:pt x="1942394" y="4392842"/>
                  <a:pt x="1554736" y="4364729"/>
                  <a:pt x="1110853" y="4358810"/>
                </a:cubicBezTo>
                <a:cubicBezTo>
                  <a:pt x="769063" y="4321820"/>
                  <a:pt x="572275" y="4278911"/>
                  <a:pt x="391762" y="4154624"/>
                </a:cubicBezTo>
                <a:cubicBezTo>
                  <a:pt x="211249" y="4030337"/>
                  <a:pt x="67727" y="3843905"/>
                  <a:pt x="27778" y="3613086"/>
                </a:cubicBezTo>
                <a:cubicBezTo>
                  <a:pt x="-12171" y="3382267"/>
                  <a:pt x="-35845" y="3041955"/>
                  <a:pt x="152065" y="2769707"/>
                </a:cubicBezTo>
                <a:cubicBezTo>
                  <a:pt x="339975" y="2497459"/>
                  <a:pt x="871155" y="2182302"/>
                  <a:pt x="1155241" y="1979595"/>
                </a:cubicBezTo>
                <a:cubicBezTo>
                  <a:pt x="1439327" y="1776888"/>
                  <a:pt x="1714537" y="1793163"/>
                  <a:pt x="1856580" y="1553466"/>
                </a:cubicBezTo>
                <a:cubicBezTo>
                  <a:pt x="1998623" y="1313769"/>
                  <a:pt x="1982344" y="798864"/>
                  <a:pt x="2007497" y="541412"/>
                </a:cubicBezTo>
                <a:cubicBezTo>
                  <a:pt x="2032650" y="283960"/>
                  <a:pt x="2019336" y="-59311"/>
                  <a:pt x="2007499" y="8751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3160800" y="5373720"/>
            <a:ext cx="502920" cy="35352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3308400" y="5373720"/>
            <a:ext cx="194760" cy="353520"/>
          </a:xfrm>
          <a:prstGeom prst="can">
            <a:avLst>
              <a:gd name="adj" fmla="val 21490"/>
            </a:avLst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3132000" y="5361120"/>
            <a:ext cx="125280" cy="1551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3562200" y="5361120"/>
            <a:ext cx="126720" cy="1551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3260880" y="5184720"/>
            <a:ext cx="113760" cy="790200"/>
          </a:xfrm>
          <a:custGeom>
            <a:avLst/>
            <a:gdLst>
              <a:gd name="textAreaLeft" fmla="*/ 0 w 113760"/>
              <a:gd name="textAreaRight" fmla="*/ 114120 w 113760"/>
              <a:gd name="textAreaTop" fmla="*/ 0 h 790200"/>
              <a:gd name="textAreaBottom" fmla="*/ 790560 h 790200"/>
              <a:gd name="GluePoint1X" fmla="*/ 0 w 115435"/>
              <a:gd name="GluePoint1Y" fmla="*/ 0 h 790113"/>
              <a:gd name="GluePoint2X" fmla="*/ 96694 w 115435"/>
              <a:gd name="GluePoint2Y" fmla="*/ 142126 h 790113"/>
              <a:gd name="GluePoint3X" fmla="*/ 114274 w 115435"/>
              <a:gd name="GluePoint3Y" fmla="*/ 790575 h 790113"/>
              <a:gd name="GluePoint4X" fmla="*/ 114274 w 115435"/>
              <a:gd name="GluePoint4Y" fmla="*/ 790575 h 790113"/>
              <a:gd name="GluePoint5X" fmla="*/ 114274 w 115435"/>
              <a:gd name="GluePoint5Y" fmla="*/ 790575 h 790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15435" h="790113">
                <a:moveTo>
                  <a:pt x="0" y="0"/>
                </a:moveTo>
                <a:cubicBezTo>
                  <a:pt x="39209" y="5179"/>
                  <a:pt x="78419" y="10358"/>
                  <a:pt x="97654" y="142043"/>
                </a:cubicBezTo>
                <a:cubicBezTo>
                  <a:pt x="116889" y="273728"/>
                  <a:pt x="115409" y="790113"/>
                  <a:pt x="115409" y="790113"/>
                </a:cubicBezTo>
                <a:lnTo>
                  <a:pt x="115409" y="790113"/>
                </a:lnTo>
                <a:lnTo>
                  <a:pt x="115409" y="790113"/>
                </a:lnTo>
              </a:path>
            </a:pathLst>
          </a:custGeom>
          <a:noFill/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56880" tIns="46800" rIns="5688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2852640" y="4987800"/>
            <a:ext cx="550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 flipH="1" flipV="1">
            <a:off x="3428280" y="5157000"/>
            <a:ext cx="115560" cy="788760"/>
          </a:xfrm>
          <a:custGeom>
            <a:avLst/>
            <a:gdLst>
              <a:gd name="textAreaLeft" fmla="*/ -360 w 115560"/>
              <a:gd name="textAreaRight" fmla="*/ 115560 w 115560"/>
              <a:gd name="textAreaTop" fmla="*/ -360 h 788760"/>
              <a:gd name="textAreaBottom" fmla="*/ 788760 h 788760"/>
              <a:gd name="GluePoint1X" fmla="*/ 0 w 115435"/>
              <a:gd name="GluePoint1Y" fmla="*/ 0 h 790113"/>
              <a:gd name="GluePoint2X" fmla="*/ 98037 w 115435"/>
              <a:gd name="GluePoint2Y" fmla="*/ 141841 h 790113"/>
              <a:gd name="GluePoint3X" fmla="*/ 115862 w 115435"/>
              <a:gd name="GluePoint3Y" fmla="*/ 788987 h 790113"/>
              <a:gd name="GluePoint4X" fmla="*/ 115862 w 115435"/>
              <a:gd name="GluePoint4Y" fmla="*/ 788987 h 790113"/>
              <a:gd name="GluePoint5X" fmla="*/ 115862 w 115435"/>
              <a:gd name="GluePoint5Y" fmla="*/ 788987 h 790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15435" h="790113">
                <a:moveTo>
                  <a:pt x="0" y="0"/>
                </a:moveTo>
                <a:cubicBezTo>
                  <a:pt x="39209" y="5179"/>
                  <a:pt x="78419" y="10358"/>
                  <a:pt x="97654" y="142043"/>
                </a:cubicBezTo>
                <a:cubicBezTo>
                  <a:pt x="116889" y="273728"/>
                  <a:pt x="115409" y="790113"/>
                  <a:pt x="115409" y="790113"/>
                </a:cubicBezTo>
                <a:lnTo>
                  <a:pt x="115409" y="790113"/>
                </a:lnTo>
                <a:lnTo>
                  <a:pt x="115409" y="790113"/>
                </a:lnTo>
              </a:path>
            </a:pathLst>
          </a:custGeom>
          <a:noFill/>
          <a:ln w="25560">
            <a:solidFill>
              <a:srgbClr val="0000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57960" tIns="46800" rIns="579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3487680" y="5769000"/>
            <a:ext cx="4104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K</a:t>
            </a:r>
            <a:r>
              <a:rPr lang="en-GB" sz="1800" b="0" u="none" strike="noStrike" baseline="30000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1846440" y="5362560"/>
            <a:ext cx="4403160" cy="1072800"/>
          </a:xfrm>
          <a:custGeom>
            <a:avLst/>
            <a:gdLst>
              <a:gd name="textAreaLeft" fmla="*/ 0 w 4403160"/>
              <a:gd name="textAreaRight" fmla="*/ 4403520 w 4403160"/>
              <a:gd name="textAreaTop" fmla="*/ 0 h 1072800"/>
              <a:gd name="textAreaBottom" fmla="*/ 1073160 h 1072800"/>
              <a:gd name="GluePoint1X" fmla="*/ 4403725 w 4403325"/>
              <a:gd name="GluePoint1Y" fmla="*/ 0 h 1074198"/>
              <a:gd name="GluePoint2X" fmla="*/ 4066342 w 4403325"/>
              <a:gd name="GluePoint2Y" fmla="*/ 620831 h 1074198"/>
              <a:gd name="GluePoint3X" fmla="*/ 3214009 w 4403325"/>
              <a:gd name="GluePoint3Y" fmla="*/ 957853 h 1074198"/>
              <a:gd name="GluePoint4X" fmla="*/ 1899995 w 4403325"/>
              <a:gd name="GluePoint4Y" fmla="*/ 1073150 h 1074198"/>
              <a:gd name="GluePoint5X" fmla="*/ 932241 w 4403325"/>
              <a:gd name="GluePoint5Y" fmla="*/ 957853 h 1074198"/>
              <a:gd name="GluePoint6X" fmla="*/ 195327 w 4403325"/>
              <a:gd name="GluePoint6Y" fmla="*/ 461188 h 1074198"/>
              <a:gd name="GluePoint7X" fmla="*/ 0 w 4403325"/>
              <a:gd name="GluePoint7Y" fmla="*/ 62082 h 10741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03325" h="1074198">
                <a:moveTo>
                  <a:pt x="4403325" y="0"/>
                </a:moveTo>
                <a:cubicBezTo>
                  <a:pt x="4333783" y="230819"/>
                  <a:pt x="4264241" y="461639"/>
                  <a:pt x="4065973" y="621437"/>
                </a:cubicBezTo>
                <a:cubicBezTo>
                  <a:pt x="3867705" y="781235"/>
                  <a:pt x="3574742" y="883328"/>
                  <a:pt x="3213717" y="958788"/>
                </a:cubicBezTo>
                <a:cubicBezTo>
                  <a:pt x="2852692" y="1034248"/>
                  <a:pt x="2280082" y="1074198"/>
                  <a:pt x="1899822" y="1074198"/>
                </a:cubicBezTo>
                <a:cubicBezTo>
                  <a:pt x="1519562" y="1074198"/>
                  <a:pt x="1216241" y="1060881"/>
                  <a:pt x="932156" y="958788"/>
                </a:cubicBezTo>
                <a:cubicBezTo>
                  <a:pt x="648071" y="856695"/>
                  <a:pt x="350668" y="611079"/>
                  <a:pt x="195309" y="461638"/>
                </a:cubicBezTo>
                <a:cubicBezTo>
                  <a:pt x="39950" y="312197"/>
                  <a:pt x="19975" y="187170"/>
                  <a:pt x="0" y="62143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404640" y="5580000"/>
            <a:ext cx="904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Muscle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3613320" y="324000"/>
            <a:ext cx="8283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AXON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2493720" y="6435720"/>
            <a:ext cx="3496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Acetylcholine receptor - Nicotinic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 rot="1860000">
            <a:off x="1274760" y="5106960"/>
            <a:ext cx="194760" cy="35352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5740560" y="3781440"/>
            <a:ext cx="3078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2" name=""/>
          <p:cNvPicPr/>
          <p:nvPr/>
        </p:nvPicPr>
        <p:blipFill>
          <a:blip r:embed="rId1"/>
          <a:srcRect l="26661" t="4037" r="26185" b="50004"/>
          <a:stretch/>
        </p:blipFill>
        <p:spPr>
          <a:xfrm rot="4980000">
            <a:off x="4882680" y="5002200"/>
            <a:ext cx="999720" cy="9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"/>
          <p:cNvSpPr/>
          <p:nvPr/>
        </p:nvSpPr>
        <p:spPr>
          <a:xfrm>
            <a:off x="6099480" y="5589720"/>
            <a:ext cx="22770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Acetylcholinesterase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5010120" y="5126040"/>
            <a:ext cx="124920" cy="1569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6000840" y="4730760"/>
            <a:ext cx="126720" cy="15696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6068880" y="4998960"/>
            <a:ext cx="125280" cy="15516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5548320" y="4979880"/>
            <a:ext cx="355320" cy="88560"/>
          </a:xfrm>
          <a:custGeom>
            <a:avLst/>
            <a:gdLst>
              <a:gd name="textAreaLeft" fmla="*/ 0 w 355320"/>
              <a:gd name="textAreaRight" fmla="*/ 355680 w 355320"/>
              <a:gd name="textAreaTop" fmla="*/ 0 h 88560"/>
              <a:gd name="textAreaBottom" fmla="*/ 88920 h 88560"/>
              <a:gd name="GluePoint1X" fmla="*/ 0 w 355106"/>
              <a:gd name="GluePoint1Y" fmla="*/ 88900 h 88777"/>
              <a:gd name="GluePoint2X" fmla="*/ 355600 w 355106"/>
              <a:gd name="GluePoint2Y" fmla="*/ 0 h 8877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55106" h="88777">
                <a:moveTo>
                  <a:pt x="0" y="88777"/>
                </a:moveTo>
                <a:lnTo>
                  <a:pt x="355106" y="0"/>
                </a:ln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2120" rIns="90000" bIns="421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2261160" y="5374080"/>
            <a:ext cx="502920" cy="35352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2408760" y="5374080"/>
            <a:ext cx="194760" cy="353520"/>
          </a:xfrm>
          <a:prstGeom prst="can">
            <a:avLst>
              <a:gd name="adj" fmla="val 21490"/>
            </a:avLst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2232360" y="4893480"/>
            <a:ext cx="125280" cy="1551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2662560" y="4929480"/>
            <a:ext cx="126720" cy="1551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3989160" y="5374080"/>
            <a:ext cx="502920" cy="35352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4136760" y="5374080"/>
            <a:ext cx="194760" cy="353520"/>
          </a:xfrm>
          <a:prstGeom prst="can">
            <a:avLst>
              <a:gd name="adj" fmla="val 21490"/>
            </a:avLst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457200" y="457200"/>
            <a:ext cx="20736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Myasthenia Gravis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5" name=""/>
          <p:cNvGrpSpPr/>
          <p:nvPr/>
        </p:nvGrpSpPr>
        <p:grpSpPr>
          <a:xfrm>
            <a:off x="2223720" y="5118480"/>
            <a:ext cx="108000" cy="285120"/>
            <a:chOff x="2223720" y="5118480"/>
            <a:chExt cx="108000" cy="285120"/>
          </a:xfrm>
        </p:grpSpPr>
      </p:grpSp>
      <p:grpSp>
        <p:nvGrpSpPr>
          <p:cNvPr id="506" name=""/>
          <p:cNvGrpSpPr/>
          <p:nvPr/>
        </p:nvGrpSpPr>
        <p:grpSpPr>
          <a:xfrm>
            <a:off x="3879720" y="5118480"/>
            <a:ext cx="108000" cy="285120"/>
            <a:chOff x="3879720" y="5118480"/>
            <a:chExt cx="108000" cy="285120"/>
          </a:xfrm>
        </p:grpSpPr>
      </p:grpSp>
      <p:grpSp>
        <p:nvGrpSpPr>
          <p:cNvPr id="507" name=""/>
          <p:cNvGrpSpPr/>
          <p:nvPr/>
        </p:nvGrpSpPr>
        <p:grpSpPr>
          <a:xfrm>
            <a:off x="4455720" y="5118480"/>
            <a:ext cx="108000" cy="285120"/>
            <a:chOff x="4455720" y="5118480"/>
            <a:chExt cx="108000" cy="285120"/>
          </a:xfrm>
        </p:grpSpPr>
      </p:grpSp>
      <p:grpSp>
        <p:nvGrpSpPr>
          <p:cNvPr id="508" name=""/>
          <p:cNvGrpSpPr/>
          <p:nvPr/>
        </p:nvGrpSpPr>
        <p:grpSpPr>
          <a:xfrm>
            <a:off x="2619720" y="5118480"/>
            <a:ext cx="108000" cy="285120"/>
            <a:chOff x="2619720" y="5118480"/>
            <a:chExt cx="108000" cy="285120"/>
          </a:xfrm>
        </p:grpSpPr>
      </p:grpSp>
      <p:grpSp>
        <p:nvGrpSpPr>
          <p:cNvPr id="509" name=""/>
          <p:cNvGrpSpPr/>
          <p:nvPr/>
        </p:nvGrpSpPr>
        <p:grpSpPr>
          <a:xfrm>
            <a:off x="2843640" y="2852640"/>
            <a:ext cx="2057040" cy="2237760"/>
            <a:chOff x="2843640" y="2852640"/>
            <a:chExt cx="2057040" cy="2237760"/>
          </a:xfrm>
        </p:grpSpPr>
        <p:grpSp>
          <p:nvGrpSpPr>
            <p:cNvPr id="510" name=""/>
            <p:cNvGrpSpPr/>
            <p:nvPr/>
          </p:nvGrpSpPr>
          <p:grpSpPr>
            <a:xfrm>
              <a:off x="2843640" y="2852640"/>
              <a:ext cx="2029680" cy="2237760"/>
              <a:chOff x="2843640" y="2852640"/>
              <a:chExt cx="2029680" cy="2237760"/>
            </a:xfrm>
          </p:grpSpPr>
          <p:sp>
            <p:nvSpPr>
              <p:cNvPr id="511" name=""/>
              <p:cNvSpPr/>
              <p:nvPr/>
            </p:nvSpPr>
            <p:spPr>
              <a:xfrm>
                <a:off x="2961360" y="2852640"/>
                <a:ext cx="419760" cy="4424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"/>
              <p:cNvSpPr/>
              <p:nvPr/>
            </p:nvSpPr>
            <p:spPr>
              <a:xfrm>
                <a:off x="3663000" y="3271680"/>
                <a:ext cx="419760" cy="4406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"/>
              <p:cNvSpPr/>
              <p:nvPr/>
            </p:nvSpPr>
            <p:spPr>
              <a:xfrm>
                <a:off x="4424760" y="3068640"/>
                <a:ext cx="420120" cy="44208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4" name=""/>
              <p:cNvSpPr/>
              <p:nvPr/>
            </p:nvSpPr>
            <p:spPr>
              <a:xfrm>
                <a:off x="3501000" y="4280040"/>
                <a:ext cx="418320" cy="4406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5" name=""/>
              <p:cNvSpPr/>
              <p:nvPr/>
            </p:nvSpPr>
            <p:spPr>
              <a:xfrm>
                <a:off x="4280400" y="4280040"/>
                <a:ext cx="420120" cy="4406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6" name=""/>
              <p:cNvSpPr/>
              <p:nvPr/>
            </p:nvSpPr>
            <p:spPr>
              <a:xfrm>
                <a:off x="2870640" y="4280040"/>
                <a:ext cx="420120" cy="4406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17" name=""/>
              <p:cNvCxnSpPr/>
              <p:nvPr/>
            </p:nvCxnSpPr>
            <p:spPr>
              <a:xfrm flipH="1">
                <a:off x="3090600" y="3460320"/>
                <a:ext cx="36360" cy="68724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triangle" w="med"/>
              </a:ln>
            </p:spPr>
          </p:cxnSp>
          <p:cxnSp>
            <p:nvCxnSpPr>
              <p:cNvPr id="518" name=""/>
              <p:cNvCxnSpPr/>
              <p:nvPr/>
            </p:nvCxnSpPr>
            <p:spPr>
              <a:xfrm flipH="1">
                <a:off x="3780000" y="3860280"/>
                <a:ext cx="33120" cy="27468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arrow" w="med"/>
              </a:ln>
            </p:spPr>
          </p:cxnSp>
          <p:cxnSp>
            <p:nvCxnSpPr>
              <p:cNvPr id="519" name=""/>
              <p:cNvCxnSpPr/>
              <p:nvPr/>
            </p:nvCxnSpPr>
            <p:spPr>
              <a:xfrm flipH="1">
                <a:off x="4572000" y="3614760"/>
                <a:ext cx="61560" cy="53496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arrow" w="med"/>
              </a:ln>
            </p:spPr>
          </p:cxnSp>
          <p:sp>
            <p:nvSpPr>
              <p:cNvPr id="520" name=""/>
              <p:cNvSpPr/>
              <p:nvPr/>
            </p:nvSpPr>
            <p:spPr>
              <a:xfrm>
                <a:off x="2843640" y="4784760"/>
                <a:ext cx="123120" cy="1533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1" name=""/>
              <p:cNvSpPr/>
              <p:nvPr/>
            </p:nvSpPr>
            <p:spPr>
              <a:xfrm>
                <a:off x="3077280" y="4937040"/>
                <a:ext cx="123120" cy="1533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2" name=""/>
              <p:cNvSpPr/>
              <p:nvPr/>
            </p:nvSpPr>
            <p:spPr>
              <a:xfrm>
                <a:off x="3508920" y="4857840"/>
                <a:ext cx="123120" cy="151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"/>
              <p:cNvSpPr/>
              <p:nvPr/>
            </p:nvSpPr>
            <p:spPr>
              <a:xfrm>
                <a:off x="3852000" y="4869000"/>
                <a:ext cx="123120" cy="1530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4" name=""/>
              <p:cNvSpPr/>
              <p:nvPr/>
            </p:nvSpPr>
            <p:spPr>
              <a:xfrm>
                <a:off x="4462920" y="4869000"/>
                <a:ext cx="123120" cy="1530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5" name=""/>
              <p:cNvSpPr/>
              <p:nvPr/>
            </p:nvSpPr>
            <p:spPr>
              <a:xfrm>
                <a:off x="4752000" y="4869000"/>
                <a:ext cx="121320" cy="1530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0840" tIns="46800" rIns="608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6" name=""/>
              <p:cNvSpPr/>
              <p:nvPr/>
            </p:nvSpPr>
            <p:spPr>
              <a:xfrm>
                <a:off x="3013560" y="4616280"/>
                <a:ext cx="123120" cy="15192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7" name=""/>
              <p:cNvSpPr/>
              <p:nvPr/>
            </p:nvSpPr>
            <p:spPr>
              <a:xfrm>
                <a:off x="3653280" y="4653000"/>
                <a:ext cx="123120" cy="151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8" name=""/>
              <p:cNvSpPr/>
              <p:nvPr/>
            </p:nvSpPr>
            <p:spPr>
              <a:xfrm>
                <a:off x="4445640" y="4645080"/>
                <a:ext cx="123120" cy="151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560" tIns="46800" rIns="615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9" name=""/>
            <p:cNvSpPr/>
            <p:nvPr/>
          </p:nvSpPr>
          <p:spPr>
            <a:xfrm>
              <a:off x="2935800" y="293580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0" name=""/>
            <p:cNvSpPr/>
            <p:nvPr/>
          </p:nvSpPr>
          <p:spPr>
            <a:xfrm>
              <a:off x="3655800" y="336816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"/>
            <p:cNvSpPr/>
            <p:nvPr/>
          </p:nvSpPr>
          <p:spPr>
            <a:xfrm>
              <a:off x="4267800" y="4376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"/>
            <p:cNvSpPr/>
            <p:nvPr/>
          </p:nvSpPr>
          <p:spPr>
            <a:xfrm>
              <a:off x="3475800" y="4376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"/>
            <p:cNvSpPr/>
            <p:nvPr/>
          </p:nvSpPr>
          <p:spPr>
            <a:xfrm>
              <a:off x="2863800" y="4340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</a:t>
              </a: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"/>
            <p:cNvSpPr/>
            <p:nvPr/>
          </p:nvSpPr>
          <p:spPr>
            <a:xfrm>
              <a:off x="4447800" y="3152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5" name=""/>
          <p:cNvSpPr/>
          <p:nvPr/>
        </p:nvSpPr>
        <p:spPr>
          <a:xfrm flipH="1">
            <a:off x="1697760" y="5362920"/>
            <a:ext cx="457200" cy="103824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1145160" y="6435360"/>
            <a:ext cx="1045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antibody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6258600" y="5815800"/>
            <a:ext cx="1828800" cy="0"/>
          </a:xfrm>
          <a:prstGeom prst="line">
            <a:avLst/>
          </a:prstGeom>
          <a:ln w="18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tIns="-54000" rIns="99000" bIns="-54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6629400" y="5957280"/>
            <a:ext cx="19724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AchEase Inhibitor</a:t>
            </a:r>
            <a:endParaRPr lang="en-US" sz="1800" b="0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0" dur="indefinite" restart="never" nodeType="tmRoot">
          <p:childTnLst>
            <p:seq>
              <p:cTn id="131" dur="indefinite" nodeType="mainSeq">
                <p:childTnLst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"/>
          <p:cNvSpPr/>
          <p:nvPr/>
        </p:nvSpPr>
        <p:spPr>
          <a:xfrm>
            <a:off x="1763640" y="585720"/>
            <a:ext cx="1800" cy="52275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1773360" y="5813280"/>
            <a:ext cx="6240240" cy="180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1757520" y="3949560"/>
            <a:ext cx="6249240" cy="710640"/>
          </a:xfrm>
          <a:custGeom>
            <a:avLst/>
            <a:gdLst>
              <a:gd name="textAreaLeft" fmla="*/ 0 w 6249240"/>
              <a:gd name="textAreaRight" fmla="*/ 6249960 w 6249240"/>
              <a:gd name="textAreaTop" fmla="*/ 0 h 710640"/>
              <a:gd name="textAreaBottom" fmla="*/ 711360 h 710640"/>
              <a:gd name="GluePoint1X" fmla="*/ 0 w 6249879"/>
              <a:gd name="GluePoint1Y" fmla="*/ 711200 h 711286"/>
              <a:gd name="GluePoint2X" fmla="*/ 1704541 w 6249879"/>
              <a:gd name="GluePoint2Y" fmla="*/ 684570 h 711286"/>
              <a:gd name="GluePoint3X" fmla="*/ 2130677 w 6249879"/>
              <a:gd name="GluePoint3Y" fmla="*/ 649064 h 711286"/>
              <a:gd name="GluePoint4X" fmla="*/ 2219455 w 6249879"/>
              <a:gd name="GluePoint4Y" fmla="*/ 418271 h 711286"/>
              <a:gd name="GluePoint5X" fmla="*/ 2246089 w 6249879"/>
              <a:gd name="GluePoint5Y" fmla="*/ 151974 h 711286"/>
              <a:gd name="GluePoint6X" fmla="*/ 2281600 w 6249879"/>
              <a:gd name="GluePoint6Y" fmla="*/ 27702 h 711286"/>
              <a:gd name="GluePoint7X" fmla="*/ 2379257 w 6249879"/>
              <a:gd name="GluePoint7Y" fmla="*/ 27701 h 711286"/>
              <a:gd name="GluePoint8X" fmla="*/ 2672224 w 6249879"/>
              <a:gd name="GluePoint8Y" fmla="*/ 329507 h 711286"/>
              <a:gd name="GluePoint9X" fmla="*/ 3000704 w 6249879"/>
              <a:gd name="GluePoint9Y" fmla="*/ 533668 h 711286"/>
              <a:gd name="GluePoint10X" fmla="*/ 3426840 w 6249879"/>
              <a:gd name="GluePoint10Y" fmla="*/ 657939 h 711286"/>
              <a:gd name="GluePoint11X" fmla="*/ 3870731 w 6249879"/>
              <a:gd name="GluePoint11Y" fmla="*/ 666817 h 711286"/>
              <a:gd name="GluePoint12X" fmla="*/ 4820657 w 6249879"/>
              <a:gd name="GluePoint12Y" fmla="*/ 666816 h 711286"/>
              <a:gd name="GluePoint13X" fmla="*/ 6249987 w 6249879"/>
              <a:gd name="GluePoint13Y" fmla="*/ 684569 h 7112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249879" h="711286">
                <a:moveTo>
                  <a:pt x="0" y="711286"/>
                </a:moveTo>
                <a:lnTo>
                  <a:pt x="1704512" y="684653"/>
                </a:lnTo>
                <a:cubicBezTo>
                  <a:pt x="2059619" y="674296"/>
                  <a:pt x="2044823" y="693530"/>
                  <a:pt x="2130640" y="649142"/>
                </a:cubicBezTo>
                <a:cubicBezTo>
                  <a:pt x="2216457" y="604754"/>
                  <a:pt x="2200182" y="501180"/>
                  <a:pt x="2219417" y="418322"/>
                </a:cubicBezTo>
                <a:cubicBezTo>
                  <a:pt x="2238652" y="335464"/>
                  <a:pt x="2235693" y="217095"/>
                  <a:pt x="2246050" y="151992"/>
                </a:cubicBezTo>
                <a:cubicBezTo>
                  <a:pt x="2256407" y="86889"/>
                  <a:pt x="2259367" y="48420"/>
                  <a:pt x="2281561" y="27705"/>
                </a:cubicBezTo>
                <a:cubicBezTo>
                  <a:pt x="2303755" y="6990"/>
                  <a:pt x="2314113" y="-22603"/>
                  <a:pt x="2379216" y="27704"/>
                </a:cubicBezTo>
                <a:cubicBezTo>
                  <a:pt x="2444319" y="78011"/>
                  <a:pt x="2568605" y="245209"/>
                  <a:pt x="2672178" y="329547"/>
                </a:cubicBezTo>
                <a:cubicBezTo>
                  <a:pt x="2775751" y="413885"/>
                  <a:pt x="2874885" y="478988"/>
                  <a:pt x="3000652" y="533733"/>
                </a:cubicBezTo>
                <a:cubicBezTo>
                  <a:pt x="3126419" y="588478"/>
                  <a:pt x="3281779" y="635825"/>
                  <a:pt x="3426781" y="658019"/>
                </a:cubicBezTo>
                <a:cubicBezTo>
                  <a:pt x="3571783" y="680213"/>
                  <a:pt x="3638365" y="665418"/>
                  <a:pt x="3870664" y="666898"/>
                </a:cubicBezTo>
                <a:lnTo>
                  <a:pt x="4820574" y="666897"/>
                </a:lnTo>
                <a:cubicBezTo>
                  <a:pt x="5217110" y="669856"/>
                  <a:pt x="5752729" y="693530"/>
                  <a:pt x="6249879" y="684652"/>
                </a:cubicBezTo>
              </a:path>
            </a:pathLst>
          </a:custGeom>
          <a:noFill/>
          <a:ln w="2556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1773360" y="4653000"/>
            <a:ext cx="6242040" cy="144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1763640" y="4305240"/>
            <a:ext cx="6249240" cy="347040"/>
          </a:xfrm>
          <a:custGeom>
            <a:avLst/>
            <a:gdLst>
              <a:gd name="textAreaLeft" fmla="*/ 0 w 6249240"/>
              <a:gd name="textAreaRight" fmla="*/ 6249960 w 6249240"/>
              <a:gd name="textAreaTop" fmla="*/ 0 h 347040"/>
              <a:gd name="textAreaBottom" fmla="*/ 347760 h 347040"/>
              <a:gd name="GluePoint1X" fmla="*/ 0 w 6249879"/>
              <a:gd name="GluePoint1Y" fmla="*/ 347663 h 711286"/>
              <a:gd name="GluePoint2X" fmla="*/ 1704541 w 6249879"/>
              <a:gd name="GluePoint2Y" fmla="*/ 334645 h 711286"/>
              <a:gd name="GluePoint3X" fmla="*/ 2130677 w 6249879"/>
              <a:gd name="GluePoint3Y" fmla="*/ 317288 h 711286"/>
              <a:gd name="GluePoint4X" fmla="*/ 2219455 w 6249879"/>
              <a:gd name="GluePoint4Y" fmla="*/ 204468 h 711286"/>
              <a:gd name="GluePoint5X" fmla="*/ 2246089 w 6249879"/>
              <a:gd name="GluePoint5Y" fmla="*/ 74291 h 711286"/>
              <a:gd name="GluePoint6X" fmla="*/ 2281600 w 6249879"/>
              <a:gd name="GluePoint6Y" fmla="*/ 13542 h 711286"/>
              <a:gd name="GluePoint7X" fmla="*/ 2379257 w 6249879"/>
              <a:gd name="GluePoint7Y" fmla="*/ 13541 h 711286"/>
              <a:gd name="GluePoint8X" fmla="*/ 2672224 w 6249879"/>
              <a:gd name="GluePoint8Y" fmla="*/ 161076 h 711286"/>
              <a:gd name="GluePoint9X" fmla="*/ 3000704 w 6249879"/>
              <a:gd name="GluePoint9Y" fmla="*/ 260878 h 711286"/>
              <a:gd name="GluePoint10X" fmla="*/ 3426840 w 6249879"/>
              <a:gd name="GluePoint10Y" fmla="*/ 321627 h 711286"/>
              <a:gd name="GluePoint11X" fmla="*/ 3870731 w 6249879"/>
              <a:gd name="GluePoint11Y" fmla="*/ 325967 h 711286"/>
              <a:gd name="GluePoint12X" fmla="*/ 4820657 w 6249879"/>
              <a:gd name="GluePoint12Y" fmla="*/ 325967 h 711286"/>
              <a:gd name="GluePoint13X" fmla="*/ 6249987 w 6249879"/>
              <a:gd name="GluePoint13Y" fmla="*/ 334645 h 7112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249879" h="711286">
                <a:moveTo>
                  <a:pt x="0" y="711286"/>
                </a:moveTo>
                <a:lnTo>
                  <a:pt x="1704512" y="684653"/>
                </a:lnTo>
                <a:cubicBezTo>
                  <a:pt x="2059619" y="674296"/>
                  <a:pt x="2044823" y="693530"/>
                  <a:pt x="2130640" y="649142"/>
                </a:cubicBezTo>
                <a:cubicBezTo>
                  <a:pt x="2216457" y="604754"/>
                  <a:pt x="2200182" y="501180"/>
                  <a:pt x="2219417" y="418322"/>
                </a:cubicBezTo>
                <a:cubicBezTo>
                  <a:pt x="2238652" y="335464"/>
                  <a:pt x="2235693" y="217095"/>
                  <a:pt x="2246050" y="151992"/>
                </a:cubicBezTo>
                <a:cubicBezTo>
                  <a:pt x="2256407" y="86889"/>
                  <a:pt x="2259367" y="48420"/>
                  <a:pt x="2281561" y="27705"/>
                </a:cubicBezTo>
                <a:cubicBezTo>
                  <a:pt x="2303755" y="6990"/>
                  <a:pt x="2314113" y="-22603"/>
                  <a:pt x="2379216" y="27704"/>
                </a:cubicBezTo>
                <a:cubicBezTo>
                  <a:pt x="2444319" y="78011"/>
                  <a:pt x="2568605" y="245209"/>
                  <a:pt x="2672178" y="329547"/>
                </a:cubicBezTo>
                <a:cubicBezTo>
                  <a:pt x="2775751" y="413885"/>
                  <a:pt x="2874885" y="478988"/>
                  <a:pt x="3000652" y="533733"/>
                </a:cubicBezTo>
                <a:cubicBezTo>
                  <a:pt x="3126419" y="588478"/>
                  <a:pt x="3281779" y="635825"/>
                  <a:pt x="3426781" y="658019"/>
                </a:cubicBezTo>
                <a:cubicBezTo>
                  <a:pt x="3571783" y="680213"/>
                  <a:pt x="3638365" y="665418"/>
                  <a:pt x="3870664" y="666898"/>
                </a:cubicBezTo>
                <a:lnTo>
                  <a:pt x="4820574" y="666897"/>
                </a:lnTo>
                <a:cubicBezTo>
                  <a:pt x="5217110" y="669856"/>
                  <a:pt x="5752729" y="693530"/>
                  <a:pt x="6249879" y="684652"/>
                </a:cubicBezTo>
              </a:path>
            </a:pathLst>
          </a:custGeom>
          <a:noFill/>
          <a:ln w="25560">
            <a:solidFill>
              <a:srgbClr val="0000F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1763640" y="1197000"/>
            <a:ext cx="6266880" cy="3447360"/>
          </a:xfrm>
          <a:custGeom>
            <a:avLst/>
            <a:gdLst>
              <a:gd name="textAreaLeft" fmla="*/ 0 w 6266880"/>
              <a:gd name="textAreaRight" fmla="*/ 6267600 w 6266880"/>
              <a:gd name="textAreaTop" fmla="*/ 0 h 3447360"/>
              <a:gd name="textAreaBottom" fmla="*/ 3448080 h 3447360"/>
              <a:gd name="GluePoint1X" fmla="*/ 0 w 6267635"/>
              <a:gd name="GluePoint1Y" fmla="*/ 3448050 h 711156"/>
              <a:gd name="GluePoint2X" fmla="*/ 1766603 w 6267635"/>
              <a:gd name="GluePoint2Y" fmla="*/ 3443245 h 711156"/>
              <a:gd name="GluePoint3X" fmla="*/ 2157209 w 6267635"/>
              <a:gd name="GluePoint3Y" fmla="*/ 3368753 h 711156"/>
              <a:gd name="GluePoint4X" fmla="*/ 2222320 w 6267635"/>
              <a:gd name="GluePoint4Y" fmla="*/ 2949419 h 711156"/>
              <a:gd name="GluePoint5X" fmla="*/ 2237106 w 6267635"/>
              <a:gd name="GluePoint5Y" fmla="*/ 2018727 h 711156"/>
              <a:gd name="GluePoint6X" fmla="*/ 2245984 w 6267635"/>
              <a:gd name="GluePoint6Y" fmla="*/ 736305 h 711156"/>
              <a:gd name="GluePoint7X" fmla="*/ 2281494 w 6267635"/>
              <a:gd name="GluePoint7Y" fmla="*/ 133698 h 711156"/>
              <a:gd name="GluePoint8X" fmla="*/ 2379146 w 6267635"/>
              <a:gd name="GluePoint8Y" fmla="*/ 133693 h 711156"/>
              <a:gd name="GluePoint9X" fmla="*/ 2583326 w 6267635"/>
              <a:gd name="GluePoint9Y" fmla="*/ 1588301 h 711156"/>
              <a:gd name="GluePoint10X" fmla="*/ 2849648 w 6267635"/>
              <a:gd name="GluePoint10Y" fmla="*/ 2622702 h 711156"/>
              <a:gd name="GluePoint11X" fmla="*/ 3426680 w 6267635"/>
              <a:gd name="GluePoint11Y" fmla="*/ 3189784 h 711156"/>
              <a:gd name="GluePoint12X" fmla="*/ 3914936 w 6267635"/>
              <a:gd name="GluePoint12Y" fmla="*/ 3366042 h 711156"/>
              <a:gd name="GluePoint13X" fmla="*/ 4926961 w 6267635"/>
              <a:gd name="GluePoint13Y" fmla="*/ 3410440 h 711156"/>
              <a:gd name="GluePoint14X" fmla="*/ 6267450 w 6267635"/>
              <a:gd name="GluePoint14Y" fmla="*/ 3443240 h 7111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6267635" h="711156">
                <a:moveTo>
                  <a:pt x="0" y="711156"/>
                </a:moveTo>
                <a:lnTo>
                  <a:pt x="1766655" y="710165"/>
                </a:lnTo>
                <a:cubicBezTo>
                  <a:pt x="2126200" y="707439"/>
                  <a:pt x="2081318" y="711776"/>
                  <a:pt x="2157273" y="694801"/>
                </a:cubicBezTo>
                <a:cubicBezTo>
                  <a:pt x="2233228" y="677826"/>
                  <a:pt x="2209070" y="654721"/>
                  <a:pt x="2222386" y="608314"/>
                </a:cubicBezTo>
                <a:cubicBezTo>
                  <a:pt x="2235702" y="561907"/>
                  <a:pt x="2233228" y="492435"/>
                  <a:pt x="2237172" y="416360"/>
                </a:cubicBezTo>
                <a:cubicBezTo>
                  <a:pt x="2241116" y="340285"/>
                  <a:pt x="2238652" y="216659"/>
                  <a:pt x="2246050" y="151862"/>
                </a:cubicBezTo>
                <a:cubicBezTo>
                  <a:pt x="2253448" y="87065"/>
                  <a:pt x="2259367" y="48290"/>
                  <a:pt x="2281561" y="27575"/>
                </a:cubicBezTo>
                <a:cubicBezTo>
                  <a:pt x="2303755" y="6860"/>
                  <a:pt x="2328909" y="-22428"/>
                  <a:pt x="2379216" y="27574"/>
                </a:cubicBezTo>
                <a:cubicBezTo>
                  <a:pt x="2429523" y="77576"/>
                  <a:pt x="2504983" y="242026"/>
                  <a:pt x="2583402" y="327585"/>
                </a:cubicBezTo>
                <a:cubicBezTo>
                  <a:pt x="2661821" y="413144"/>
                  <a:pt x="2709169" y="485878"/>
                  <a:pt x="2849732" y="540929"/>
                </a:cubicBezTo>
                <a:cubicBezTo>
                  <a:pt x="2990295" y="595980"/>
                  <a:pt x="3249228" y="632337"/>
                  <a:pt x="3426781" y="657889"/>
                </a:cubicBezTo>
                <a:cubicBezTo>
                  <a:pt x="3604334" y="683441"/>
                  <a:pt x="3664998" y="686657"/>
                  <a:pt x="3915052" y="694242"/>
                </a:cubicBezTo>
                <a:cubicBezTo>
                  <a:pt x="4165106" y="701827"/>
                  <a:pt x="4535009" y="700745"/>
                  <a:pt x="4927106" y="703399"/>
                </a:cubicBezTo>
                <a:lnTo>
                  <a:pt x="6267635" y="710164"/>
                </a:lnTo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1763640" y="4149720"/>
            <a:ext cx="6242040" cy="1440"/>
          </a:xfrm>
          <a:prstGeom prst="line">
            <a:avLst/>
          </a:prstGeom>
          <a:ln w="9360">
            <a:solidFill>
              <a:srgbClr val="00B05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4664160" y="1916280"/>
            <a:ext cx="40554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Mus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cle 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acti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on 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pot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enti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al 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(all-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or-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not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hin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4806720" y="4788000"/>
            <a:ext cx="4056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End plate potential (graded amplitude)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 flipV="1">
            <a:off x="2411280" y="4368960"/>
            <a:ext cx="1800" cy="27936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 rot="16200000">
            <a:off x="-294840" y="2997720"/>
            <a:ext cx="27590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Memb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rane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potenti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(mV)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4287960" y="6227640"/>
            <a:ext cx="12006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Time (ms)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1" name=""/>
          <p:cNvCxnSpPr/>
          <p:nvPr/>
        </p:nvCxnSpPr>
        <p:spPr>
          <a:xfrm>
            <a:off x="2414160" y="4463640"/>
            <a:ext cx="1508040" cy="4680"/>
          </a:xfrm>
          <a:prstGeom prst="straightConnector1">
            <a:avLst/>
          </a:prstGeom>
          <a:ln w="9360">
            <a:solidFill>
              <a:srgbClr val="4A7EBB"/>
            </a:solidFill>
            <a:miter/>
            <a:headEnd len="med" type="arrow" w="med"/>
            <a:tailEnd len="med" type="arrow" w="med"/>
          </a:ln>
        </p:spPr>
      </p:cxnSp>
      <p:sp>
        <p:nvSpPr>
          <p:cNvPr id="552" name=""/>
          <p:cNvSpPr/>
          <p:nvPr/>
        </p:nvSpPr>
        <p:spPr>
          <a:xfrm>
            <a:off x="2487600" y="4921200"/>
            <a:ext cx="13536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Synaptic delay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1908000" y="4653000"/>
            <a:ext cx="11505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Ner</a:t>
            </a: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ve </a:t>
            </a: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stim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1709640" y="3878280"/>
            <a:ext cx="172800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Threshold for action potential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1120680" y="5607000"/>
            <a:ext cx="6375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-100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1263600" y="3819600"/>
            <a:ext cx="5104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1417680" y="2111400"/>
            <a:ext cx="307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1263600" y="404640"/>
            <a:ext cx="567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1596960" y="5805360"/>
            <a:ext cx="307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4665600" y="5805360"/>
            <a:ext cx="307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7734240" y="5805360"/>
            <a:ext cx="4341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2173320" y="115920"/>
            <a:ext cx="678564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End plate potential 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&amp; Myasthenia 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Gravis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4940280" y="3213000"/>
            <a:ext cx="34642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 AChEI - Transmission success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5001840" y="3608280"/>
            <a:ext cx="11458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 flipH="1">
            <a:off x="4268520" y="3397320"/>
            <a:ext cx="647640" cy="6253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 flipH="1">
            <a:off x="4394160" y="3801960"/>
            <a:ext cx="649440" cy="6159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 flipV="1">
            <a:off x="3165480" y="4508640"/>
            <a:ext cx="1440" cy="44280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1773360" y="4608360"/>
            <a:ext cx="6233400" cy="0"/>
          </a:xfrm>
          <a:prstGeom prst="line">
            <a:avLst/>
          </a:prstGeom>
          <a:ln w="36720">
            <a:solidFill>
              <a:srgbClr val="FFB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-63360" rIns="108360" bIns="-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 flipH="1">
            <a:off x="4343400" y="3801960"/>
            <a:ext cx="700200" cy="806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2" dur="indefinite" restart="never" nodeType="tmRoot">
          <p:childTnLst>
            <p:seq>
              <p:cTn id="153" dur="indefinite" nodeType="mainSeq">
                <p:childTnLst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"/>
          <p:cNvSpPr txBox="1"/>
          <p:nvPr/>
        </p:nvSpPr>
        <p:spPr>
          <a:xfrm>
            <a:off x="914400" y="914400"/>
            <a:ext cx="26841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Anticholinesterase drugs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71" name=""/>
          <p:cNvGraphicFramePr/>
          <p:nvPr/>
        </p:nvGraphicFramePr>
        <p:xfrm>
          <a:off x="1161360" y="1595160"/>
          <a:ext cx="6669000" cy="1186200"/>
        </p:xfrm>
        <a:graphic>
          <a:graphicData uri="http://schemas.openxmlformats.org/drawingml/2006/table">
            <a:tbl>
              <a:tblPr/>
              <a:tblGrid>
                <a:gridCol w="2222640"/>
                <a:gridCol w="2222640"/>
                <a:gridCol w="222372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Drug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Duration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Edrophonium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short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Diagnosis 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of 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myasthenia 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gravis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Neostigmine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medium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Myasthenia gravis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parathion</a:t>
                      </a:r>
                      <a:endParaRPr lang="en-US" sz="1800" b="0" u="none" strike="noStrike">
                        <a:solidFill>
                          <a:srgbClr val="FF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long</a:t>
                      </a:r>
                      <a:endParaRPr lang="en-US" sz="1800" b="0" u="none" strike="noStrike">
                        <a:solidFill>
                          <a:srgbClr val="FF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Ins</a:t>
                      </a:r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ect</a:t>
                      </a:r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icid</a:t>
                      </a:r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e</a:t>
                      </a:r>
                      <a:endParaRPr lang="en-US" sz="1800" b="0" u="none" strike="noStrike">
                        <a:solidFill>
                          <a:srgbClr val="FF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sarin</a:t>
                      </a:r>
                      <a:endParaRPr lang="en-US" sz="1800" b="0" u="none" strike="noStrike">
                        <a:solidFill>
                          <a:srgbClr val="FF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Very long</a:t>
                      </a:r>
                      <a:endParaRPr lang="en-US" sz="1800" b="0" u="none" strike="noStrike">
                        <a:solidFill>
                          <a:srgbClr val="FF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Nerve gas</a:t>
                      </a:r>
                      <a:endParaRPr lang="en-US" sz="1800" b="0" u="none" strike="noStrike">
                        <a:solidFill>
                          <a:srgbClr val="FF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2179</TotalTime>
  <Application>LibreOffice/26.2.5.2$Linux_X86_64 LibreOffice_project/6d2b0d33fb0f5da53a12f98bed3e9973e56ff1f0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2010-10-01T09:59:17Z</dcterms:created>
  <dc:creator>TGS</dc:creator>
  <dc:description/>
  <dc:language>en-US</dc:language>
  <cp:lastModifiedBy/>
  <cp:lastPrinted>2022-10-03T09:49:10Z</cp:lastPrinted>
  <dcterms:modified xsi:type="dcterms:W3CDTF">2026-10-14T10:17:02Z</dcterms:modified>
  <cp:revision>131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