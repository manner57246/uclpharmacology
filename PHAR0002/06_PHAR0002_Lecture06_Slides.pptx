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47AB04B-4942-409C-9630-7442AC9B087E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312408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6553080" y="635616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None/>
              <a:tabLst>
                <a:tab pos="0" algn="l"/>
              </a:tabLst>
            </a:pPr>
            <a:fld id="{3A1536D6-8A0C-4DE0-8089-60A64F88A0B0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2"/>
          </p:nvPr>
        </p:nvSpPr>
        <p:spPr>
          <a:xfrm>
            <a:off x="457200" y="635616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spcBef>
                <a:spcPts val="26"/>
              </a:spcBef>
              <a:spcAft>
                <a:spcPts val="26"/>
              </a:spcAft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spcBef>
                <a:spcPts val="26"/>
              </a:spcBef>
              <a:spcAft>
                <a:spcPts val="26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x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marL="343080" indent="-343080" algn="l">
              <a:spcBef>
                <a:spcPts val="825"/>
              </a:spcBef>
              <a:spcAft>
                <a:spcPts val="26"/>
              </a:spcAft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825"/>
              </a:spcBef>
              <a:spcAft>
                <a:spcPts val="26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25"/>
              </a:spcBef>
              <a:spcAft>
                <a:spcPts val="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825"/>
              </a:spcBef>
              <a:spcAft>
                <a:spcPts val="26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825"/>
              </a:spcBef>
              <a:spcAft>
                <a:spcPts val="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825"/>
              </a:spcBef>
              <a:spcAft>
                <a:spcPts val="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825"/>
              </a:spcBef>
              <a:spcAft>
                <a:spcPts val="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>
              <a:spcBef>
                <a:spcPts val="825"/>
              </a:spcBef>
              <a:spcAft>
                <a:spcPts val="26"/>
              </a:spcAft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825"/>
              </a:spcBef>
              <a:spcAft>
                <a:spcPts val="26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25"/>
              </a:spcBef>
              <a:spcAft>
                <a:spcPts val="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825"/>
              </a:spcBef>
              <a:spcAft>
                <a:spcPts val="26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825"/>
              </a:spcBef>
              <a:spcAft>
                <a:spcPts val="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825"/>
              </a:spcBef>
              <a:spcAft>
                <a:spcPts val="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825"/>
              </a:spcBef>
              <a:spcAft>
                <a:spcPts val="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/>
          <p:cNvPicPr/>
          <p:nvPr/>
        </p:nvPicPr>
        <p:blipFill>
          <a:blip r:embed="rId1"/>
          <a:stretch/>
        </p:blipFill>
        <p:spPr>
          <a:xfrm>
            <a:off x="1517760" y="2120760"/>
            <a:ext cx="6168240" cy="145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2286000" y="5137200"/>
            <a:ext cx="3657600" cy="1143000"/>
          </a:xfrm>
          <a:prstGeom prst="rect">
            <a:avLst/>
          </a:prstGeom>
          <a:solidFill>
            <a:srgbClr val="FFFFFF"/>
          </a:solidFill>
          <a:ln w="1836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tIns="54000" rIns="99000" bIns="54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399960" y="4784760"/>
            <a:ext cx="7961400" cy="771480"/>
          </a:xfrm>
          <a:custGeom>
            <a:avLst/>
            <a:gdLst>
              <a:gd name="textAreaLeft" fmla="*/ 0 w 7961400"/>
              <a:gd name="textAreaRight" fmla="*/ 7962840 w 7961400"/>
              <a:gd name="textAreaTop" fmla="*/ 0 h 771480"/>
              <a:gd name="textAreaBottom" fmla="*/ 772920 h 771480"/>
              <a:gd name="GluePoint1X" fmla="*/ 7962900 w 7963270"/>
              <a:gd name="GluePoint1Y" fmla="*/ 44423 h 772503"/>
              <a:gd name="GluePoint2X" fmla="*/ 7048542 w 7963270"/>
              <a:gd name="GluePoint2Y" fmla="*/ 115501 h 772503"/>
              <a:gd name="GluePoint3X" fmla="*/ 6515907 w 7963270"/>
              <a:gd name="GluePoint3Y" fmla="*/ 239886 h 772503"/>
              <a:gd name="GluePoint4X" fmla="*/ 5637059 w 7963270"/>
              <a:gd name="GluePoint4Y" fmla="*/ 648582 h 772503"/>
              <a:gd name="GluePoint5X" fmla="*/ 4669438 w 7963270"/>
              <a:gd name="GluePoint5Y" fmla="*/ 755198 h 772503"/>
              <a:gd name="GluePoint6X" fmla="*/ 3426622 w 7963270"/>
              <a:gd name="GluePoint6Y" fmla="*/ 772967 h 772503"/>
              <a:gd name="GluePoint7X" fmla="*/ 2414614 w 7963270"/>
              <a:gd name="GluePoint7Y" fmla="*/ 755198 h 772503"/>
              <a:gd name="GluePoint8X" fmla="*/ 1633415 w 7963270"/>
              <a:gd name="GluePoint8Y" fmla="*/ 675236 h 772503"/>
              <a:gd name="GluePoint9X" fmla="*/ 949867 w 7963270"/>
              <a:gd name="GluePoint9Y" fmla="*/ 479773 h 772503"/>
              <a:gd name="GluePoint10X" fmla="*/ 417232 w 7963270"/>
              <a:gd name="GluePoint10Y" fmla="*/ 88847 h 772503"/>
              <a:gd name="GluePoint11X" fmla="*/ 0 w 7963270"/>
              <a:gd name="GluePoint11Y" fmla="*/ 0 h 77250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7963270" h="772503">
                <a:moveTo>
                  <a:pt x="7963270" y="44388"/>
                </a:moveTo>
                <a:cubicBezTo>
                  <a:pt x="7626658" y="63623"/>
                  <a:pt x="7290047" y="82859"/>
                  <a:pt x="7048870" y="115410"/>
                </a:cubicBezTo>
                <a:cubicBezTo>
                  <a:pt x="6807693" y="147961"/>
                  <a:pt x="6751468" y="150920"/>
                  <a:pt x="6516210" y="239697"/>
                </a:cubicBezTo>
                <a:cubicBezTo>
                  <a:pt x="6280952" y="328474"/>
                  <a:pt x="5945080" y="562253"/>
                  <a:pt x="5637321" y="648070"/>
                </a:cubicBezTo>
                <a:cubicBezTo>
                  <a:pt x="5329562" y="733887"/>
                  <a:pt x="5038078" y="733888"/>
                  <a:pt x="4669655" y="754602"/>
                </a:cubicBezTo>
                <a:cubicBezTo>
                  <a:pt x="4301232" y="775317"/>
                  <a:pt x="3802602" y="772357"/>
                  <a:pt x="3426781" y="772357"/>
                </a:cubicBezTo>
                <a:cubicBezTo>
                  <a:pt x="3050960" y="772357"/>
                  <a:pt x="2713608" y="770878"/>
                  <a:pt x="2414726" y="754602"/>
                </a:cubicBezTo>
                <a:cubicBezTo>
                  <a:pt x="2115844" y="738326"/>
                  <a:pt x="1877627" y="720571"/>
                  <a:pt x="1633491" y="674703"/>
                </a:cubicBezTo>
                <a:cubicBezTo>
                  <a:pt x="1389355" y="628835"/>
                  <a:pt x="1152618" y="577048"/>
                  <a:pt x="949911" y="479394"/>
                </a:cubicBezTo>
                <a:cubicBezTo>
                  <a:pt x="747204" y="381740"/>
                  <a:pt x="575570" y="168676"/>
                  <a:pt x="417251" y="88777"/>
                </a:cubicBezTo>
                <a:cubicBezTo>
                  <a:pt x="258932" y="8878"/>
                  <a:pt x="129466" y="4439"/>
                  <a:pt x="0" y="0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581120" y="363600"/>
            <a:ext cx="4873680" cy="4380120"/>
          </a:xfrm>
          <a:custGeom>
            <a:avLst/>
            <a:gdLst>
              <a:gd name="textAreaLeft" fmla="*/ 0 w 4873680"/>
              <a:gd name="textAreaRight" fmla="*/ 4875120 w 4873680"/>
              <a:gd name="textAreaTop" fmla="*/ 0 h 4380120"/>
              <a:gd name="textAreaBottom" fmla="*/ 4381560 h 4380120"/>
              <a:gd name="GluePoint1X" fmla="*/ 2894851 w 4875911"/>
              <a:gd name="GluePoint1Y" fmla="*/ 26507 h 4381571"/>
              <a:gd name="GluePoint2X" fmla="*/ 2850469 w 4875911"/>
              <a:gd name="GluePoint2Y" fmla="*/ 763341 h 4381571"/>
              <a:gd name="GluePoint3X" fmla="*/ 2956986 w 4875911"/>
              <a:gd name="GluePoint3Y" fmla="*/ 1651094 h 4381571"/>
              <a:gd name="GluePoint4X" fmla="*/ 3658221 w 4875911"/>
              <a:gd name="GluePoint4Y" fmla="*/ 2077215 h 4381571"/>
              <a:gd name="GluePoint5X" fmla="*/ 4412715 w 4875911"/>
              <a:gd name="GluePoint5Y" fmla="*/ 2592112 h 4381571"/>
              <a:gd name="GluePoint6X" fmla="*/ 4821029 w 4875911"/>
              <a:gd name="GluePoint6Y" fmla="*/ 3115886 h 4381571"/>
              <a:gd name="GluePoint7X" fmla="*/ 4856535 w 4875911"/>
              <a:gd name="GluePoint7Y" fmla="*/ 3533130 h 4381571"/>
              <a:gd name="GluePoint8X" fmla="*/ 4687884 w 4875911"/>
              <a:gd name="GluePoint8Y" fmla="*/ 3959251 h 4381571"/>
              <a:gd name="GluePoint9X" fmla="*/ 4110916 w 4875911"/>
              <a:gd name="GluePoint9Y" fmla="*/ 4261086 h 4381571"/>
              <a:gd name="GluePoint10X" fmla="*/ 2442153 w 4875911"/>
              <a:gd name="GluePoint10Y" fmla="*/ 4376495 h 4381571"/>
              <a:gd name="GluePoint11X" fmla="*/ 1110694 w 4875911"/>
              <a:gd name="GluePoint11Y" fmla="*/ 4358739 h 4381571"/>
              <a:gd name="GluePoint12X" fmla="*/ 391706 w 4875911"/>
              <a:gd name="GluePoint12Y" fmla="*/ 4154557 h 4381571"/>
              <a:gd name="GluePoint13X" fmla="*/ 27774 w 4875911"/>
              <a:gd name="GluePoint13Y" fmla="*/ 3613027 h 4381571"/>
              <a:gd name="GluePoint14X" fmla="*/ 152043 w 4875911"/>
              <a:gd name="GluePoint14Y" fmla="*/ 2769662 h 4381571"/>
              <a:gd name="GluePoint15X" fmla="*/ 1155076 w 4875911"/>
              <a:gd name="GluePoint15Y" fmla="*/ 1979563 h 4381571"/>
              <a:gd name="GluePoint16X" fmla="*/ 1856314 w 4875911"/>
              <a:gd name="GluePoint16Y" fmla="*/ 1553441 h 4381571"/>
              <a:gd name="GluePoint17X" fmla="*/ 2007210 w 4875911"/>
              <a:gd name="GluePoint17Y" fmla="*/ 541403 h 4381571"/>
              <a:gd name="GluePoint18X" fmla="*/ 2007212 w 4875911"/>
              <a:gd name="GluePoint18Y" fmla="*/ 8751 h 438157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4875911" h="4381571">
                <a:moveTo>
                  <a:pt x="2895265" y="26507"/>
                </a:moveTo>
                <a:cubicBezTo>
                  <a:pt x="2832382" y="381614"/>
                  <a:pt x="2840520" y="492584"/>
                  <a:pt x="2850877" y="763353"/>
                </a:cubicBezTo>
                <a:cubicBezTo>
                  <a:pt x="2861234" y="1034122"/>
                  <a:pt x="2822764" y="1432138"/>
                  <a:pt x="2957409" y="1651121"/>
                </a:cubicBezTo>
                <a:cubicBezTo>
                  <a:pt x="3092054" y="1870104"/>
                  <a:pt x="3416089" y="1920410"/>
                  <a:pt x="3658745" y="2077249"/>
                </a:cubicBezTo>
                <a:cubicBezTo>
                  <a:pt x="3901401" y="2234088"/>
                  <a:pt x="4219518" y="2419040"/>
                  <a:pt x="4413347" y="2592154"/>
                </a:cubicBezTo>
                <a:cubicBezTo>
                  <a:pt x="4607176" y="2765269"/>
                  <a:pt x="4747739" y="2959097"/>
                  <a:pt x="4821719" y="3115936"/>
                </a:cubicBezTo>
                <a:cubicBezTo>
                  <a:pt x="4895699" y="3272775"/>
                  <a:pt x="4879424" y="3392624"/>
                  <a:pt x="4857230" y="3533187"/>
                </a:cubicBezTo>
                <a:cubicBezTo>
                  <a:pt x="4835036" y="3673750"/>
                  <a:pt x="4812842" y="3837987"/>
                  <a:pt x="4688555" y="3959315"/>
                </a:cubicBezTo>
                <a:cubicBezTo>
                  <a:pt x="4564268" y="4080643"/>
                  <a:pt x="4485847" y="4191613"/>
                  <a:pt x="4111505" y="4261155"/>
                </a:cubicBezTo>
                <a:cubicBezTo>
                  <a:pt x="3737163" y="4330697"/>
                  <a:pt x="2942612" y="4360290"/>
                  <a:pt x="2442503" y="4376566"/>
                </a:cubicBezTo>
                <a:cubicBezTo>
                  <a:pt x="1942394" y="4392842"/>
                  <a:pt x="1554736" y="4364729"/>
                  <a:pt x="1110853" y="4358810"/>
                </a:cubicBezTo>
                <a:cubicBezTo>
                  <a:pt x="769063" y="4321820"/>
                  <a:pt x="572275" y="4278911"/>
                  <a:pt x="391762" y="4154624"/>
                </a:cubicBezTo>
                <a:cubicBezTo>
                  <a:pt x="211249" y="4030337"/>
                  <a:pt x="67727" y="3843905"/>
                  <a:pt x="27778" y="3613086"/>
                </a:cubicBezTo>
                <a:cubicBezTo>
                  <a:pt x="-12171" y="3382267"/>
                  <a:pt x="-35845" y="3041955"/>
                  <a:pt x="152065" y="2769707"/>
                </a:cubicBezTo>
                <a:cubicBezTo>
                  <a:pt x="339975" y="2497459"/>
                  <a:pt x="871155" y="2182302"/>
                  <a:pt x="1155241" y="1979595"/>
                </a:cubicBezTo>
                <a:cubicBezTo>
                  <a:pt x="1439327" y="1776888"/>
                  <a:pt x="1714537" y="1793163"/>
                  <a:pt x="1856580" y="1553466"/>
                </a:cubicBezTo>
                <a:cubicBezTo>
                  <a:pt x="1998623" y="1313769"/>
                  <a:pt x="1982344" y="798864"/>
                  <a:pt x="2007497" y="541412"/>
                </a:cubicBezTo>
                <a:cubicBezTo>
                  <a:pt x="2032650" y="283960"/>
                  <a:pt x="2019336" y="-59311"/>
                  <a:pt x="2007499" y="8751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 rot="5400000">
            <a:off x="3428280" y="544320"/>
            <a:ext cx="193680" cy="35244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 rot="5400000">
            <a:off x="3403080" y="1192320"/>
            <a:ext cx="194040" cy="35244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 flipH="1" rot="16200000">
            <a:off x="4365720" y="865080"/>
            <a:ext cx="193680" cy="35280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2166840" y="620640"/>
            <a:ext cx="930600" cy="736920"/>
          </a:xfrm>
          <a:custGeom>
            <a:avLst/>
            <a:gdLst>
              <a:gd name="textAreaLeft" fmla="*/ 0 w 930600"/>
              <a:gd name="textAreaRight" fmla="*/ 932040 w 930600"/>
              <a:gd name="textAreaTop" fmla="*/ 0 h 736920"/>
              <a:gd name="textAreaBottom" fmla="*/ 738360 h 736920"/>
              <a:gd name="GluePoint1X" fmla="*/ 0 w 5180397"/>
              <a:gd name="GluePoint1Y" fmla="*/ 650807 h 2474181"/>
              <a:gd name="GluePoint2X" fmla="*/ 290351 w 5180397"/>
              <a:gd name="GluePoint2Y" fmla="*/ 646062 h 2474181"/>
              <a:gd name="GluePoint3X" fmla="*/ 361866 w 5180397"/>
              <a:gd name="GluePoint3Y" fmla="*/ 624711 h 2474181"/>
              <a:gd name="GluePoint4X" fmla="*/ 377599 w 5180397"/>
              <a:gd name="GluePoint4Y" fmla="*/ 513212 h 2474181"/>
              <a:gd name="GluePoint5X" fmla="*/ 381890 w 5180397"/>
              <a:gd name="GluePoint5Y" fmla="*/ 22142 h 2474181"/>
              <a:gd name="GluePoint6X" fmla="*/ 381890 w 5180397"/>
              <a:gd name="GluePoint6Y" fmla="*/ 22142 h 2474181"/>
              <a:gd name="GluePoint7X" fmla="*/ 387611 w 5180397"/>
              <a:gd name="GluePoint7Y" fmla="*/ 3163 h 2474181"/>
              <a:gd name="GluePoint8X" fmla="*/ 389041 w 5180397"/>
              <a:gd name="GluePoint8Y" fmla="*/ 3163 h 2474181"/>
              <a:gd name="GluePoint9X" fmla="*/ 390472 w 5180397"/>
              <a:gd name="GluePoint9Y" fmla="*/ 5536 h 2474181"/>
              <a:gd name="GluePoint10X" fmla="*/ 394763 w 5180397"/>
              <a:gd name="GluePoint10Y" fmla="*/ 22142 h 2474181"/>
              <a:gd name="GluePoint11X" fmla="*/ 403344 w 5180397"/>
              <a:gd name="GluePoint11Y" fmla="*/ 136013 h 2474181"/>
              <a:gd name="GluePoint12X" fmla="*/ 417647 w 5180397"/>
              <a:gd name="GluePoint12Y" fmla="*/ 330543 h 2474181"/>
              <a:gd name="GluePoint13X" fmla="*/ 429090 w 5180397"/>
              <a:gd name="GluePoint13Y" fmla="*/ 487116 h 2474181"/>
              <a:gd name="GluePoint14X" fmla="*/ 439102 w 5180397"/>
              <a:gd name="GluePoint14Y" fmla="*/ 631828 h 2474181"/>
              <a:gd name="GluePoint15X" fmla="*/ 447684 w 5180397"/>
              <a:gd name="GluePoint15Y" fmla="*/ 707742 h 2474181"/>
              <a:gd name="GluePoint16X" fmla="*/ 467708 w 5180397"/>
              <a:gd name="GluePoint16Y" fmla="*/ 733838 h 2474181"/>
              <a:gd name="GluePoint17X" fmla="*/ 492023 w 5180397"/>
              <a:gd name="GluePoint17Y" fmla="*/ 733838 h 2474181"/>
              <a:gd name="GluePoint18X" fmla="*/ 527780 w 5180397"/>
              <a:gd name="GluePoint18Y" fmla="*/ 710115 h 2474181"/>
              <a:gd name="GluePoint19X" fmla="*/ 559247 w 5180397"/>
              <a:gd name="GluePoint19Y" fmla="*/ 679274 h 2474181"/>
              <a:gd name="GluePoint20X" fmla="*/ 602076 w 5180397"/>
              <a:gd name="GluePoint20Y" fmla="*/ 642854 h 2474181"/>
              <a:gd name="GluePoint21X" fmla="*/ 646897 w 5180397"/>
              <a:gd name="GluePoint21Y" fmla="*/ 630767 h 2474181"/>
              <a:gd name="GluePoint22X" fmla="*/ 931862 w 5180397"/>
              <a:gd name="GluePoint22Y" fmla="*/ 630767 h 247418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textAreaLeft" t="textAreaTop" r="textAreaRight" b="textAreaBottom"/>
            <a:pathLst>
              <a:path w="5180397" h="2474181">
                <a:moveTo>
                  <a:pt x="0" y="2181308"/>
                </a:moveTo>
                <a:lnTo>
                  <a:pt x="1614115" y="2165406"/>
                </a:lnTo>
                <a:cubicBezTo>
                  <a:pt x="1949395" y="2150829"/>
                  <a:pt x="1930842" y="2168056"/>
                  <a:pt x="2011680" y="2093844"/>
                </a:cubicBezTo>
                <a:cubicBezTo>
                  <a:pt x="2092518" y="2019632"/>
                  <a:pt x="2080591" y="2056738"/>
                  <a:pt x="2099144" y="1720133"/>
                </a:cubicBezTo>
                <a:cubicBezTo>
                  <a:pt x="2117697" y="1383528"/>
                  <a:pt x="2122998" y="74213"/>
                  <a:pt x="2122998" y="74213"/>
                </a:cubicBezTo>
                <a:lnTo>
                  <a:pt x="2122998" y="74213"/>
                </a:lnTo>
                <a:cubicBezTo>
                  <a:pt x="2128299" y="63611"/>
                  <a:pt x="2148178" y="21204"/>
                  <a:pt x="2154804" y="10602"/>
                </a:cubicBezTo>
                <a:cubicBezTo>
                  <a:pt x="2161430" y="0"/>
                  <a:pt x="2160105" y="9277"/>
                  <a:pt x="2162755" y="10602"/>
                </a:cubicBezTo>
                <a:cubicBezTo>
                  <a:pt x="2165405" y="11927"/>
                  <a:pt x="2165405" y="7952"/>
                  <a:pt x="2170706" y="18554"/>
                </a:cubicBezTo>
                <a:cubicBezTo>
                  <a:pt x="2176007" y="29156"/>
                  <a:pt x="2182633" y="1326"/>
                  <a:pt x="2194560" y="74213"/>
                </a:cubicBezTo>
                <a:cubicBezTo>
                  <a:pt x="2206487" y="147100"/>
                  <a:pt x="2221065" y="283597"/>
                  <a:pt x="2242268" y="455875"/>
                </a:cubicBezTo>
                <a:cubicBezTo>
                  <a:pt x="2263471" y="628153"/>
                  <a:pt x="2297927" y="911750"/>
                  <a:pt x="2321781" y="1107882"/>
                </a:cubicBezTo>
                <a:cubicBezTo>
                  <a:pt x="2345635" y="1304014"/>
                  <a:pt x="2365513" y="1464365"/>
                  <a:pt x="2385391" y="1632668"/>
                </a:cubicBezTo>
                <a:cubicBezTo>
                  <a:pt x="2405269" y="1800971"/>
                  <a:pt x="2423823" y="1994453"/>
                  <a:pt x="2441051" y="2117698"/>
                </a:cubicBezTo>
                <a:cubicBezTo>
                  <a:pt x="2458279" y="2240943"/>
                  <a:pt x="2462254" y="2315156"/>
                  <a:pt x="2488758" y="2372140"/>
                </a:cubicBezTo>
                <a:cubicBezTo>
                  <a:pt x="2515262" y="2429124"/>
                  <a:pt x="2558995" y="2445027"/>
                  <a:pt x="2600077" y="2459604"/>
                </a:cubicBezTo>
                <a:cubicBezTo>
                  <a:pt x="2641159" y="2474181"/>
                  <a:pt x="2679590" y="2472856"/>
                  <a:pt x="2735249" y="2459604"/>
                </a:cubicBezTo>
                <a:cubicBezTo>
                  <a:pt x="2790908" y="2446352"/>
                  <a:pt x="2871746" y="2410571"/>
                  <a:pt x="2934031" y="2380091"/>
                </a:cubicBezTo>
                <a:cubicBezTo>
                  <a:pt x="2996316" y="2349611"/>
                  <a:pt x="3040123" y="2314297"/>
                  <a:pt x="3108960" y="2276724"/>
                </a:cubicBezTo>
                <a:cubicBezTo>
                  <a:pt x="3177797" y="2239151"/>
                  <a:pt x="3266215" y="2185135"/>
                  <a:pt x="3347053" y="2154655"/>
                </a:cubicBezTo>
                <a:cubicBezTo>
                  <a:pt x="3475599" y="2100321"/>
                  <a:pt x="3516708" y="2134019"/>
                  <a:pt x="3596221" y="2114141"/>
                </a:cubicBezTo>
                <a:cubicBezTo>
                  <a:pt x="3883793" y="2096913"/>
                  <a:pt x="4533028" y="2133356"/>
                  <a:pt x="5180397" y="2114141"/>
                </a:cubicBezTo>
              </a:path>
            </a:pathLst>
          </a:custGeom>
          <a:noFill/>
          <a:ln w="9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4797360" y="855720"/>
            <a:ext cx="549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" name=""/>
          <p:cNvCxnSpPr/>
          <p:nvPr/>
        </p:nvCxnSpPr>
        <p:spPr>
          <a:xfrm flipH="1">
            <a:off x="4139640" y="1039320"/>
            <a:ext cx="721080" cy="540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triangle" w="med"/>
          </a:ln>
        </p:spPr>
      </p:cxnSp>
      <p:cxnSp>
        <p:nvCxnSpPr>
          <p:cNvPr id="17" name=""/>
          <p:cNvCxnSpPr/>
          <p:nvPr/>
        </p:nvCxnSpPr>
        <p:spPr>
          <a:xfrm>
            <a:off x="3098520" y="717120"/>
            <a:ext cx="827640" cy="540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triangle" w="med"/>
          </a:ln>
        </p:spPr>
      </p:cxnSp>
      <p:cxnSp>
        <p:nvCxnSpPr>
          <p:cNvPr id="18" name=""/>
          <p:cNvCxnSpPr/>
          <p:nvPr/>
        </p:nvCxnSpPr>
        <p:spPr>
          <a:xfrm>
            <a:off x="3098520" y="1359000"/>
            <a:ext cx="827640" cy="360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triangle" w="med"/>
          </a:ln>
        </p:spPr>
      </p:cxnSp>
      <p:sp>
        <p:nvSpPr>
          <p:cNvPr id="19" name=""/>
          <p:cNvSpPr/>
          <p:nvPr/>
        </p:nvSpPr>
        <p:spPr>
          <a:xfrm>
            <a:off x="5364000" y="442800"/>
            <a:ext cx="1095120" cy="6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cha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nn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846440" y="5362560"/>
            <a:ext cx="4402080" cy="1071720"/>
          </a:xfrm>
          <a:custGeom>
            <a:avLst/>
            <a:gdLst>
              <a:gd name="textAreaLeft" fmla="*/ 0 w 4402080"/>
              <a:gd name="textAreaRight" fmla="*/ 4403520 w 4402080"/>
              <a:gd name="textAreaTop" fmla="*/ 0 h 1071720"/>
              <a:gd name="textAreaBottom" fmla="*/ 1073160 h 1071720"/>
              <a:gd name="GluePoint1X" fmla="*/ 4403725 w 4403325"/>
              <a:gd name="GluePoint1Y" fmla="*/ 0 h 1074198"/>
              <a:gd name="GluePoint2X" fmla="*/ 4066342 w 4403325"/>
              <a:gd name="GluePoint2Y" fmla="*/ 620831 h 1074198"/>
              <a:gd name="GluePoint3X" fmla="*/ 3214009 w 4403325"/>
              <a:gd name="GluePoint3Y" fmla="*/ 957853 h 1074198"/>
              <a:gd name="GluePoint4X" fmla="*/ 1899995 w 4403325"/>
              <a:gd name="GluePoint4Y" fmla="*/ 1073150 h 1074198"/>
              <a:gd name="GluePoint5X" fmla="*/ 932241 w 4403325"/>
              <a:gd name="GluePoint5Y" fmla="*/ 957853 h 1074198"/>
              <a:gd name="GluePoint6X" fmla="*/ 195327 w 4403325"/>
              <a:gd name="GluePoint6Y" fmla="*/ 461188 h 1074198"/>
              <a:gd name="GluePoint7X" fmla="*/ 0 w 4403325"/>
              <a:gd name="GluePoint7Y" fmla="*/ 62082 h 10741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03325" h="1074198">
                <a:moveTo>
                  <a:pt x="4403325" y="0"/>
                </a:moveTo>
                <a:cubicBezTo>
                  <a:pt x="4333783" y="230819"/>
                  <a:pt x="4264241" y="461639"/>
                  <a:pt x="4065973" y="621437"/>
                </a:cubicBezTo>
                <a:cubicBezTo>
                  <a:pt x="3867705" y="781235"/>
                  <a:pt x="3574742" y="883328"/>
                  <a:pt x="3213717" y="958788"/>
                </a:cubicBezTo>
                <a:cubicBezTo>
                  <a:pt x="2852692" y="1034248"/>
                  <a:pt x="2280082" y="1074198"/>
                  <a:pt x="1899822" y="1074198"/>
                </a:cubicBezTo>
                <a:cubicBezTo>
                  <a:pt x="1519562" y="1074198"/>
                  <a:pt x="1216241" y="1060881"/>
                  <a:pt x="932156" y="958788"/>
                </a:cubicBezTo>
                <a:cubicBezTo>
                  <a:pt x="648071" y="856695"/>
                  <a:pt x="350668" y="611079"/>
                  <a:pt x="195309" y="461638"/>
                </a:cubicBezTo>
                <a:cubicBezTo>
                  <a:pt x="39950" y="312197"/>
                  <a:pt x="19975" y="187170"/>
                  <a:pt x="0" y="62143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404640" y="6120000"/>
            <a:ext cx="9039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Muscle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596960" y="4502160"/>
            <a:ext cx="309600" cy="870120"/>
          </a:xfrm>
          <a:custGeom>
            <a:avLst/>
            <a:gdLst>
              <a:gd name="textAreaLeft" fmla="*/ 198720 w 309600"/>
              <a:gd name="textAreaRight" fmla="*/ 311400 w 309600"/>
              <a:gd name="textAreaTop" fmla="*/ 7920 h 870120"/>
              <a:gd name="textAreaBottom" fmla="*/ 863640 h 87012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322"/>
                  <a:pt x="10800" y="643"/>
                </a:cubicBezTo>
                <a:lnTo>
                  <a:pt x="10800" y="10157"/>
                </a:lnTo>
                <a:cubicBezTo>
                  <a:pt x="10800" y="10479"/>
                  <a:pt x="5400" y="10800"/>
                  <a:pt x="0" y="10800"/>
                </a:cubicBezTo>
                <a:cubicBezTo>
                  <a:pt x="5400" y="10800"/>
                  <a:pt x="10800" y="11122"/>
                  <a:pt x="10800" y="11443"/>
                </a:cubicBezTo>
                <a:lnTo>
                  <a:pt x="10800" y="20957"/>
                </a:lnTo>
                <a:cubicBezTo>
                  <a:pt x="10800" y="21279"/>
                  <a:pt x="16200" y="21600"/>
                  <a:pt x="21600" y="21600"/>
                </a:cubicBezTo>
              </a:path>
            </a:pathLst>
          </a:custGeom>
          <a:noFill/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966960" y="4562640"/>
            <a:ext cx="86400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Synaptic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Cleft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639960" y="179280"/>
            <a:ext cx="8280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AXON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" name=""/>
          <p:cNvGrpSpPr/>
          <p:nvPr/>
        </p:nvGrpSpPr>
        <p:grpSpPr>
          <a:xfrm>
            <a:off x="2184480" y="5156280"/>
            <a:ext cx="3610440" cy="1647000"/>
            <a:chOff x="2184480" y="5156280"/>
            <a:chExt cx="3610440" cy="1647000"/>
          </a:xfrm>
        </p:grpSpPr>
        <p:grpSp>
          <p:nvGrpSpPr>
            <p:cNvPr id="26" name=""/>
            <p:cNvGrpSpPr/>
            <p:nvPr/>
          </p:nvGrpSpPr>
          <p:grpSpPr>
            <a:xfrm>
              <a:off x="2612880" y="5156280"/>
              <a:ext cx="565560" cy="817560"/>
              <a:chOff x="2612880" y="5156280"/>
              <a:chExt cx="565560" cy="817560"/>
            </a:xfrm>
          </p:grpSpPr>
          <p:sp>
            <p:nvSpPr>
              <p:cNvPr id="27" name=""/>
              <p:cNvSpPr/>
              <p:nvPr/>
            </p:nvSpPr>
            <p:spPr>
              <a:xfrm>
                <a:off x="2649600" y="5373720"/>
                <a:ext cx="501840" cy="35244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2797200" y="5373720"/>
                <a:ext cx="193680" cy="352440"/>
              </a:xfrm>
              <a:prstGeom prst="can">
                <a:avLst>
                  <a:gd name="adj" fmla="val 21490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2765520" y="5184720"/>
                <a:ext cx="114480" cy="789120"/>
              </a:xfrm>
              <a:custGeom>
                <a:avLst/>
                <a:gdLst>
                  <a:gd name="textAreaLeft" fmla="*/ 0 w 114480"/>
                  <a:gd name="textAreaRight" fmla="*/ 115920 w 114480"/>
                  <a:gd name="textAreaTop" fmla="*/ 0 h 789120"/>
                  <a:gd name="textAreaBottom" fmla="*/ 790560 h 789120"/>
                  <a:gd name="GluePoint1X" fmla="*/ 0 w 115435"/>
                  <a:gd name="GluePoint1Y" fmla="*/ 0 h 790113"/>
                  <a:gd name="GluePoint2X" fmla="*/ 98037 w 115435"/>
                  <a:gd name="GluePoint2Y" fmla="*/ 142126 h 790113"/>
                  <a:gd name="GluePoint3X" fmla="*/ 115862 w 115435"/>
                  <a:gd name="GluePoint3Y" fmla="*/ 790575 h 790113"/>
                  <a:gd name="GluePoint4X" fmla="*/ 115862 w 115435"/>
                  <a:gd name="GluePoint4Y" fmla="*/ 790575 h 790113"/>
                  <a:gd name="GluePoint5X" fmla="*/ 115862 w 115435"/>
                  <a:gd name="GluePoint5Y" fmla="*/ 790575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7240" tIns="46800" rIns="572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 flipH="1" flipV="1">
                <a:off x="2925360" y="5156280"/>
                <a:ext cx="112680" cy="787680"/>
              </a:xfrm>
              <a:custGeom>
                <a:avLst/>
                <a:gdLst>
                  <a:gd name="textAreaLeft" fmla="*/ 720 w 112680"/>
                  <a:gd name="textAreaRight" fmla="*/ 114840 w 112680"/>
                  <a:gd name="textAreaTop" fmla="*/ -720 h 787680"/>
                  <a:gd name="textAreaBottom" fmla="*/ 788400 h 787680"/>
                  <a:gd name="GluePoint1X" fmla="*/ 0 w 115435"/>
                  <a:gd name="GluePoint1Y" fmla="*/ 0 h 790113"/>
                  <a:gd name="GluePoint2X" fmla="*/ 96694 w 115435"/>
                  <a:gd name="GluePoint2Y" fmla="*/ 141841 h 790113"/>
                  <a:gd name="GluePoint3X" fmla="*/ 114274 w 115435"/>
                  <a:gd name="GluePoint3Y" fmla="*/ 788987 h 790113"/>
                  <a:gd name="GluePoint4X" fmla="*/ 114274 w 115435"/>
                  <a:gd name="GluePoint4Y" fmla="*/ 788987 h 790113"/>
                  <a:gd name="GluePoint5X" fmla="*/ 114274 w 115435"/>
                  <a:gd name="GluePoint5Y" fmla="*/ 788987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0000FF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6520" tIns="46800" rIns="5652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2612880" y="5334120"/>
                <a:ext cx="124200" cy="15552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2280" tIns="46800" rIns="6228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3054240" y="5315040"/>
                <a:ext cx="124200" cy="15408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2280" tIns="46800" rIns="6228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3" name=""/>
            <p:cNvGrpSpPr/>
            <p:nvPr/>
          </p:nvGrpSpPr>
          <p:grpSpPr>
            <a:xfrm>
              <a:off x="3572280" y="5156280"/>
              <a:ext cx="555840" cy="817560"/>
              <a:chOff x="3572280" y="5156280"/>
              <a:chExt cx="555840" cy="817560"/>
            </a:xfrm>
          </p:grpSpPr>
          <p:sp>
            <p:nvSpPr>
              <p:cNvPr id="34" name=""/>
              <p:cNvSpPr/>
              <p:nvPr/>
            </p:nvSpPr>
            <p:spPr>
              <a:xfrm>
                <a:off x="3601080" y="5373720"/>
                <a:ext cx="501840" cy="35244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>
                <a:off x="3750120" y="5373720"/>
                <a:ext cx="192240" cy="352440"/>
              </a:xfrm>
              <a:prstGeom prst="can">
                <a:avLst>
                  <a:gd name="adj" fmla="val 21314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>
                <a:off x="3572280" y="5361120"/>
                <a:ext cx="125640" cy="15408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3000" tIns="46800" rIns="63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>
                <a:off x="4002480" y="5361120"/>
                <a:ext cx="125640" cy="15408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3000" tIns="46800" rIns="63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>
                <a:off x="3700800" y="5184720"/>
                <a:ext cx="113040" cy="789120"/>
              </a:xfrm>
              <a:custGeom>
                <a:avLst/>
                <a:gdLst>
                  <a:gd name="textAreaLeft" fmla="*/ 0 w 113040"/>
                  <a:gd name="textAreaRight" fmla="*/ 114480 w 113040"/>
                  <a:gd name="textAreaTop" fmla="*/ 0 h 789120"/>
                  <a:gd name="textAreaBottom" fmla="*/ 790560 h 789120"/>
                  <a:gd name="GluePoint1X" fmla="*/ 0 w 115435"/>
                  <a:gd name="GluePoint1Y" fmla="*/ 0 h 790113"/>
                  <a:gd name="GluePoint2X" fmla="*/ 96694 w 115435"/>
                  <a:gd name="GluePoint2Y" fmla="*/ 142126 h 790113"/>
                  <a:gd name="GluePoint3X" fmla="*/ 114274 w 115435"/>
                  <a:gd name="GluePoint3Y" fmla="*/ 790575 h 790113"/>
                  <a:gd name="GluePoint4X" fmla="*/ 114274 w 115435"/>
                  <a:gd name="GluePoint4Y" fmla="*/ 790575 h 790113"/>
                  <a:gd name="GluePoint5X" fmla="*/ 114274 w 115435"/>
                  <a:gd name="GluePoint5Y" fmla="*/ 790575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6520" tIns="46800" rIns="5652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 flipH="1" flipV="1">
                <a:off x="3869280" y="5156280"/>
                <a:ext cx="113040" cy="787680"/>
              </a:xfrm>
              <a:custGeom>
                <a:avLst/>
                <a:gdLst>
                  <a:gd name="textAreaLeft" fmla="*/ -720 w 113040"/>
                  <a:gd name="textAreaRight" fmla="*/ 113760 w 113040"/>
                  <a:gd name="textAreaTop" fmla="*/ -720 h 787680"/>
                  <a:gd name="textAreaBottom" fmla="*/ 788400 h 787680"/>
                  <a:gd name="GluePoint1X" fmla="*/ 0 w 115435"/>
                  <a:gd name="GluePoint1Y" fmla="*/ 0 h 790113"/>
                  <a:gd name="GluePoint2X" fmla="*/ 96694 w 115435"/>
                  <a:gd name="GluePoint2Y" fmla="*/ 141841 h 790113"/>
                  <a:gd name="GluePoint3X" fmla="*/ 114274 w 115435"/>
                  <a:gd name="GluePoint3Y" fmla="*/ 788987 h 790113"/>
                  <a:gd name="GluePoint4X" fmla="*/ 114274 w 115435"/>
                  <a:gd name="GluePoint4Y" fmla="*/ 788987 h 790113"/>
                  <a:gd name="GluePoint5X" fmla="*/ 114274 w 115435"/>
                  <a:gd name="GluePoint5Y" fmla="*/ 788987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0000FF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6520" tIns="46800" rIns="5652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0" name=""/>
            <p:cNvGrpSpPr/>
            <p:nvPr/>
          </p:nvGrpSpPr>
          <p:grpSpPr>
            <a:xfrm>
              <a:off x="4534560" y="5156280"/>
              <a:ext cx="576360" cy="817560"/>
              <a:chOff x="4534560" y="5156280"/>
              <a:chExt cx="576360" cy="817560"/>
            </a:xfrm>
          </p:grpSpPr>
          <p:sp>
            <p:nvSpPr>
              <p:cNvPr id="41" name=""/>
              <p:cNvSpPr/>
              <p:nvPr/>
            </p:nvSpPr>
            <p:spPr>
              <a:xfrm>
                <a:off x="4536360" y="5378400"/>
                <a:ext cx="501840" cy="35280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>
                <a:off x="4721760" y="5378400"/>
                <a:ext cx="192240" cy="352800"/>
              </a:xfrm>
              <a:prstGeom prst="can">
                <a:avLst>
                  <a:gd name="adj" fmla="val 21314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>
                <a:off x="4534560" y="5351400"/>
                <a:ext cx="125280" cy="15408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2640" tIns="46800" rIns="626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>
                <a:off x="4985280" y="5343480"/>
                <a:ext cx="125640" cy="15408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3000" tIns="46800" rIns="63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>
                <a:off x="4688280" y="5184720"/>
                <a:ext cx="114480" cy="789120"/>
              </a:xfrm>
              <a:custGeom>
                <a:avLst/>
                <a:gdLst>
                  <a:gd name="textAreaLeft" fmla="*/ 0 w 114480"/>
                  <a:gd name="textAreaRight" fmla="*/ 115920 w 114480"/>
                  <a:gd name="textAreaTop" fmla="*/ 0 h 789120"/>
                  <a:gd name="textAreaBottom" fmla="*/ 790560 h 789120"/>
                  <a:gd name="GluePoint1X" fmla="*/ 0 w 115435"/>
                  <a:gd name="GluePoint1Y" fmla="*/ 0 h 790113"/>
                  <a:gd name="GluePoint2X" fmla="*/ 98037 w 115435"/>
                  <a:gd name="GluePoint2Y" fmla="*/ 142126 h 790113"/>
                  <a:gd name="GluePoint3X" fmla="*/ 115862 w 115435"/>
                  <a:gd name="GluePoint3Y" fmla="*/ 790575 h 790113"/>
                  <a:gd name="GluePoint4X" fmla="*/ 115862 w 115435"/>
                  <a:gd name="GluePoint4Y" fmla="*/ 790575 h 790113"/>
                  <a:gd name="GluePoint5X" fmla="*/ 115862 w 115435"/>
                  <a:gd name="GluePoint5Y" fmla="*/ 790575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7240" tIns="46800" rIns="572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 flipH="1" flipV="1">
                <a:off x="4849920" y="5156280"/>
                <a:ext cx="114120" cy="787680"/>
              </a:xfrm>
              <a:custGeom>
                <a:avLst/>
                <a:gdLst>
                  <a:gd name="textAreaLeft" fmla="*/ 720 w 114120"/>
                  <a:gd name="textAreaRight" fmla="*/ 116280 w 114120"/>
                  <a:gd name="textAreaTop" fmla="*/ -720 h 787680"/>
                  <a:gd name="textAreaBottom" fmla="*/ 788400 h 787680"/>
                  <a:gd name="GluePoint1X" fmla="*/ 0 w 115435"/>
                  <a:gd name="GluePoint1Y" fmla="*/ 0 h 790113"/>
                  <a:gd name="GluePoint2X" fmla="*/ 98036 w 115435"/>
                  <a:gd name="GluePoint2Y" fmla="*/ 141841 h 790113"/>
                  <a:gd name="GluePoint3X" fmla="*/ 115861 w 115435"/>
                  <a:gd name="GluePoint3Y" fmla="*/ 788987 h 790113"/>
                  <a:gd name="GluePoint4X" fmla="*/ 115861 w 115435"/>
                  <a:gd name="GluePoint4Y" fmla="*/ 788987 h 790113"/>
                  <a:gd name="GluePoint5X" fmla="*/ 115861 w 115435"/>
                  <a:gd name="GluePoint5Y" fmla="*/ 788987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0000FF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7240" tIns="46800" rIns="572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" name=""/>
            <p:cNvSpPr/>
            <p:nvPr/>
          </p:nvSpPr>
          <p:spPr>
            <a:xfrm>
              <a:off x="2184480" y="6435720"/>
              <a:ext cx="361044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Acetylcholine receptors - Nicotinic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" name=""/>
          <p:cNvSpPr/>
          <p:nvPr/>
        </p:nvSpPr>
        <p:spPr>
          <a:xfrm>
            <a:off x="258840" y="189000"/>
            <a:ext cx="255636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Post-</a:t>
            </a: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synaptic </a:t>
            </a: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targets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 rot="1860000">
            <a:off x="1274760" y="5106240"/>
            <a:ext cx="193680" cy="35244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 rot="19380000">
            <a:off x="6526440" y="4995360"/>
            <a:ext cx="193680" cy="35280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1676880" y="1851120"/>
            <a:ext cx="5379120" cy="1279080"/>
            <a:chOff x="1676880" y="1851120"/>
            <a:chExt cx="5379120" cy="1279080"/>
          </a:xfrm>
        </p:grpSpPr>
        <p:sp>
          <p:nvSpPr>
            <p:cNvPr id="52" name=""/>
            <p:cNvSpPr/>
            <p:nvPr/>
          </p:nvSpPr>
          <p:spPr>
            <a:xfrm>
              <a:off x="5960880" y="1851120"/>
              <a:ext cx="1095120" cy="64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C00000"/>
                  </a:solidFill>
                  <a:effectLst/>
                  <a:uFillTx/>
                  <a:latin typeface="Arial"/>
                  <a:ea typeface="DejaVu Sans"/>
                </a:rPr>
                <a:t>Ca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C00000"/>
                  </a:solidFill>
                  <a:effectLst/>
                  <a:uFillTx/>
                  <a:latin typeface="Arial"/>
                  <a:ea typeface="DejaVu Sans"/>
                </a:rPr>
                <a:t>channels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" name=""/>
            <p:cNvGrpSpPr/>
            <p:nvPr/>
          </p:nvGrpSpPr>
          <p:grpSpPr>
            <a:xfrm>
              <a:off x="1676880" y="2673000"/>
              <a:ext cx="457200" cy="457200"/>
              <a:chOff x="1676880" y="2673000"/>
              <a:chExt cx="457200" cy="457200"/>
            </a:xfrm>
          </p:grpSpPr>
          <p:sp>
            <p:nvSpPr>
              <p:cNvPr id="54" name=""/>
              <p:cNvSpPr/>
              <p:nvPr/>
            </p:nvSpPr>
            <p:spPr>
              <a:xfrm rot="7860000">
                <a:off x="1813680" y="2741040"/>
                <a:ext cx="193680" cy="35280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1676880" y="2673000"/>
                <a:ext cx="457200" cy="4572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6" name=""/>
            <p:cNvGrpSpPr/>
            <p:nvPr/>
          </p:nvGrpSpPr>
          <p:grpSpPr>
            <a:xfrm>
              <a:off x="2468880" y="2097000"/>
              <a:ext cx="457200" cy="457200"/>
              <a:chOff x="2468880" y="2097000"/>
              <a:chExt cx="457200" cy="457200"/>
            </a:xfrm>
          </p:grpSpPr>
          <p:sp>
            <p:nvSpPr>
              <p:cNvPr id="57" name=""/>
              <p:cNvSpPr/>
              <p:nvPr/>
            </p:nvSpPr>
            <p:spPr>
              <a:xfrm rot="7860000">
                <a:off x="2607480" y="2187000"/>
                <a:ext cx="193680" cy="35280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2468880" y="2097000"/>
                <a:ext cx="457200" cy="4572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9" name=""/>
            <p:cNvGrpSpPr/>
            <p:nvPr/>
          </p:nvGrpSpPr>
          <p:grpSpPr>
            <a:xfrm>
              <a:off x="4895640" y="2111400"/>
              <a:ext cx="354240" cy="572400"/>
              <a:chOff x="4895640" y="2111400"/>
              <a:chExt cx="354240" cy="572400"/>
            </a:xfrm>
          </p:grpSpPr>
          <p:sp>
            <p:nvSpPr>
              <p:cNvPr id="60" name=""/>
              <p:cNvSpPr/>
              <p:nvPr/>
            </p:nvSpPr>
            <p:spPr>
              <a:xfrm rot="12780000">
                <a:off x="4975560" y="2208600"/>
                <a:ext cx="193680" cy="35244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 flipH="1">
                <a:off x="4923360" y="2111400"/>
                <a:ext cx="300240" cy="5724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2" name=""/>
            <p:cNvGrpSpPr/>
            <p:nvPr/>
          </p:nvGrpSpPr>
          <p:grpSpPr>
            <a:xfrm>
              <a:off x="5555160" y="2514600"/>
              <a:ext cx="354600" cy="561600"/>
              <a:chOff x="5555160" y="2514600"/>
              <a:chExt cx="354600" cy="561600"/>
            </a:xfrm>
          </p:grpSpPr>
          <p:sp>
            <p:nvSpPr>
              <p:cNvPr id="63" name=""/>
              <p:cNvSpPr/>
              <p:nvPr/>
            </p:nvSpPr>
            <p:spPr>
              <a:xfrm rot="12780000">
                <a:off x="5635440" y="2605680"/>
                <a:ext cx="193680" cy="35280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 flipH="1">
                <a:off x="5558400" y="2514600"/>
                <a:ext cx="319680" cy="5616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5" name=""/>
          <p:cNvGrpSpPr/>
          <p:nvPr/>
        </p:nvGrpSpPr>
        <p:grpSpPr>
          <a:xfrm>
            <a:off x="2843640" y="2852640"/>
            <a:ext cx="2057040" cy="2237040"/>
            <a:chOff x="2843640" y="2852640"/>
            <a:chExt cx="2057040" cy="2237040"/>
          </a:xfrm>
        </p:grpSpPr>
        <p:grpSp>
          <p:nvGrpSpPr>
            <p:cNvPr id="66" name=""/>
            <p:cNvGrpSpPr/>
            <p:nvPr/>
          </p:nvGrpSpPr>
          <p:grpSpPr>
            <a:xfrm>
              <a:off x="2843640" y="2852640"/>
              <a:ext cx="2028960" cy="2237040"/>
              <a:chOff x="2843640" y="2852640"/>
              <a:chExt cx="2028960" cy="2237040"/>
            </a:xfrm>
          </p:grpSpPr>
          <p:sp>
            <p:nvSpPr>
              <p:cNvPr id="67" name=""/>
              <p:cNvSpPr/>
              <p:nvPr/>
            </p:nvSpPr>
            <p:spPr>
              <a:xfrm>
                <a:off x="2961360" y="2852640"/>
                <a:ext cx="419040" cy="44172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>
                <a:off x="3663000" y="3271680"/>
                <a:ext cx="419040" cy="43992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>
                <a:off x="4424760" y="3068640"/>
                <a:ext cx="419400" cy="44136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>
                <a:off x="3501000" y="4280040"/>
                <a:ext cx="417600" cy="43992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>
                <a:off x="4280400" y="4280040"/>
                <a:ext cx="419400" cy="43992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>
                <a:off x="2870640" y="4280040"/>
                <a:ext cx="419400" cy="43992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73" name=""/>
              <p:cNvCxnSpPr/>
              <p:nvPr/>
            </p:nvCxnSpPr>
            <p:spPr>
              <a:xfrm flipH="1">
                <a:off x="3090600" y="3460320"/>
                <a:ext cx="37080" cy="687960"/>
              </a:xfrm>
              <a:prstGeom prst="straightConnector1">
                <a:avLst/>
              </a:prstGeom>
              <a:ln w="9360">
                <a:solidFill>
                  <a:srgbClr val="4A7EBB"/>
                </a:solidFill>
                <a:miter/>
                <a:tailEnd len="med" type="triangle" w="med"/>
              </a:ln>
            </p:spPr>
          </p:cxnSp>
          <p:cxnSp>
            <p:nvCxnSpPr>
              <p:cNvPr id="74" name=""/>
              <p:cNvCxnSpPr/>
              <p:nvPr/>
            </p:nvCxnSpPr>
            <p:spPr>
              <a:xfrm flipH="1">
                <a:off x="3780000" y="3860280"/>
                <a:ext cx="33840" cy="275400"/>
              </a:xfrm>
              <a:prstGeom prst="straightConnector1">
                <a:avLst/>
              </a:prstGeom>
              <a:ln w="9360">
                <a:solidFill>
                  <a:srgbClr val="4A7EBB"/>
                </a:solidFill>
                <a:miter/>
                <a:tailEnd len="med" type="arrow" w="med"/>
              </a:ln>
            </p:spPr>
          </p:cxnSp>
          <p:cxnSp>
            <p:nvCxnSpPr>
              <p:cNvPr id="75" name=""/>
              <p:cNvCxnSpPr/>
              <p:nvPr/>
            </p:nvCxnSpPr>
            <p:spPr>
              <a:xfrm flipH="1">
                <a:off x="4572000" y="3614760"/>
                <a:ext cx="62280" cy="535680"/>
              </a:xfrm>
              <a:prstGeom prst="straightConnector1">
                <a:avLst/>
              </a:prstGeom>
              <a:ln w="9360">
                <a:solidFill>
                  <a:srgbClr val="4A7EBB"/>
                </a:solidFill>
                <a:miter/>
                <a:tailEnd len="med" type="arrow" w="med"/>
              </a:ln>
            </p:spPr>
          </p:cxnSp>
          <p:sp>
            <p:nvSpPr>
              <p:cNvPr id="76" name=""/>
              <p:cNvSpPr/>
              <p:nvPr/>
            </p:nvSpPr>
            <p:spPr>
              <a:xfrm>
                <a:off x="2843640" y="4784760"/>
                <a:ext cx="122400" cy="15264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200" tIns="46800" rIns="612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>
                <a:off x="3077280" y="4937040"/>
                <a:ext cx="122400" cy="15264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200" tIns="46800" rIns="612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3508920" y="4857840"/>
                <a:ext cx="122400" cy="15084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200" tIns="46800" rIns="612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3852000" y="4869000"/>
                <a:ext cx="122400" cy="15228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200" tIns="46800" rIns="612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4462920" y="4869000"/>
                <a:ext cx="122400" cy="15228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200" tIns="46800" rIns="612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4752000" y="4869000"/>
                <a:ext cx="120600" cy="15228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0480" tIns="46800" rIns="6048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3013560" y="4616280"/>
                <a:ext cx="122400" cy="1512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200" tIns="46800" rIns="612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>
                <a:off x="3653280" y="4653000"/>
                <a:ext cx="122400" cy="15084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200" tIns="46800" rIns="612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>
                <a:off x="4445640" y="4645080"/>
                <a:ext cx="122400" cy="15084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200" tIns="46800" rIns="612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" name=""/>
            <p:cNvSpPr/>
            <p:nvPr/>
          </p:nvSpPr>
          <p:spPr>
            <a:xfrm>
              <a:off x="2935800" y="293580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3655800" y="336816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4267800" y="4376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3475800" y="4376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2863800" y="4340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4447800" y="3152520"/>
              <a:ext cx="45288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" name=""/>
          <p:cNvSpPr/>
          <p:nvPr/>
        </p:nvSpPr>
        <p:spPr>
          <a:xfrm>
            <a:off x="6633720" y="5392080"/>
            <a:ext cx="549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874080" y="5464440"/>
            <a:ext cx="549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 flipV="1">
            <a:off x="1197720" y="5029200"/>
            <a:ext cx="402480" cy="45684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 flipH="1" flipV="1">
            <a:off x="6472800" y="4944600"/>
            <a:ext cx="385200" cy="541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 txBox="1"/>
          <p:nvPr/>
        </p:nvSpPr>
        <p:spPr>
          <a:xfrm>
            <a:off x="2356200" y="99000"/>
            <a:ext cx="43862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Nicotinic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acetyl choline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receptors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-nAChR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6" name=""/>
          <p:cNvGrpSpPr/>
          <p:nvPr/>
        </p:nvGrpSpPr>
        <p:grpSpPr>
          <a:xfrm>
            <a:off x="185760" y="559440"/>
            <a:ext cx="8856720" cy="2542680"/>
            <a:chOff x="185760" y="559440"/>
            <a:chExt cx="8856720" cy="2542680"/>
          </a:xfrm>
        </p:grpSpPr>
        <p:sp>
          <p:nvSpPr>
            <p:cNvPr id="97" name=""/>
            <p:cNvSpPr/>
            <p:nvPr/>
          </p:nvSpPr>
          <p:spPr>
            <a:xfrm>
              <a:off x="817200" y="559440"/>
              <a:ext cx="434520" cy="412560"/>
            </a:xfrm>
            <a:prstGeom prst="ellipse">
              <a:avLst/>
            </a:prstGeom>
            <a:solidFill>
              <a:srgbClr val="00B050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1143000" y="1063440"/>
              <a:ext cx="432720" cy="412560"/>
            </a:xfrm>
            <a:prstGeom prst="ellipse">
              <a:avLst/>
            </a:prstGeom>
            <a:solidFill>
              <a:srgbClr val="00B050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1711080" y="851400"/>
              <a:ext cx="432720" cy="412560"/>
            </a:xfrm>
            <a:prstGeom prst="ellipse">
              <a:avLst/>
            </a:prstGeom>
            <a:solidFill>
              <a:srgbClr val="00B050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356040" y="808560"/>
              <a:ext cx="432720" cy="412560"/>
            </a:xfrm>
            <a:prstGeom prst="ellipse">
              <a:avLst/>
            </a:prstGeom>
            <a:solidFill>
              <a:srgbClr val="00B050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1" name=""/>
            <p:cNvGrpSpPr/>
            <p:nvPr/>
          </p:nvGrpSpPr>
          <p:grpSpPr>
            <a:xfrm>
              <a:off x="185760" y="1463040"/>
              <a:ext cx="1908720" cy="1170720"/>
              <a:chOff x="185760" y="1463040"/>
              <a:chExt cx="1908720" cy="1170720"/>
            </a:xfrm>
          </p:grpSpPr>
          <p:sp>
            <p:nvSpPr>
              <p:cNvPr id="102" name=""/>
              <p:cNvSpPr/>
              <p:nvPr/>
            </p:nvSpPr>
            <p:spPr>
              <a:xfrm>
                <a:off x="238680" y="1689480"/>
                <a:ext cx="1728000" cy="94428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"/>
              <p:cNvSpPr/>
              <p:nvPr/>
            </p:nvSpPr>
            <p:spPr>
              <a:xfrm>
                <a:off x="842040" y="1689480"/>
                <a:ext cx="434160" cy="944280"/>
              </a:xfrm>
              <a:prstGeom prst="can">
                <a:avLst>
                  <a:gd name="adj" fmla="val 18013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"/>
              <p:cNvSpPr/>
              <p:nvPr/>
            </p:nvSpPr>
            <p:spPr>
              <a:xfrm rot="20940000">
                <a:off x="860760" y="1632240"/>
                <a:ext cx="415080" cy="166320"/>
              </a:xfrm>
              <a:prstGeom prst="ellipse">
                <a:avLst/>
              </a:prstGeom>
              <a:solidFill>
                <a:srgbClr val="4F81BD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>
                <a:off x="185760" y="1463040"/>
                <a:ext cx="432720" cy="412560"/>
              </a:xfrm>
              <a:prstGeom prst="ellipse">
                <a:avLst/>
              </a:prstGeom>
              <a:solidFill>
                <a:srgbClr val="B2B2B2"/>
              </a:solidFill>
              <a:ln w="25560">
                <a:solidFill>
                  <a:srgbClr val="CCCC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>
                <a:off x="1661760" y="1463040"/>
                <a:ext cx="432720" cy="412560"/>
              </a:xfrm>
              <a:prstGeom prst="ellipse">
                <a:avLst/>
              </a:prstGeom>
              <a:solidFill>
                <a:srgbClr val="B2B2B2"/>
              </a:solidFill>
              <a:ln w="25560">
                <a:solidFill>
                  <a:srgbClr val="CCCC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7" name=""/>
            <p:cNvGrpSpPr/>
            <p:nvPr/>
          </p:nvGrpSpPr>
          <p:grpSpPr>
            <a:xfrm>
              <a:off x="2525760" y="1463040"/>
              <a:ext cx="1908720" cy="1170720"/>
              <a:chOff x="2525760" y="1463040"/>
              <a:chExt cx="1908720" cy="1170720"/>
            </a:xfrm>
          </p:grpSpPr>
          <p:grpSp>
            <p:nvGrpSpPr>
              <p:cNvPr id="108" name=""/>
              <p:cNvGrpSpPr/>
              <p:nvPr/>
            </p:nvGrpSpPr>
            <p:grpSpPr>
              <a:xfrm>
                <a:off x="2525760" y="1463040"/>
                <a:ext cx="1908720" cy="1170720"/>
                <a:chOff x="2525760" y="1463040"/>
                <a:chExt cx="1908720" cy="1170720"/>
              </a:xfrm>
            </p:grpSpPr>
            <p:sp>
              <p:nvSpPr>
                <p:cNvPr id="109" name=""/>
                <p:cNvSpPr/>
                <p:nvPr/>
              </p:nvSpPr>
              <p:spPr>
                <a:xfrm>
                  <a:off x="2578680" y="1689480"/>
                  <a:ext cx="1728000" cy="94428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CC"/>
                </a:solidFill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" name=""/>
                <p:cNvSpPr/>
                <p:nvPr/>
              </p:nvSpPr>
              <p:spPr>
                <a:xfrm>
                  <a:off x="3182040" y="1689480"/>
                  <a:ext cx="434160" cy="944280"/>
                </a:xfrm>
                <a:prstGeom prst="can">
                  <a:avLst>
                    <a:gd name="adj" fmla="val 18013"/>
                  </a:avLst>
                </a:prstGeom>
                <a:solidFill>
                  <a:srgbClr val="FFFFFF"/>
                </a:solidFill>
                <a:ln w="255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" name=""/>
                <p:cNvSpPr/>
                <p:nvPr/>
              </p:nvSpPr>
              <p:spPr>
                <a:xfrm rot="20940000">
                  <a:off x="3200760" y="1632240"/>
                  <a:ext cx="415080" cy="166320"/>
                </a:xfrm>
                <a:prstGeom prst="ellipse">
                  <a:avLst/>
                </a:prstGeom>
                <a:solidFill>
                  <a:srgbClr val="4F81BD"/>
                </a:solidFill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" name=""/>
                <p:cNvSpPr/>
                <p:nvPr/>
              </p:nvSpPr>
              <p:spPr>
                <a:xfrm>
                  <a:off x="2525760" y="1463040"/>
                  <a:ext cx="432720" cy="412560"/>
                </a:xfrm>
                <a:prstGeom prst="ellipse">
                  <a:avLst/>
                </a:prstGeom>
                <a:solidFill>
                  <a:srgbClr val="B2B2B2"/>
                </a:solidFill>
                <a:ln w="25560">
                  <a:solidFill>
                    <a:srgbClr val="CCCCCC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" name=""/>
                <p:cNvSpPr/>
                <p:nvPr/>
              </p:nvSpPr>
              <p:spPr>
                <a:xfrm>
                  <a:off x="4001760" y="1463040"/>
                  <a:ext cx="432720" cy="412560"/>
                </a:xfrm>
                <a:prstGeom prst="ellipse">
                  <a:avLst/>
                </a:prstGeom>
                <a:solidFill>
                  <a:srgbClr val="B2B2B2"/>
                </a:solidFill>
                <a:ln w="25560">
                  <a:solidFill>
                    <a:srgbClr val="CCCCCC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14" name=""/>
              <p:cNvSpPr/>
              <p:nvPr/>
            </p:nvSpPr>
            <p:spPr>
              <a:xfrm>
                <a:off x="2525760" y="1463040"/>
                <a:ext cx="432720" cy="412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4001760" y="1463040"/>
                <a:ext cx="432720" cy="412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6" name=""/>
            <p:cNvGrpSpPr/>
            <p:nvPr/>
          </p:nvGrpSpPr>
          <p:grpSpPr>
            <a:xfrm>
              <a:off x="4865760" y="1314360"/>
              <a:ext cx="1908720" cy="1355400"/>
              <a:chOff x="4865760" y="1314360"/>
              <a:chExt cx="1908720" cy="1355400"/>
            </a:xfrm>
          </p:grpSpPr>
          <p:sp>
            <p:nvSpPr>
              <p:cNvPr id="117" name=""/>
              <p:cNvSpPr/>
              <p:nvPr/>
            </p:nvSpPr>
            <p:spPr>
              <a:xfrm>
                <a:off x="4918680" y="1725480"/>
                <a:ext cx="1728000" cy="94428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>
                <a:off x="5522040" y="1689480"/>
                <a:ext cx="434160" cy="944280"/>
              </a:xfrm>
              <a:prstGeom prst="can">
                <a:avLst>
                  <a:gd name="adj" fmla="val 18013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 rot="17016600">
                <a:off x="5396760" y="1452600"/>
                <a:ext cx="415080" cy="166320"/>
              </a:xfrm>
              <a:prstGeom prst="ellipse">
                <a:avLst/>
              </a:prstGeom>
              <a:solidFill>
                <a:srgbClr val="4F81BD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>
                <a:off x="4865760" y="1463040"/>
                <a:ext cx="432720" cy="412560"/>
              </a:xfrm>
              <a:prstGeom prst="ellipse">
                <a:avLst/>
              </a:prstGeom>
              <a:solidFill>
                <a:srgbClr val="B2B2B2"/>
              </a:solidFill>
              <a:ln w="25560">
                <a:solidFill>
                  <a:srgbClr val="CCCC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>
                <a:off x="6341760" y="1463040"/>
                <a:ext cx="432720" cy="412560"/>
              </a:xfrm>
              <a:prstGeom prst="ellipse">
                <a:avLst/>
              </a:prstGeom>
              <a:solidFill>
                <a:srgbClr val="B2B2B2"/>
              </a:solidFill>
              <a:ln w="25560">
                <a:solidFill>
                  <a:srgbClr val="CCCC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"/>
              <p:cNvSpPr/>
              <p:nvPr/>
            </p:nvSpPr>
            <p:spPr>
              <a:xfrm>
                <a:off x="6341760" y="1463040"/>
                <a:ext cx="432720" cy="412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>
                <a:off x="4865760" y="1463040"/>
                <a:ext cx="432720" cy="412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4" name=""/>
            <p:cNvGrpSpPr/>
            <p:nvPr/>
          </p:nvGrpSpPr>
          <p:grpSpPr>
            <a:xfrm>
              <a:off x="7133760" y="1278360"/>
              <a:ext cx="1908720" cy="1355400"/>
              <a:chOff x="7133760" y="1278360"/>
              <a:chExt cx="1908720" cy="1355400"/>
            </a:xfrm>
          </p:grpSpPr>
          <p:sp>
            <p:nvSpPr>
              <p:cNvPr id="125" name=""/>
              <p:cNvSpPr/>
              <p:nvPr/>
            </p:nvSpPr>
            <p:spPr>
              <a:xfrm rot="17016600">
                <a:off x="7664760" y="1416600"/>
                <a:ext cx="415080" cy="166320"/>
              </a:xfrm>
              <a:prstGeom prst="ellipse">
                <a:avLst/>
              </a:prstGeom>
              <a:solidFill>
                <a:srgbClr val="4F81BD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>
                <a:off x="7133760" y="1499040"/>
                <a:ext cx="432720" cy="412560"/>
              </a:xfrm>
              <a:prstGeom prst="ellipse">
                <a:avLst/>
              </a:prstGeom>
              <a:solidFill>
                <a:srgbClr val="B2B2B2"/>
              </a:solidFill>
              <a:ln w="25560">
                <a:solidFill>
                  <a:srgbClr val="CCCC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>
                <a:off x="8609760" y="1499040"/>
                <a:ext cx="432720" cy="412560"/>
              </a:xfrm>
              <a:prstGeom prst="ellipse">
                <a:avLst/>
              </a:prstGeom>
              <a:solidFill>
                <a:srgbClr val="B2B2B2"/>
              </a:solidFill>
              <a:ln w="25560">
                <a:solidFill>
                  <a:srgbClr val="CCCC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28" name=""/>
              <p:cNvGrpSpPr/>
              <p:nvPr/>
            </p:nvGrpSpPr>
            <p:grpSpPr>
              <a:xfrm>
                <a:off x="7133760" y="1499040"/>
                <a:ext cx="1908720" cy="1134720"/>
                <a:chOff x="7133760" y="1499040"/>
                <a:chExt cx="1908720" cy="1134720"/>
              </a:xfrm>
            </p:grpSpPr>
            <p:sp>
              <p:nvSpPr>
                <p:cNvPr id="129" name=""/>
                <p:cNvSpPr/>
                <p:nvPr/>
              </p:nvSpPr>
              <p:spPr>
                <a:xfrm>
                  <a:off x="7186680" y="1689480"/>
                  <a:ext cx="1728000" cy="94428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CC"/>
                </a:solidFill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0" name=""/>
                <p:cNvSpPr/>
                <p:nvPr/>
              </p:nvSpPr>
              <p:spPr>
                <a:xfrm>
                  <a:off x="8609760" y="1499040"/>
                  <a:ext cx="432720" cy="412560"/>
                </a:xfrm>
                <a:prstGeom prst="ellipse">
                  <a:avLst/>
                </a:prstGeom>
                <a:solidFill>
                  <a:srgbClr val="00B050"/>
                </a:solidFill>
                <a:ln w="25560">
                  <a:solidFill>
                    <a:srgbClr val="00B05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" name=""/>
                <p:cNvSpPr/>
                <p:nvPr/>
              </p:nvSpPr>
              <p:spPr>
                <a:xfrm>
                  <a:off x="7133760" y="1499040"/>
                  <a:ext cx="432720" cy="412560"/>
                </a:xfrm>
                <a:prstGeom prst="ellipse">
                  <a:avLst/>
                </a:prstGeom>
                <a:solidFill>
                  <a:srgbClr val="00B050"/>
                </a:solidFill>
                <a:ln w="25560">
                  <a:solidFill>
                    <a:srgbClr val="00B05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32" name=""/>
              <p:cNvSpPr/>
              <p:nvPr/>
            </p:nvSpPr>
            <p:spPr>
              <a:xfrm>
                <a:off x="7790040" y="1689480"/>
                <a:ext cx="434160" cy="944280"/>
              </a:xfrm>
              <a:prstGeom prst="can">
                <a:avLst>
                  <a:gd name="adj" fmla="val 18013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>
                <a:off x="7754040" y="2381760"/>
                <a:ext cx="484560" cy="190440"/>
              </a:xfrm>
              <a:prstGeom prst="ellipse">
                <a:avLst/>
              </a:prstGeom>
              <a:solidFill>
                <a:srgbClr val="FF000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4" name=""/>
            <p:cNvGrpSpPr/>
            <p:nvPr/>
          </p:nvGrpSpPr>
          <p:grpSpPr>
            <a:xfrm>
              <a:off x="2044800" y="2121480"/>
              <a:ext cx="468000" cy="42480"/>
              <a:chOff x="2044800" y="2121480"/>
              <a:chExt cx="468000" cy="42480"/>
            </a:xfrm>
          </p:grpSpPr>
          <p:sp>
            <p:nvSpPr>
              <p:cNvPr id="135" name=""/>
              <p:cNvSpPr/>
              <p:nvPr/>
            </p:nvSpPr>
            <p:spPr>
              <a:xfrm>
                <a:off x="2044800" y="2121480"/>
                <a:ext cx="457200" cy="720"/>
              </a:xfrm>
              <a:prstGeom prst="line">
                <a:avLst/>
              </a:prstGeom>
              <a:ln w="0">
                <a:solidFill>
                  <a:srgbClr val="3465A4"/>
                </a:solidFill>
                <a:head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280" rIns="90000" bIns="-442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"/>
              <p:cNvSpPr/>
              <p:nvPr/>
            </p:nvSpPr>
            <p:spPr>
              <a:xfrm>
                <a:off x="2055600" y="2163960"/>
                <a:ext cx="457200" cy="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5000" rIns="90000" bIns="-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7" name=""/>
            <p:cNvGrpSpPr/>
            <p:nvPr/>
          </p:nvGrpSpPr>
          <p:grpSpPr>
            <a:xfrm>
              <a:off x="2044800" y="2121480"/>
              <a:ext cx="468000" cy="42480"/>
              <a:chOff x="2044800" y="2121480"/>
              <a:chExt cx="468000" cy="42480"/>
            </a:xfrm>
          </p:grpSpPr>
          <p:sp>
            <p:nvSpPr>
              <p:cNvPr id="138" name=""/>
              <p:cNvSpPr/>
              <p:nvPr/>
            </p:nvSpPr>
            <p:spPr>
              <a:xfrm>
                <a:off x="2044800" y="2121480"/>
                <a:ext cx="457200" cy="720"/>
              </a:xfrm>
              <a:prstGeom prst="line">
                <a:avLst/>
              </a:prstGeom>
              <a:ln w="0">
                <a:solidFill>
                  <a:srgbClr val="3465A4"/>
                </a:solidFill>
                <a:head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280" rIns="90000" bIns="-442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>
                <a:off x="2055600" y="2163960"/>
                <a:ext cx="457200" cy="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5000" rIns="90000" bIns="-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0" name=""/>
            <p:cNvGrpSpPr/>
            <p:nvPr/>
          </p:nvGrpSpPr>
          <p:grpSpPr>
            <a:xfrm>
              <a:off x="4384800" y="2121480"/>
              <a:ext cx="468000" cy="42480"/>
              <a:chOff x="4384800" y="2121480"/>
              <a:chExt cx="468000" cy="42480"/>
            </a:xfrm>
          </p:grpSpPr>
          <p:sp>
            <p:nvSpPr>
              <p:cNvPr id="141" name=""/>
              <p:cNvSpPr/>
              <p:nvPr/>
            </p:nvSpPr>
            <p:spPr>
              <a:xfrm>
                <a:off x="4384800" y="2121480"/>
                <a:ext cx="457200" cy="720"/>
              </a:xfrm>
              <a:prstGeom prst="line">
                <a:avLst/>
              </a:prstGeom>
              <a:ln w="0">
                <a:solidFill>
                  <a:srgbClr val="3465A4"/>
                </a:solidFill>
                <a:head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280" rIns="90000" bIns="-442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4395600" y="2163960"/>
                <a:ext cx="457200" cy="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5000" rIns="90000" bIns="-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3" name=""/>
            <p:cNvGrpSpPr/>
            <p:nvPr/>
          </p:nvGrpSpPr>
          <p:grpSpPr>
            <a:xfrm>
              <a:off x="6688800" y="2121480"/>
              <a:ext cx="468000" cy="42480"/>
              <a:chOff x="6688800" y="2121480"/>
              <a:chExt cx="468000" cy="42480"/>
            </a:xfrm>
          </p:grpSpPr>
          <p:sp>
            <p:nvSpPr>
              <p:cNvPr id="144" name=""/>
              <p:cNvSpPr/>
              <p:nvPr/>
            </p:nvSpPr>
            <p:spPr>
              <a:xfrm>
                <a:off x="6688800" y="2121480"/>
                <a:ext cx="457200" cy="720"/>
              </a:xfrm>
              <a:prstGeom prst="line">
                <a:avLst/>
              </a:prstGeom>
              <a:ln w="0">
                <a:solidFill>
                  <a:srgbClr val="3465A4"/>
                </a:solidFill>
                <a:head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280" rIns="90000" bIns="-442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>
                <a:off x="6699600" y="2163960"/>
                <a:ext cx="457200" cy="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5000" rIns="90000" bIns="-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6" name=""/>
            <p:cNvSpPr txBox="1"/>
            <p:nvPr/>
          </p:nvSpPr>
          <p:spPr>
            <a:xfrm>
              <a:off x="685800" y="2743200"/>
              <a:ext cx="84168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c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l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o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"/>
            <p:cNvSpPr txBox="1"/>
            <p:nvPr/>
          </p:nvSpPr>
          <p:spPr>
            <a:xfrm>
              <a:off x="5482800" y="2743200"/>
              <a:ext cx="68940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open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"/>
            <p:cNvSpPr txBox="1"/>
            <p:nvPr/>
          </p:nvSpPr>
          <p:spPr>
            <a:xfrm>
              <a:off x="7315200" y="2755800"/>
              <a:ext cx="145152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desensitised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"/>
            <p:cNvSpPr txBox="1"/>
            <p:nvPr/>
          </p:nvSpPr>
          <p:spPr>
            <a:xfrm>
              <a:off x="3025800" y="2743200"/>
              <a:ext cx="84168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closed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"/>
            <p:cNvSpPr txBox="1"/>
            <p:nvPr/>
          </p:nvSpPr>
          <p:spPr>
            <a:xfrm>
              <a:off x="3425760" y="685800"/>
              <a:ext cx="174384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A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go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ni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 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bi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nd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g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1" name=""/>
          <p:cNvGrpSpPr/>
          <p:nvPr/>
        </p:nvGrpSpPr>
        <p:grpSpPr>
          <a:xfrm>
            <a:off x="185760" y="3632400"/>
            <a:ext cx="4500720" cy="2742120"/>
            <a:chOff x="185760" y="3632400"/>
            <a:chExt cx="4500720" cy="2742120"/>
          </a:xfrm>
        </p:grpSpPr>
        <p:grpSp>
          <p:nvGrpSpPr>
            <p:cNvPr id="152" name=""/>
            <p:cNvGrpSpPr/>
            <p:nvPr/>
          </p:nvGrpSpPr>
          <p:grpSpPr>
            <a:xfrm>
              <a:off x="185760" y="3632400"/>
              <a:ext cx="4500720" cy="2169360"/>
              <a:chOff x="185760" y="3632400"/>
              <a:chExt cx="4500720" cy="2169360"/>
            </a:xfrm>
          </p:grpSpPr>
          <p:grpSp>
            <p:nvGrpSpPr>
              <p:cNvPr id="153" name=""/>
              <p:cNvGrpSpPr/>
              <p:nvPr/>
            </p:nvGrpSpPr>
            <p:grpSpPr>
              <a:xfrm>
                <a:off x="2116800" y="5325480"/>
                <a:ext cx="468000" cy="42480"/>
                <a:chOff x="2116800" y="5325480"/>
                <a:chExt cx="468000" cy="42480"/>
              </a:xfrm>
            </p:grpSpPr>
            <p:sp>
              <p:nvSpPr>
                <p:cNvPr id="154" name=""/>
                <p:cNvSpPr/>
                <p:nvPr/>
              </p:nvSpPr>
              <p:spPr>
                <a:xfrm>
                  <a:off x="2116800" y="5325480"/>
                  <a:ext cx="457200" cy="720"/>
                </a:xfrm>
                <a:prstGeom prst="line">
                  <a:avLst/>
                </a:prstGeom>
                <a:ln w="0">
                  <a:solidFill>
                    <a:srgbClr val="3465A4"/>
                  </a:solidFill>
                  <a:headEnd len="med" type="triangle" w="med"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-44280" rIns="90000" bIns="-442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" name=""/>
                <p:cNvSpPr/>
                <p:nvPr/>
              </p:nvSpPr>
              <p:spPr>
                <a:xfrm>
                  <a:off x="2127600" y="5367960"/>
                  <a:ext cx="457200" cy="0"/>
                </a:xfrm>
                <a:prstGeom prst="line">
                  <a:avLst/>
                </a:prstGeom>
                <a:ln w="0">
                  <a:solidFill>
                    <a:srgbClr val="3465A4"/>
                  </a:solidFill>
                  <a:tailEnd len="med" type="triangle" w="med"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-45000" rIns="90000" bIns="-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56" name=""/>
              <p:cNvGrpSpPr/>
              <p:nvPr/>
            </p:nvGrpSpPr>
            <p:grpSpPr>
              <a:xfrm>
                <a:off x="185760" y="4631040"/>
                <a:ext cx="1908720" cy="1170720"/>
                <a:chOff x="185760" y="4631040"/>
                <a:chExt cx="1908720" cy="1170720"/>
              </a:xfrm>
            </p:grpSpPr>
            <p:sp>
              <p:nvSpPr>
                <p:cNvPr id="157" name=""/>
                <p:cNvSpPr/>
                <p:nvPr/>
              </p:nvSpPr>
              <p:spPr>
                <a:xfrm>
                  <a:off x="238680" y="4857480"/>
                  <a:ext cx="1728000" cy="94428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CC"/>
                </a:solidFill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" name=""/>
                <p:cNvSpPr/>
                <p:nvPr/>
              </p:nvSpPr>
              <p:spPr>
                <a:xfrm>
                  <a:off x="842040" y="4857480"/>
                  <a:ext cx="434160" cy="944280"/>
                </a:xfrm>
                <a:prstGeom prst="can">
                  <a:avLst>
                    <a:gd name="adj" fmla="val 18013"/>
                  </a:avLst>
                </a:prstGeom>
                <a:solidFill>
                  <a:srgbClr val="FFFFFF"/>
                </a:solidFill>
                <a:ln w="255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" name=""/>
                <p:cNvSpPr/>
                <p:nvPr/>
              </p:nvSpPr>
              <p:spPr>
                <a:xfrm rot="20940000">
                  <a:off x="860760" y="4800240"/>
                  <a:ext cx="415080" cy="166320"/>
                </a:xfrm>
                <a:prstGeom prst="ellipse">
                  <a:avLst/>
                </a:prstGeom>
                <a:solidFill>
                  <a:srgbClr val="4F81BD"/>
                </a:solidFill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0" name=""/>
                <p:cNvSpPr/>
                <p:nvPr/>
              </p:nvSpPr>
              <p:spPr>
                <a:xfrm>
                  <a:off x="185760" y="4631040"/>
                  <a:ext cx="432720" cy="412560"/>
                </a:xfrm>
                <a:prstGeom prst="ellipse">
                  <a:avLst/>
                </a:prstGeom>
                <a:solidFill>
                  <a:srgbClr val="B2B2B2"/>
                </a:solidFill>
                <a:ln w="25560">
                  <a:solidFill>
                    <a:srgbClr val="CCCCCC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1" name=""/>
                <p:cNvSpPr/>
                <p:nvPr/>
              </p:nvSpPr>
              <p:spPr>
                <a:xfrm>
                  <a:off x="1661760" y="4631040"/>
                  <a:ext cx="432720" cy="412560"/>
                </a:xfrm>
                <a:prstGeom prst="ellipse">
                  <a:avLst/>
                </a:prstGeom>
                <a:solidFill>
                  <a:srgbClr val="B2B2B2"/>
                </a:solidFill>
                <a:ln w="25560">
                  <a:solidFill>
                    <a:srgbClr val="CCCCCC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62" name=""/>
              <p:cNvSpPr/>
              <p:nvPr/>
            </p:nvSpPr>
            <p:spPr>
              <a:xfrm>
                <a:off x="2914920" y="4110480"/>
                <a:ext cx="434520" cy="412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63" name=""/>
              <p:cNvGrpSpPr/>
              <p:nvPr/>
            </p:nvGrpSpPr>
            <p:grpSpPr>
              <a:xfrm>
                <a:off x="2777760" y="4631040"/>
                <a:ext cx="1908720" cy="1170720"/>
                <a:chOff x="2777760" y="4631040"/>
                <a:chExt cx="1908720" cy="1170720"/>
              </a:xfrm>
            </p:grpSpPr>
            <p:sp>
              <p:nvSpPr>
                <p:cNvPr id="164" name=""/>
                <p:cNvSpPr/>
                <p:nvPr/>
              </p:nvSpPr>
              <p:spPr>
                <a:xfrm>
                  <a:off x="2830680" y="4857480"/>
                  <a:ext cx="1728000" cy="94428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CC"/>
                </a:solidFill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5" name=""/>
                <p:cNvSpPr/>
                <p:nvPr/>
              </p:nvSpPr>
              <p:spPr>
                <a:xfrm>
                  <a:off x="3434040" y="4857480"/>
                  <a:ext cx="434160" cy="944280"/>
                </a:xfrm>
                <a:prstGeom prst="can">
                  <a:avLst>
                    <a:gd name="adj" fmla="val 18013"/>
                  </a:avLst>
                </a:prstGeom>
                <a:solidFill>
                  <a:srgbClr val="FFFFFF"/>
                </a:solidFill>
                <a:ln w="255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6" name=""/>
                <p:cNvSpPr/>
                <p:nvPr/>
              </p:nvSpPr>
              <p:spPr>
                <a:xfrm rot="20940000">
                  <a:off x="3452760" y="4800240"/>
                  <a:ext cx="415080" cy="166320"/>
                </a:xfrm>
                <a:prstGeom prst="ellipse">
                  <a:avLst/>
                </a:prstGeom>
                <a:solidFill>
                  <a:srgbClr val="4F81BD"/>
                </a:solidFill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7" name=""/>
                <p:cNvSpPr/>
                <p:nvPr/>
              </p:nvSpPr>
              <p:spPr>
                <a:xfrm>
                  <a:off x="2777760" y="4631040"/>
                  <a:ext cx="432720" cy="412560"/>
                </a:xfrm>
                <a:prstGeom prst="ellipse">
                  <a:avLst/>
                </a:prstGeom>
                <a:solidFill>
                  <a:srgbClr val="B2B2B2"/>
                </a:solidFill>
                <a:ln w="25560">
                  <a:solidFill>
                    <a:srgbClr val="CCCCCC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8" name=""/>
                <p:cNvSpPr/>
                <p:nvPr/>
              </p:nvSpPr>
              <p:spPr>
                <a:xfrm>
                  <a:off x="4253760" y="4631040"/>
                  <a:ext cx="432720" cy="412560"/>
                </a:xfrm>
                <a:prstGeom prst="ellipse">
                  <a:avLst/>
                </a:prstGeom>
                <a:solidFill>
                  <a:srgbClr val="B2B2B2"/>
                </a:solidFill>
                <a:ln w="25560">
                  <a:solidFill>
                    <a:srgbClr val="CCCCCC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69" name=""/>
              <p:cNvSpPr/>
              <p:nvPr/>
            </p:nvSpPr>
            <p:spPr>
              <a:xfrm>
                <a:off x="4253760" y="4630680"/>
                <a:ext cx="432720" cy="41256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"/>
              <p:cNvSpPr/>
              <p:nvPr/>
            </p:nvSpPr>
            <p:spPr>
              <a:xfrm>
                <a:off x="2777760" y="4630680"/>
                <a:ext cx="432720" cy="41256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"/>
              <p:cNvSpPr/>
              <p:nvPr/>
            </p:nvSpPr>
            <p:spPr>
              <a:xfrm>
                <a:off x="473760" y="4162680"/>
                <a:ext cx="432720" cy="41256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"/>
              <p:cNvSpPr/>
              <p:nvPr/>
            </p:nvSpPr>
            <p:spPr>
              <a:xfrm>
                <a:off x="3635280" y="4110480"/>
                <a:ext cx="434520" cy="412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"/>
              <p:cNvSpPr/>
              <p:nvPr/>
            </p:nvSpPr>
            <p:spPr>
              <a:xfrm>
                <a:off x="4139280" y="4110480"/>
                <a:ext cx="434520" cy="412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"/>
              <p:cNvSpPr/>
              <p:nvPr/>
            </p:nvSpPr>
            <p:spPr>
              <a:xfrm>
                <a:off x="1121760" y="4162680"/>
                <a:ext cx="432720" cy="41256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"/>
              <p:cNvSpPr/>
              <p:nvPr/>
            </p:nvSpPr>
            <p:spPr>
              <a:xfrm>
                <a:off x="1733760" y="4162680"/>
                <a:ext cx="432720" cy="41256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"/>
              <p:cNvSpPr txBox="1"/>
              <p:nvPr/>
            </p:nvSpPr>
            <p:spPr>
              <a:xfrm>
                <a:off x="417600" y="3632400"/>
                <a:ext cx="3725640" cy="3463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90000" tIns="45000" rIns="90000" bIns="45000" anchor="t">
                <a:spAutoFit/>
              </a:bodyPr>
              <a:p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Reversible competitive antagonism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7" name=""/>
            <p:cNvSpPr txBox="1"/>
            <p:nvPr/>
          </p:nvSpPr>
          <p:spPr>
            <a:xfrm>
              <a:off x="685800" y="5992200"/>
              <a:ext cx="84168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c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l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o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"/>
            <p:cNvSpPr txBox="1"/>
            <p:nvPr/>
          </p:nvSpPr>
          <p:spPr>
            <a:xfrm>
              <a:off x="3241800" y="6028200"/>
              <a:ext cx="84168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closed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9" name=""/>
          <p:cNvGrpSpPr/>
          <p:nvPr/>
        </p:nvGrpSpPr>
        <p:grpSpPr>
          <a:xfrm>
            <a:off x="4602600" y="3621600"/>
            <a:ext cx="4627800" cy="2743200"/>
            <a:chOff x="4602600" y="3621600"/>
            <a:chExt cx="4627800" cy="2743200"/>
          </a:xfrm>
        </p:grpSpPr>
        <p:sp>
          <p:nvSpPr>
            <p:cNvPr id="180" name=""/>
            <p:cNvSpPr/>
            <p:nvPr/>
          </p:nvSpPr>
          <p:spPr>
            <a:xfrm>
              <a:off x="6536160" y="5095800"/>
              <a:ext cx="57456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1" name=""/>
            <p:cNvGrpSpPr/>
            <p:nvPr/>
          </p:nvGrpSpPr>
          <p:grpSpPr>
            <a:xfrm>
              <a:off x="4970880" y="4410720"/>
              <a:ext cx="1908720" cy="1355400"/>
              <a:chOff x="4970880" y="4410720"/>
              <a:chExt cx="1908720" cy="1355400"/>
            </a:xfrm>
          </p:grpSpPr>
          <p:sp>
            <p:nvSpPr>
              <p:cNvPr id="182" name=""/>
              <p:cNvSpPr/>
              <p:nvPr/>
            </p:nvSpPr>
            <p:spPr>
              <a:xfrm>
                <a:off x="5023800" y="4821840"/>
                <a:ext cx="1728000" cy="94428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" name=""/>
              <p:cNvSpPr/>
              <p:nvPr/>
            </p:nvSpPr>
            <p:spPr>
              <a:xfrm>
                <a:off x="5627160" y="4785840"/>
                <a:ext cx="434160" cy="944280"/>
              </a:xfrm>
              <a:prstGeom prst="can">
                <a:avLst>
                  <a:gd name="adj" fmla="val 18013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" name=""/>
              <p:cNvSpPr/>
              <p:nvPr/>
            </p:nvSpPr>
            <p:spPr>
              <a:xfrm rot="17016600">
                <a:off x="5501880" y="4548960"/>
                <a:ext cx="415080" cy="166320"/>
              </a:xfrm>
              <a:prstGeom prst="ellipse">
                <a:avLst/>
              </a:prstGeom>
              <a:solidFill>
                <a:srgbClr val="4F81BD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" name=""/>
              <p:cNvSpPr/>
              <p:nvPr/>
            </p:nvSpPr>
            <p:spPr>
              <a:xfrm>
                <a:off x="4970880" y="4559400"/>
                <a:ext cx="432720" cy="412560"/>
              </a:xfrm>
              <a:prstGeom prst="ellipse">
                <a:avLst/>
              </a:prstGeom>
              <a:solidFill>
                <a:srgbClr val="B2B2B2"/>
              </a:solidFill>
              <a:ln w="25560">
                <a:solidFill>
                  <a:srgbClr val="CCCC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"/>
              <p:cNvSpPr/>
              <p:nvPr/>
            </p:nvSpPr>
            <p:spPr>
              <a:xfrm>
                <a:off x="6446880" y="4559400"/>
                <a:ext cx="432720" cy="412560"/>
              </a:xfrm>
              <a:prstGeom prst="ellipse">
                <a:avLst/>
              </a:prstGeom>
              <a:solidFill>
                <a:srgbClr val="B2B2B2"/>
              </a:solidFill>
              <a:ln w="25560">
                <a:solidFill>
                  <a:srgbClr val="CCCC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"/>
              <p:cNvSpPr/>
              <p:nvPr/>
            </p:nvSpPr>
            <p:spPr>
              <a:xfrm>
                <a:off x="6446880" y="4559400"/>
                <a:ext cx="432720" cy="412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"/>
              <p:cNvSpPr/>
              <p:nvPr/>
            </p:nvSpPr>
            <p:spPr>
              <a:xfrm>
                <a:off x="4970880" y="4559400"/>
                <a:ext cx="432720" cy="412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9" name=""/>
            <p:cNvGrpSpPr/>
            <p:nvPr/>
          </p:nvGrpSpPr>
          <p:grpSpPr>
            <a:xfrm>
              <a:off x="7202880" y="4411080"/>
              <a:ext cx="1908720" cy="1355400"/>
              <a:chOff x="7202880" y="4411080"/>
              <a:chExt cx="1908720" cy="1355400"/>
            </a:xfrm>
          </p:grpSpPr>
          <p:sp>
            <p:nvSpPr>
              <p:cNvPr id="190" name=""/>
              <p:cNvSpPr/>
              <p:nvPr/>
            </p:nvSpPr>
            <p:spPr>
              <a:xfrm>
                <a:off x="7255800" y="4822200"/>
                <a:ext cx="1728000" cy="94428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" name=""/>
              <p:cNvSpPr/>
              <p:nvPr/>
            </p:nvSpPr>
            <p:spPr>
              <a:xfrm>
                <a:off x="7859160" y="4786200"/>
                <a:ext cx="434160" cy="944280"/>
              </a:xfrm>
              <a:prstGeom prst="can">
                <a:avLst>
                  <a:gd name="adj" fmla="val 18013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" name=""/>
              <p:cNvSpPr/>
              <p:nvPr/>
            </p:nvSpPr>
            <p:spPr>
              <a:xfrm rot="17016600">
                <a:off x="7733880" y="4549320"/>
                <a:ext cx="415080" cy="166320"/>
              </a:xfrm>
              <a:prstGeom prst="ellipse">
                <a:avLst/>
              </a:prstGeom>
              <a:solidFill>
                <a:srgbClr val="4F81BD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" name=""/>
              <p:cNvSpPr/>
              <p:nvPr/>
            </p:nvSpPr>
            <p:spPr>
              <a:xfrm>
                <a:off x="7202880" y="4559760"/>
                <a:ext cx="432720" cy="412560"/>
              </a:xfrm>
              <a:prstGeom prst="ellipse">
                <a:avLst/>
              </a:prstGeom>
              <a:solidFill>
                <a:srgbClr val="B2B2B2"/>
              </a:solidFill>
              <a:ln w="25560">
                <a:solidFill>
                  <a:srgbClr val="CCCC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" name=""/>
              <p:cNvSpPr/>
              <p:nvPr/>
            </p:nvSpPr>
            <p:spPr>
              <a:xfrm>
                <a:off x="8678880" y="4559760"/>
                <a:ext cx="432720" cy="412560"/>
              </a:xfrm>
              <a:prstGeom prst="ellipse">
                <a:avLst/>
              </a:prstGeom>
              <a:solidFill>
                <a:srgbClr val="B2B2B2"/>
              </a:solidFill>
              <a:ln w="25560">
                <a:solidFill>
                  <a:srgbClr val="CCCC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" name=""/>
              <p:cNvSpPr/>
              <p:nvPr/>
            </p:nvSpPr>
            <p:spPr>
              <a:xfrm>
                <a:off x="8678880" y="4559760"/>
                <a:ext cx="432720" cy="412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"/>
              <p:cNvSpPr/>
              <p:nvPr/>
            </p:nvSpPr>
            <p:spPr>
              <a:xfrm>
                <a:off x="7202880" y="4559760"/>
                <a:ext cx="432720" cy="412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7" name=""/>
            <p:cNvGrpSpPr/>
            <p:nvPr/>
          </p:nvGrpSpPr>
          <p:grpSpPr>
            <a:xfrm>
              <a:off x="6793920" y="5289480"/>
              <a:ext cx="468000" cy="42480"/>
              <a:chOff x="6793920" y="5289480"/>
              <a:chExt cx="468000" cy="42480"/>
            </a:xfrm>
          </p:grpSpPr>
          <p:sp>
            <p:nvSpPr>
              <p:cNvPr id="198" name=""/>
              <p:cNvSpPr/>
              <p:nvPr/>
            </p:nvSpPr>
            <p:spPr>
              <a:xfrm>
                <a:off x="6793920" y="5289480"/>
                <a:ext cx="457200" cy="720"/>
              </a:xfrm>
              <a:prstGeom prst="line">
                <a:avLst/>
              </a:prstGeom>
              <a:ln w="0">
                <a:solidFill>
                  <a:srgbClr val="3465A4"/>
                </a:solidFill>
                <a:head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280" rIns="90000" bIns="-442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" name=""/>
              <p:cNvSpPr/>
              <p:nvPr/>
            </p:nvSpPr>
            <p:spPr>
              <a:xfrm>
                <a:off x="6804720" y="5331960"/>
                <a:ext cx="457200" cy="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5000" rIns="90000" bIns="-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0" name=""/>
            <p:cNvSpPr/>
            <p:nvPr/>
          </p:nvSpPr>
          <p:spPr>
            <a:xfrm>
              <a:off x="7890120" y="4993200"/>
              <a:ext cx="331200" cy="457200"/>
            </a:xfrm>
            <a:prstGeom prst="ellipse">
              <a:avLst/>
            </a:prstGeom>
            <a:solidFill>
              <a:srgbClr val="FFBF00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5910120" y="3985200"/>
              <a:ext cx="331200" cy="457200"/>
            </a:xfrm>
            <a:prstGeom prst="ellipse">
              <a:avLst/>
            </a:prstGeom>
            <a:solidFill>
              <a:srgbClr val="FFBF00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"/>
            <p:cNvSpPr txBox="1"/>
            <p:nvPr/>
          </p:nvSpPr>
          <p:spPr>
            <a:xfrm>
              <a:off x="4602600" y="3621600"/>
              <a:ext cx="462780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Non-competitive 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antagonism(channel block)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"/>
            <p:cNvSpPr txBox="1"/>
            <p:nvPr/>
          </p:nvSpPr>
          <p:spPr>
            <a:xfrm>
              <a:off x="5443920" y="6018480"/>
              <a:ext cx="68940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open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"/>
            <p:cNvSpPr txBox="1"/>
            <p:nvPr/>
          </p:nvSpPr>
          <p:spPr>
            <a:xfrm>
              <a:off x="7335720" y="6018480"/>
              <a:ext cx="154080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op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 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bl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oc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ke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>
            <a:off x="539640" y="303120"/>
            <a:ext cx="784836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Drugs affecting neurotransmission – postsynaptic site(s)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1143000" y="3975840"/>
            <a:ext cx="44496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1.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Non-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Depolarizing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Competitive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blockers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1143000" y="4800600"/>
            <a:ext cx="44496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 </a:t>
            </a: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Depolarizing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Non-</a:t>
            </a: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Competitive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blockers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661320" y="908640"/>
            <a:ext cx="6007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Neuromus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cular 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blockers / 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muscle 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relaxants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716400" y="1746360"/>
            <a:ext cx="5913000" cy="6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AIM: cause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complete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paralysis of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skeletal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muscle</a:t>
            </a:r>
            <a:endParaRPr lang="en-US" sz="2000" b="0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685800" y="2396880"/>
            <a:ext cx="91620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WHY?</a:t>
            </a:r>
            <a:endParaRPr lang="en-US" sz="2000" b="0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912680" y="2396880"/>
            <a:ext cx="523080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Prevent contraction of muscle during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surgery</a:t>
            </a:r>
            <a:endParaRPr lang="en-US" sz="2000" b="0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>
            <a:off x="1582560" y="260280"/>
            <a:ext cx="636300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1. 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Non-Depolarizing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</a:t>
            </a:r>
            <a:r>
              <a:rPr lang="en-GB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Competitive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blockers (B)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3" name=""/>
          <p:cNvGrpSpPr/>
          <p:nvPr/>
        </p:nvGrpSpPr>
        <p:grpSpPr>
          <a:xfrm>
            <a:off x="5149080" y="971640"/>
            <a:ext cx="2592720" cy="4972680"/>
            <a:chOff x="5149080" y="971640"/>
            <a:chExt cx="2592720" cy="4972680"/>
          </a:xfrm>
        </p:grpSpPr>
        <p:sp>
          <p:nvSpPr>
            <p:cNvPr id="214" name=""/>
            <p:cNvSpPr/>
            <p:nvPr/>
          </p:nvSpPr>
          <p:spPr>
            <a:xfrm>
              <a:off x="5557320" y="3971880"/>
              <a:ext cx="5500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Na</a:t>
              </a:r>
              <a:r>
                <a:rPr lang="en-GB" sz="1800" b="0" u="none" strike="noStrike" baseline="30000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6903720" y="5576760"/>
              <a:ext cx="4104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K</a:t>
              </a:r>
              <a:r>
                <a:rPr lang="en-GB" sz="1800" b="0" u="none" strike="noStrike" baseline="30000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6" name=""/>
            <p:cNvGrpSpPr/>
            <p:nvPr/>
          </p:nvGrpSpPr>
          <p:grpSpPr>
            <a:xfrm>
              <a:off x="5464080" y="4429080"/>
              <a:ext cx="1985760" cy="1068120"/>
              <a:chOff x="5464080" y="4429080"/>
              <a:chExt cx="1985760" cy="1068120"/>
            </a:xfrm>
          </p:grpSpPr>
          <p:sp>
            <p:nvSpPr>
              <p:cNvPr id="217" name=""/>
              <p:cNvSpPr/>
              <p:nvPr/>
            </p:nvSpPr>
            <p:spPr>
              <a:xfrm>
                <a:off x="5595840" y="4552920"/>
                <a:ext cx="1730160" cy="94428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" name=""/>
              <p:cNvSpPr/>
              <p:nvPr/>
            </p:nvSpPr>
            <p:spPr>
              <a:xfrm>
                <a:off x="6235560" y="4552920"/>
                <a:ext cx="433080" cy="944280"/>
              </a:xfrm>
              <a:prstGeom prst="can">
                <a:avLst>
                  <a:gd name="adj" fmla="val 13972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"/>
              <p:cNvSpPr/>
              <p:nvPr/>
            </p:nvSpPr>
            <p:spPr>
              <a:xfrm>
                <a:off x="7016760" y="4446720"/>
                <a:ext cx="433080" cy="41220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" name=""/>
              <p:cNvSpPr/>
              <p:nvPr/>
            </p:nvSpPr>
            <p:spPr>
              <a:xfrm>
                <a:off x="5464080" y="4429080"/>
                <a:ext cx="433080" cy="41400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1" name=""/>
            <p:cNvSpPr/>
            <p:nvPr/>
          </p:nvSpPr>
          <p:spPr>
            <a:xfrm>
              <a:off x="5594400" y="2117880"/>
              <a:ext cx="1728360" cy="945720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6235560" y="2117880"/>
              <a:ext cx="433080" cy="945720"/>
            </a:xfrm>
            <a:prstGeom prst="can">
              <a:avLst>
                <a:gd name="adj" fmla="val 17916"/>
              </a:avLst>
            </a:prstGeom>
            <a:solidFill>
              <a:srgbClr val="FFFFFF"/>
            </a:solidFill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"/>
            <p:cNvSpPr/>
            <p:nvPr/>
          </p:nvSpPr>
          <p:spPr>
            <a:xfrm>
              <a:off x="6659640" y="1474920"/>
              <a:ext cx="434520" cy="414000"/>
            </a:xfrm>
            <a:prstGeom prst="ellipse">
              <a:avLst/>
            </a:prstGeom>
            <a:solidFill>
              <a:srgbClr val="00B050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"/>
            <p:cNvSpPr/>
            <p:nvPr/>
          </p:nvSpPr>
          <p:spPr>
            <a:xfrm>
              <a:off x="5211720" y="1474920"/>
              <a:ext cx="433080" cy="414000"/>
            </a:xfrm>
            <a:prstGeom prst="ellipse">
              <a:avLst/>
            </a:prstGeom>
            <a:solidFill>
              <a:srgbClr val="00B050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"/>
            <p:cNvSpPr/>
            <p:nvPr/>
          </p:nvSpPr>
          <p:spPr>
            <a:xfrm rot="20940000">
              <a:off x="6252840" y="2098080"/>
              <a:ext cx="415440" cy="166320"/>
            </a:xfrm>
            <a:prstGeom prst="ellipse">
              <a:avLst/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26" name=""/>
            <p:cNvCxnSpPr/>
            <p:nvPr/>
          </p:nvCxnSpPr>
          <p:spPr>
            <a:xfrm>
              <a:off x="5508360" y="1877760"/>
              <a:ext cx="153360" cy="324720"/>
            </a:xfrm>
            <a:prstGeom prst="straightConnector1">
              <a:avLst/>
            </a:prstGeom>
            <a:ln w="9360">
              <a:solidFill>
                <a:srgbClr val="4A7EBB"/>
              </a:solidFill>
              <a:miter/>
              <a:tailEnd len="med" type="arrow" w="med"/>
            </a:ln>
          </p:spPr>
        </p:cxnSp>
        <p:cxnSp>
          <p:nvCxnSpPr>
            <p:cNvPr id="227" name=""/>
            <p:cNvCxnSpPr>
              <a:stCxn id="223" idx="4"/>
            </p:cNvCxnSpPr>
            <p:nvPr/>
          </p:nvCxnSpPr>
          <p:spPr>
            <a:xfrm>
              <a:off x="6877080" y="1888920"/>
              <a:ext cx="230760" cy="315360"/>
            </a:xfrm>
            <a:prstGeom prst="straightConnector1">
              <a:avLst/>
            </a:prstGeom>
            <a:ln w="9360">
              <a:solidFill>
                <a:srgbClr val="4A7EBB"/>
              </a:solidFill>
              <a:miter/>
              <a:tailEnd len="med" type="arrow" w="med"/>
            </a:ln>
          </p:spPr>
        </p:cxnSp>
        <p:sp>
          <p:nvSpPr>
            <p:cNvPr id="228" name=""/>
            <p:cNvSpPr/>
            <p:nvPr/>
          </p:nvSpPr>
          <p:spPr>
            <a:xfrm>
              <a:off x="5464080" y="1979640"/>
              <a:ext cx="433080" cy="414000"/>
            </a:xfrm>
            <a:prstGeom prst="ellipse">
              <a:avLst/>
            </a:prstGeom>
            <a:noFill/>
            <a:ln w="25560">
              <a:solidFill>
                <a:srgbClr val="00B050"/>
              </a:solidFill>
              <a:prstDash val="sys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"/>
            <p:cNvSpPr/>
            <p:nvPr/>
          </p:nvSpPr>
          <p:spPr>
            <a:xfrm>
              <a:off x="6975360" y="1979640"/>
              <a:ext cx="434880" cy="414000"/>
            </a:xfrm>
            <a:prstGeom prst="ellipse">
              <a:avLst/>
            </a:prstGeom>
            <a:noFill/>
            <a:ln w="25560">
              <a:solidFill>
                <a:srgbClr val="00B050"/>
              </a:solidFill>
              <a:prstDash val="sys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"/>
            <p:cNvSpPr/>
            <p:nvPr/>
          </p:nvSpPr>
          <p:spPr>
            <a:xfrm>
              <a:off x="5149080" y="1494000"/>
              <a:ext cx="57456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5859360" y="1436760"/>
              <a:ext cx="433080" cy="41220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"/>
            <p:cNvSpPr/>
            <p:nvPr/>
          </p:nvSpPr>
          <p:spPr>
            <a:xfrm>
              <a:off x="5915880" y="1494000"/>
              <a:ext cx="31572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B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33" name=""/>
            <p:cNvCxnSpPr/>
            <p:nvPr/>
          </p:nvCxnSpPr>
          <p:spPr>
            <a:xfrm flipH="1">
              <a:off x="5754240" y="1893600"/>
              <a:ext cx="255240" cy="293040"/>
            </a:xfrm>
            <a:prstGeom prst="straightConnector1">
              <a:avLst/>
            </a:prstGeom>
            <a:ln w="9360">
              <a:solidFill>
                <a:srgbClr val="FF0000"/>
              </a:solidFill>
              <a:miter/>
              <a:tailEnd len="med" type="arrow" w="med"/>
            </a:ln>
          </p:spPr>
        </p:cxnSp>
        <p:sp>
          <p:nvSpPr>
            <p:cNvPr id="234" name=""/>
            <p:cNvSpPr/>
            <p:nvPr/>
          </p:nvSpPr>
          <p:spPr>
            <a:xfrm>
              <a:off x="7308720" y="1427040"/>
              <a:ext cx="433080" cy="41400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"/>
            <p:cNvSpPr/>
            <p:nvPr/>
          </p:nvSpPr>
          <p:spPr>
            <a:xfrm>
              <a:off x="7367040" y="1484280"/>
              <a:ext cx="31572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B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36" name=""/>
            <p:cNvCxnSpPr/>
            <p:nvPr/>
          </p:nvCxnSpPr>
          <p:spPr>
            <a:xfrm flipH="1">
              <a:off x="7195320" y="1844280"/>
              <a:ext cx="253440" cy="293040"/>
            </a:xfrm>
            <a:prstGeom prst="straightConnector1">
              <a:avLst/>
            </a:prstGeom>
            <a:ln w="9360">
              <a:solidFill>
                <a:srgbClr val="FF0000"/>
              </a:solidFill>
              <a:miter/>
              <a:tailEnd len="med" type="arrow" w="med"/>
            </a:ln>
          </p:spPr>
        </p:cxnSp>
        <p:sp>
          <p:nvSpPr>
            <p:cNvPr id="237" name=""/>
            <p:cNvSpPr/>
            <p:nvPr/>
          </p:nvSpPr>
          <p:spPr>
            <a:xfrm>
              <a:off x="6072120" y="3825720"/>
              <a:ext cx="299880" cy="444240"/>
            </a:xfrm>
            <a:custGeom>
              <a:avLst/>
              <a:gdLst>
                <a:gd name="textAreaLeft" fmla="*/ 0 w 299880"/>
                <a:gd name="textAreaRight" fmla="*/ 300240 w 299880"/>
                <a:gd name="textAreaTop" fmla="*/ 0 h 444240"/>
                <a:gd name="textAreaBottom" fmla="*/ 444600 h 444240"/>
                <a:gd name="GluePoint1X" fmla="*/ 0 w 302605"/>
                <a:gd name="GluePoint1Y" fmla="*/ 381782 h 447661"/>
                <a:gd name="GluePoint2X" fmla="*/ 177922 w 302605"/>
                <a:gd name="GluePoint2Y" fmla="*/ 443932 h 447661"/>
                <a:gd name="GluePoint3X" fmla="*/ 284676 w 302605"/>
                <a:gd name="GluePoint3Y" fmla="*/ 284116 h 447661"/>
                <a:gd name="GluePoint4X" fmla="*/ 302467 w 302605"/>
                <a:gd name="GluePoint4Y" fmla="*/ 0 h 4476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302605" h="447661">
                  <a:moveTo>
                    <a:pt x="0" y="381740"/>
                  </a:moveTo>
                  <a:cubicBezTo>
                    <a:pt x="65103" y="420949"/>
                    <a:pt x="130206" y="460159"/>
                    <a:pt x="177554" y="443883"/>
                  </a:cubicBezTo>
                  <a:cubicBezTo>
                    <a:pt x="224902" y="427607"/>
                    <a:pt x="263371" y="358066"/>
                    <a:pt x="284086" y="284085"/>
                  </a:cubicBezTo>
                  <a:cubicBezTo>
                    <a:pt x="304801" y="210104"/>
                    <a:pt x="303321" y="105052"/>
                    <a:pt x="301841" y="0"/>
                  </a:cubicBezTo>
                </a:path>
              </a:pathLst>
            </a:custGeom>
            <a:noFill/>
            <a:ln w="2556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"/>
            <p:cNvSpPr/>
            <p:nvPr/>
          </p:nvSpPr>
          <p:spPr>
            <a:xfrm>
              <a:off x="6399360" y="5599080"/>
              <a:ext cx="504360" cy="18540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185400"/>
                <a:gd name="textAreaBottom" fmla="*/ 185760 h 185400"/>
                <a:gd name="GluePoint1X" fmla="*/ 508035 w 507554"/>
                <a:gd name="GluePoint1Y" fmla="*/ 153230 h 187941"/>
                <a:gd name="GluePoint2X" fmla="*/ 250339 w 507554"/>
                <a:gd name="GluePoint2Y" fmla="*/ 1518 h 187941"/>
                <a:gd name="GluePoint3X" fmla="*/ 37073 w 507554"/>
                <a:gd name="GluePoint3Y" fmla="*/ 81836 h 187941"/>
                <a:gd name="GluePoint4X" fmla="*/ 1528 w 507554"/>
                <a:gd name="GluePoint4Y" fmla="*/ 188927 h 1879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07554" h="187941">
                  <a:moveTo>
                    <a:pt x="507554" y="152430"/>
                  </a:moveTo>
                  <a:cubicBezTo>
                    <a:pt x="418037" y="82888"/>
                    <a:pt x="328521" y="13347"/>
                    <a:pt x="250102" y="1510"/>
                  </a:cubicBezTo>
                  <a:cubicBezTo>
                    <a:pt x="171683" y="-10327"/>
                    <a:pt x="78467" y="50337"/>
                    <a:pt x="37038" y="81409"/>
                  </a:cubicBezTo>
                  <a:cubicBezTo>
                    <a:pt x="-4391" y="112481"/>
                    <a:pt x="-1432" y="150211"/>
                    <a:pt x="1527" y="187941"/>
                  </a:cubicBezTo>
                </a:path>
              </a:pathLst>
            </a:custGeom>
            <a:noFill/>
            <a:ln w="25560">
              <a:solidFill>
                <a:srgbClr val="0000FF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"/>
            <p:cNvSpPr/>
            <p:nvPr/>
          </p:nvSpPr>
          <p:spPr>
            <a:xfrm rot="20940000">
              <a:off x="6237000" y="4515840"/>
              <a:ext cx="415440" cy="166320"/>
            </a:xfrm>
            <a:prstGeom prst="ellipse">
              <a:avLst/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5876280" y="971640"/>
              <a:ext cx="14698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+ BLOCKER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1" name=""/>
          <p:cNvGrpSpPr/>
          <p:nvPr/>
        </p:nvGrpSpPr>
        <p:grpSpPr>
          <a:xfrm>
            <a:off x="333360" y="971640"/>
            <a:ext cx="8122680" cy="5623560"/>
            <a:chOff x="333360" y="971640"/>
            <a:chExt cx="8122680" cy="5623560"/>
          </a:xfrm>
        </p:grpSpPr>
        <p:sp>
          <p:nvSpPr>
            <p:cNvPr id="242" name=""/>
            <p:cNvSpPr/>
            <p:nvPr/>
          </p:nvSpPr>
          <p:spPr>
            <a:xfrm flipH="1">
              <a:off x="470880" y="4653000"/>
              <a:ext cx="7985160" cy="8568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8880" rIns="90000" bIns="388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"/>
            <p:cNvSpPr/>
            <p:nvPr/>
          </p:nvSpPr>
          <p:spPr>
            <a:xfrm flipH="1">
              <a:off x="470880" y="5229360"/>
              <a:ext cx="7985160" cy="8388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7080" rIns="90000" bIns="370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"/>
            <p:cNvSpPr/>
            <p:nvPr/>
          </p:nvSpPr>
          <p:spPr>
            <a:xfrm flipH="1">
              <a:off x="470880" y="2260440"/>
              <a:ext cx="7985160" cy="8604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9240" rIns="90000" bIns="392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"/>
            <p:cNvSpPr/>
            <p:nvPr/>
          </p:nvSpPr>
          <p:spPr>
            <a:xfrm flipH="1">
              <a:off x="470880" y="2836800"/>
              <a:ext cx="7985160" cy="8568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8880" rIns="90000" bIns="388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"/>
            <p:cNvSpPr/>
            <p:nvPr/>
          </p:nvSpPr>
          <p:spPr>
            <a:xfrm>
              <a:off x="1927800" y="3973680"/>
              <a:ext cx="5500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Na</a:t>
              </a:r>
              <a:r>
                <a:rPr lang="en-GB" sz="1800" b="0" u="none" strike="noStrike" baseline="30000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3273480" y="5580000"/>
              <a:ext cx="4104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K</a:t>
              </a:r>
              <a:r>
                <a:rPr lang="en-GB" sz="1800" b="0" u="none" strike="noStrike" baseline="30000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"/>
            <p:cNvGrpSpPr/>
            <p:nvPr/>
          </p:nvGrpSpPr>
          <p:grpSpPr>
            <a:xfrm>
              <a:off x="1834920" y="4430880"/>
              <a:ext cx="1981440" cy="1067760"/>
              <a:chOff x="1834920" y="4430880"/>
              <a:chExt cx="1981440" cy="1067760"/>
            </a:xfrm>
          </p:grpSpPr>
          <p:sp>
            <p:nvSpPr>
              <p:cNvPr id="249" name=""/>
              <p:cNvSpPr/>
              <p:nvPr/>
            </p:nvSpPr>
            <p:spPr>
              <a:xfrm>
                <a:off x="1966320" y="4554360"/>
                <a:ext cx="1724400" cy="94428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"/>
              <p:cNvSpPr/>
              <p:nvPr/>
            </p:nvSpPr>
            <p:spPr>
              <a:xfrm>
                <a:off x="2603520" y="4554360"/>
                <a:ext cx="432360" cy="944280"/>
              </a:xfrm>
              <a:prstGeom prst="can">
                <a:avLst>
                  <a:gd name="adj" fmla="val 14023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"/>
              <p:cNvSpPr/>
              <p:nvPr/>
            </p:nvSpPr>
            <p:spPr>
              <a:xfrm>
                <a:off x="3384000" y="4448160"/>
                <a:ext cx="432360" cy="4125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"/>
              <p:cNvSpPr/>
              <p:nvPr/>
            </p:nvSpPr>
            <p:spPr>
              <a:xfrm>
                <a:off x="1834920" y="4430880"/>
                <a:ext cx="430560" cy="41364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3" name=""/>
            <p:cNvSpPr/>
            <p:nvPr/>
          </p:nvSpPr>
          <p:spPr>
            <a:xfrm>
              <a:off x="2358720" y="4175280"/>
              <a:ext cx="408960" cy="1594800"/>
            </a:xfrm>
            <a:custGeom>
              <a:avLst/>
              <a:gdLst>
                <a:gd name="textAreaLeft" fmla="*/ 0 w 408960"/>
                <a:gd name="textAreaRight" fmla="*/ 409320 w 408960"/>
                <a:gd name="textAreaTop" fmla="*/ 0 h 1594800"/>
                <a:gd name="textAreaBottom" fmla="*/ 1595160 h 1594800"/>
                <a:gd name="GluePoint1X" fmla="*/ 0 w 115435"/>
                <a:gd name="GluePoint1Y" fmla="*/ 0 h 790113"/>
                <a:gd name="GluePoint2X" fmla="*/ 349214 w 115435"/>
                <a:gd name="GluePoint2Y" fmla="*/ 287382 h 790113"/>
                <a:gd name="GluePoint3X" fmla="*/ 412706 w 115435"/>
                <a:gd name="GluePoint3Y" fmla="*/ 1598561 h 790113"/>
                <a:gd name="GluePoint4X" fmla="*/ 412706 w 115435"/>
                <a:gd name="GluePoint4Y" fmla="*/ 1598561 h 790113"/>
                <a:gd name="GluePoint5X" fmla="*/ 412706 w 115435"/>
                <a:gd name="GluePoint5Y" fmla="*/ 1598561 h 7901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5435" h="790113">
                  <a:moveTo>
                    <a:pt x="0" y="0"/>
                  </a:moveTo>
                  <a:cubicBezTo>
                    <a:pt x="39209" y="5179"/>
                    <a:pt x="78419" y="10358"/>
                    <a:pt x="97654" y="142043"/>
                  </a:cubicBezTo>
                  <a:cubicBezTo>
                    <a:pt x="116889" y="273728"/>
                    <a:pt x="115409" y="790113"/>
                    <a:pt x="115409" y="790113"/>
                  </a:cubicBezTo>
                  <a:lnTo>
                    <a:pt x="115409" y="790113"/>
                  </a:lnTo>
                  <a:lnTo>
                    <a:pt x="115409" y="790113"/>
                  </a:lnTo>
                </a:path>
              </a:pathLst>
            </a:custGeom>
            <a:noFill/>
            <a:ln w="2556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"/>
            <p:cNvSpPr/>
            <p:nvPr/>
          </p:nvSpPr>
          <p:spPr>
            <a:xfrm rot="18720000">
              <a:off x="2512800" y="4338000"/>
              <a:ext cx="415800" cy="165960"/>
            </a:xfrm>
            <a:prstGeom prst="ellipse">
              <a:avLst/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"/>
            <p:cNvSpPr/>
            <p:nvPr/>
          </p:nvSpPr>
          <p:spPr>
            <a:xfrm flipH="1" flipV="1">
              <a:off x="2897280" y="4177440"/>
              <a:ext cx="410400" cy="1591920"/>
            </a:xfrm>
            <a:custGeom>
              <a:avLst/>
              <a:gdLst>
                <a:gd name="textAreaLeft" fmla="*/ 360 w 410400"/>
                <a:gd name="textAreaRight" fmla="*/ 411120 w 410400"/>
                <a:gd name="textAreaTop" fmla="*/ 360 h 1591920"/>
                <a:gd name="textAreaBottom" fmla="*/ 1592640 h 1591920"/>
                <a:gd name="GluePoint1X" fmla="*/ 0 w 115435"/>
                <a:gd name="GluePoint1Y" fmla="*/ 0 h 790113"/>
                <a:gd name="GluePoint2X" fmla="*/ 350557 w 115435"/>
                <a:gd name="GluePoint2Y" fmla="*/ 286811 h 790113"/>
                <a:gd name="GluePoint3X" fmla="*/ 414294 w 115435"/>
                <a:gd name="GluePoint3Y" fmla="*/ 1595386 h 790113"/>
                <a:gd name="GluePoint4X" fmla="*/ 414294 w 115435"/>
                <a:gd name="GluePoint4Y" fmla="*/ 1595386 h 790113"/>
                <a:gd name="GluePoint5X" fmla="*/ 414294 w 115435"/>
                <a:gd name="GluePoint5Y" fmla="*/ 1595386 h 7901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5435" h="790113">
                  <a:moveTo>
                    <a:pt x="0" y="0"/>
                  </a:moveTo>
                  <a:cubicBezTo>
                    <a:pt x="39209" y="5179"/>
                    <a:pt x="78419" y="10358"/>
                    <a:pt x="97654" y="142043"/>
                  </a:cubicBezTo>
                  <a:cubicBezTo>
                    <a:pt x="116889" y="273728"/>
                    <a:pt x="115409" y="790113"/>
                    <a:pt x="115409" y="790113"/>
                  </a:cubicBezTo>
                  <a:lnTo>
                    <a:pt x="115409" y="790113"/>
                  </a:lnTo>
                  <a:lnTo>
                    <a:pt x="115409" y="790113"/>
                  </a:lnTo>
                </a:path>
              </a:pathLst>
            </a:custGeom>
            <a:noFill/>
            <a:ln w="25560">
              <a:solidFill>
                <a:srgbClr val="0000FF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1966680" y="2120760"/>
              <a:ext cx="1728000" cy="944280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2606040" y="2120760"/>
              <a:ext cx="434160" cy="944280"/>
            </a:xfrm>
            <a:prstGeom prst="can">
              <a:avLst>
                <a:gd name="adj" fmla="val 18013"/>
              </a:avLst>
            </a:prstGeom>
            <a:solidFill>
              <a:srgbClr val="FFFFFF"/>
            </a:solidFill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"/>
            <p:cNvSpPr/>
            <p:nvPr/>
          </p:nvSpPr>
          <p:spPr>
            <a:xfrm>
              <a:off x="3385440" y="1477800"/>
              <a:ext cx="432720" cy="412560"/>
            </a:xfrm>
            <a:prstGeom prst="ellipse">
              <a:avLst/>
            </a:prstGeom>
            <a:solidFill>
              <a:srgbClr val="00B050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"/>
            <p:cNvSpPr/>
            <p:nvPr/>
          </p:nvSpPr>
          <p:spPr>
            <a:xfrm>
              <a:off x="1829880" y="1477800"/>
              <a:ext cx="434520" cy="412560"/>
            </a:xfrm>
            <a:prstGeom prst="ellipse">
              <a:avLst/>
            </a:prstGeom>
            <a:solidFill>
              <a:srgbClr val="00B050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"/>
            <p:cNvSpPr/>
            <p:nvPr/>
          </p:nvSpPr>
          <p:spPr>
            <a:xfrm rot="20940000">
              <a:off x="2624760" y="2099520"/>
              <a:ext cx="415080" cy="166320"/>
            </a:xfrm>
            <a:prstGeom prst="ellipse">
              <a:avLst/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61" name=""/>
            <p:cNvCxnSpPr/>
            <p:nvPr/>
          </p:nvCxnSpPr>
          <p:spPr>
            <a:xfrm>
              <a:off x="2049120" y="1980720"/>
              <a:ext cx="153000" cy="328320"/>
            </a:xfrm>
            <a:prstGeom prst="straightConnector1">
              <a:avLst/>
            </a:prstGeom>
            <a:ln w="9360">
              <a:solidFill>
                <a:srgbClr val="4A7EBB"/>
              </a:solidFill>
              <a:miter/>
              <a:tailEnd len="med" type="arrow" w="med"/>
            </a:ln>
          </p:spPr>
        </p:cxnSp>
        <p:cxnSp>
          <p:nvCxnSpPr>
            <p:cNvPr id="262" name=""/>
            <p:cNvCxnSpPr/>
            <p:nvPr/>
          </p:nvCxnSpPr>
          <p:spPr>
            <a:xfrm flipH="1">
              <a:off x="3480120" y="1980720"/>
              <a:ext cx="119520" cy="328320"/>
            </a:xfrm>
            <a:prstGeom prst="straightConnector1">
              <a:avLst/>
            </a:prstGeom>
            <a:ln w="9360">
              <a:solidFill>
                <a:srgbClr val="4A7EBB"/>
              </a:solidFill>
              <a:miter/>
              <a:tailEnd len="med" type="arrow" w="med"/>
            </a:ln>
          </p:spPr>
        </p:cxnSp>
        <p:sp>
          <p:nvSpPr>
            <p:cNvPr id="263" name=""/>
            <p:cNvSpPr/>
            <p:nvPr/>
          </p:nvSpPr>
          <p:spPr>
            <a:xfrm>
              <a:off x="1834920" y="1981080"/>
              <a:ext cx="434160" cy="414000"/>
            </a:xfrm>
            <a:prstGeom prst="ellipse">
              <a:avLst/>
            </a:prstGeom>
            <a:noFill/>
            <a:ln w="25560">
              <a:solidFill>
                <a:srgbClr val="00B050"/>
              </a:solidFill>
              <a:prstDash val="sys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"/>
            <p:cNvSpPr/>
            <p:nvPr/>
          </p:nvSpPr>
          <p:spPr>
            <a:xfrm>
              <a:off x="3347280" y="1981080"/>
              <a:ext cx="432720" cy="414000"/>
            </a:xfrm>
            <a:prstGeom prst="ellipse">
              <a:avLst/>
            </a:prstGeom>
            <a:noFill/>
            <a:ln w="25560">
              <a:solidFill>
                <a:srgbClr val="00B050"/>
              </a:solidFill>
              <a:prstDash val="sys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1751040" y="1495440"/>
              <a:ext cx="57456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A</a:t>
              </a:r>
              <a:r>
                <a:rPr lang="en-GB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r>
                <a:rPr lang="en-GB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"/>
            <p:cNvSpPr/>
            <p:nvPr/>
          </p:nvSpPr>
          <p:spPr>
            <a:xfrm>
              <a:off x="2271960" y="971640"/>
              <a:ext cx="11584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NORMAL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"/>
            <p:cNvSpPr/>
            <p:nvPr/>
          </p:nvSpPr>
          <p:spPr>
            <a:xfrm>
              <a:off x="400320" y="2411280"/>
              <a:ext cx="127296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Membrane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"/>
            <p:cNvSpPr/>
            <p:nvPr/>
          </p:nvSpPr>
          <p:spPr>
            <a:xfrm>
              <a:off x="398880" y="1917720"/>
              <a:ext cx="96804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Outside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"/>
            <p:cNvSpPr/>
            <p:nvPr/>
          </p:nvSpPr>
          <p:spPr>
            <a:xfrm>
              <a:off x="470160" y="2987640"/>
              <a:ext cx="7902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Inside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"/>
            <p:cNvSpPr/>
            <p:nvPr/>
          </p:nvSpPr>
          <p:spPr>
            <a:xfrm>
              <a:off x="333360" y="6227640"/>
              <a:ext cx="24292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Acetylcholine receptor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"/>
            <p:cNvSpPr/>
            <p:nvPr/>
          </p:nvSpPr>
          <p:spPr>
            <a:xfrm flipH="1">
              <a:off x="1683720" y="5316480"/>
              <a:ext cx="518760" cy="90828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"/>
            <p:cNvSpPr/>
            <p:nvPr/>
          </p:nvSpPr>
          <p:spPr>
            <a:xfrm>
              <a:off x="3064320" y="6227640"/>
              <a:ext cx="13626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Ion channel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"/>
            <p:cNvSpPr/>
            <p:nvPr/>
          </p:nvSpPr>
          <p:spPr>
            <a:xfrm>
              <a:off x="2853720" y="5373720"/>
              <a:ext cx="410760" cy="85104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" dur="indefinite" restart="never" nodeType="tmRoot">
          <p:childTnLst>
            <p:seq>
              <p:cTn id="48" dur="indefinite" nodeType="mainSeq">
                <p:childTnLst>
                  <p:par>
                    <p:cTn id="49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50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1" dur="indefinite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3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55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6" dur="indefinite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4" name=""/>
          <p:cNvGraphicFramePr/>
          <p:nvPr/>
        </p:nvGraphicFramePr>
        <p:xfrm>
          <a:off x="1828800" y="1484280"/>
          <a:ext cx="5012640" cy="4489200"/>
        </p:xfrm>
        <a:graphic>
          <a:graphicData uri="http://schemas.openxmlformats.org/drawingml/2006/table">
            <a:tbl>
              <a:tblPr/>
              <a:tblGrid>
                <a:gridCol w="1670760"/>
                <a:gridCol w="1670760"/>
                <a:gridCol w="1671120"/>
              </a:tblGrid>
              <a:tr h="6404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Blocker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43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Relat</a:t>
                      </a: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ive </a:t>
                      </a: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Pote</a:t>
                      </a: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ncy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43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Duration of Action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43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9147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Tubocurarine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432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432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Medium-Long (20-30min)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432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6404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Pancuronium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Medium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  <a:tr h="36612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Gallamine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Medium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6404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Alcuronium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Medium-Long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  <a:tr h="36612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Atracurium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Medium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9212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Vecuronium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Short-Medium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(&lt;20 min)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275" name=""/>
          <p:cNvSpPr/>
          <p:nvPr/>
        </p:nvSpPr>
        <p:spPr>
          <a:xfrm>
            <a:off x="1492200" y="374760"/>
            <a:ext cx="614304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Non-Depolarizing Neuromuscular Blockers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 txBox="1"/>
          <p:nvPr/>
        </p:nvSpPr>
        <p:spPr>
          <a:xfrm>
            <a:off x="1143000" y="1600200"/>
            <a:ext cx="58093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Non-depolarsing NMBs are competitive antagonists…...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1143000" y="2514600"/>
            <a:ext cx="56786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we reverse the effect of a non-depolarising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NMB?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143000" y="3429000"/>
            <a:ext cx="434340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Yes, by increasing the availability of ACh.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263600" y="4114800"/>
            <a:ext cx="765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2514600" y="4114800"/>
            <a:ext cx="5479200" cy="85824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AChEase inhibition e.g. neostigmine (used clinically)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channel block e.g. 4AP (not used clinically)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" dur="indefinite" restart="never" nodeType="tmRoot">
          <p:childTnLst>
            <p:seq>
              <p:cTn id="60" dur="indefinite" nodeType="mainSeq">
                <p:childTnLst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>
            <a:off x="1471680" y="260280"/>
            <a:ext cx="637956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 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ep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ol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ari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zi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ng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</a:t>
            </a:r>
            <a:r>
              <a:rPr lang="en-GB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GB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on</a:t>
            </a:r>
            <a:r>
              <a:rPr lang="en-GB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-</a:t>
            </a:r>
            <a:r>
              <a:rPr lang="en-GB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GB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GB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GB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pe</a:t>
            </a:r>
            <a:r>
              <a:rPr lang="en-GB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titi</a:t>
            </a:r>
            <a:r>
              <a:rPr lang="en-GB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ve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bl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oc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ke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rs 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(D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2" name=""/>
          <p:cNvGrpSpPr/>
          <p:nvPr/>
        </p:nvGrpSpPr>
        <p:grpSpPr>
          <a:xfrm>
            <a:off x="983520" y="1428840"/>
            <a:ext cx="7322760" cy="1926360"/>
            <a:chOff x="983520" y="1428840"/>
            <a:chExt cx="7322760" cy="1926360"/>
          </a:xfrm>
        </p:grpSpPr>
        <p:sp>
          <p:nvSpPr>
            <p:cNvPr id="283" name=""/>
            <p:cNvSpPr/>
            <p:nvPr/>
          </p:nvSpPr>
          <p:spPr>
            <a:xfrm flipH="1">
              <a:off x="1261440" y="2262240"/>
              <a:ext cx="4959720" cy="8424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7440" rIns="90000" bIns="374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"/>
            <p:cNvSpPr/>
            <p:nvPr/>
          </p:nvSpPr>
          <p:spPr>
            <a:xfrm flipH="1">
              <a:off x="1261440" y="2838600"/>
              <a:ext cx="4959720" cy="8388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7080" rIns="90000" bIns="370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3217320" y="2119320"/>
              <a:ext cx="1728000" cy="944280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"/>
            <p:cNvSpPr/>
            <p:nvPr/>
          </p:nvSpPr>
          <p:spPr>
            <a:xfrm>
              <a:off x="3858480" y="2119320"/>
              <a:ext cx="432720" cy="944280"/>
            </a:xfrm>
            <a:prstGeom prst="can">
              <a:avLst>
                <a:gd name="adj" fmla="val 17944"/>
              </a:avLst>
            </a:prstGeom>
            <a:solidFill>
              <a:srgbClr val="FFFFFF"/>
            </a:solidFill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"/>
            <p:cNvSpPr/>
            <p:nvPr/>
          </p:nvSpPr>
          <p:spPr>
            <a:xfrm>
              <a:off x="4282200" y="1476360"/>
              <a:ext cx="434520" cy="414000"/>
            </a:xfrm>
            <a:prstGeom prst="ellipse">
              <a:avLst/>
            </a:prstGeom>
            <a:solidFill>
              <a:srgbClr val="00B050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"/>
            <p:cNvSpPr/>
            <p:nvPr/>
          </p:nvSpPr>
          <p:spPr>
            <a:xfrm>
              <a:off x="2834640" y="1476360"/>
              <a:ext cx="432720" cy="414000"/>
            </a:xfrm>
            <a:prstGeom prst="ellipse">
              <a:avLst/>
            </a:prstGeom>
            <a:solidFill>
              <a:srgbClr val="00B050"/>
            </a:solidFill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"/>
            <p:cNvSpPr/>
            <p:nvPr/>
          </p:nvSpPr>
          <p:spPr>
            <a:xfrm rot="20940000">
              <a:off x="3875760" y="2098080"/>
              <a:ext cx="415080" cy="166320"/>
            </a:xfrm>
            <a:prstGeom prst="ellipse">
              <a:avLst/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90" name=""/>
            <p:cNvCxnSpPr/>
            <p:nvPr/>
          </p:nvCxnSpPr>
          <p:spPr>
            <a:xfrm>
              <a:off x="3130920" y="1877760"/>
              <a:ext cx="154800" cy="324720"/>
            </a:xfrm>
            <a:prstGeom prst="straightConnector1">
              <a:avLst/>
            </a:prstGeom>
            <a:ln w="9360">
              <a:solidFill>
                <a:srgbClr val="4A7EBB"/>
              </a:solidFill>
              <a:miter/>
              <a:tailEnd len="med" type="arrow" w="med"/>
            </a:ln>
          </p:spPr>
        </p:cxnSp>
        <p:cxnSp>
          <p:nvCxnSpPr>
            <p:cNvPr id="291" name=""/>
            <p:cNvCxnSpPr>
              <a:stCxn id="287" idx="4"/>
            </p:cNvCxnSpPr>
            <p:nvPr/>
          </p:nvCxnSpPr>
          <p:spPr>
            <a:xfrm>
              <a:off x="4499640" y="1890360"/>
              <a:ext cx="232560" cy="313560"/>
            </a:xfrm>
            <a:prstGeom prst="straightConnector1">
              <a:avLst/>
            </a:prstGeom>
            <a:ln w="9360">
              <a:solidFill>
                <a:srgbClr val="4A7EBB"/>
              </a:solidFill>
              <a:miter/>
              <a:tailEnd len="med" type="arrow" w="med"/>
            </a:ln>
          </p:spPr>
        </p:cxnSp>
        <p:sp>
          <p:nvSpPr>
            <p:cNvPr id="292" name=""/>
            <p:cNvSpPr/>
            <p:nvPr/>
          </p:nvSpPr>
          <p:spPr>
            <a:xfrm>
              <a:off x="3087000" y="1981080"/>
              <a:ext cx="432720" cy="412560"/>
            </a:xfrm>
            <a:prstGeom prst="ellipse">
              <a:avLst/>
            </a:prstGeom>
            <a:noFill/>
            <a:ln w="25560">
              <a:solidFill>
                <a:srgbClr val="00B050"/>
              </a:solidFill>
              <a:prstDash val="sys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"/>
            <p:cNvSpPr/>
            <p:nvPr/>
          </p:nvSpPr>
          <p:spPr>
            <a:xfrm>
              <a:off x="4598280" y="1981080"/>
              <a:ext cx="434160" cy="412560"/>
            </a:xfrm>
            <a:prstGeom prst="ellipse">
              <a:avLst/>
            </a:prstGeom>
            <a:noFill/>
            <a:ln w="25560">
              <a:solidFill>
                <a:srgbClr val="00B050"/>
              </a:solidFill>
              <a:prstDash val="sys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"/>
            <p:cNvSpPr/>
            <p:nvPr/>
          </p:nvSpPr>
          <p:spPr>
            <a:xfrm>
              <a:off x="2773440" y="1494000"/>
              <a:ext cx="57456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ACh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"/>
            <p:cNvSpPr/>
            <p:nvPr/>
          </p:nvSpPr>
          <p:spPr>
            <a:xfrm>
              <a:off x="3482280" y="1438200"/>
              <a:ext cx="432720" cy="412560"/>
            </a:xfrm>
            <a:prstGeom prst="ellipse">
              <a:avLst/>
            </a:prstGeom>
            <a:solidFill>
              <a:srgbClr val="0000FF"/>
            </a:solidFill>
            <a:ln w="255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"/>
            <p:cNvSpPr/>
            <p:nvPr/>
          </p:nvSpPr>
          <p:spPr>
            <a:xfrm>
              <a:off x="3539880" y="1494000"/>
              <a:ext cx="32688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D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97" name=""/>
            <p:cNvCxnSpPr/>
            <p:nvPr/>
          </p:nvCxnSpPr>
          <p:spPr>
            <a:xfrm flipH="1">
              <a:off x="3377160" y="1895400"/>
              <a:ext cx="254520" cy="293400"/>
            </a:xfrm>
            <a:prstGeom prst="straightConnector1">
              <a:avLst/>
            </a:prstGeom>
            <a:ln w="9360">
              <a:solidFill>
                <a:srgbClr val="FF0000"/>
              </a:solidFill>
              <a:miter/>
              <a:tailEnd len="med" type="arrow" w="med"/>
            </a:ln>
          </p:spPr>
        </p:cxnSp>
        <p:sp>
          <p:nvSpPr>
            <p:cNvPr id="298" name=""/>
            <p:cNvSpPr/>
            <p:nvPr/>
          </p:nvSpPr>
          <p:spPr>
            <a:xfrm>
              <a:off x="4931280" y="1428840"/>
              <a:ext cx="432720" cy="414000"/>
            </a:xfrm>
            <a:prstGeom prst="ellipse">
              <a:avLst/>
            </a:prstGeom>
            <a:solidFill>
              <a:srgbClr val="0000FF"/>
            </a:solidFill>
            <a:ln w="255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"/>
            <p:cNvSpPr/>
            <p:nvPr/>
          </p:nvSpPr>
          <p:spPr>
            <a:xfrm>
              <a:off x="4988880" y="1486080"/>
              <a:ext cx="32688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D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00" name=""/>
            <p:cNvCxnSpPr/>
            <p:nvPr/>
          </p:nvCxnSpPr>
          <p:spPr>
            <a:xfrm flipH="1">
              <a:off x="4818240" y="1846080"/>
              <a:ext cx="253080" cy="293040"/>
            </a:xfrm>
            <a:prstGeom prst="straightConnector1">
              <a:avLst/>
            </a:prstGeom>
            <a:ln w="9360">
              <a:solidFill>
                <a:srgbClr val="FF0000"/>
              </a:solidFill>
              <a:miter/>
              <a:tailEnd len="med" type="arrow" w="med"/>
            </a:ln>
          </p:spPr>
        </p:cxnSp>
        <p:sp>
          <p:nvSpPr>
            <p:cNvPr id="301" name=""/>
            <p:cNvSpPr/>
            <p:nvPr/>
          </p:nvSpPr>
          <p:spPr>
            <a:xfrm>
              <a:off x="6766560" y="2268360"/>
              <a:ext cx="153972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Prior to Block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"/>
            <p:cNvSpPr/>
            <p:nvPr/>
          </p:nvSpPr>
          <p:spPr>
            <a:xfrm>
              <a:off x="986040" y="2413080"/>
              <a:ext cx="127296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Membrane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"/>
            <p:cNvSpPr/>
            <p:nvPr/>
          </p:nvSpPr>
          <p:spPr>
            <a:xfrm>
              <a:off x="983520" y="1917720"/>
              <a:ext cx="96804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Outside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"/>
            <p:cNvSpPr/>
            <p:nvPr/>
          </p:nvSpPr>
          <p:spPr>
            <a:xfrm>
              <a:off x="1053000" y="2987640"/>
              <a:ext cx="7902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Inside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5" name=""/>
          <p:cNvGrpSpPr/>
          <p:nvPr/>
        </p:nvGrpSpPr>
        <p:grpSpPr>
          <a:xfrm>
            <a:off x="1258560" y="3973680"/>
            <a:ext cx="7723800" cy="1973880"/>
            <a:chOff x="1258560" y="3973680"/>
            <a:chExt cx="7723800" cy="1973880"/>
          </a:xfrm>
        </p:grpSpPr>
        <p:sp>
          <p:nvSpPr>
            <p:cNvPr id="306" name=""/>
            <p:cNvSpPr/>
            <p:nvPr/>
          </p:nvSpPr>
          <p:spPr>
            <a:xfrm flipH="1">
              <a:off x="1258560" y="4653000"/>
              <a:ext cx="4963320" cy="8568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8880" rIns="90000" bIns="388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"/>
            <p:cNvSpPr/>
            <p:nvPr/>
          </p:nvSpPr>
          <p:spPr>
            <a:xfrm flipH="1">
              <a:off x="1258560" y="5229360"/>
              <a:ext cx="4963320" cy="8568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8880" rIns="90000" bIns="388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"/>
            <p:cNvSpPr/>
            <p:nvPr/>
          </p:nvSpPr>
          <p:spPr>
            <a:xfrm>
              <a:off x="3150720" y="3973680"/>
              <a:ext cx="5500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a</a:t>
              </a:r>
              <a:r>
                <a:rPr lang="en-GB" sz="1800" b="0" u="none" strike="noStrike" baseline="30000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4497480" y="5580000"/>
              <a:ext cx="4104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K</a:t>
              </a:r>
              <a:r>
                <a:rPr lang="en-GB" sz="1800" b="0" u="none" strike="noStrike" baseline="30000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0" name=""/>
            <p:cNvGrpSpPr/>
            <p:nvPr/>
          </p:nvGrpSpPr>
          <p:grpSpPr>
            <a:xfrm>
              <a:off x="3057840" y="4430880"/>
              <a:ext cx="1985400" cy="1067760"/>
              <a:chOff x="3057840" y="4430880"/>
              <a:chExt cx="1985400" cy="1067760"/>
            </a:xfrm>
          </p:grpSpPr>
          <p:sp>
            <p:nvSpPr>
              <p:cNvPr id="311" name=""/>
              <p:cNvSpPr/>
              <p:nvPr/>
            </p:nvSpPr>
            <p:spPr>
              <a:xfrm>
                <a:off x="3189600" y="4554360"/>
                <a:ext cx="1728360" cy="94428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"/>
              <p:cNvSpPr/>
              <p:nvPr/>
            </p:nvSpPr>
            <p:spPr>
              <a:xfrm>
                <a:off x="3829320" y="4554360"/>
                <a:ext cx="434520" cy="944280"/>
              </a:xfrm>
              <a:prstGeom prst="can">
                <a:avLst>
                  <a:gd name="adj" fmla="val 14000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"/>
              <p:cNvSpPr/>
              <p:nvPr/>
            </p:nvSpPr>
            <p:spPr>
              <a:xfrm>
                <a:off x="4610160" y="4448160"/>
                <a:ext cx="433080" cy="412560"/>
              </a:xfrm>
              <a:prstGeom prst="ellipse">
                <a:avLst/>
              </a:prstGeom>
              <a:solidFill>
                <a:srgbClr val="0000FF"/>
              </a:solidFill>
              <a:ln w="255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"/>
              <p:cNvSpPr/>
              <p:nvPr/>
            </p:nvSpPr>
            <p:spPr>
              <a:xfrm>
                <a:off x="3057840" y="4430880"/>
                <a:ext cx="432720" cy="412200"/>
              </a:xfrm>
              <a:prstGeom prst="ellipse">
                <a:avLst/>
              </a:prstGeom>
              <a:solidFill>
                <a:srgbClr val="0000FF"/>
              </a:solidFill>
              <a:ln w="255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5" name=""/>
            <p:cNvSpPr/>
            <p:nvPr/>
          </p:nvSpPr>
          <p:spPr>
            <a:xfrm>
              <a:off x="3582000" y="4175280"/>
              <a:ext cx="408960" cy="1594800"/>
            </a:xfrm>
            <a:custGeom>
              <a:avLst/>
              <a:gdLst>
                <a:gd name="textAreaLeft" fmla="*/ 0 w 408960"/>
                <a:gd name="textAreaRight" fmla="*/ 409320 w 408960"/>
                <a:gd name="textAreaTop" fmla="*/ 0 h 1594800"/>
                <a:gd name="textAreaBottom" fmla="*/ 1595160 h 1594800"/>
                <a:gd name="GluePoint1X" fmla="*/ 0 w 115435"/>
                <a:gd name="GluePoint1Y" fmla="*/ 0 h 790113"/>
                <a:gd name="GluePoint2X" fmla="*/ 349126 w 115435"/>
                <a:gd name="GluePoint2Y" fmla="*/ 287280 h 790113"/>
                <a:gd name="GluePoint3X" fmla="*/ 412603 w 115435"/>
                <a:gd name="GluePoint3Y" fmla="*/ 1597992 h 790113"/>
                <a:gd name="GluePoint4X" fmla="*/ 412603 w 115435"/>
                <a:gd name="GluePoint4Y" fmla="*/ 1597992 h 790113"/>
                <a:gd name="GluePoint5X" fmla="*/ 412603 w 115435"/>
                <a:gd name="GluePoint5Y" fmla="*/ 1597992 h 7901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5435" h="790113">
                  <a:moveTo>
                    <a:pt x="0" y="0"/>
                  </a:moveTo>
                  <a:cubicBezTo>
                    <a:pt x="39209" y="5179"/>
                    <a:pt x="78419" y="10358"/>
                    <a:pt x="97654" y="142043"/>
                  </a:cubicBezTo>
                  <a:cubicBezTo>
                    <a:pt x="116889" y="273728"/>
                    <a:pt x="115409" y="790113"/>
                    <a:pt x="115409" y="790113"/>
                  </a:cubicBezTo>
                  <a:lnTo>
                    <a:pt x="115409" y="790113"/>
                  </a:lnTo>
                  <a:lnTo>
                    <a:pt x="115409" y="790113"/>
                  </a:lnTo>
                </a:path>
              </a:pathLst>
            </a:custGeom>
            <a:noFill/>
            <a:ln w="2556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"/>
            <p:cNvSpPr/>
            <p:nvPr/>
          </p:nvSpPr>
          <p:spPr>
            <a:xfrm rot="18720000">
              <a:off x="3736080" y="4337640"/>
              <a:ext cx="415800" cy="166320"/>
            </a:xfrm>
            <a:prstGeom prst="ellipse">
              <a:avLst/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"/>
            <p:cNvSpPr/>
            <p:nvPr/>
          </p:nvSpPr>
          <p:spPr>
            <a:xfrm flipH="1" flipV="1">
              <a:off x="4120920" y="4177440"/>
              <a:ext cx="409320" cy="1591920"/>
            </a:xfrm>
            <a:custGeom>
              <a:avLst/>
              <a:gdLst>
                <a:gd name="textAreaLeft" fmla="*/ -360 w 409320"/>
                <a:gd name="textAreaRight" fmla="*/ 409320 w 409320"/>
                <a:gd name="textAreaTop" fmla="*/ 360 h 1591920"/>
                <a:gd name="textAreaBottom" fmla="*/ 1592640 h 1591920"/>
                <a:gd name="GluePoint1X" fmla="*/ 0 w 115435"/>
                <a:gd name="GluePoint1Y" fmla="*/ 0 h 790113"/>
                <a:gd name="GluePoint2X" fmla="*/ 349126 w 115435"/>
                <a:gd name="GluePoint2Y" fmla="*/ 286709 h 790113"/>
                <a:gd name="GluePoint3X" fmla="*/ 412603 w 115435"/>
                <a:gd name="GluePoint3Y" fmla="*/ 1594818 h 790113"/>
                <a:gd name="GluePoint4X" fmla="*/ 412603 w 115435"/>
                <a:gd name="GluePoint4Y" fmla="*/ 1594818 h 790113"/>
                <a:gd name="GluePoint5X" fmla="*/ 412603 w 115435"/>
                <a:gd name="GluePoint5Y" fmla="*/ 1594818 h 7901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5435" h="790113">
                  <a:moveTo>
                    <a:pt x="0" y="0"/>
                  </a:moveTo>
                  <a:cubicBezTo>
                    <a:pt x="39209" y="5179"/>
                    <a:pt x="78419" y="10358"/>
                    <a:pt x="97654" y="142043"/>
                  </a:cubicBezTo>
                  <a:cubicBezTo>
                    <a:pt x="116889" y="273728"/>
                    <a:pt x="115409" y="790113"/>
                    <a:pt x="115409" y="790113"/>
                  </a:cubicBezTo>
                  <a:lnTo>
                    <a:pt x="115409" y="790113"/>
                  </a:lnTo>
                  <a:lnTo>
                    <a:pt x="115409" y="790113"/>
                  </a:lnTo>
                </a:path>
              </a:pathLst>
            </a:custGeom>
            <a:noFill/>
            <a:ln w="25560">
              <a:solidFill>
                <a:srgbClr val="0000FF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"/>
            <p:cNvSpPr/>
            <p:nvPr/>
          </p:nvSpPr>
          <p:spPr>
            <a:xfrm>
              <a:off x="6769080" y="4653000"/>
              <a:ext cx="22132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Initial stage of Block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84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5" dur="indefinite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89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0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 flipH="1">
            <a:off x="758520" y="2816280"/>
            <a:ext cx="6605640" cy="8712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0320" rIns="90000" bIns="4032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 flipH="1">
            <a:off x="758520" y="3392640"/>
            <a:ext cx="6605640" cy="8712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0320" rIns="90000" bIns="4032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1" name=""/>
          <p:cNvGrpSpPr/>
          <p:nvPr/>
        </p:nvGrpSpPr>
        <p:grpSpPr>
          <a:xfrm>
            <a:off x="4586400" y="1989000"/>
            <a:ext cx="4446720" cy="2745720"/>
            <a:chOff x="4586400" y="1989000"/>
            <a:chExt cx="4446720" cy="2745720"/>
          </a:xfrm>
        </p:grpSpPr>
        <p:sp>
          <p:nvSpPr>
            <p:cNvPr id="322" name=""/>
            <p:cNvSpPr/>
            <p:nvPr/>
          </p:nvSpPr>
          <p:spPr>
            <a:xfrm>
              <a:off x="4882680" y="2135160"/>
              <a:ext cx="5500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Na</a:t>
              </a:r>
              <a:r>
                <a:rPr lang="en-GB" sz="1800" b="0" u="none" strike="noStrike" baseline="30000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"/>
            <p:cNvSpPr/>
            <p:nvPr/>
          </p:nvSpPr>
          <p:spPr>
            <a:xfrm>
              <a:off x="6229080" y="3740040"/>
              <a:ext cx="4104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K</a:t>
              </a:r>
              <a:r>
                <a:rPr lang="en-GB" sz="1800" b="0" u="none" strike="noStrike" baseline="30000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4" name=""/>
            <p:cNvGrpSpPr/>
            <p:nvPr/>
          </p:nvGrpSpPr>
          <p:grpSpPr>
            <a:xfrm>
              <a:off x="4788000" y="2592360"/>
              <a:ext cx="1985400" cy="1068120"/>
              <a:chOff x="4788000" y="2592360"/>
              <a:chExt cx="1985400" cy="1068120"/>
            </a:xfrm>
          </p:grpSpPr>
          <p:sp>
            <p:nvSpPr>
              <p:cNvPr id="325" name=""/>
              <p:cNvSpPr/>
              <p:nvPr/>
            </p:nvSpPr>
            <p:spPr>
              <a:xfrm>
                <a:off x="4919760" y="2716200"/>
                <a:ext cx="1728360" cy="94428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"/>
              <p:cNvSpPr/>
              <p:nvPr/>
            </p:nvSpPr>
            <p:spPr>
              <a:xfrm>
                <a:off x="5559480" y="2716200"/>
                <a:ext cx="434520" cy="944280"/>
              </a:xfrm>
              <a:prstGeom prst="can">
                <a:avLst>
                  <a:gd name="adj" fmla="val 14041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"/>
              <p:cNvSpPr/>
              <p:nvPr/>
            </p:nvSpPr>
            <p:spPr>
              <a:xfrm>
                <a:off x="6340320" y="2608200"/>
                <a:ext cx="433080" cy="412560"/>
              </a:xfrm>
              <a:prstGeom prst="ellipse">
                <a:avLst/>
              </a:prstGeom>
              <a:solidFill>
                <a:srgbClr val="0000FF"/>
              </a:solidFill>
              <a:ln w="255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"/>
              <p:cNvSpPr/>
              <p:nvPr/>
            </p:nvSpPr>
            <p:spPr>
              <a:xfrm>
                <a:off x="4788000" y="2592360"/>
                <a:ext cx="433080" cy="412560"/>
              </a:xfrm>
              <a:prstGeom prst="ellipse">
                <a:avLst/>
              </a:prstGeom>
              <a:solidFill>
                <a:srgbClr val="0000FF"/>
              </a:solidFill>
              <a:ln w="255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9" name=""/>
            <p:cNvSpPr/>
            <p:nvPr/>
          </p:nvSpPr>
          <p:spPr>
            <a:xfrm>
              <a:off x="5397480" y="1989000"/>
              <a:ext cx="298080" cy="44424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444240"/>
                <a:gd name="textAreaBottom" fmla="*/ 444600 h 444240"/>
                <a:gd name="GluePoint1X" fmla="*/ 0 w 302605"/>
                <a:gd name="GluePoint1Y" fmla="*/ 381886 h 447661"/>
                <a:gd name="GluePoint2X" fmla="*/ 176991 w 302605"/>
                <a:gd name="GluePoint2Y" fmla="*/ 444053 h 447661"/>
                <a:gd name="GluePoint3X" fmla="*/ 283185 w 302605"/>
                <a:gd name="GluePoint3Y" fmla="*/ 284194 h 447661"/>
                <a:gd name="GluePoint4X" fmla="*/ 300883 w 302605"/>
                <a:gd name="GluePoint4Y" fmla="*/ 0 h 4476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302605" h="447661">
                  <a:moveTo>
                    <a:pt x="0" y="381740"/>
                  </a:moveTo>
                  <a:cubicBezTo>
                    <a:pt x="65103" y="420949"/>
                    <a:pt x="130206" y="460159"/>
                    <a:pt x="177554" y="443883"/>
                  </a:cubicBezTo>
                  <a:cubicBezTo>
                    <a:pt x="224902" y="427607"/>
                    <a:pt x="263371" y="358066"/>
                    <a:pt x="284086" y="284085"/>
                  </a:cubicBezTo>
                  <a:cubicBezTo>
                    <a:pt x="304801" y="210104"/>
                    <a:pt x="303321" y="105052"/>
                    <a:pt x="301841" y="0"/>
                  </a:cubicBezTo>
                </a:path>
              </a:pathLst>
            </a:custGeom>
            <a:noFill/>
            <a:ln w="2556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"/>
            <p:cNvSpPr/>
            <p:nvPr/>
          </p:nvSpPr>
          <p:spPr>
            <a:xfrm>
              <a:off x="5723280" y="3762360"/>
              <a:ext cx="504360" cy="18396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183960"/>
                <a:gd name="textAreaBottom" fmla="*/ 184320 h 183960"/>
                <a:gd name="GluePoint1X" fmla="*/ 508033 w 507554"/>
                <a:gd name="GluePoint1Y" fmla="*/ 151984 h 187941"/>
                <a:gd name="GluePoint2X" fmla="*/ 250338 w 507554"/>
                <a:gd name="GluePoint2Y" fmla="*/ 1506 h 187941"/>
                <a:gd name="GluePoint3X" fmla="*/ 37073 w 507554"/>
                <a:gd name="GluePoint3Y" fmla="*/ 81171 h 187941"/>
                <a:gd name="GluePoint4X" fmla="*/ 1528 w 507554"/>
                <a:gd name="GluePoint4Y" fmla="*/ 187391 h 1879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07554" h="187941">
                  <a:moveTo>
                    <a:pt x="507554" y="152430"/>
                  </a:moveTo>
                  <a:cubicBezTo>
                    <a:pt x="418037" y="82888"/>
                    <a:pt x="328521" y="13347"/>
                    <a:pt x="250102" y="1510"/>
                  </a:cubicBezTo>
                  <a:cubicBezTo>
                    <a:pt x="171683" y="-10327"/>
                    <a:pt x="78467" y="50337"/>
                    <a:pt x="37038" y="81409"/>
                  </a:cubicBezTo>
                  <a:cubicBezTo>
                    <a:pt x="-4391" y="112481"/>
                    <a:pt x="-1432" y="150211"/>
                    <a:pt x="1527" y="187941"/>
                  </a:cubicBezTo>
                </a:path>
              </a:pathLst>
            </a:custGeom>
            <a:noFill/>
            <a:ln w="25560">
              <a:solidFill>
                <a:srgbClr val="0000FF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"/>
            <p:cNvSpPr/>
            <p:nvPr/>
          </p:nvSpPr>
          <p:spPr>
            <a:xfrm>
              <a:off x="7531200" y="2744640"/>
              <a:ext cx="1501920" cy="64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Later stages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of Block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"/>
            <p:cNvSpPr/>
            <p:nvPr/>
          </p:nvSpPr>
          <p:spPr>
            <a:xfrm>
              <a:off x="4586400" y="4367160"/>
              <a:ext cx="27216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Receptor Desensitisation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"/>
            <p:cNvSpPr/>
            <p:nvPr/>
          </p:nvSpPr>
          <p:spPr>
            <a:xfrm rot="20940000">
              <a:off x="5570280" y="3498120"/>
              <a:ext cx="415440" cy="166320"/>
            </a:xfrm>
            <a:prstGeom prst="ellipse">
              <a:avLst/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" name=""/>
            <p:cNvSpPr/>
            <p:nvPr/>
          </p:nvSpPr>
          <p:spPr>
            <a:xfrm rot="18720000">
              <a:off x="5508720" y="2566080"/>
              <a:ext cx="415800" cy="166320"/>
            </a:xfrm>
            <a:prstGeom prst="ellipse">
              <a:avLst/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"/>
            <p:cNvSpPr/>
            <p:nvPr/>
          </p:nvSpPr>
          <p:spPr>
            <a:xfrm flipH="1">
              <a:off x="5392440" y="3587760"/>
              <a:ext cx="331560" cy="80964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6" name=""/>
          <p:cNvSpPr/>
          <p:nvPr/>
        </p:nvSpPr>
        <p:spPr>
          <a:xfrm>
            <a:off x="1471680" y="260280"/>
            <a:ext cx="637956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 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Depolarizing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</a:t>
            </a:r>
            <a:r>
              <a:rPr lang="en-GB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Non-Competitive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blockers (D)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7" name=""/>
          <p:cNvGrpSpPr/>
          <p:nvPr/>
        </p:nvGrpSpPr>
        <p:grpSpPr>
          <a:xfrm>
            <a:off x="1547640" y="2023920"/>
            <a:ext cx="1985760" cy="2710800"/>
            <a:chOff x="1547640" y="2023920"/>
            <a:chExt cx="1985760" cy="2710800"/>
          </a:xfrm>
        </p:grpSpPr>
        <p:sp>
          <p:nvSpPr>
            <p:cNvPr id="338" name=""/>
            <p:cNvSpPr/>
            <p:nvPr/>
          </p:nvSpPr>
          <p:spPr>
            <a:xfrm>
              <a:off x="1642680" y="2136600"/>
              <a:ext cx="5500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Na</a:t>
              </a:r>
              <a:r>
                <a:rPr lang="en-GB" sz="1800" b="0" u="none" strike="noStrike" baseline="30000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"/>
            <p:cNvSpPr/>
            <p:nvPr/>
          </p:nvSpPr>
          <p:spPr>
            <a:xfrm>
              <a:off x="2988720" y="3741840"/>
              <a:ext cx="4104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K</a:t>
              </a:r>
              <a:r>
                <a:rPr lang="en-GB" sz="1800" b="0" u="none" strike="noStrike" baseline="30000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40" name=""/>
            <p:cNvGrpSpPr/>
            <p:nvPr/>
          </p:nvGrpSpPr>
          <p:grpSpPr>
            <a:xfrm>
              <a:off x="1547640" y="2593800"/>
              <a:ext cx="1985760" cy="1068120"/>
              <a:chOff x="1547640" y="2593800"/>
              <a:chExt cx="1985760" cy="1068120"/>
            </a:xfrm>
          </p:grpSpPr>
          <p:sp>
            <p:nvSpPr>
              <p:cNvPr id="341" name=""/>
              <p:cNvSpPr/>
              <p:nvPr/>
            </p:nvSpPr>
            <p:spPr>
              <a:xfrm>
                <a:off x="1679400" y="2717640"/>
                <a:ext cx="1728720" cy="94428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2" name=""/>
              <p:cNvSpPr/>
              <p:nvPr/>
            </p:nvSpPr>
            <p:spPr>
              <a:xfrm>
                <a:off x="2319480" y="2717640"/>
                <a:ext cx="434520" cy="944280"/>
              </a:xfrm>
              <a:prstGeom prst="can">
                <a:avLst>
                  <a:gd name="adj" fmla="val 14013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3" name=""/>
              <p:cNvSpPr/>
              <p:nvPr/>
            </p:nvSpPr>
            <p:spPr>
              <a:xfrm>
                <a:off x="3100320" y="2611440"/>
                <a:ext cx="433080" cy="412560"/>
              </a:xfrm>
              <a:prstGeom prst="ellipse">
                <a:avLst/>
              </a:prstGeom>
              <a:solidFill>
                <a:srgbClr val="0000FF"/>
              </a:solidFill>
              <a:ln w="255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" name=""/>
              <p:cNvSpPr/>
              <p:nvPr/>
            </p:nvSpPr>
            <p:spPr>
              <a:xfrm>
                <a:off x="1547640" y="2593800"/>
                <a:ext cx="433080" cy="414000"/>
              </a:xfrm>
              <a:prstGeom prst="ellipse">
                <a:avLst/>
              </a:prstGeom>
              <a:solidFill>
                <a:srgbClr val="0000FF"/>
              </a:solidFill>
              <a:ln w="255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45" name=""/>
            <p:cNvSpPr/>
            <p:nvPr/>
          </p:nvSpPr>
          <p:spPr>
            <a:xfrm rot="18720000">
              <a:off x="2227320" y="2500920"/>
              <a:ext cx="415800" cy="166320"/>
            </a:xfrm>
            <a:prstGeom prst="ellipse">
              <a:avLst/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"/>
            <p:cNvSpPr/>
            <p:nvPr/>
          </p:nvSpPr>
          <p:spPr>
            <a:xfrm>
              <a:off x="2124000" y="2023920"/>
              <a:ext cx="299880" cy="444240"/>
            </a:xfrm>
            <a:custGeom>
              <a:avLst/>
              <a:gdLst>
                <a:gd name="textAreaLeft" fmla="*/ 0 w 299880"/>
                <a:gd name="textAreaRight" fmla="*/ 300240 w 299880"/>
                <a:gd name="textAreaTop" fmla="*/ 0 h 444240"/>
                <a:gd name="textAreaBottom" fmla="*/ 444600 h 444240"/>
                <a:gd name="GluePoint1X" fmla="*/ 0 w 302605"/>
                <a:gd name="GluePoint1Y" fmla="*/ 381909 h 447661"/>
                <a:gd name="GluePoint2X" fmla="*/ 177877 w 302605"/>
                <a:gd name="GluePoint2Y" fmla="*/ 444079 h 447661"/>
                <a:gd name="GluePoint3X" fmla="*/ 284602 w 302605"/>
                <a:gd name="GluePoint3Y" fmla="*/ 284211 h 447661"/>
                <a:gd name="GluePoint4X" fmla="*/ 302390 w 302605"/>
                <a:gd name="GluePoint4Y" fmla="*/ 0 h 4476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302605" h="447661">
                  <a:moveTo>
                    <a:pt x="0" y="381740"/>
                  </a:moveTo>
                  <a:cubicBezTo>
                    <a:pt x="65103" y="420949"/>
                    <a:pt x="130206" y="460159"/>
                    <a:pt x="177554" y="443883"/>
                  </a:cubicBezTo>
                  <a:cubicBezTo>
                    <a:pt x="224902" y="427607"/>
                    <a:pt x="263371" y="358066"/>
                    <a:pt x="284086" y="284085"/>
                  </a:cubicBezTo>
                  <a:cubicBezTo>
                    <a:pt x="304801" y="210104"/>
                    <a:pt x="303321" y="105052"/>
                    <a:pt x="301841" y="0"/>
                  </a:cubicBezTo>
                </a:path>
              </a:pathLst>
            </a:custGeom>
            <a:noFill/>
            <a:ln w="2556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"/>
            <p:cNvSpPr/>
            <p:nvPr/>
          </p:nvSpPr>
          <p:spPr>
            <a:xfrm>
              <a:off x="2451240" y="3797280"/>
              <a:ext cx="504360" cy="183960"/>
            </a:xfrm>
            <a:custGeom>
              <a:avLst/>
              <a:gdLst>
                <a:gd name="textAreaLeft" fmla="*/ 0 w 504360"/>
                <a:gd name="textAreaRight" fmla="*/ 504720 w 504360"/>
                <a:gd name="textAreaTop" fmla="*/ 0 h 183960"/>
                <a:gd name="textAreaBottom" fmla="*/ 184320 h 183960"/>
                <a:gd name="GluePoint1X" fmla="*/ 507903 w 507554"/>
                <a:gd name="GluePoint1Y" fmla="*/ 151993 h 187941"/>
                <a:gd name="GluePoint2X" fmla="*/ 250274 w 507554"/>
                <a:gd name="GluePoint2Y" fmla="*/ 1506 h 187941"/>
                <a:gd name="GluePoint3X" fmla="*/ 37063 w 507554"/>
                <a:gd name="GluePoint3Y" fmla="*/ 81176 h 187941"/>
                <a:gd name="GluePoint4X" fmla="*/ 1528 w 507554"/>
                <a:gd name="GluePoint4Y" fmla="*/ 187402 h 1879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07554" h="187941">
                  <a:moveTo>
                    <a:pt x="507554" y="152430"/>
                  </a:moveTo>
                  <a:cubicBezTo>
                    <a:pt x="418037" y="82888"/>
                    <a:pt x="328521" y="13347"/>
                    <a:pt x="250102" y="1510"/>
                  </a:cubicBezTo>
                  <a:cubicBezTo>
                    <a:pt x="171683" y="-10327"/>
                    <a:pt x="78467" y="50337"/>
                    <a:pt x="37038" y="81409"/>
                  </a:cubicBezTo>
                  <a:cubicBezTo>
                    <a:pt x="-4391" y="112481"/>
                    <a:pt x="-1432" y="150211"/>
                    <a:pt x="1527" y="187941"/>
                  </a:cubicBezTo>
                </a:path>
              </a:pathLst>
            </a:custGeom>
            <a:noFill/>
            <a:ln w="25560">
              <a:solidFill>
                <a:srgbClr val="0000FF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"/>
            <p:cNvSpPr/>
            <p:nvPr/>
          </p:nvSpPr>
          <p:spPr>
            <a:xfrm>
              <a:off x="2322360" y="2975040"/>
              <a:ext cx="433080" cy="412200"/>
            </a:xfrm>
            <a:prstGeom prst="ellipse">
              <a:avLst/>
            </a:prstGeom>
            <a:solidFill>
              <a:srgbClr val="0000FF"/>
            </a:solidFill>
            <a:ln w="255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9" name=""/>
            <p:cNvSpPr/>
            <p:nvPr/>
          </p:nvSpPr>
          <p:spPr>
            <a:xfrm>
              <a:off x="1770480" y="4367160"/>
              <a:ext cx="165456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Channel Block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"/>
            <p:cNvSpPr/>
            <p:nvPr/>
          </p:nvSpPr>
          <p:spPr>
            <a:xfrm>
              <a:off x="1602720" y="2624040"/>
              <a:ext cx="32688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D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"/>
            <p:cNvSpPr/>
            <p:nvPr/>
          </p:nvSpPr>
          <p:spPr>
            <a:xfrm>
              <a:off x="2380680" y="3014640"/>
              <a:ext cx="32688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D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"/>
            <p:cNvSpPr/>
            <p:nvPr/>
          </p:nvSpPr>
          <p:spPr>
            <a:xfrm>
              <a:off x="3153600" y="2646360"/>
              <a:ext cx="32688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D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2" dur="indefinite" restart="never" nodeType="tmRoot">
          <p:childTnLst>
            <p:seq>
              <p:cTn id="93" dur="indefinite" nodeType="mainSeq">
                <p:childTnLst>
                  <p:par>
                    <p:cTn id="94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95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6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103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4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3" name=""/>
          <p:cNvGraphicFramePr/>
          <p:nvPr/>
        </p:nvGraphicFramePr>
        <p:xfrm>
          <a:off x="2165040" y="1758600"/>
          <a:ext cx="5185800" cy="3110400"/>
        </p:xfrm>
        <a:graphic>
          <a:graphicData uri="http://schemas.openxmlformats.org/drawingml/2006/table">
            <a:tbl>
              <a:tblPr/>
              <a:tblGrid>
                <a:gridCol w="2094480"/>
                <a:gridCol w="1484640"/>
                <a:gridCol w="1607040"/>
              </a:tblGrid>
              <a:tr h="640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Blocker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43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Use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43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Duration of Action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43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1189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Suxamethonium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432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Clinically used for intubation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432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Few mins broken down by esterases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432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Decamethonium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Expt use only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Suxethonium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Expt  use only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-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354" name=""/>
          <p:cNvSpPr/>
          <p:nvPr/>
        </p:nvSpPr>
        <p:spPr>
          <a:xfrm>
            <a:off x="1827360" y="374760"/>
            <a:ext cx="545364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D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p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z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g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u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m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u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u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B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k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"/>
          <p:cNvSpPr txBox="1"/>
          <p:nvPr/>
        </p:nvSpPr>
        <p:spPr>
          <a:xfrm>
            <a:off x="1371600" y="1143000"/>
            <a:ext cx="39164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Features of block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suxamethonium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1371600" y="2057400"/>
            <a:ext cx="63565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 Causes fasiculation of muscle during onset (disadvantage)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348200" y="2743200"/>
            <a:ext cx="4932720" cy="16887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2: Short duration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action-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(advantage)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hydrolysed by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plasma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butrylcholine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esterase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BUT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</a:rPr>
              <a:t>~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omic Sans MS"/>
              </a:rPr>
              <a:t> 1 in 3500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omic Sans MS"/>
              </a:rPr>
              <a:t>patients deficient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omic Sans MS"/>
              </a:rPr>
              <a:t>in enzyme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omic Sans MS"/>
              </a:rPr>
              <a:t>           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1371600" y="4911480"/>
            <a:ext cx="44971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3: Effects enhanced by AChEase inhibitors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6" dur="indefinite" restart="never" nodeType="tmRoot">
          <p:childTnLst>
            <p:seq>
              <p:cTn id="107" dur="indefinite" nodeType="mainSeq">
                <p:childTnLst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2009</TotalTime>
  <Application>LibreOffice/26.2.5.2$Linux_X86_64 LibreOffice_project/6d2b0d33fb0f5da53a12f98bed3e9973e56ff1f0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2010-10-01T09:59:17Z</dcterms:created>
  <dc:creator>TGS</dc:creator>
  <dc:description/>
  <dc:language>en-US</dc:language>
  <cp:lastModifiedBy/>
  <cp:lastPrinted>2022-10-03T09:49:10Z</cp:lastPrinted>
  <dcterms:modified xsi:type="dcterms:W3CDTF">2026-10-15T11:55:47Z</dcterms:modified>
  <cp:revision>113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