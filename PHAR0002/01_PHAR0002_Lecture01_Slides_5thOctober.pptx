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5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E57DBA9-0C1E-4AD2-870F-7AD50D886D9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E116EE-2BF2-4616-97CA-FC25856C41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marL="343080" indent="-343080" algn="l">
              <a:spcBef>
                <a:spcPts val="814"/>
              </a:spcBef>
              <a:spcAft>
                <a:spcPts val="11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2FD379-80B8-4C70-B5D7-4208BA4751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343080" indent="-343080" algn="ctr">
              <a:spcBef>
                <a:spcPts val="814"/>
              </a:spcBef>
              <a:spcAft>
                <a:spcPts val="11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59F11D-36A4-4B60-BB2A-463D5E1B40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x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spcBef>
                <a:spcPts val="814"/>
              </a:spcBef>
              <a:spcAft>
                <a:spcPts val="1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343080" lvl="1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343080" lvl="2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343080" lvl="3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343080" lvl="4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marL="343080" lvl="5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marL="343080" lvl="6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spcBef>
                <a:spcPts val="814"/>
              </a:spcBef>
              <a:spcAft>
                <a:spcPts val="1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1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2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3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4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5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6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l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5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fld id="{52644330-906E-4F79-9DD7-5C2D6AE9F93D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spcBef>
                <a:spcPts val="814"/>
              </a:spcBef>
              <a:spcAft>
                <a:spcPts val="1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343080" lvl="1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343080" lvl="2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343080" lvl="3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343080" lvl="4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marL="343080" lvl="5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marL="343080" lvl="6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spcBef>
                <a:spcPts val="814"/>
              </a:spcBef>
              <a:spcAft>
                <a:spcPts val="1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1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2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3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4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5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6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6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l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7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fld id="{EC2600A9-8194-4CCC-BBFD-DD54106C5577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5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36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39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102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68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3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3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102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6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247440"/>
            <a:ext cx="2130120" cy="47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6960" y="6247440"/>
            <a:ext cx="2898360" cy="47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5960" y="6247440"/>
            <a:ext cx="2130120" cy="47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B98A2DE-3121-4FB6-827A-F5C5A001913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google.com/url?sa=i&amp;url=https%3A%2F%2Fpatstedman.com%2F2016%2F10%2F26%2Fthree-pillars-attraction%2F&amp;psig=AOvVaw2EvP2yQknyfraX8uR5lIen&amp;ust=1599053940302000&amp;source=images&amp;cd=vfe&amp;ved=0CAIQjRxqFwoTCMjClK6KyOsCFQAAAAAdAAAAABAJ" TargetMode="Externa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7.jpeg"/><Relationship Id="rId8" Type="http://schemas.openxmlformats.org/officeDocument/2006/relationships/image" Target="../media/image7.jpeg"/><Relationship Id="rId9" Type="http://schemas.openxmlformats.org/officeDocument/2006/relationships/image" Target="../media/image7.jpeg"/><Relationship Id="rId10" Type="http://schemas.openxmlformats.org/officeDocument/2006/relationships/image" Target="../media/image7.jpeg"/><Relationship Id="rId11" Type="http://schemas.openxmlformats.org/officeDocument/2006/relationships/image" Target="../media/image7.jpeg"/><Relationship Id="rId12" Type="http://schemas.openxmlformats.org/officeDocument/2006/relationships/image" Target="../media/image7.jpeg"/><Relationship Id="rId13" Type="http://schemas.openxmlformats.org/officeDocument/2006/relationships/image" Target="../media/image7.jpeg"/><Relationship Id="rId14" Type="http://schemas.openxmlformats.org/officeDocument/2006/relationships/image" Target="../media/image7.jpeg"/><Relationship Id="rId15" Type="http://schemas.openxmlformats.org/officeDocument/2006/relationships/image" Target="../media/image7.jpeg"/><Relationship Id="rId16" Type="http://schemas.openxmlformats.org/officeDocument/2006/relationships/image" Target="../media/image7.jpeg"/><Relationship Id="rId17" Type="http://schemas.openxmlformats.org/officeDocument/2006/relationships/image" Target="../media/image7.jpeg"/><Relationship Id="rId18" Type="http://schemas.openxmlformats.org/officeDocument/2006/relationships/image" Target="../media/image7.jpeg"/><Relationship Id="rId19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92760" y="914400"/>
            <a:ext cx="8229240" cy="4338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PHAR0002: An Introduction to the Mechanisms of Drug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Action</a:t>
            </a:r>
            <a:br>
              <a:rPr sz="2600"/>
            </a:b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to the course!</a:t>
            </a:r>
            <a:br>
              <a:rPr sz="2600"/>
            </a:b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 David Benton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Aims of the 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course</a:t>
            </a:r>
            <a:endParaRPr lang="en-US" sz="5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479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p>
            <a:pPr indent="0" algn="just">
              <a:lnSpc>
                <a:spcPct val="100000"/>
              </a:lnSpc>
              <a:buNone/>
              <a:tabLst>
                <a:tab pos="-731520" algn="l"/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629400" algn="l"/>
                <a:tab pos="6858000" algn="l"/>
              </a:tabLst>
            </a:pP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Symbol"/>
              </a:rPr>
              <a:t></a:t>
            </a: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Times New Roman"/>
              </a:rPr>
              <a:t> To provide you with an introductory overview of pharmacology and some of the most important mechanisms of drug action.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just">
              <a:lnSpc>
                <a:spcPct val="100000"/>
              </a:lnSpc>
              <a:buNone/>
              <a:tabLst>
                <a:tab pos="-731520" algn="l"/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629400" algn="l"/>
                <a:tab pos="68580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just">
              <a:lnSpc>
                <a:spcPct val="100000"/>
              </a:lnSpc>
              <a:buNone/>
              <a:tabLst>
                <a:tab pos="-731520" algn="l"/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629400" algn="l"/>
                <a:tab pos="6858000" algn="l"/>
              </a:tabLst>
            </a:pP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Symbol"/>
              </a:rPr>
              <a:t></a:t>
            </a: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Times New Roman"/>
              </a:rPr>
              <a:t> To illustrate these actions for you with specific examples of important drugs.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just">
              <a:lnSpc>
                <a:spcPct val="100000"/>
              </a:lnSpc>
              <a:buNone/>
              <a:tabLst>
                <a:tab pos="-731520" algn="l"/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629400" algn="l"/>
                <a:tab pos="68580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just">
              <a:lnSpc>
                <a:spcPct val="100000"/>
              </a:lnSpc>
              <a:buNone/>
              <a:tabLst>
                <a:tab pos="-731520" algn="l"/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629400" algn="l"/>
                <a:tab pos="6858000" algn="l"/>
              </a:tabLst>
            </a:pP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Symbol"/>
              </a:rPr>
              <a:t></a:t>
            </a: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Times New Roman"/>
              </a:rPr>
              <a:t> To provide you with a foundation in some of the basic theory for pharmacology.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just">
              <a:lnSpc>
                <a:spcPct val="100000"/>
              </a:lnSpc>
              <a:buNone/>
              <a:tabLst>
                <a:tab pos="-731520" algn="l"/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629400" algn="l"/>
                <a:tab pos="68580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just">
              <a:lnSpc>
                <a:spcPct val="100000"/>
              </a:lnSpc>
              <a:buNone/>
              <a:tabLst>
                <a:tab pos="-731520" algn="l"/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629400" algn="l"/>
                <a:tab pos="6858000" algn="l"/>
              </a:tabLst>
            </a:pP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Symbol"/>
              </a:rPr>
              <a:t></a:t>
            </a: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Times New Roman"/>
              </a:rPr>
              <a:t> To provide you with some basic laboratory experience that illustrates the lecture material.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just">
              <a:lnSpc>
                <a:spcPct val="100000"/>
              </a:lnSpc>
              <a:buNone/>
              <a:tabLst>
                <a:tab pos="-731520" algn="l"/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629400" algn="l"/>
                <a:tab pos="68580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just">
              <a:lnSpc>
                <a:spcPct val="100000"/>
              </a:lnSpc>
              <a:buNone/>
              <a:tabLst>
                <a:tab pos="-731520" algn="l"/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629400" algn="l"/>
                <a:tab pos="6858000" algn="l"/>
              </a:tabLst>
            </a:pP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Symbol"/>
              </a:rPr>
              <a:t></a:t>
            </a: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Times New Roman"/>
              </a:rPr>
              <a:t> To familiarise you with some basic principles of laboratory practice and safety.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just">
              <a:lnSpc>
                <a:spcPct val="100000"/>
              </a:lnSpc>
              <a:buNone/>
              <a:tabLst>
                <a:tab pos="-731520" algn="l"/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629400" algn="l"/>
                <a:tab pos="68580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just">
              <a:lnSpc>
                <a:spcPct val="100000"/>
              </a:lnSpc>
              <a:buNone/>
              <a:tabLst>
                <a:tab pos="-731520" algn="l"/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629400" algn="l"/>
                <a:tab pos="6858000" algn="l"/>
              </a:tabLst>
            </a:pP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Symbol"/>
              </a:rPr>
              <a:t></a:t>
            </a: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Comic Sans MS"/>
                <a:ea typeface="Times New Roman"/>
              </a:rPr>
              <a:t> To introduce you to some first steps in data analysis for pharmacology.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is teaching delivered?</a:t>
            </a:r>
            <a:endParaRPr lang="en-US" sz="5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58880"/>
            <a:ext cx="8229240" cy="39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 lnSpcReduction="9999"/>
          </a:bodyPr>
          <a:p>
            <a:pPr marL="432000" indent="0" algn="ctr">
              <a:spcBef>
                <a:spcPts val="1712"/>
              </a:spcBef>
              <a:buNone/>
            </a:pP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ctr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Lectures - 22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ctr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Tutorials - 4 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ctr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Practicals - 2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ctr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Workshops-2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Outcomes of the course</a:t>
            </a:r>
            <a:endParaRPr lang="en-US" sz="5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80240" y="14180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Describe the fundamental mechanisms of drug action and their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significance in pharmacology.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Explain these mechanisms with reference to specific, clinically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important drugs.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Demonstrate a foundational understanding of basic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pharmacological theory.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Apply key principles of pharmacology in a laboratory setting,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using basic experimental skills.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Demonstrate safe laboratory practice in line with standard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safety principles.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Assessment</a:t>
            </a:r>
            <a:endParaRPr lang="en-US" sz="5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432000" indent="-324000" algn="l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Mid-term MCQ examination 5 % of final mark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32000" indent="-324000" algn="l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Summer examination-in person 95 %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32000" indent="-324000" algn="l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Affiliate students take the MCQ and complete a written exam at the end of term 1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9240" cy="150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do we expect from you?</a:t>
            </a:r>
            <a:endParaRPr lang="en-US" sz="5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Attendance- tutorials and practicals are compulsory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32000" indent="-324000" algn="l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Engagement- don’t be afraid to ask questions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32000" indent="-324000" algn="l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Enjoy the course!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Getting </a:t>
            </a: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Information….</a:t>
            </a:r>
            <a:endParaRPr lang="en-US" sz="5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Moodle is your friend……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 the pages for updates and </a:t>
            </a:r>
            <a:br>
              <a:rPr sz="3870"/>
            </a:b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information about lecture material.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 the Common timetable for changes to locations and times...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1"/>
          <p:cNvSpPr/>
          <p:nvPr/>
        </p:nvSpPr>
        <p:spPr>
          <a:xfrm>
            <a:off x="2138400" y="315000"/>
            <a:ext cx="40010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g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y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Box 2"/>
          <p:cNvSpPr/>
          <p:nvPr/>
        </p:nvSpPr>
        <p:spPr>
          <a:xfrm>
            <a:off x="5943600" y="1283400"/>
            <a:ext cx="2351520" cy="39888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Drug Discovery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Box 3"/>
          <p:cNvSpPr/>
          <p:nvPr/>
        </p:nvSpPr>
        <p:spPr>
          <a:xfrm>
            <a:off x="6423480" y="835920"/>
            <a:ext cx="1577520" cy="39888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7" descr="The Three Pillars Of Attraction | Pat Stedman Dating &amp; Relationship Coach">
            <a:hlinkClick r:id="rId1"/>
          </p:cNvPr>
          <p:cNvPicPr/>
          <p:nvPr/>
        </p:nvPicPr>
        <p:blipFill>
          <a:blip r:embed="rId2"/>
          <a:srcRect l="0" t="10201" r="73939" b="9729"/>
          <a:stretch/>
        </p:blipFill>
        <p:spPr>
          <a:xfrm>
            <a:off x="6400800" y="1682280"/>
            <a:ext cx="1483200" cy="527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Box 5"/>
          <p:cNvSpPr/>
          <p:nvPr/>
        </p:nvSpPr>
        <p:spPr>
          <a:xfrm>
            <a:off x="6983280" y="2579760"/>
            <a:ext cx="293760" cy="33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Pharmac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ology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6"/>
          <p:cNvSpPr/>
          <p:nvPr/>
        </p:nvSpPr>
        <p:spPr>
          <a:xfrm>
            <a:off x="5887440" y="7455960"/>
            <a:ext cx="1451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‘Pharmakon’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Box 7"/>
          <p:cNvSpPr/>
          <p:nvPr/>
        </p:nvSpPr>
        <p:spPr>
          <a:xfrm>
            <a:off x="814320" y="2761200"/>
            <a:ext cx="4749840" cy="26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The study of drug action..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effect do they have?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 they cause these effects?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do they have effects?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Box 11"/>
          <p:cNvSpPr/>
          <p:nvPr/>
        </p:nvSpPr>
        <p:spPr>
          <a:xfrm>
            <a:off x="11668680" y="9173520"/>
            <a:ext cx="1451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‘Pharmakon’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532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What is a drug?</a:t>
            </a:r>
            <a:endParaRPr lang="en-US" sz="532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/>
          </a:bodyPr>
          <a:p>
            <a:pPr indent="0" algn="ctr">
              <a:spcBef>
                <a:spcPts val="1712"/>
              </a:spcBef>
              <a:buNone/>
            </a:pPr>
            <a:endParaRPr lang="en-US" sz="387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712"/>
              </a:spcBef>
              <a:buNone/>
            </a:pPr>
            <a:r>
              <a:rPr lang="en-US" sz="387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… a chemical substance of known structure...which, when administered to a living organism, produces a biological effect…</a:t>
            </a:r>
            <a:r>
              <a:rPr lang="en-US" sz="3870" b="0" i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.</a:t>
            </a:r>
            <a:endParaRPr lang="en-US" sz="387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2816640" y="426960"/>
            <a:ext cx="32536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What is a Drug?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286000" y="3200400"/>
            <a:ext cx="4840200" cy="17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6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Not all drugs are medicines……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6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But all medicines are drugs…..</a:t>
            </a:r>
            <a:r>
              <a:rPr lang="en-GB" sz="2600" b="0" i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457200" y="1641240"/>
            <a:ext cx="8437320" cy="11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All drugs </a:t>
            </a: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are </a:t>
            </a: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chemicals, </a:t>
            </a: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but not all </a:t>
            </a: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chemicals </a:t>
            </a: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are </a:t>
            </a: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drugs…...</a:t>
            </a:r>
            <a:endParaRPr lang="en-US" sz="24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All drugs </a:t>
            </a: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are poisons </a:t>
            </a: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but not all </a:t>
            </a: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poisons are </a:t>
            </a:r>
            <a:r>
              <a:rPr lang="en-GB" sz="2400" b="0" i="1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drugs……..</a:t>
            </a:r>
            <a:endParaRPr lang="en-US" sz="24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623880" y="208080"/>
            <a:ext cx="7705800" cy="64908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168560" y="260280"/>
            <a:ext cx="6781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What do we need to know about a drug?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826920" y="1430280"/>
            <a:ext cx="7201080" cy="39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–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g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k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?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(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v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y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v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x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‘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’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)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v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y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(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g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y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g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)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(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x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y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-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g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ben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zod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iaze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pine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 –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anx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ioly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tic,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hyp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noti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mus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cle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rela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xan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amn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esic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)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(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g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g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w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y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…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)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k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/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b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(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q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u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y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g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u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f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s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Noto Sans CJK SC"/>
              </a:rPr>
              <a:t>)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59" dur="indefinite" restart="never" nodeType="tmRoot">
          <p:childTnLst>
            <p:seq>
              <p:cTn id="60" dur="indefinite" nodeType="mainSeq">
                <p:childTnLst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dur="indefinite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2622240" y="44280"/>
            <a:ext cx="41598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Mechanism of Action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5724360" y="1484280"/>
            <a:ext cx="287640" cy="208908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940360" y="1268280"/>
            <a:ext cx="287280" cy="93672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896240" y="1006560"/>
            <a:ext cx="579600" cy="252072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867280" y="4365720"/>
            <a:ext cx="649440" cy="122400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867280" y="2997360"/>
            <a:ext cx="289080" cy="36036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7308720" y="836640"/>
            <a:ext cx="719280" cy="863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628560" y="1712880"/>
            <a:ext cx="3662280" cy="174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Penicillin cures bacterial infections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Aspirin reduces inflammation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15960" y="1006560"/>
            <a:ext cx="118440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know: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17400" y="4149720"/>
            <a:ext cx="1134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But how?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06400" y="4532400"/>
            <a:ext cx="3662280" cy="11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P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ni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cil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li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n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c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ur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s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b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ct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er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ia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l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in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fe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ct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io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n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A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s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pi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ri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n 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re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d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u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c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e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s 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in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fl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a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m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m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at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io</a:t>
            </a: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rcRect l="20773" t="0" r="20669" b="0"/>
          <a:stretch/>
        </p:blipFill>
        <p:spPr>
          <a:xfrm>
            <a:off x="4910040" y="781200"/>
            <a:ext cx="814320" cy="1639800"/>
          </a:xfrm>
          <a:prstGeom prst="rect">
            <a:avLst/>
          </a:prstGeom>
          <a:noFill/>
          <a:ln w="9360">
            <a:solidFill>
              <a:srgbClr val="0000FF"/>
            </a:solidFill>
            <a:miter/>
          </a:ln>
        </p:spPr>
      </p:pic>
      <p:pic>
        <p:nvPicPr>
          <p:cNvPr id="68" name=""/>
          <p:cNvPicPr/>
          <p:nvPr/>
        </p:nvPicPr>
        <p:blipFill>
          <a:blip r:embed="rId2"/>
          <a:stretch/>
        </p:blipFill>
        <p:spPr>
          <a:xfrm>
            <a:off x="6086520" y="969840"/>
            <a:ext cx="2446200" cy="1317600"/>
          </a:xfrm>
          <a:prstGeom prst="rect">
            <a:avLst/>
          </a:prstGeom>
          <a:noFill/>
          <a:ln w="9360">
            <a:solidFill>
              <a:srgbClr val="0000FF"/>
            </a:solidFill>
            <a:miter/>
          </a:ln>
        </p:spPr>
      </p:pic>
      <p:sp>
        <p:nvSpPr>
          <p:cNvPr id="69" name=""/>
          <p:cNvSpPr/>
          <p:nvPr/>
        </p:nvSpPr>
        <p:spPr>
          <a:xfrm>
            <a:off x="63360" y="-136440"/>
            <a:ext cx="144792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3"/>
          <a:srcRect l="0" t="0" r="44760" b="0"/>
          <a:stretch/>
        </p:blipFill>
        <p:spPr>
          <a:xfrm>
            <a:off x="5003640" y="2565360"/>
            <a:ext cx="646200" cy="1459080"/>
          </a:xfrm>
          <a:prstGeom prst="rect">
            <a:avLst/>
          </a:prstGeom>
          <a:noFill/>
          <a:ln w="9360">
            <a:solidFill>
              <a:srgbClr val="00B050"/>
            </a:solidFill>
            <a:miter/>
          </a:ln>
        </p:spPr>
      </p:pic>
      <p:pic>
        <p:nvPicPr>
          <p:cNvPr id="71" name=""/>
          <p:cNvPicPr/>
          <p:nvPr/>
        </p:nvPicPr>
        <p:blipFill>
          <a:blip r:embed="rId4"/>
          <a:stretch/>
        </p:blipFill>
        <p:spPr>
          <a:xfrm>
            <a:off x="6627960" y="2700360"/>
            <a:ext cx="1400040" cy="1111320"/>
          </a:xfrm>
          <a:prstGeom prst="rect">
            <a:avLst/>
          </a:prstGeom>
          <a:noFill/>
          <a:ln w="9360">
            <a:solidFill>
              <a:srgbClr val="00B050"/>
            </a:solidFill>
            <a:miter/>
          </a:ln>
        </p:spPr>
      </p:pic>
      <p:sp>
        <p:nvSpPr>
          <p:cNvPr id="72" name=""/>
          <p:cNvSpPr/>
          <p:nvPr/>
        </p:nvSpPr>
        <p:spPr>
          <a:xfrm>
            <a:off x="5435640" y="4692600"/>
            <a:ext cx="504720" cy="223920"/>
          </a:xfrm>
          <a:prstGeom prst="flowChartTerminator">
            <a:avLst/>
          </a:prstGeom>
          <a:solidFill>
            <a:srgbClr val="4F81BD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940360" y="4692600"/>
            <a:ext cx="504720" cy="223920"/>
          </a:xfrm>
          <a:prstGeom prst="flowChartTerminator">
            <a:avLst/>
          </a:prstGeom>
          <a:solidFill>
            <a:srgbClr val="4F81BD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445080" y="4692600"/>
            <a:ext cx="503280" cy="223920"/>
          </a:xfrm>
          <a:prstGeom prst="flowChartTerminator">
            <a:avLst/>
          </a:prstGeom>
          <a:solidFill>
            <a:srgbClr val="4F81BD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/>
          <p:cNvPicPr/>
          <p:nvPr/>
        </p:nvPicPr>
        <p:blipFill>
          <a:blip r:embed="rId5"/>
          <a:stretch/>
        </p:blipFill>
        <p:spPr>
          <a:xfrm>
            <a:off x="6948360" y="4692600"/>
            <a:ext cx="524160" cy="2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"/>
          <p:cNvSpPr/>
          <p:nvPr/>
        </p:nvSpPr>
        <p:spPr>
          <a:xfrm>
            <a:off x="3684600" y="4197240"/>
            <a:ext cx="3551400" cy="384120"/>
          </a:xfrm>
          <a:custGeom>
            <a:avLst/>
            <a:gdLst>
              <a:gd name="textAreaLeft" fmla="*/ 853200 w 3551400"/>
              <a:gd name="textAreaRight" fmla="*/ 2656440 w 3551400"/>
              <a:gd name="textAreaTop" fmla="*/ 51480 h 384120"/>
              <a:gd name="textAreaBottom" fmla="*/ 332640 h 3841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10382" hR="21600" stAng="10800000" swAng="5400000"/>
                <a:lnTo>
                  <a:pt x="10966" y="0"/>
                </a:lnTo>
                <a:arcTo wR="10382" hR="21600" stAng="-5400000" swAng="3705279"/>
                <a:lnTo>
                  <a:pt x="21270" y="16200"/>
                </a:lnTo>
                <a:lnTo>
                  <a:pt x="21055" y="21600"/>
                </a:lnTo>
                <a:lnTo>
                  <a:pt x="20180" y="16200"/>
                </a:lnTo>
                <a:lnTo>
                  <a:pt x="20433" y="16200"/>
                </a:lnTo>
                <a:arcTo wR="10382" hR="21600" stAng="-1694721" swAng="-3658790"/>
                <a:lnTo>
                  <a:pt x="10674" y="9"/>
                </a:lnTo>
                <a:arcTo wR="10382" hR="21600" stAng="-5446489" swAng="-5353511"/>
                <a:close/>
              </a:path>
              <a:path fill="darkenLess" w="21600" h="21600">
                <a:moveTo>
                  <a:pt x="0" y="21600"/>
                </a:moveTo>
                <a:arcTo wR="10382" hR="21600" stAng="10800000" swAng="5400000"/>
                <a:lnTo>
                  <a:pt x="10382" y="0"/>
                </a:lnTo>
                <a:arcTo wR="10382" hR="21600" stAng="-5400000" swAng="46489"/>
                <a:lnTo>
                  <a:pt x="10674" y="9"/>
                </a:lnTo>
                <a:arcTo wR="10382" hR="21600" stAng="-5446489" swAng="-5353511"/>
                <a:close/>
              </a:path>
            </a:pathLst>
          </a:custGeom>
          <a:solidFill>
            <a:srgbClr val="0000FF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 rot="16200000">
            <a:off x="7061760" y="4880160"/>
            <a:ext cx="73080" cy="93600"/>
          </a:xfrm>
          <a:custGeom>
            <a:avLst/>
            <a:gdLst>
              <a:gd name="textAreaLeft" fmla="*/ 0 w 73080"/>
              <a:gd name="textAreaRight" fmla="*/ 73440 w 73080"/>
              <a:gd name="textAreaTop" fmla="*/ 0 h 93600"/>
              <a:gd name="textAreaBottom" fmla="*/ 93960 h 936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 rot="16200000">
            <a:off x="7246080" y="4874040"/>
            <a:ext cx="71640" cy="95400"/>
          </a:xfrm>
          <a:custGeom>
            <a:avLst/>
            <a:gdLst>
              <a:gd name="textAreaLeft" fmla="*/ 0 w 71640"/>
              <a:gd name="textAreaRight" fmla="*/ 72000 w 716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 rot="5400000">
            <a:off x="7295760" y="4654440"/>
            <a:ext cx="73080" cy="95400"/>
          </a:xfrm>
          <a:custGeom>
            <a:avLst/>
            <a:gdLst>
              <a:gd name="textAreaLeft" fmla="*/ 0 w 73080"/>
              <a:gd name="textAreaRight" fmla="*/ 73440 w 7308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 rot="5400000">
            <a:off x="7099920" y="4653720"/>
            <a:ext cx="73080" cy="93600"/>
          </a:xfrm>
          <a:custGeom>
            <a:avLst/>
            <a:gdLst>
              <a:gd name="textAreaLeft" fmla="*/ 0 w 73080"/>
              <a:gd name="textAreaRight" fmla="*/ 73440 w 73080"/>
              <a:gd name="textAreaTop" fmla="*/ 0 h 93600"/>
              <a:gd name="textAreaBottom" fmla="*/ 93960 h 936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H="1">
            <a:off x="7418520" y="4768920"/>
            <a:ext cx="72720" cy="95040"/>
          </a:xfrm>
          <a:custGeom>
            <a:avLst/>
            <a:gdLst>
              <a:gd name="textAreaLeft" fmla="*/ 360 w 72720"/>
              <a:gd name="textAreaRight" fmla="*/ 73440 w 7272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427640" y="5416560"/>
            <a:ext cx="1417680" cy="18432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4479840" y="5373720"/>
            <a:ext cx="18734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Cyclooxygenase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089760" y="5407200"/>
            <a:ext cx="504720" cy="137880"/>
          </a:xfrm>
          <a:prstGeom prst="rightArrow">
            <a:avLst>
              <a:gd name="adj1" fmla="val 50000"/>
              <a:gd name="adj2" fmla="val 50079"/>
            </a:avLst>
          </a:prstGeom>
          <a:solidFill>
            <a:srgbClr val="FFFFFF"/>
          </a:solidFill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22320" rIns="90000" bIns="223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732720" y="5300640"/>
            <a:ext cx="193680" cy="11592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35280" rIns="90000" bIns="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897600" y="5452920"/>
            <a:ext cx="195480" cy="11592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35280" rIns="90000" bIns="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7042320" y="5300640"/>
            <a:ext cx="193680" cy="11592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35280" rIns="90000" bIns="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659640" y="5589720"/>
            <a:ext cx="195120" cy="11412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34200" rIns="90000" bIns="342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7478640" y="5148360"/>
            <a:ext cx="1265040" cy="8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Pain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Heat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Swelling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Loss-of-function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 flipV="1">
            <a:off x="3635280" y="5731920"/>
            <a:ext cx="1500120" cy="384120"/>
          </a:xfrm>
          <a:custGeom>
            <a:avLst/>
            <a:gdLst>
              <a:gd name="textAreaLeft" fmla="*/ 340560 w 1500120"/>
              <a:gd name="textAreaRight" fmla="*/ 1117800 w 1500120"/>
              <a:gd name="textAreaTop" fmla="*/ 51480 h 384120"/>
              <a:gd name="textAreaBottom" fmla="*/ 332640 h 3841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9810" hR="21600" stAng="10800000" swAng="5400000"/>
                <a:lnTo>
                  <a:pt x="11192" y="0"/>
                </a:lnTo>
                <a:arcTo wR="9810" hR="21600" stAng="-5400000" swAng="3622801"/>
                <a:lnTo>
                  <a:pt x="21289" y="16200"/>
                </a:lnTo>
                <a:lnTo>
                  <a:pt x="20310" y="21600"/>
                </a:lnTo>
                <a:lnTo>
                  <a:pt x="18709" y="16200"/>
                </a:lnTo>
                <a:lnTo>
                  <a:pt x="19308" y="16200"/>
                </a:lnTo>
                <a:arcTo wR="9810" hR="21600" stAng="-1777199" swAng="-3512589"/>
                <a:lnTo>
                  <a:pt x="10501" y="54"/>
                </a:lnTo>
                <a:arcTo wR="9810" hR="21600" stAng="-5510212" swAng="-5289788"/>
                <a:close/>
              </a:path>
              <a:path fill="darkenLess" w="21600" h="21600">
                <a:moveTo>
                  <a:pt x="0" y="21600"/>
                </a:moveTo>
                <a:arcTo wR="9810" hR="21600" stAng="10800000" swAng="5400000"/>
                <a:lnTo>
                  <a:pt x="9810" y="0"/>
                </a:lnTo>
                <a:arcTo wR="9810" hR="21600" stAng="-5400000" swAng="110212"/>
                <a:lnTo>
                  <a:pt x="10501" y="54"/>
                </a:lnTo>
                <a:arcTo wR="9810" hR="21600" stAng="-5510212" swAng="-5289788"/>
                <a:close/>
              </a:path>
            </a:pathLst>
          </a:cu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4913280" y="5268960"/>
            <a:ext cx="4014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846760" y="6093000"/>
            <a:ext cx="2109960" cy="288720"/>
          </a:xfrm>
          <a:prstGeom prst="flowChartPunchedTape">
            <a:avLst/>
          </a:prstGeom>
          <a:solidFill>
            <a:srgbClr val="FFFFFF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192720" y="6215040"/>
            <a:ext cx="595440" cy="163440"/>
          </a:xfrm>
          <a:custGeom>
            <a:avLst/>
            <a:gdLst>
              <a:gd name="GluePoint1X" fmla="*/ 595312 w 594640"/>
              <a:gd name="GluePoint1Y" fmla="*/ 163512 h 162702"/>
              <a:gd name="GluePoint2X" fmla="*/ 409979 w 594640"/>
              <a:gd name="GluePoint2Y" fmla="*/ 56394 h 162702"/>
              <a:gd name="GluePoint3X" fmla="*/ 275192 w 594640"/>
              <a:gd name="GluePoint3Y" fmla="*/ 17 h 162702"/>
              <a:gd name="GluePoint4X" fmla="*/ 134787 w 594640"/>
              <a:gd name="GluePoint4Y" fmla="*/ 50756 h 162702"/>
              <a:gd name="GluePoint5X" fmla="*/ 84242 w 594640"/>
              <a:gd name="GluePoint5Y" fmla="*/ 84583 h 162702"/>
              <a:gd name="GluePoint6X" fmla="*/ 0 w 594640"/>
              <a:gd name="GluePoint6Y" fmla="*/ 152236 h 1627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594640" h="162702">
                <a:moveTo>
                  <a:pt x="594640" y="162702"/>
                </a:moveTo>
                <a:cubicBezTo>
                  <a:pt x="528724" y="122965"/>
                  <a:pt x="462809" y="83229"/>
                  <a:pt x="409516" y="56115"/>
                </a:cubicBezTo>
                <a:cubicBezTo>
                  <a:pt x="356223" y="29001"/>
                  <a:pt x="320694" y="952"/>
                  <a:pt x="274881" y="17"/>
                </a:cubicBezTo>
                <a:cubicBezTo>
                  <a:pt x="229068" y="-918"/>
                  <a:pt x="166424" y="36480"/>
                  <a:pt x="134635" y="50505"/>
                </a:cubicBezTo>
                <a:cubicBezTo>
                  <a:pt x="102846" y="64529"/>
                  <a:pt x="106586" y="67334"/>
                  <a:pt x="84147" y="84164"/>
                </a:cubicBezTo>
                <a:cubicBezTo>
                  <a:pt x="61708" y="100993"/>
                  <a:pt x="30854" y="126237"/>
                  <a:pt x="0" y="151482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5259240" y="6165720"/>
            <a:ext cx="503280" cy="138240"/>
          </a:xfrm>
          <a:prstGeom prst="rightArrow">
            <a:avLst>
              <a:gd name="adj1" fmla="val 50000"/>
              <a:gd name="adj2" fmla="val 49957"/>
            </a:avLst>
          </a:prstGeom>
          <a:solidFill>
            <a:srgbClr val="FFFFFF"/>
          </a:solidFill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22320" rIns="90000" bIns="223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7308720" y="6137280"/>
            <a:ext cx="503280" cy="138240"/>
          </a:xfrm>
          <a:prstGeom prst="rightArrow">
            <a:avLst>
              <a:gd name="adj1" fmla="val 50000"/>
              <a:gd name="adj2" fmla="val 49957"/>
            </a:avLst>
          </a:prstGeom>
          <a:solidFill>
            <a:srgbClr val="FFFFFF"/>
          </a:solidFill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22320" rIns="90000" bIns="223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/>
          <p:cNvPicPr/>
          <p:nvPr/>
        </p:nvPicPr>
        <p:blipFill>
          <a:blip r:embed="rId6"/>
          <a:srcRect l="55645" t="21795" r="3024" b="14744"/>
          <a:stretch/>
        </p:blipFill>
        <p:spPr>
          <a:xfrm>
            <a:off x="5904000" y="6180120"/>
            <a:ext cx="73080" cy="7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"/>
          <p:cNvPicPr/>
          <p:nvPr/>
        </p:nvPicPr>
        <p:blipFill>
          <a:blip r:embed="rId7"/>
          <a:srcRect l="55645" t="21795" r="3024" b="14744"/>
          <a:stretch/>
        </p:blipFill>
        <p:spPr>
          <a:xfrm>
            <a:off x="6083280" y="6237360"/>
            <a:ext cx="73080" cy="7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"/>
          <p:cNvPicPr/>
          <p:nvPr/>
        </p:nvPicPr>
        <p:blipFill>
          <a:blip r:embed="rId8"/>
          <a:srcRect l="55645" t="21795" r="3024" b="14744"/>
          <a:stretch/>
        </p:blipFill>
        <p:spPr>
          <a:xfrm>
            <a:off x="6732720" y="6237360"/>
            <a:ext cx="72720" cy="7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/>
          <p:cNvPicPr/>
          <p:nvPr/>
        </p:nvPicPr>
        <p:blipFill>
          <a:blip r:embed="rId9"/>
          <a:srcRect l="55645" t="21795" r="3024" b="14744"/>
          <a:stretch/>
        </p:blipFill>
        <p:spPr>
          <a:xfrm>
            <a:off x="6946920" y="6165720"/>
            <a:ext cx="73080" cy="7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"/>
          <p:cNvPicPr/>
          <p:nvPr/>
        </p:nvPicPr>
        <p:blipFill>
          <a:blip r:embed="rId10"/>
          <a:srcRect l="55645" t="21795" r="3024" b="14744"/>
          <a:stretch/>
        </p:blipFill>
        <p:spPr>
          <a:xfrm>
            <a:off x="7834320" y="6181560"/>
            <a:ext cx="74520" cy="7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/>
          <p:cNvPicPr/>
          <p:nvPr/>
        </p:nvPicPr>
        <p:blipFill>
          <a:blip r:embed="rId11"/>
          <a:srcRect l="55645" t="21795" r="3024" b="14744"/>
          <a:stretch/>
        </p:blipFill>
        <p:spPr>
          <a:xfrm>
            <a:off x="6288120" y="6321600"/>
            <a:ext cx="73080" cy="7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"/>
          <p:cNvPicPr/>
          <p:nvPr/>
        </p:nvPicPr>
        <p:blipFill>
          <a:blip r:embed="rId12"/>
          <a:srcRect l="55645" t="21795" r="3024" b="14744"/>
          <a:stretch/>
        </p:blipFill>
        <p:spPr>
          <a:xfrm>
            <a:off x="6321600" y="6281640"/>
            <a:ext cx="72720" cy="7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"/>
          <p:cNvPicPr/>
          <p:nvPr/>
        </p:nvPicPr>
        <p:blipFill>
          <a:blip r:embed="rId13"/>
          <a:srcRect l="55645" t="21795" r="3024" b="14744"/>
          <a:stretch/>
        </p:blipFill>
        <p:spPr>
          <a:xfrm>
            <a:off x="6370560" y="6308640"/>
            <a:ext cx="73080" cy="7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/>
          <p:cNvPicPr/>
          <p:nvPr/>
        </p:nvPicPr>
        <p:blipFill>
          <a:blip r:embed="rId14"/>
          <a:srcRect l="55645" t="21795" r="3024" b="14744"/>
          <a:stretch/>
        </p:blipFill>
        <p:spPr>
          <a:xfrm>
            <a:off x="6442200" y="6308640"/>
            <a:ext cx="74520" cy="7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"/>
          <p:cNvPicPr/>
          <p:nvPr/>
        </p:nvPicPr>
        <p:blipFill>
          <a:blip r:embed="rId15"/>
          <a:srcRect l="55645" t="21795" r="3024" b="14744"/>
          <a:stretch/>
        </p:blipFill>
        <p:spPr>
          <a:xfrm>
            <a:off x="6388200" y="6243480"/>
            <a:ext cx="73080" cy="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8142120" y="5991120"/>
            <a:ext cx="6127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Blood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vessel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16"/>
          <a:srcRect l="55645" t="21795" r="3024" b="14744"/>
          <a:stretch/>
        </p:blipFill>
        <p:spPr>
          <a:xfrm>
            <a:off x="6588000" y="6308640"/>
            <a:ext cx="73080" cy="7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17"/>
          <a:srcRect l="55645" t="21795" r="3024" b="14744"/>
          <a:stretch/>
        </p:blipFill>
        <p:spPr>
          <a:xfrm>
            <a:off x="6516720" y="6308640"/>
            <a:ext cx="73080" cy="7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"/>
          <p:cNvPicPr/>
          <p:nvPr/>
        </p:nvPicPr>
        <p:blipFill>
          <a:blip r:embed="rId18"/>
          <a:srcRect l="55645" t="21795" r="3024" b="14744"/>
          <a:stretch/>
        </p:blipFill>
        <p:spPr>
          <a:xfrm>
            <a:off x="6516720" y="6237360"/>
            <a:ext cx="73080" cy="7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"/>
          <p:cNvSpPr/>
          <p:nvPr/>
        </p:nvSpPr>
        <p:spPr>
          <a:xfrm>
            <a:off x="6168960" y="6458040"/>
            <a:ext cx="1841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Plaque (Atherosclerosis)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240160" y="6458040"/>
            <a:ext cx="765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Platelets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 flipH="1">
            <a:off x="5895720" y="6265800"/>
            <a:ext cx="215640" cy="21600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597360" y="5732640"/>
            <a:ext cx="8499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Mediators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68" dur="indefinite" restart="never" nodeType="tmRoot">
          <p:childTnLst>
            <p:seq>
              <p:cTn id="69" dur="indefinite" nodeType="mainSeq">
                <p:childTnLst>
                  <p:par>
                    <p:cTn id="70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71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2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75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6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3493440" y="1143000"/>
            <a:ext cx="2298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Drug targets 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514600" y="228600"/>
            <a:ext cx="41598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Mechanism of Action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35280" y="2229120"/>
            <a:ext cx="8422920" cy="5140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Hormone/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Neurotransmitter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receptors  eg anti-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histamines</a:t>
            </a:r>
            <a:endParaRPr lang="en-US" sz="24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914400" y="2743200"/>
            <a:ext cx="6400800" cy="5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Enzym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es eg</a:t>
            </a:r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neosti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gmine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inhibit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AChEa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se</a:t>
            </a:r>
            <a:endParaRPr lang="en-US" sz="24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0" y="3657600"/>
            <a:ext cx="9372600" cy="93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Ion channels eg local anaesthetics block neuronal Na channels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28600" y="4743720"/>
            <a:ext cx="8248320" cy="5140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Transpor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ters eg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cocaine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inhibits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uptake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of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noradren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252000" y="5530320"/>
            <a:ext cx="8328240" cy="5140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Nucleic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acids eg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cisplatin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bind to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DNA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anti-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cancer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agent</a:t>
            </a:r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  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</p:spTree>
  </p:cSld>
  <p:timing>
    <p:tnLst>
      <p:par>
        <p:cTn id="162" dur="indefinite" restart="never" nodeType="tmRoot">
          <p:childTnLst>
            <p:seq>
              <p:cTn id="163" dur="indefinite" nodeType="mainSeq">
                <p:childTnLst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 txBox="1"/>
          <p:nvPr/>
        </p:nvSpPr>
        <p:spPr>
          <a:xfrm>
            <a:off x="1143000" y="685800"/>
            <a:ext cx="3886200" cy="68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GB" sz="32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Level of Study: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143000" y="1828800"/>
            <a:ext cx="69483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Single molecules- interaction between </a:t>
            </a:r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drug and target molecule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371600" y="2514600"/>
            <a:ext cx="691668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Cells – ‘native’ cells isolated from tissues- genetic modification 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371600" y="3200400"/>
            <a:ext cx="36183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Tissues- isolated tissues/organs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371600" y="3886200"/>
            <a:ext cx="52272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Organisms- how do drugs affect whole system?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371600" y="4572000"/>
            <a:ext cx="57207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Populations- genetic variation-personalised medicine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>
            <a:off x="3071880" y="476280"/>
            <a:ext cx="25426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Drug Safety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947880" y="1519200"/>
            <a:ext cx="7778880" cy="174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Teratogenicity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Rubella infection known since 1940s to cause foetal abnormality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Thalidomide (1960s, hypnotic, morning sickness) - limb malformation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Anti-angiogenic drug for cancer treatment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36400" y="3708360"/>
            <a:ext cx="838728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g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g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y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–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&amp;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g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y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g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y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96800" y="3573360"/>
            <a:ext cx="8353440" cy="935280"/>
          </a:xfrm>
          <a:prstGeom prst="roundRect">
            <a:avLst>
              <a:gd name="adj" fmla="val 16667"/>
            </a:avLst>
          </a:prstGeom>
          <a:noFill/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2843280" y="333360"/>
            <a:ext cx="2952720" cy="934920"/>
          </a:xfrm>
          <a:prstGeom prst="roundRect">
            <a:avLst>
              <a:gd name="adj" fmla="val 16667"/>
            </a:avLst>
          </a:prstGeom>
          <a:noFill/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600200" y="5029200"/>
            <a:ext cx="48816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1982 Opren- withdrawn due to side effects.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</p:spTree>
  </p:cSld>
  <p:timing>
    <p:tnLst>
      <p:par>
        <p:cTn id="188" dur="indefinite" restart="never" nodeType="tmRoot">
          <p:childTnLst>
            <p:seq>
              <p:cTn id="189" dur="indefinite" nodeType="mainSeq">
                <p:childTnLst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"/>
          <p:cNvPicPr/>
          <p:nvPr/>
        </p:nvPicPr>
        <p:blipFill>
          <a:blip r:embed="rId1"/>
          <a:stretch/>
        </p:blipFill>
        <p:spPr>
          <a:xfrm>
            <a:off x="34920" y="325440"/>
            <a:ext cx="9004320" cy="61279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"/>
          <p:cNvPicPr/>
          <p:nvPr/>
        </p:nvPicPr>
        <p:blipFill>
          <a:blip r:embed="rId1"/>
          <a:stretch/>
        </p:blipFill>
        <p:spPr>
          <a:xfrm>
            <a:off x="301680" y="549360"/>
            <a:ext cx="8540640" cy="552276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"/>
          <p:cNvPicPr/>
          <p:nvPr/>
        </p:nvPicPr>
        <p:blipFill>
          <a:blip r:embed="rId1"/>
          <a:stretch/>
        </p:blipFill>
        <p:spPr>
          <a:xfrm>
            <a:off x="123840" y="27000"/>
            <a:ext cx="8894880" cy="685800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 txBox="1"/>
          <p:nvPr/>
        </p:nvSpPr>
        <p:spPr>
          <a:xfrm>
            <a:off x="228600" y="276840"/>
            <a:ext cx="244224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Synthetic compounds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  <p:pic>
        <p:nvPicPr>
          <p:cNvPr id="137" name=""/>
          <p:cNvPicPr/>
          <p:nvPr/>
        </p:nvPicPr>
        <p:blipFill>
          <a:blip r:embed="rId1"/>
          <a:stretch/>
        </p:blipFill>
        <p:spPr>
          <a:xfrm>
            <a:off x="6858000" y="744840"/>
            <a:ext cx="1769760" cy="176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"/>
          <p:cNvPicPr/>
          <p:nvPr/>
        </p:nvPicPr>
        <p:blipFill>
          <a:blip r:embed="rId2"/>
          <a:stretch/>
        </p:blipFill>
        <p:spPr>
          <a:xfrm>
            <a:off x="4800600" y="800280"/>
            <a:ext cx="1714320" cy="171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"/>
          <p:cNvPicPr/>
          <p:nvPr/>
        </p:nvPicPr>
        <p:blipFill>
          <a:blip r:embed="rId3"/>
          <a:stretch/>
        </p:blipFill>
        <p:spPr>
          <a:xfrm>
            <a:off x="6738120" y="3657600"/>
            <a:ext cx="2177280" cy="217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"/>
          <p:cNvPicPr/>
          <p:nvPr/>
        </p:nvPicPr>
        <p:blipFill>
          <a:blip r:embed="rId4"/>
          <a:stretch/>
        </p:blipFill>
        <p:spPr>
          <a:xfrm>
            <a:off x="4343400" y="4088160"/>
            <a:ext cx="1828800" cy="175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"/>
          <p:cNvPicPr/>
          <p:nvPr/>
        </p:nvPicPr>
        <p:blipFill>
          <a:blip r:embed="rId5"/>
          <a:stretch/>
        </p:blipFill>
        <p:spPr>
          <a:xfrm>
            <a:off x="371520" y="2971800"/>
            <a:ext cx="2600280" cy="13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"/>
          <p:cNvSpPr txBox="1"/>
          <p:nvPr/>
        </p:nvSpPr>
        <p:spPr>
          <a:xfrm>
            <a:off x="685800" y="4572000"/>
            <a:ext cx="228852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NOREPINEPHRINE</a:t>
            </a:r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  <p:sp>
        <p:nvSpPr>
          <p:cNvPr id="143" name=""/>
          <p:cNvSpPr/>
          <p:nvPr/>
        </p:nvSpPr>
        <p:spPr>
          <a:xfrm flipV="1">
            <a:off x="2286000" y="2057400"/>
            <a:ext cx="2057400" cy="1143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  <p:sp>
        <p:nvSpPr>
          <p:cNvPr id="144" name=""/>
          <p:cNvSpPr/>
          <p:nvPr/>
        </p:nvSpPr>
        <p:spPr>
          <a:xfrm>
            <a:off x="2743200" y="4114800"/>
            <a:ext cx="137160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FF"/>
              </a:solidFill>
              <a:effectLst/>
              <a:uFillTx/>
              <a:latin typeface="Comic Sans MS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>
            <a:off x="2771640" y="208080"/>
            <a:ext cx="3384720" cy="64908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2949480" y="260280"/>
            <a:ext cx="3276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Classifying Drugs…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826920" y="2151000"/>
            <a:ext cx="7561440" cy="39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Medical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Doctor,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Pharmacist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–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Appetite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Suppressant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(anorexigeni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c) / ADHD /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Narcolepsy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Pharmacolog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ist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– Above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terms plus a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Sympathomi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metic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Chemist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– 2-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amino 1-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phenylpropa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Barrister /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Solicitor /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Legal team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–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Psychotropi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Substance,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Controlled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drug under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Misuse of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Drugs Act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1971,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Psychoactiv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substances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Act 2016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(Class B,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Schedule 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Psychologist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– Brain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stimulant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Public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Speed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684360" y="2033640"/>
            <a:ext cx="7632720" cy="4132080"/>
          </a:xfrm>
          <a:prstGeom prst="roundRect">
            <a:avLst>
              <a:gd name="adj" fmla="val 6644"/>
            </a:avLst>
          </a:prstGeom>
          <a:noFill/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972720" y="1125360"/>
            <a:ext cx="5250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Example…..Amphetamine (and dexamphetamine)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04" dur="indefinite" restart="never" nodeType="tmRoot">
          <p:childTnLst>
            <p:seq>
              <p:cTn id="205" dur="indefinite" nodeType="mainSeq">
                <p:childTnLst>
                  <p:par>
                    <p:cTn id="206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07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8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578240" y="262080"/>
            <a:ext cx="60476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Mil</a:t>
            </a:r>
            <a:r>
              <a:rPr lang="en-GB" sz="3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est</a:t>
            </a:r>
            <a:r>
              <a:rPr lang="en-GB" sz="3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one</a:t>
            </a:r>
            <a:r>
              <a:rPr lang="en-GB" sz="3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 in </a:t>
            </a:r>
            <a:r>
              <a:rPr lang="en-GB" sz="3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Dr</a:t>
            </a:r>
            <a:r>
              <a:rPr lang="en-GB" sz="3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ug </a:t>
            </a:r>
            <a:r>
              <a:rPr lang="en-GB" sz="3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Th</a:t>
            </a:r>
            <a:r>
              <a:rPr lang="en-GB" sz="3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era</a:t>
            </a:r>
            <a:r>
              <a:rPr lang="en-GB" sz="3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42960" y="1484280"/>
            <a:ext cx="6156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1600BC  Egyptian medical papyrus –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Castor oil and opium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50520" y="2341440"/>
            <a:ext cx="8084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200AD  Galen Theory of disease – Blood, phlegm, yellow bile and black bile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"/>
          <p:cNvPicPr/>
          <p:nvPr/>
        </p:nvPicPr>
        <p:blipFill>
          <a:blip r:embed="rId1"/>
          <a:stretch/>
        </p:blipFill>
        <p:spPr>
          <a:xfrm>
            <a:off x="2627280" y="2924280"/>
            <a:ext cx="3941640" cy="385452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212" dur="indefinite" restart="never" nodeType="tmRoot">
          <p:childTnLst>
            <p:seq>
              <p:cTn id="213" dur="indefinite" nodeType="mainSeq">
                <p:childTnLst>
                  <p:par>
                    <p:cTn id="214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15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6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19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20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651240" y="3492360"/>
            <a:ext cx="8287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1935  Damagk – Antibacterials,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sulphonamides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first selective antimicrobials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46200" y="4282920"/>
            <a:ext cx="7980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1945  Fleming, Chain &amp; Florey – introduction of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penicillin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– first antibiotic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52320" y="5084640"/>
            <a:ext cx="829008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Comic Sans MS"/>
              <a:buAutoNum type="arabicPlain" startAt="196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  Black – Structure-function studies of drugs,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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blockers (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propanolol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),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</a:t>
            </a:r>
            <a:r>
              <a:rPr lang="en-GB" sz="18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antagonists (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cimetidine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578240" y="262080"/>
            <a:ext cx="60476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Milestones in Drug Therapy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01680" y="6022800"/>
            <a:ext cx="90403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2000s  Biologics – Antibodies used to treat disease, eg, rheumatoid arthritis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Etanercept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Infliximab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44400" y="907920"/>
            <a:ext cx="667728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Comic Sans MS"/>
              <a:buAutoNum type="arabicPlain" startAt="1516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Van Hohenheim – active principles in natural products,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questioned Galen’s ideas.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41160" y="1844640"/>
            <a:ext cx="5947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1805  Serturner – Isolated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morphine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– first pure drug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589680" y="2708280"/>
            <a:ext cx="7346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1909  Erhlich – Organic synthesis of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arsenical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compounds - syphillis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24" dur="indefinite" restart="never" nodeType="tmRoot">
          <p:childTnLst>
            <p:seq>
              <p:cTn id="225" dur="indefinite" nodeType="mainSeq">
                <p:childTnLst>
                  <p:par>
                    <p:cTn id="226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27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28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31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2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35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6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39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0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43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4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47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8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51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2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1486440" y="1943280"/>
            <a:ext cx="5883480" cy="10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Next time: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Drugs and the nervous system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1884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2026-09-23T15:44:47Z</dcterms:created>
  <dc:creator/>
  <dc:description/>
  <dc:language>en-US</dc:language>
  <cp:lastModifiedBy/>
  <dcterms:modified xsi:type="dcterms:W3CDTF">2026-10-05T09:21:11Z</dcterms:modified>
  <cp:revision>4</cp:revision>
  <dc:subject/>
  <dc:title/>
</cp:coreProperties>
</file>