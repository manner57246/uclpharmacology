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8A46733-5BBC-4C5F-B83D-341C4037BB0C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3124080" y="6356520"/>
            <a:ext cx="2895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655272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</a:pPr>
            <a:fld id="{7A979C2A-3482-4F67-A996-375C9A57ECC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2"/>
          </p:nvPr>
        </p:nvSpPr>
        <p:spPr>
          <a:xfrm>
            <a:off x="456840" y="6356520"/>
            <a:ext cx="2126880" cy="358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spcBef>
                <a:spcPts val="51"/>
              </a:spcBef>
              <a:spcAft>
                <a:spcPts val="51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marL="343080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850"/>
              </a:spcBef>
              <a:spcAft>
                <a:spcPts val="5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843280" y="1484280"/>
            <a:ext cx="1854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1584360" y="2120760"/>
            <a:ext cx="6175080" cy="1433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1715760" y="2781360"/>
            <a:ext cx="6231960" cy="1651320"/>
            <a:chOff x="1715760" y="2781360"/>
            <a:chExt cx="6231960" cy="1651320"/>
          </a:xfrm>
        </p:grpSpPr>
        <p:sp>
          <p:nvSpPr>
            <p:cNvPr id="10" name=""/>
            <p:cNvSpPr/>
            <p:nvPr/>
          </p:nvSpPr>
          <p:spPr>
            <a:xfrm>
              <a:off x="1716120" y="2781360"/>
              <a:ext cx="3980880" cy="164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731760" y="2781360"/>
              <a:ext cx="15804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1945800" y="312588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715760" y="312588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1860120" y="321624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2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731760" y="3470400"/>
              <a:ext cx="15804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4733280" y="381492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5328720" y="347040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5473080" y="347040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5616000" y="356076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5328720" y="415908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473080" y="415908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5616000" y="424980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 flipH="1">
              <a:off x="2623680" y="2895480"/>
              <a:ext cx="392040" cy="36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 flipV="1">
              <a:off x="2416320" y="2901600"/>
              <a:ext cx="19512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 flipV="1">
              <a:off x="2494080" y="2963880"/>
              <a:ext cx="155520" cy="2808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77760" tIns="46800" rIns="7776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 flipH="1" flipV="1">
              <a:off x="3022200" y="2901600"/>
              <a:ext cx="19044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 flipH="1" flipV="1">
              <a:off x="2979720" y="2963880"/>
              <a:ext cx="162000" cy="2808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81000" tIns="46800" rIns="81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 flipV="1">
              <a:off x="2422080" y="3246120"/>
              <a:ext cx="19548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 flipV="1">
              <a:off x="3016080" y="3246120"/>
              <a:ext cx="190800" cy="338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2623680" y="3584520"/>
              <a:ext cx="392040" cy="36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2657520" y="3517920"/>
              <a:ext cx="325440" cy="36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 flipH="1">
              <a:off x="2116080" y="3240000"/>
              <a:ext cx="300240" cy="36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3213000" y="3240000"/>
              <a:ext cx="392040" cy="3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3611520" y="3240000"/>
              <a:ext cx="133560" cy="23328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6800" rIns="666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3908520" y="3584520"/>
              <a:ext cx="296640" cy="3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3589200" y="2997360"/>
              <a:ext cx="122400" cy="21744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1200" tIns="46800" rIns="612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3646080" y="2997360"/>
              <a:ext cx="142920" cy="2505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71280" tIns="46800" rIns="7128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211640" y="3584520"/>
              <a:ext cx="190440" cy="333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408560" y="3924360"/>
              <a:ext cx="299880" cy="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 flipV="1">
              <a:off x="4869000" y="3591000"/>
              <a:ext cx="133200" cy="23328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6800" rIns="666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4869000" y="4030560"/>
              <a:ext cx="133200" cy="23184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6600" tIns="46800" rIns="666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008680" y="3584520"/>
              <a:ext cx="295200" cy="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5008680" y="4268880"/>
              <a:ext cx="295200" cy="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6573240" y="3716280"/>
              <a:ext cx="13744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PRO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CAINE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" name=""/>
          <p:cNvGrpSpPr/>
          <p:nvPr/>
        </p:nvGrpSpPr>
        <p:grpSpPr>
          <a:xfrm>
            <a:off x="2268360" y="4713120"/>
            <a:ext cx="5772960" cy="1527120"/>
            <a:chOff x="2268360" y="4713120"/>
            <a:chExt cx="5772960" cy="1527120"/>
          </a:xfrm>
        </p:grpSpPr>
        <p:sp>
          <p:nvSpPr>
            <p:cNvPr id="46" name=""/>
            <p:cNvSpPr/>
            <p:nvPr/>
          </p:nvSpPr>
          <p:spPr>
            <a:xfrm>
              <a:off x="2268360" y="4713120"/>
              <a:ext cx="3109680" cy="151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3315960" y="510876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3455640" y="510876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3709440" y="5666400"/>
              <a:ext cx="15804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327200" y="528660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5005080" y="526932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144760" y="526932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285880" y="535824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4649400" y="588924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4789080" y="588924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4930200" y="597816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3246120" y="596844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3385800" y="596844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3526920" y="605736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2642760" y="471312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2782440" y="4713120"/>
              <a:ext cx="146880" cy="243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6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H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2923560" y="4802040"/>
              <a:ext cx="84960" cy="18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US" sz="12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3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2714400" y="5803200"/>
              <a:ext cx="330120" cy="18252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2371680" y="5796720"/>
              <a:ext cx="330120" cy="1872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2432160" y="5755320"/>
              <a:ext cx="274680" cy="15408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3049560" y="5413680"/>
              <a:ext cx="360" cy="3794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2982960" y="5443920"/>
              <a:ext cx="360" cy="31896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2374920" y="5405760"/>
              <a:ext cx="360" cy="38304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2717640" y="5212080"/>
              <a:ext cx="325440" cy="19548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 flipH="1">
              <a:off x="2382840" y="5212080"/>
              <a:ext cx="334800" cy="1872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 flipH="1">
              <a:off x="2443320" y="5286600"/>
              <a:ext cx="274320" cy="1494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 flipV="1">
              <a:off x="3049560" y="5275440"/>
              <a:ext cx="241200" cy="13788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3592440" y="5320080"/>
              <a:ext cx="128520" cy="651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64080" tIns="18360" rIns="64080" bIns="18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 flipV="1">
              <a:off x="3727440" y="5194800"/>
              <a:ext cx="331920" cy="1965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700440" y="5397840"/>
              <a:ext cx="30240" cy="27000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5120" tIns="46800" rIns="1512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3760920" y="5386680"/>
              <a:ext cx="39600" cy="279360"/>
            </a:xfrm>
            <a:prstGeom prst="line">
              <a:avLst/>
            </a:prstGeom>
            <a:ln w="144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9800" tIns="46800" rIns="198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4065480" y="5188320"/>
              <a:ext cx="236520" cy="1443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 flipV="1">
              <a:off x="4486320" y="5204160"/>
              <a:ext cx="241200" cy="13968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4735440" y="5197680"/>
              <a:ext cx="246240" cy="12564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4402080" y="5499720"/>
              <a:ext cx="360" cy="28116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4402080" y="5788800"/>
              <a:ext cx="222480" cy="142920"/>
            </a:xfrm>
            <a:prstGeom prst="line">
              <a:avLst/>
            </a:prstGeom>
            <a:ln w="1440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044880" y="5803200"/>
              <a:ext cx="176040" cy="17748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87840" tIns="46800" rIns="8784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 flipV="1">
              <a:off x="2717640" y="4930920"/>
              <a:ext cx="360" cy="280800"/>
            </a:xfrm>
            <a:prstGeom prst="line">
              <a:avLst/>
            </a:prstGeom>
            <a:ln w="1440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6450840" y="5375520"/>
              <a:ext cx="159048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LIGNO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CAINE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(LIDO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CAINE</a:t>
              </a: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"/>
          <p:cNvSpPr/>
          <p:nvPr/>
        </p:nvSpPr>
        <p:spPr>
          <a:xfrm>
            <a:off x="725400" y="231840"/>
            <a:ext cx="811080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Local anaesthetics block conduction of action potentials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"/>
          <p:cNvGrpSpPr/>
          <p:nvPr/>
        </p:nvGrpSpPr>
        <p:grpSpPr>
          <a:xfrm>
            <a:off x="253440" y="1392120"/>
            <a:ext cx="6967800" cy="675720"/>
            <a:chOff x="253440" y="1392120"/>
            <a:chExt cx="6967800" cy="675720"/>
          </a:xfrm>
        </p:grpSpPr>
        <p:sp>
          <p:nvSpPr>
            <p:cNvPr id="87" name=""/>
            <p:cNvSpPr/>
            <p:nvPr/>
          </p:nvSpPr>
          <p:spPr>
            <a:xfrm>
              <a:off x="1979640" y="1413000"/>
              <a:ext cx="1106280" cy="640800"/>
            </a:xfrm>
            <a:prstGeom prst="roundRect">
              <a:avLst>
                <a:gd name="adj" fmla="val 16667"/>
              </a:avLst>
            </a:prstGeom>
            <a:noFill/>
            <a:ln w="25560">
              <a:solidFill>
                <a:srgbClr val="00B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790800" y="1413000"/>
              <a:ext cx="1106280" cy="640800"/>
            </a:xfrm>
            <a:prstGeom prst="roundRect">
              <a:avLst>
                <a:gd name="adj" fmla="val 16667"/>
              </a:avLst>
            </a:prstGeom>
            <a:noFill/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5416560" y="1413000"/>
              <a:ext cx="1804680" cy="640800"/>
            </a:xfrm>
            <a:prstGeom prst="roundRect">
              <a:avLst>
                <a:gd name="adj" fmla="val 16667"/>
              </a:avLst>
            </a:prstGeom>
            <a:noFill/>
            <a:ln w="25560">
              <a:solidFill>
                <a:srgbClr val="00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2002680" y="1392120"/>
              <a:ext cx="108216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Aromatic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Group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3891960" y="1413000"/>
              <a:ext cx="104436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Ester or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Amide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5379120" y="1392120"/>
              <a:ext cx="183240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Basic side chain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2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/3</a:t>
              </a:r>
              <a:r>
                <a:rPr lang="en-GB" sz="1800" b="0" u="none" strike="noStrike" baseline="30000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r>
                <a:rPr lang="en-GB" sz="1800" b="0" u="none" strike="noStrike">
                  <a:solidFill>
                    <a:srgbClr val="0000FF"/>
                  </a:solidFill>
                  <a:effectLst/>
                  <a:uFillTx/>
                  <a:latin typeface="Arial"/>
                  <a:ea typeface="DejaVu Sans"/>
                </a:rPr>
                <a:t> amine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V="1">
              <a:off x="3094200" y="1711080"/>
              <a:ext cx="698400" cy="32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3560" rIns="90000" bIns="-435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4913280" y="1711440"/>
              <a:ext cx="503280" cy="36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253440" y="1413000"/>
              <a:ext cx="119664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Chemical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Structure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9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dur="indefinite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"/>
          <p:cNvGrpSpPr/>
          <p:nvPr/>
        </p:nvGrpSpPr>
        <p:grpSpPr>
          <a:xfrm>
            <a:off x="2533680" y="981000"/>
            <a:ext cx="5192280" cy="5043240"/>
            <a:chOff x="2533680" y="981000"/>
            <a:chExt cx="5192280" cy="5043240"/>
          </a:xfrm>
        </p:grpSpPr>
        <p:sp>
          <p:nvSpPr>
            <p:cNvPr id="97" name=""/>
            <p:cNvSpPr/>
            <p:nvPr/>
          </p:nvSpPr>
          <p:spPr>
            <a:xfrm>
              <a:off x="4713120" y="3206880"/>
              <a:ext cx="1960200" cy="1839600"/>
            </a:xfrm>
            <a:prstGeom prst="ellipse">
              <a:avLst/>
            </a:prstGeom>
            <a:solidFill>
              <a:srgbClr val="0070C0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3924360" y="1123920"/>
              <a:ext cx="3463560" cy="4900320"/>
            </a:xfrm>
            <a:custGeom>
              <a:avLst/>
              <a:gdLst>
                <a:gd name="textAreaLeft" fmla="*/ 0 w 3463560"/>
                <a:gd name="textAreaRight" fmla="*/ 3463920 w 3463560"/>
                <a:gd name="textAreaTop" fmla="*/ 0 h 4900320"/>
                <a:gd name="textAreaBottom" fmla="*/ 4900680 h 4900320"/>
                <a:gd name="GluePoint1X" fmla="*/ 49802 w 1901901"/>
                <a:gd name="GluePoint1Y" fmla="*/ 15065 h 3250331"/>
                <a:gd name="GluePoint2X" fmla="*/ 49802 w 1901901"/>
                <a:gd name="GluePoint2Y" fmla="*/ 510956 h 3250331"/>
                <a:gd name="GluePoint3X" fmla="*/ 49802 w 1901901"/>
                <a:gd name="GluePoint3Y" fmla="*/ 1542945 h 3250331"/>
                <a:gd name="GluePoint4X" fmla="*/ 33604 w 1901901"/>
                <a:gd name="GluePoint4Y" fmla="*/ 3298667 h 3250331"/>
                <a:gd name="GluePoint5X" fmla="*/ 49803 w 1901901"/>
                <a:gd name="GluePoint5Y" fmla="*/ 4598704 h 3250331"/>
                <a:gd name="GluePoint6X" fmla="*/ 33604 w 1901901"/>
                <a:gd name="GluePoint6Y" fmla="*/ 4839948 h 3250331"/>
                <a:gd name="GluePoint7X" fmla="*/ 1572463 w 1901901"/>
                <a:gd name="GluePoint7Y" fmla="*/ 4853350 h 3250331"/>
                <a:gd name="GluePoint8X" fmla="*/ 3111320 w 1901901"/>
                <a:gd name="GluePoint8Y" fmla="*/ 4839948 h 3250331"/>
                <a:gd name="GluePoint9X" fmla="*/ 3257107 w 1901901"/>
                <a:gd name="GluePoint9Y" fmla="*/ 4839948 h 3250331"/>
                <a:gd name="GluePoint10X" fmla="*/ 3419092 w 1901901"/>
                <a:gd name="GluePoint10Y" fmla="*/ 3928581 h 3250331"/>
                <a:gd name="GluePoint11X" fmla="*/ 3467688 w 1901901"/>
                <a:gd name="GluePoint11Y" fmla="*/ 3539911 h 3250331"/>
                <a:gd name="GluePoint12X" fmla="*/ 3354298 w 1901901"/>
                <a:gd name="GluePoint12Y" fmla="*/ 3392483 h 3250331"/>
                <a:gd name="GluePoint13X" fmla="*/ 3159916 w 1901901"/>
                <a:gd name="GluePoint13Y" fmla="*/ 3419289 h 3250331"/>
                <a:gd name="GluePoint14X" fmla="*/ 2949336 w 1901901"/>
                <a:gd name="GluePoint14Y" fmla="*/ 3888374 h 3250331"/>
                <a:gd name="GluePoint15X" fmla="*/ 2609168 w 1901901"/>
                <a:gd name="GluePoint15Y" fmla="*/ 4250240 h 3250331"/>
                <a:gd name="GluePoint16X" fmla="*/ 2139410 w 1901901"/>
                <a:gd name="GluePoint16Y" fmla="*/ 4451276 h 3250331"/>
                <a:gd name="GluePoint17X" fmla="*/ 1556264 w 1901901"/>
                <a:gd name="GluePoint17Y" fmla="*/ 4357460 h 3250331"/>
                <a:gd name="GluePoint18X" fmla="*/ 713941 w 1901901"/>
                <a:gd name="GluePoint18Y" fmla="*/ 4022399 h 3250331"/>
                <a:gd name="GluePoint19X" fmla="*/ 341376 w 1901901"/>
                <a:gd name="GluePoint19Y" fmla="*/ 3325471 h 3250331"/>
                <a:gd name="GluePoint20X" fmla="*/ 535758 w 1901901"/>
                <a:gd name="GluePoint20Y" fmla="*/ 2159458 h 3250331"/>
                <a:gd name="GluePoint21X" fmla="*/ 1378081 w 1901901"/>
                <a:gd name="GluePoint21Y" fmla="*/ 1730579 h 3250331"/>
                <a:gd name="GluePoint22X" fmla="*/ 1880233 w 1901901"/>
                <a:gd name="GluePoint22Y" fmla="*/ 1690372 h 3250331"/>
                <a:gd name="GluePoint23X" fmla="*/ 2301396 w 1901901"/>
                <a:gd name="GluePoint23Y" fmla="*/ 1824397 h 3250331"/>
                <a:gd name="GluePoint24X" fmla="*/ 2609168 w 1901901"/>
                <a:gd name="GluePoint24Y" fmla="*/ 2199666 h 3250331"/>
                <a:gd name="GluePoint25X" fmla="*/ 2754954 w 1901901"/>
                <a:gd name="GluePoint25Y" fmla="*/ 2293482 h 3250331"/>
                <a:gd name="GluePoint26X" fmla="*/ 3176115 w 1901901"/>
                <a:gd name="GluePoint26Y" fmla="*/ 2306885 h 3250331"/>
                <a:gd name="GluePoint27X" fmla="*/ 3224710 w 1901901"/>
                <a:gd name="GluePoint27Y" fmla="*/ 2132652 h 3250331"/>
                <a:gd name="GluePoint28X" fmla="*/ 2511977 w 1901901"/>
                <a:gd name="GluePoint28Y" fmla="*/ 1181079 h 3250331"/>
                <a:gd name="GluePoint29X" fmla="*/ 1523868 w 1901901"/>
                <a:gd name="GluePoint29Y" fmla="*/ 510956 h 3250331"/>
                <a:gd name="GluePoint30X" fmla="*/ 713941 w 1901901"/>
                <a:gd name="GluePoint30Y" fmla="*/ 162493 h 3250331"/>
                <a:gd name="GluePoint31X" fmla="*/ 49802 w 1901901"/>
                <a:gd name="GluePoint31Y" fmla="*/ 15065 h 32503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1901901" h="3250331">
                  <a:moveTo>
                    <a:pt x="27294" y="9979"/>
                  </a:moveTo>
                  <a:cubicBezTo>
                    <a:pt x="-33370" y="48449"/>
                    <a:pt x="25815" y="165338"/>
                    <a:pt x="27294" y="338453"/>
                  </a:cubicBezTo>
                  <a:cubicBezTo>
                    <a:pt x="28774" y="511568"/>
                    <a:pt x="22855" y="714275"/>
                    <a:pt x="27294" y="1022034"/>
                  </a:cubicBezTo>
                  <a:cubicBezTo>
                    <a:pt x="31733" y="1329793"/>
                    <a:pt x="18417" y="1847658"/>
                    <a:pt x="18417" y="2185009"/>
                  </a:cubicBezTo>
                  <a:cubicBezTo>
                    <a:pt x="18417" y="2522360"/>
                    <a:pt x="27295" y="2875988"/>
                    <a:pt x="27295" y="3046143"/>
                  </a:cubicBezTo>
                  <a:cubicBezTo>
                    <a:pt x="27295" y="3216298"/>
                    <a:pt x="-23011" y="3142318"/>
                    <a:pt x="18417" y="3205941"/>
                  </a:cubicBezTo>
                  <a:cubicBezTo>
                    <a:pt x="59845" y="3269564"/>
                    <a:pt x="580670" y="3214818"/>
                    <a:pt x="861796" y="3214818"/>
                  </a:cubicBezTo>
                  <a:cubicBezTo>
                    <a:pt x="1142922" y="3214818"/>
                    <a:pt x="1705174" y="3205941"/>
                    <a:pt x="1705174" y="3205941"/>
                  </a:cubicBezTo>
                  <a:cubicBezTo>
                    <a:pt x="1859053" y="3204462"/>
                    <a:pt x="1756960" y="3306555"/>
                    <a:pt x="1785073" y="3205941"/>
                  </a:cubicBezTo>
                  <a:cubicBezTo>
                    <a:pt x="1813186" y="3105327"/>
                    <a:pt x="1854615" y="2745781"/>
                    <a:pt x="1873850" y="2602259"/>
                  </a:cubicBezTo>
                  <a:cubicBezTo>
                    <a:pt x="1893085" y="2458737"/>
                    <a:pt x="1906401" y="2403991"/>
                    <a:pt x="1900483" y="2344807"/>
                  </a:cubicBezTo>
                  <a:cubicBezTo>
                    <a:pt x="1894565" y="2285623"/>
                    <a:pt x="1866452" y="2260468"/>
                    <a:pt x="1838339" y="2247152"/>
                  </a:cubicBezTo>
                  <a:cubicBezTo>
                    <a:pt x="1810226" y="2233836"/>
                    <a:pt x="1768797" y="2210162"/>
                    <a:pt x="1731807" y="2264908"/>
                  </a:cubicBezTo>
                  <a:cubicBezTo>
                    <a:pt x="1694817" y="2319654"/>
                    <a:pt x="1666705" y="2483890"/>
                    <a:pt x="1616398" y="2575626"/>
                  </a:cubicBezTo>
                  <a:cubicBezTo>
                    <a:pt x="1566091" y="2667362"/>
                    <a:pt x="1503948" y="2753179"/>
                    <a:pt x="1429967" y="2815323"/>
                  </a:cubicBezTo>
                  <a:cubicBezTo>
                    <a:pt x="1355986" y="2877467"/>
                    <a:pt x="1268689" y="2936651"/>
                    <a:pt x="1172514" y="2948488"/>
                  </a:cubicBezTo>
                  <a:cubicBezTo>
                    <a:pt x="1076339" y="2960325"/>
                    <a:pt x="983124" y="2933692"/>
                    <a:pt x="852918" y="2886345"/>
                  </a:cubicBezTo>
                  <a:cubicBezTo>
                    <a:pt x="722712" y="2838998"/>
                    <a:pt x="502250" y="2778333"/>
                    <a:pt x="391279" y="2664403"/>
                  </a:cubicBezTo>
                  <a:cubicBezTo>
                    <a:pt x="280308" y="2550473"/>
                    <a:pt x="203369" y="2408430"/>
                    <a:pt x="187093" y="2202764"/>
                  </a:cubicBezTo>
                  <a:cubicBezTo>
                    <a:pt x="170817" y="1997098"/>
                    <a:pt x="198930" y="1606481"/>
                    <a:pt x="293625" y="1430407"/>
                  </a:cubicBezTo>
                  <a:cubicBezTo>
                    <a:pt x="388320" y="1254333"/>
                    <a:pt x="632456" y="1198107"/>
                    <a:pt x="755264" y="1146321"/>
                  </a:cubicBezTo>
                  <a:cubicBezTo>
                    <a:pt x="878072" y="1094535"/>
                    <a:pt x="946133" y="1109331"/>
                    <a:pt x="1030471" y="1119688"/>
                  </a:cubicBezTo>
                  <a:cubicBezTo>
                    <a:pt x="1114809" y="1130045"/>
                    <a:pt x="1194708" y="1152240"/>
                    <a:pt x="1261291" y="1208465"/>
                  </a:cubicBezTo>
                  <a:cubicBezTo>
                    <a:pt x="1327874" y="1264690"/>
                    <a:pt x="1388538" y="1405254"/>
                    <a:pt x="1429967" y="1457040"/>
                  </a:cubicBezTo>
                  <a:cubicBezTo>
                    <a:pt x="1471396" y="1508826"/>
                    <a:pt x="1458080" y="1507346"/>
                    <a:pt x="1509866" y="1519183"/>
                  </a:cubicBezTo>
                  <a:cubicBezTo>
                    <a:pt x="1561652" y="1531020"/>
                    <a:pt x="1697776" y="1545816"/>
                    <a:pt x="1740685" y="1528061"/>
                  </a:cubicBezTo>
                  <a:cubicBezTo>
                    <a:pt x="1783594" y="1510306"/>
                    <a:pt x="1827982" y="1536938"/>
                    <a:pt x="1767318" y="1412651"/>
                  </a:cubicBezTo>
                  <a:cubicBezTo>
                    <a:pt x="1706654" y="1288364"/>
                    <a:pt x="1532060" y="961370"/>
                    <a:pt x="1376701" y="782337"/>
                  </a:cubicBezTo>
                  <a:cubicBezTo>
                    <a:pt x="1221342" y="603304"/>
                    <a:pt x="999400" y="450903"/>
                    <a:pt x="835163" y="338453"/>
                  </a:cubicBezTo>
                  <a:cubicBezTo>
                    <a:pt x="670926" y="226003"/>
                    <a:pt x="525924" y="162380"/>
                    <a:pt x="391279" y="107634"/>
                  </a:cubicBezTo>
                  <a:cubicBezTo>
                    <a:pt x="256634" y="52888"/>
                    <a:pt x="87958" y="-28491"/>
                    <a:pt x="27294" y="9979"/>
                  </a:cubicBezTo>
                  <a:close/>
                </a:path>
              </a:pathLst>
            </a:custGeom>
            <a:solidFill>
              <a:srgbClr val="EBF1DE"/>
            </a:solidFill>
            <a:ln w="25560">
              <a:solidFill>
                <a:srgbClr val="92D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2533680" y="2097000"/>
              <a:ext cx="1384200" cy="496800"/>
            </a:xfrm>
            <a:prstGeom prst="line">
              <a:avLst/>
            </a:prstGeom>
            <a:ln w="28440">
              <a:solidFill>
                <a:srgbClr val="0000FF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 rot="7140000">
              <a:off x="6443280" y="4149000"/>
              <a:ext cx="288360" cy="496440"/>
            </a:xfrm>
            <a:prstGeom prst="can">
              <a:avLst>
                <a:gd name="adj" fmla="val 14666"/>
              </a:avLst>
            </a:prstGeom>
            <a:solidFill>
              <a:srgbClr val="FF0000"/>
            </a:solidFill>
            <a:ln w="2556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3927600" y="981000"/>
              <a:ext cx="3798360" cy="4997160"/>
            </a:xfrm>
            <a:prstGeom prst="rect">
              <a:avLst/>
            </a:prstGeom>
            <a:noFill/>
            <a:ln w="25560">
              <a:solidFill>
                <a:srgbClr val="0000FF"/>
              </a:solidFill>
              <a:prstDash val="dash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6465240" y="4654440"/>
              <a:ext cx="981000" cy="654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Na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FF0000"/>
                  </a:solidFill>
                  <a:effectLst/>
                  <a:uFillTx/>
                  <a:latin typeface="Arial"/>
                  <a:ea typeface="DejaVu Sans"/>
                </a:rPr>
                <a:t>channel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"/>
          <p:cNvSpPr/>
          <p:nvPr/>
        </p:nvSpPr>
        <p:spPr>
          <a:xfrm>
            <a:off x="2050560" y="231840"/>
            <a:ext cx="501840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Local anaesthetics: Site of 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331920" y="1108080"/>
            <a:ext cx="3019680" cy="1888560"/>
            <a:chOff x="331920" y="1108080"/>
            <a:chExt cx="3019680" cy="1888560"/>
          </a:xfrm>
        </p:grpSpPr>
        <p:sp>
          <p:nvSpPr>
            <p:cNvPr id="105" name=""/>
            <p:cNvSpPr/>
            <p:nvPr/>
          </p:nvSpPr>
          <p:spPr>
            <a:xfrm>
              <a:off x="2629080" y="1515960"/>
              <a:ext cx="72252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DejaVu Sans"/>
                </a:rPr>
                <a:t>Axon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2218320" y="1701720"/>
              <a:ext cx="425520" cy="36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331920" y="2629080"/>
              <a:ext cx="16056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Comic Sans MS"/>
                  <a:ea typeface="DejaVu Sans"/>
                </a:rPr>
                <a:t>Schwann cell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V="1">
              <a:off x="826920" y="2139480"/>
              <a:ext cx="282600" cy="460440"/>
            </a:xfrm>
            <a:prstGeom prst="line">
              <a:avLst/>
            </a:prstGeom>
            <a:ln w="126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" name=""/>
            <p:cNvGrpSpPr/>
            <p:nvPr/>
          </p:nvGrpSpPr>
          <p:grpSpPr>
            <a:xfrm>
              <a:off x="901800" y="1108080"/>
              <a:ext cx="1625400" cy="1485360"/>
              <a:chOff x="901800" y="1108080"/>
              <a:chExt cx="1625400" cy="1485360"/>
            </a:xfrm>
          </p:grpSpPr>
          <p:grpSp>
            <p:nvGrpSpPr>
              <p:cNvPr id="110" name=""/>
              <p:cNvGrpSpPr/>
              <p:nvPr/>
            </p:nvGrpSpPr>
            <p:grpSpPr>
              <a:xfrm>
                <a:off x="901800" y="1108080"/>
                <a:ext cx="1563120" cy="1485360"/>
                <a:chOff x="901800" y="1108080"/>
                <a:chExt cx="1563120" cy="1485360"/>
              </a:xfrm>
            </p:grpSpPr>
            <p:sp>
              <p:nvSpPr>
                <p:cNvPr id="111" name=""/>
                <p:cNvSpPr/>
                <p:nvPr/>
              </p:nvSpPr>
              <p:spPr>
                <a:xfrm>
                  <a:off x="1116000" y="1268280"/>
                  <a:ext cx="353520" cy="353880"/>
                </a:xfrm>
                <a:prstGeom prst="ellipse">
                  <a:avLst/>
                </a:prstGeom>
                <a:solidFill>
                  <a:srgbClr val="0070C0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"/>
                <p:cNvSpPr/>
                <p:nvPr/>
              </p:nvSpPr>
              <p:spPr>
                <a:xfrm>
                  <a:off x="1979640" y="1557360"/>
                  <a:ext cx="353520" cy="352080"/>
                </a:xfrm>
                <a:prstGeom prst="ellipse">
                  <a:avLst/>
                </a:prstGeom>
                <a:solidFill>
                  <a:srgbClr val="0070C0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"/>
                <p:cNvSpPr/>
                <p:nvPr/>
              </p:nvSpPr>
              <p:spPr>
                <a:xfrm>
                  <a:off x="1258920" y="2060640"/>
                  <a:ext cx="353520" cy="353520"/>
                </a:xfrm>
                <a:prstGeom prst="ellipse">
                  <a:avLst/>
                </a:prstGeom>
                <a:solidFill>
                  <a:srgbClr val="0070C0"/>
                </a:solidFill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"/>
                <p:cNvSpPr/>
                <p:nvPr/>
              </p:nvSpPr>
              <p:spPr>
                <a:xfrm>
                  <a:off x="901800" y="1108080"/>
                  <a:ext cx="1563120" cy="1485360"/>
                </a:xfrm>
                <a:custGeom>
                  <a:avLst/>
                  <a:gdLst>
                    <a:gd name="textAreaLeft" fmla="*/ 0 w 1563120"/>
                    <a:gd name="textAreaRight" fmla="*/ 1563480 w 1563120"/>
                    <a:gd name="textAreaTop" fmla="*/ 0 h 1485360"/>
                    <a:gd name="textAreaBottom" fmla="*/ 1485720 h 1485360"/>
                    <a:gd name="GluePoint1X" fmla="*/ 1515049 w 1570382"/>
                    <a:gd name="GluePoint1Y" fmla="*/ 461192 h 1492195"/>
                    <a:gd name="GluePoint2X" fmla="*/ 1348181 w 1570382"/>
                    <a:gd name="GluePoint2Y" fmla="*/ 238548 h 1492195"/>
                    <a:gd name="GluePoint3X" fmla="*/ 1046231 w 1570382"/>
                    <a:gd name="GluePoint3Y" fmla="*/ 71564 h 1492195"/>
                    <a:gd name="GluePoint4X" fmla="*/ 696604 w 1570382"/>
                    <a:gd name="GluePoint4Y" fmla="*/ 7951 h 1492195"/>
                    <a:gd name="GluePoint5X" fmla="*/ 370816 w 1570382"/>
                    <a:gd name="GluePoint5Y" fmla="*/ 23855 h 1492195"/>
                    <a:gd name="GluePoint6X" fmla="*/ 164219 w 1570382"/>
                    <a:gd name="GluePoint6Y" fmla="*/ 103371 h 1492195"/>
                    <a:gd name="GluePoint7X" fmla="*/ 227787 w 1570382"/>
                    <a:gd name="GluePoint7Y" fmla="*/ 143128 h 1492195"/>
                    <a:gd name="GluePoint8X" fmla="*/ 346978 w 1570382"/>
                    <a:gd name="GluePoint8Y" fmla="*/ 95419 h 1492195"/>
                    <a:gd name="GluePoint9X" fmla="*/ 482061 w 1570382"/>
                    <a:gd name="GluePoint9Y" fmla="*/ 111322 h 1492195"/>
                    <a:gd name="GluePoint10X" fmla="*/ 625089 w 1570382"/>
                    <a:gd name="GluePoint10Y" fmla="*/ 246499 h 1492195"/>
                    <a:gd name="GluePoint11X" fmla="*/ 640982 w 1570382"/>
                    <a:gd name="GluePoint11Y" fmla="*/ 445289 h 1492195"/>
                    <a:gd name="GluePoint12X" fmla="*/ 585360 w 1570382"/>
                    <a:gd name="GluePoint12Y" fmla="*/ 556612 h 1492195"/>
                    <a:gd name="GluePoint13X" fmla="*/ 331085 w 1570382"/>
                    <a:gd name="GluePoint13Y" fmla="*/ 620224 h 1492195"/>
                    <a:gd name="GluePoint14X" fmla="*/ 196003 w 1570382"/>
                    <a:gd name="GluePoint14Y" fmla="*/ 532757 h 1492195"/>
                    <a:gd name="GluePoint15X" fmla="*/ 156272 w 1570382"/>
                    <a:gd name="GluePoint15Y" fmla="*/ 349870 h 1492195"/>
                    <a:gd name="GluePoint16X" fmla="*/ 132435 w 1570382"/>
                    <a:gd name="GluePoint16Y" fmla="*/ 262403 h 1492195"/>
                    <a:gd name="GluePoint17X" fmla="*/ 84758 w 1570382"/>
                    <a:gd name="GluePoint17Y" fmla="*/ 246499 h 1492195"/>
                    <a:gd name="GluePoint18X" fmla="*/ 29136 w 1570382"/>
                    <a:gd name="GluePoint18Y" fmla="*/ 365773 h 1492195"/>
                    <a:gd name="GluePoint19X" fmla="*/ 5298 w 1570382"/>
                    <a:gd name="GluePoint19Y" fmla="*/ 596369 h 1492195"/>
                    <a:gd name="GluePoint20X" fmla="*/ 60920 w 1570382"/>
                    <a:gd name="GluePoint20Y" fmla="*/ 954191 h 1492195"/>
                    <a:gd name="GluePoint21X" fmla="*/ 172164 w 1570382"/>
                    <a:gd name="GluePoint21Y" fmla="*/ 1224545 h 1492195"/>
                    <a:gd name="GluePoint22X" fmla="*/ 394654 w 1570382"/>
                    <a:gd name="GluePoint22Y" fmla="*/ 1431287 h 1492195"/>
                    <a:gd name="GluePoint23X" fmla="*/ 585360 w 1570382"/>
                    <a:gd name="GluePoint23Y" fmla="*/ 1486949 h 1492195"/>
                    <a:gd name="GluePoint24X" fmla="*/ 577414 w 1570382"/>
                    <a:gd name="GluePoint24Y" fmla="*/ 1399481 h 1492195"/>
                    <a:gd name="GluePoint25X" fmla="*/ 458223 w 1570382"/>
                    <a:gd name="GluePoint25Y" fmla="*/ 1367674 h 1492195"/>
                    <a:gd name="GluePoint26X" fmla="*/ 307247 w 1570382"/>
                    <a:gd name="GluePoint26Y" fmla="*/ 1192739 h 1492195"/>
                    <a:gd name="GluePoint27X" fmla="*/ 339031 w 1570382"/>
                    <a:gd name="GluePoint27Y" fmla="*/ 946240 h 1492195"/>
                    <a:gd name="GluePoint28X" fmla="*/ 505899 w 1570382"/>
                    <a:gd name="GluePoint28Y" fmla="*/ 882627 h 1492195"/>
                    <a:gd name="GluePoint29X" fmla="*/ 744281 w 1570382"/>
                    <a:gd name="GluePoint29Y" fmla="*/ 922385 h 1492195"/>
                    <a:gd name="GluePoint30X" fmla="*/ 815795 w 1570382"/>
                    <a:gd name="GluePoint30Y" fmla="*/ 1105272 h 1492195"/>
                    <a:gd name="GluePoint31X" fmla="*/ 776065 w 1570382"/>
                    <a:gd name="GluePoint31Y" fmla="*/ 1288158 h 1492195"/>
                    <a:gd name="GluePoint32X" fmla="*/ 712497 w 1570382"/>
                    <a:gd name="GluePoint32Y" fmla="*/ 1351771 h 1492195"/>
                    <a:gd name="GluePoint33X" fmla="*/ 712497 w 1570382"/>
                    <a:gd name="GluePoint33Y" fmla="*/ 1463094 h 1492195"/>
                    <a:gd name="GluePoint34X" fmla="*/ 895256 w 1570382"/>
                    <a:gd name="GluePoint34Y" fmla="*/ 1455142 h 1492195"/>
                    <a:gd name="GluePoint35X" fmla="*/ 1101854 w 1570382"/>
                    <a:gd name="GluePoint35Y" fmla="*/ 1423335 h 1492195"/>
                    <a:gd name="GluePoint36X" fmla="*/ 1348181 w 1570382"/>
                    <a:gd name="GluePoint36Y" fmla="*/ 1327916 h 1492195"/>
                    <a:gd name="GluePoint37X" fmla="*/ 1475318 w 1570382"/>
                    <a:gd name="GluePoint37Y" fmla="*/ 1168884 h 1492195"/>
                    <a:gd name="GluePoint38X" fmla="*/ 1546833 w 1570382"/>
                    <a:gd name="GluePoint38Y" fmla="*/ 866724 h 1492195"/>
                    <a:gd name="GluePoint39X" fmla="*/ 1562724 w 1570382"/>
                    <a:gd name="GluePoint39Y" fmla="*/ 739498 h 1492195"/>
                    <a:gd name="GluePoint40X" fmla="*/ 1507102 w 1570382"/>
                    <a:gd name="GluePoint40Y" fmla="*/ 723595 h 1492195"/>
                    <a:gd name="GluePoint41X" fmla="*/ 1435587 w 1570382"/>
                    <a:gd name="GluePoint41Y" fmla="*/ 834918 h 1492195"/>
                    <a:gd name="GluePoint42X" fmla="*/ 1292559 w 1570382"/>
                    <a:gd name="GluePoint42Y" fmla="*/ 906481 h 1492195"/>
                    <a:gd name="GluePoint43X" fmla="*/ 1062123 w 1570382"/>
                    <a:gd name="GluePoint43Y" fmla="*/ 819014 h 1492195"/>
                    <a:gd name="GluePoint44X" fmla="*/ 998555 w 1570382"/>
                    <a:gd name="GluePoint44Y" fmla="*/ 652031 h 1492195"/>
                    <a:gd name="GluePoint45X" fmla="*/ 1030339 w 1570382"/>
                    <a:gd name="GluePoint45Y" fmla="*/ 469144 h 1492195"/>
                    <a:gd name="GluePoint46X" fmla="*/ 1149530 w 1570382"/>
                    <a:gd name="GluePoint46Y" fmla="*/ 389628 h 1492195"/>
                    <a:gd name="GluePoint47X" fmla="*/ 1324343 w 1570382"/>
                    <a:gd name="GluePoint47Y" fmla="*/ 381676 h 1492195"/>
                    <a:gd name="GluePoint48X" fmla="*/ 1427642 w 1570382"/>
                    <a:gd name="GluePoint48Y" fmla="*/ 485047 h 1492195"/>
                    <a:gd name="GluePoint49X" fmla="*/ 1515049 w 1570382"/>
                    <a:gd name="GluePoint49Y" fmla="*/ 461192 h 149219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</a:cxnLst>
                  <a:rect l="textAreaLeft" t="textAreaTop" r="textAreaRight" b="textAreaBottom"/>
                  <a:pathLst>
                    <a:path w="1570382" h="1492195">
                      <a:moveTo>
                        <a:pt x="1516049" y="461175"/>
                      </a:moveTo>
                      <a:cubicBezTo>
                        <a:pt x="1502797" y="420093"/>
                        <a:pt x="1427259" y="303475"/>
                        <a:pt x="1349071" y="238539"/>
                      </a:cubicBezTo>
                      <a:cubicBezTo>
                        <a:pt x="1270883" y="173603"/>
                        <a:pt x="1155590" y="109992"/>
                        <a:pt x="1046922" y="71561"/>
                      </a:cubicBezTo>
                      <a:cubicBezTo>
                        <a:pt x="938254" y="33130"/>
                        <a:pt x="809707" y="15902"/>
                        <a:pt x="697064" y="7951"/>
                      </a:cubicBezTo>
                      <a:cubicBezTo>
                        <a:pt x="584421" y="0"/>
                        <a:pt x="459851" y="7951"/>
                        <a:pt x="371061" y="23854"/>
                      </a:cubicBezTo>
                      <a:cubicBezTo>
                        <a:pt x="282271" y="39757"/>
                        <a:pt x="188181" y="83489"/>
                        <a:pt x="164327" y="103367"/>
                      </a:cubicBezTo>
                      <a:cubicBezTo>
                        <a:pt x="140473" y="123245"/>
                        <a:pt x="197457" y="144448"/>
                        <a:pt x="227937" y="143123"/>
                      </a:cubicBezTo>
                      <a:cubicBezTo>
                        <a:pt x="258417" y="141798"/>
                        <a:pt x="304800" y="100716"/>
                        <a:pt x="347207" y="95415"/>
                      </a:cubicBezTo>
                      <a:cubicBezTo>
                        <a:pt x="389614" y="90114"/>
                        <a:pt x="435997" y="86139"/>
                        <a:pt x="482379" y="111318"/>
                      </a:cubicBezTo>
                      <a:cubicBezTo>
                        <a:pt x="528762" y="136497"/>
                        <a:pt x="598998" y="190831"/>
                        <a:pt x="625502" y="246490"/>
                      </a:cubicBezTo>
                      <a:cubicBezTo>
                        <a:pt x="652006" y="302149"/>
                        <a:pt x="648031" y="393590"/>
                        <a:pt x="641405" y="445273"/>
                      </a:cubicBezTo>
                      <a:cubicBezTo>
                        <a:pt x="634779" y="496956"/>
                        <a:pt x="637430" y="527436"/>
                        <a:pt x="585746" y="556591"/>
                      </a:cubicBezTo>
                      <a:cubicBezTo>
                        <a:pt x="534063" y="585746"/>
                        <a:pt x="396240" y="624177"/>
                        <a:pt x="331304" y="620201"/>
                      </a:cubicBezTo>
                      <a:cubicBezTo>
                        <a:pt x="266368" y="616225"/>
                        <a:pt x="225287" y="577794"/>
                        <a:pt x="196132" y="532737"/>
                      </a:cubicBezTo>
                      <a:cubicBezTo>
                        <a:pt x="166977" y="487680"/>
                        <a:pt x="166977" y="394914"/>
                        <a:pt x="156375" y="349857"/>
                      </a:cubicBezTo>
                      <a:cubicBezTo>
                        <a:pt x="145773" y="304800"/>
                        <a:pt x="144449" y="279621"/>
                        <a:pt x="132522" y="262393"/>
                      </a:cubicBezTo>
                      <a:cubicBezTo>
                        <a:pt x="120595" y="245165"/>
                        <a:pt x="102042" y="229262"/>
                        <a:pt x="84814" y="246490"/>
                      </a:cubicBezTo>
                      <a:cubicBezTo>
                        <a:pt x="67586" y="263718"/>
                        <a:pt x="42407" y="307451"/>
                        <a:pt x="29155" y="365760"/>
                      </a:cubicBezTo>
                      <a:cubicBezTo>
                        <a:pt x="15903" y="424069"/>
                        <a:pt x="0" y="498281"/>
                        <a:pt x="5301" y="596347"/>
                      </a:cubicBezTo>
                      <a:cubicBezTo>
                        <a:pt x="10602" y="694413"/>
                        <a:pt x="33131" y="849464"/>
                        <a:pt x="60960" y="954156"/>
                      </a:cubicBezTo>
                      <a:cubicBezTo>
                        <a:pt x="88790" y="1058848"/>
                        <a:pt x="116619" y="1144987"/>
                        <a:pt x="172278" y="1224500"/>
                      </a:cubicBezTo>
                      <a:cubicBezTo>
                        <a:pt x="227937" y="1304013"/>
                        <a:pt x="326004" y="1387502"/>
                        <a:pt x="394915" y="1431234"/>
                      </a:cubicBezTo>
                      <a:cubicBezTo>
                        <a:pt x="463826" y="1474966"/>
                        <a:pt x="555266" y="1492195"/>
                        <a:pt x="585746" y="1486894"/>
                      </a:cubicBezTo>
                      <a:cubicBezTo>
                        <a:pt x="616226" y="1481593"/>
                        <a:pt x="598999" y="1419307"/>
                        <a:pt x="577795" y="1399429"/>
                      </a:cubicBezTo>
                      <a:cubicBezTo>
                        <a:pt x="556591" y="1379551"/>
                        <a:pt x="503582" y="1402080"/>
                        <a:pt x="458525" y="1367624"/>
                      </a:cubicBezTo>
                      <a:cubicBezTo>
                        <a:pt x="413468" y="1333168"/>
                        <a:pt x="327328" y="1262932"/>
                        <a:pt x="307450" y="1192695"/>
                      </a:cubicBezTo>
                      <a:cubicBezTo>
                        <a:pt x="287572" y="1122459"/>
                        <a:pt x="306125" y="997888"/>
                        <a:pt x="339255" y="946205"/>
                      </a:cubicBezTo>
                      <a:cubicBezTo>
                        <a:pt x="372385" y="894522"/>
                        <a:pt x="438647" y="886570"/>
                        <a:pt x="506233" y="882594"/>
                      </a:cubicBezTo>
                      <a:cubicBezTo>
                        <a:pt x="573819" y="878618"/>
                        <a:pt x="693089" y="885245"/>
                        <a:pt x="744772" y="922351"/>
                      </a:cubicBezTo>
                      <a:cubicBezTo>
                        <a:pt x="796455" y="959457"/>
                        <a:pt x="811033" y="1044271"/>
                        <a:pt x="816334" y="1105231"/>
                      </a:cubicBezTo>
                      <a:cubicBezTo>
                        <a:pt x="821635" y="1166191"/>
                        <a:pt x="793805" y="1247029"/>
                        <a:pt x="776577" y="1288111"/>
                      </a:cubicBezTo>
                      <a:cubicBezTo>
                        <a:pt x="759349" y="1329193"/>
                        <a:pt x="723569" y="1322566"/>
                        <a:pt x="712967" y="1351721"/>
                      </a:cubicBezTo>
                      <a:cubicBezTo>
                        <a:pt x="702365" y="1380876"/>
                        <a:pt x="682487" y="1445812"/>
                        <a:pt x="712967" y="1463040"/>
                      </a:cubicBezTo>
                      <a:cubicBezTo>
                        <a:pt x="743447" y="1480268"/>
                        <a:pt x="830911" y="1461714"/>
                        <a:pt x="895847" y="1455088"/>
                      </a:cubicBezTo>
                      <a:cubicBezTo>
                        <a:pt x="960783" y="1448462"/>
                        <a:pt x="1027044" y="1444487"/>
                        <a:pt x="1102581" y="1423283"/>
                      </a:cubicBezTo>
                      <a:cubicBezTo>
                        <a:pt x="1178118" y="1402079"/>
                        <a:pt x="1286786" y="1370274"/>
                        <a:pt x="1349071" y="1327867"/>
                      </a:cubicBezTo>
                      <a:cubicBezTo>
                        <a:pt x="1411356" y="1285460"/>
                        <a:pt x="1443162" y="1245704"/>
                        <a:pt x="1476292" y="1168841"/>
                      </a:cubicBezTo>
                      <a:cubicBezTo>
                        <a:pt x="1509423" y="1091979"/>
                        <a:pt x="1533277" y="938254"/>
                        <a:pt x="1547854" y="866692"/>
                      </a:cubicBezTo>
                      <a:cubicBezTo>
                        <a:pt x="1562431" y="795130"/>
                        <a:pt x="1570382" y="763325"/>
                        <a:pt x="1563756" y="739471"/>
                      </a:cubicBezTo>
                      <a:cubicBezTo>
                        <a:pt x="1557130" y="715617"/>
                        <a:pt x="1529300" y="707665"/>
                        <a:pt x="1508097" y="723568"/>
                      </a:cubicBezTo>
                      <a:cubicBezTo>
                        <a:pt x="1486894" y="739471"/>
                        <a:pt x="1472316" y="804407"/>
                        <a:pt x="1436535" y="834887"/>
                      </a:cubicBezTo>
                      <a:cubicBezTo>
                        <a:pt x="1400754" y="865367"/>
                        <a:pt x="1355697" y="909098"/>
                        <a:pt x="1293412" y="906448"/>
                      </a:cubicBezTo>
                      <a:cubicBezTo>
                        <a:pt x="1231127" y="903798"/>
                        <a:pt x="1111857" y="861391"/>
                        <a:pt x="1062824" y="818984"/>
                      </a:cubicBezTo>
                      <a:cubicBezTo>
                        <a:pt x="1013791" y="776577"/>
                        <a:pt x="1004515" y="710316"/>
                        <a:pt x="999214" y="652007"/>
                      </a:cubicBezTo>
                      <a:cubicBezTo>
                        <a:pt x="993913" y="593698"/>
                        <a:pt x="1005840" y="512859"/>
                        <a:pt x="1031019" y="469127"/>
                      </a:cubicBezTo>
                      <a:cubicBezTo>
                        <a:pt x="1056198" y="425395"/>
                        <a:pt x="1101256" y="404191"/>
                        <a:pt x="1150289" y="389614"/>
                      </a:cubicBezTo>
                      <a:cubicBezTo>
                        <a:pt x="1199322" y="375037"/>
                        <a:pt x="1278835" y="365760"/>
                        <a:pt x="1325217" y="381662"/>
                      </a:cubicBezTo>
                      <a:cubicBezTo>
                        <a:pt x="1371600" y="397565"/>
                        <a:pt x="1395454" y="473102"/>
                        <a:pt x="1428584" y="485029"/>
                      </a:cubicBezTo>
                      <a:cubicBezTo>
                        <a:pt x="1461714" y="496956"/>
                        <a:pt x="1529301" y="502257"/>
                        <a:pt x="1516049" y="4611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440">
                  <a:solidFill>
                    <a:srgbClr val="92D05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115" name=""/>
              <p:cNvSpPr/>
              <p:nvPr/>
            </p:nvSpPr>
            <p:spPr>
              <a:xfrm>
                <a:off x="1837080" y="1125360"/>
                <a:ext cx="690120" cy="965160"/>
              </a:xfrm>
              <a:prstGeom prst="rect">
                <a:avLst/>
              </a:prstGeom>
              <a:noFill/>
              <a:ln w="25560">
                <a:solidFill>
                  <a:srgbClr val="0000FF"/>
                </a:solidFill>
                <a:prstDash val="dash"/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" name=""/>
          <p:cNvSpPr/>
          <p:nvPr/>
        </p:nvSpPr>
        <p:spPr>
          <a:xfrm>
            <a:off x="5945040" y="4030560"/>
            <a:ext cx="380880" cy="363240"/>
          </a:xfrm>
          <a:custGeom>
            <a:avLst/>
            <a:gdLst>
              <a:gd name="textAreaLeft" fmla="*/ 0 w 380880"/>
              <a:gd name="textAreaRight" fmla="*/ 381240 w 380880"/>
              <a:gd name="textAreaTop" fmla="*/ 0 h 363240"/>
              <a:gd name="textAreaBottom" fmla="*/ 363600 h 363240"/>
              <a:gd name="GluePoint1X" fmla="*/ 0 w 381740"/>
              <a:gd name="GluePoint1Y" fmla="*/ 0 h 363984"/>
              <a:gd name="GluePoint2X" fmla="*/ 70883 w 381740"/>
              <a:gd name="GluePoint2Y" fmla="*/ 203936 h 363984"/>
              <a:gd name="GluePoint3X" fmla="*/ 381000 w 381740"/>
              <a:gd name="GluePoint3Y" fmla="*/ 363538 h 3639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381740" h="363984">
                <a:moveTo>
                  <a:pt x="0" y="0"/>
                </a:moveTo>
                <a:cubicBezTo>
                  <a:pt x="3699" y="71761"/>
                  <a:pt x="7398" y="143522"/>
                  <a:pt x="71021" y="204186"/>
                </a:cubicBezTo>
                <a:cubicBezTo>
                  <a:pt x="134644" y="264850"/>
                  <a:pt x="258192" y="314417"/>
                  <a:pt x="381740" y="363984"/>
                </a:cubicBezTo>
              </a:path>
            </a:pathLst>
          </a:custGeom>
          <a:noFill/>
          <a:ln w="5724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 rot="3120000">
            <a:off x="6980400" y="4342320"/>
            <a:ext cx="393480" cy="452160"/>
          </a:xfrm>
          <a:custGeom>
            <a:avLst/>
            <a:gdLst>
              <a:gd name="textAreaLeft" fmla="*/ 0 w 393480"/>
              <a:gd name="textAreaRight" fmla="*/ 393840 w 393480"/>
              <a:gd name="textAreaTop" fmla="*/ 0 h 452160"/>
              <a:gd name="textAreaBottom" fmla="*/ 452520 h 452160"/>
              <a:gd name="GluePoint1X" fmla="*/ 92116 w 394035"/>
              <a:gd name="GluePoint1Y" fmla="*/ 0 h 452761"/>
              <a:gd name="GluePoint2X" fmla="*/ 3414 w 394035"/>
              <a:gd name="GluePoint2Y" fmla="*/ 354854 h 452761"/>
              <a:gd name="GluePoint3X" fmla="*/ 56635 w 394035"/>
              <a:gd name="GluePoint3Y" fmla="*/ 452438 h 452761"/>
              <a:gd name="GluePoint4X" fmla="*/ 393700 w 394035"/>
              <a:gd name="GluePoint4Y" fmla="*/ 354854 h 4527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94035" h="452761">
                <a:moveTo>
                  <a:pt x="92194" y="0"/>
                </a:moveTo>
                <a:cubicBezTo>
                  <a:pt x="50764" y="139823"/>
                  <a:pt x="9335" y="279647"/>
                  <a:pt x="3417" y="355107"/>
                </a:cubicBezTo>
                <a:cubicBezTo>
                  <a:pt x="-2502" y="430567"/>
                  <a:pt x="-8420" y="452761"/>
                  <a:pt x="56683" y="452761"/>
                </a:cubicBezTo>
                <a:cubicBezTo>
                  <a:pt x="121786" y="452761"/>
                  <a:pt x="257910" y="403934"/>
                  <a:pt x="394035" y="355107"/>
                </a:cubicBez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245360" y="414036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4114800" y="-644400"/>
            <a:ext cx="539640" cy="1440"/>
          </a:xfrm>
          <a:prstGeom prst="line">
            <a:avLst/>
          </a:prstGeom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" name=""/>
          <p:cNvGrpSpPr/>
          <p:nvPr/>
        </p:nvGrpSpPr>
        <p:grpSpPr>
          <a:xfrm>
            <a:off x="4632480" y="938160"/>
            <a:ext cx="1836360" cy="363240"/>
            <a:chOff x="4632480" y="938160"/>
            <a:chExt cx="1836360" cy="363240"/>
          </a:xfrm>
        </p:grpSpPr>
        <p:sp>
          <p:nvSpPr>
            <p:cNvPr id="121" name=""/>
            <p:cNvSpPr/>
            <p:nvPr/>
          </p:nvSpPr>
          <p:spPr>
            <a:xfrm>
              <a:off x="4632480" y="938160"/>
              <a:ext cx="996480" cy="361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5934240" y="939960"/>
              <a:ext cx="534600" cy="361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5500800" y="1131840"/>
              <a:ext cx="45396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" name=""/>
          <p:cNvSpPr/>
          <p:nvPr/>
        </p:nvSpPr>
        <p:spPr>
          <a:xfrm>
            <a:off x="4800600" y="1251000"/>
            <a:ext cx="25560" cy="105876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00" tIns="46800" rIns="1260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4703760" y="2341440"/>
            <a:ext cx="1836360" cy="363240"/>
            <a:chOff x="4703760" y="2341440"/>
            <a:chExt cx="1836360" cy="363240"/>
          </a:xfrm>
        </p:grpSpPr>
        <p:sp>
          <p:nvSpPr>
            <p:cNvPr id="126" name=""/>
            <p:cNvSpPr/>
            <p:nvPr/>
          </p:nvSpPr>
          <p:spPr>
            <a:xfrm>
              <a:off x="4703760" y="2341440"/>
              <a:ext cx="995040" cy="360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6005520" y="2344680"/>
              <a:ext cx="534600" cy="360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5570640" y="2535120"/>
              <a:ext cx="45396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9" name=""/>
          <p:cNvSpPr/>
          <p:nvPr/>
        </p:nvSpPr>
        <p:spPr>
          <a:xfrm>
            <a:off x="4800600" y="2706840"/>
            <a:ext cx="1440" cy="117936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0" name=""/>
          <p:cNvGrpSpPr/>
          <p:nvPr/>
        </p:nvGrpSpPr>
        <p:grpSpPr>
          <a:xfrm>
            <a:off x="4703760" y="3781440"/>
            <a:ext cx="1836360" cy="363240"/>
            <a:chOff x="4703760" y="3781440"/>
            <a:chExt cx="1836360" cy="363240"/>
          </a:xfrm>
        </p:grpSpPr>
        <p:sp>
          <p:nvSpPr>
            <p:cNvPr id="131" name=""/>
            <p:cNvSpPr/>
            <p:nvPr/>
          </p:nvSpPr>
          <p:spPr>
            <a:xfrm>
              <a:off x="4703760" y="3781440"/>
              <a:ext cx="995040" cy="360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6005520" y="3784680"/>
              <a:ext cx="534600" cy="360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5570640" y="3975120"/>
              <a:ext cx="453960" cy="360"/>
            </a:xfrm>
            <a:prstGeom prst="line">
              <a:avLst/>
            </a:prstGeom>
            <a:ln w="9360">
              <a:solidFill>
                <a:srgbClr val="000000"/>
              </a:solidFill>
              <a:round/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dur="indefinite" fill="hold">
                      <p:stCondLst>
                        <p:cond delay="indefinite"/>
                      </p:stCondLst>
                      <p:childTnLst>
                        <p:par>
                          <p:cTn id="21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2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dur="indefinite" fill="hold">
                      <p:stCondLst>
                        <p:cond delay="indefinite"/>
                      </p:stCondLst>
                      <p:childTnLst>
                        <p:par>
                          <p:cTn id="2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26" dur="indefinite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dur="indefinite" fill="hold">
                      <p:stCondLst>
                        <p:cond delay="indefinite"/>
                      </p:stCondLst>
                      <p:childTnLst>
                        <p:par>
                          <p:cTn id="35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3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dur="indefinite" fill="hold">
                      <p:stCondLst>
                        <p:cond delay="indefinite"/>
                      </p:stCondLst>
                      <p:childTnLst>
                        <p:par>
                          <p:cTn id="3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4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dur="indefinite" fill="hold">
                      <p:stCondLst>
                        <p:cond delay="indefinite"/>
                      </p:stCondLst>
                      <p:childTnLst>
                        <p:par>
                          <p:cTn id="53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5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dur="indefinite" fill="hold">
                      <p:stCondLst>
                        <p:cond delay="indefinite"/>
                      </p:stCondLst>
                      <p:childTnLst>
                        <p:par>
                          <p:cTn id="59" dur="indefinite" fill="hold">
                            <p:stCondLst>
                              <p:cond delay="0"/>
                            </p:stCondLst>
                            <p:childTnLst>
                              <p:par>
                                <p:cTn id="6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"/>
          <p:cNvGrpSpPr/>
          <p:nvPr/>
        </p:nvGrpSpPr>
        <p:grpSpPr>
          <a:xfrm>
            <a:off x="2845800" y="826920"/>
            <a:ext cx="3301560" cy="5241600"/>
            <a:chOff x="2845800" y="826920"/>
            <a:chExt cx="3301560" cy="5241600"/>
          </a:xfrm>
        </p:grpSpPr>
        <p:sp>
          <p:nvSpPr>
            <p:cNvPr id="135" name=""/>
            <p:cNvSpPr/>
            <p:nvPr/>
          </p:nvSpPr>
          <p:spPr>
            <a:xfrm>
              <a:off x="4210200" y="1268280"/>
              <a:ext cx="926640" cy="1217520"/>
            </a:xfrm>
            <a:custGeom>
              <a:avLst/>
              <a:gdLst>
                <a:gd name="textAreaLeft" fmla="*/ 0 w 926640"/>
                <a:gd name="textAreaRight" fmla="*/ 927360 w 926640"/>
                <a:gd name="textAreaTop" fmla="*/ 0 h 1217520"/>
                <a:gd name="textAreaBottom" fmla="*/ 1218240 h 1217520"/>
              </a:gdLst>
              <a:ahLst/>
              <a:cxnLst/>
              <a:rect l="textAreaLeft" t="textAreaTop" r="textAreaRight" b="textAreaBottom"/>
              <a:pathLst>
                <a:path w="21600" h="28375">
                  <a:moveTo>
                    <a:pt x="0" y="0"/>
                  </a:moveTo>
                  <a:arcTo wR="0" hR="0" stAng="16200000" swAng="-5400000"/>
                  <a:lnTo>
                    <a:pt x="0" y="28375"/>
                  </a:lnTo>
                  <a:arcTo wR="0" hR="0" stAng="10800000" swAng="-5400000"/>
                  <a:lnTo>
                    <a:pt x="21600" y="28375"/>
                  </a:lnTo>
                  <a:arcTo wR="0" hR="0" stAng="16200000" swAng="-5400000"/>
                  <a:lnTo>
                    <a:pt x="21600" y="0"/>
                  </a:lnTo>
                  <a:arcTo wR="0" hR="0" stAng="10800000" swAng="-5400000"/>
                  <a:close/>
                </a:path>
              </a:pathLst>
            </a:custGeom>
            <a:solidFill>
              <a:srgbClr val="EEECE1"/>
            </a:solidFill>
            <a:ln w="93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4210200" y="3301920"/>
              <a:ext cx="926640" cy="983880"/>
            </a:xfrm>
            <a:custGeom>
              <a:avLst/>
              <a:gdLst>
                <a:gd name="textAreaLeft" fmla="*/ 0 w 926640"/>
                <a:gd name="textAreaRight" fmla="*/ 927360 w 926640"/>
                <a:gd name="textAreaTop" fmla="*/ 0 h 983880"/>
                <a:gd name="textAreaBottom" fmla="*/ 984600 h 983880"/>
              </a:gdLst>
              <a:ahLst/>
              <a:cxnLst/>
              <a:rect l="textAreaLeft" t="textAreaTop" r="textAreaRight" b="textAreaBottom"/>
              <a:pathLst>
                <a:path w="21600" h="22933">
                  <a:moveTo>
                    <a:pt x="0" y="0"/>
                  </a:moveTo>
                  <a:arcTo wR="0" hR="0" stAng="16200000" swAng="-5400000"/>
                  <a:lnTo>
                    <a:pt x="0" y="22933"/>
                  </a:lnTo>
                  <a:arcTo wR="0" hR="0" stAng="10800000" swAng="-5400000"/>
                  <a:lnTo>
                    <a:pt x="21600" y="22933"/>
                  </a:lnTo>
                  <a:arcTo wR="0" hR="0" stAng="16200000" swAng="-5400000"/>
                  <a:lnTo>
                    <a:pt x="21600" y="0"/>
                  </a:lnTo>
                  <a:arcTo wR="0" hR="0" stAng="10800000" swAng="-5400000"/>
                  <a:close/>
                </a:path>
              </a:pathLst>
            </a:custGeom>
            <a:solidFill>
              <a:srgbClr val="EEECE1"/>
            </a:solidFill>
            <a:ln w="93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4210200" y="5084640"/>
              <a:ext cx="926640" cy="983880"/>
            </a:xfrm>
            <a:custGeom>
              <a:avLst/>
              <a:gdLst>
                <a:gd name="textAreaLeft" fmla="*/ 0 w 926640"/>
                <a:gd name="textAreaRight" fmla="*/ 927360 w 926640"/>
                <a:gd name="textAreaTop" fmla="*/ 0 h 983880"/>
                <a:gd name="textAreaBottom" fmla="*/ 984600 h 983880"/>
              </a:gdLst>
              <a:ahLst/>
              <a:cxnLst/>
              <a:rect l="textAreaLeft" t="textAreaTop" r="textAreaRight" b="textAreaBottom"/>
              <a:pathLst>
                <a:path w="21600" h="22933">
                  <a:moveTo>
                    <a:pt x="0" y="0"/>
                  </a:moveTo>
                  <a:arcTo wR="0" hR="0" stAng="16200000" swAng="-5400000"/>
                  <a:lnTo>
                    <a:pt x="0" y="22933"/>
                  </a:lnTo>
                  <a:arcTo wR="0" hR="0" stAng="10800000" swAng="-5400000"/>
                  <a:lnTo>
                    <a:pt x="21600" y="22933"/>
                  </a:lnTo>
                  <a:arcTo wR="0" hR="0" stAng="16200000" swAng="-5400000"/>
                  <a:lnTo>
                    <a:pt x="21600" y="0"/>
                  </a:lnTo>
                  <a:arcTo wR="0" hR="0" stAng="10800000" swAng="-5400000"/>
                  <a:close/>
                </a:path>
              </a:pathLst>
            </a:custGeom>
            <a:solidFill>
              <a:srgbClr val="EEECE1"/>
            </a:solidFill>
            <a:ln w="93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3951360" y="2500200"/>
              <a:ext cx="1834560" cy="439560"/>
            </a:xfrm>
            <a:custGeom>
              <a:avLst/>
              <a:gdLst>
                <a:gd name="textAreaLeft" fmla="*/ 0 w 1834560"/>
                <a:gd name="textAreaRight" fmla="*/ 1834920 w 1834560"/>
                <a:gd name="textAreaTop" fmla="*/ 0 h 439560"/>
                <a:gd name="textAreaBottom" fmla="*/ 439920 h 439560"/>
                <a:gd name="GluePoint1X" fmla="*/ 1793426 w 2176976"/>
                <a:gd name="GluePoint1Y" fmla="*/ 277334 h 447425"/>
                <a:gd name="GluePoint2X" fmla="*/ 1455202 w 2176976"/>
                <a:gd name="GluePoint2Y" fmla="*/ 56056 h 447425"/>
                <a:gd name="GluePoint3X" fmla="*/ 1034302 w 2176976"/>
                <a:gd name="GluePoint3Y" fmla="*/ 11801 h 447425"/>
                <a:gd name="GluePoint4X" fmla="*/ 448048 w 2176976"/>
                <a:gd name="GluePoint4Y" fmla="*/ 11801 h 447425"/>
                <a:gd name="GluePoint5X" fmla="*/ 57212 w 2176976"/>
                <a:gd name="GluePoint5Y" fmla="*/ 11801 h 447425"/>
                <a:gd name="GluePoint6X" fmla="*/ 49696 w 2176976"/>
                <a:gd name="GluePoint6Y" fmla="*/ 171121 h 447425"/>
                <a:gd name="GluePoint7X" fmla="*/ 508176 w 2176976"/>
                <a:gd name="GluePoint7Y" fmla="*/ 188823 h 447425"/>
                <a:gd name="GluePoint8X" fmla="*/ 1297365 w 2176976"/>
                <a:gd name="GluePoint8Y" fmla="*/ 162269 h 447425"/>
                <a:gd name="GluePoint9X" fmla="*/ 1613040 w 2176976"/>
                <a:gd name="GluePoint9Y" fmla="*/ 321589 h 447425"/>
                <a:gd name="GluePoint10X" fmla="*/ 1823490 w 2176976"/>
                <a:gd name="GluePoint10Y" fmla="*/ 445506 h 447425"/>
                <a:gd name="GluePoint11X" fmla="*/ 1793426 w 2176976"/>
                <a:gd name="GluePoint11Y" fmla="*/ 277334 h 4474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76976" h="447425">
                  <a:moveTo>
                    <a:pt x="2118318" y="278166"/>
                  </a:moveTo>
                  <a:cubicBezTo>
                    <a:pt x="2045817" y="213063"/>
                    <a:pt x="1868264" y="100612"/>
                    <a:pt x="1718823" y="56224"/>
                  </a:cubicBezTo>
                  <a:cubicBezTo>
                    <a:pt x="1569382" y="11836"/>
                    <a:pt x="1419941" y="19234"/>
                    <a:pt x="1221673" y="11836"/>
                  </a:cubicBezTo>
                  <a:cubicBezTo>
                    <a:pt x="1023405" y="4438"/>
                    <a:pt x="529215" y="11836"/>
                    <a:pt x="529215" y="11836"/>
                  </a:cubicBezTo>
                  <a:cubicBezTo>
                    <a:pt x="336866" y="11836"/>
                    <a:pt x="145995" y="-14797"/>
                    <a:pt x="67576" y="11836"/>
                  </a:cubicBezTo>
                  <a:cubicBezTo>
                    <a:pt x="-10843" y="38469"/>
                    <a:pt x="-30078" y="142042"/>
                    <a:pt x="58699" y="171634"/>
                  </a:cubicBezTo>
                  <a:cubicBezTo>
                    <a:pt x="147476" y="201226"/>
                    <a:pt x="354621" y="190869"/>
                    <a:pt x="600236" y="189389"/>
                  </a:cubicBezTo>
                  <a:cubicBezTo>
                    <a:pt x="845851" y="187909"/>
                    <a:pt x="1314889" y="140562"/>
                    <a:pt x="1532392" y="162756"/>
                  </a:cubicBezTo>
                  <a:cubicBezTo>
                    <a:pt x="1749895" y="184950"/>
                    <a:pt x="1797242" y="284084"/>
                    <a:pt x="1905254" y="322554"/>
                  </a:cubicBezTo>
                  <a:cubicBezTo>
                    <a:pt x="2013266" y="361024"/>
                    <a:pt x="2119798" y="455720"/>
                    <a:pt x="2153829" y="446842"/>
                  </a:cubicBezTo>
                  <a:cubicBezTo>
                    <a:pt x="2187860" y="437964"/>
                    <a:pt x="2190819" y="343269"/>
                    <a:pt x="2118318" y="278166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 flipH="1" flipV="1">
              <a:off x="3488760" y="2850480"/>
              <a:ext cx="1833120" cy="441000"/>
            </a:xfrm>
            <a:custGeom>
              <a:avLst/>
              <a:gdLst>
                <a:gd name="textAreaLeft" fmla="*/ 360 w 1833120"/>
                <a:gd name="textAreaRight" fmla="*/ 1833840 w 1833120"/>
                <a:gd name="textAreaTop" fmla="*/ -360 h 441000"/>
                <a:gd name="textAreaBottom" fmla="*/ 441000 h 441000"/>
                <a:gd name="GluePoint1X" fmla="*/ 1791881 w 2176976"/>
                <a:gd name="GluePoint1Y" fmla="*/ 278321 h 447425"/>
                <a:gd name="GluePoint2X" fmla="*/ 1453949 w 2176976"/>
                <a:gd name="GluePoint2Y" fmla="*/ 56255 h 447425"/>
                <a:gd name="GluePoint3X" fmla="*/ 1033411 w 2176976"/>
                <a:gd name="GluePoint3Y" fmla="*/ 11843 h 447425"/>
                <a:gd name="GluePoint4X" fmla="*/ 447662 w 2176976"/>
                <a:gd name="GluePoint4Y" fmla="*/ 11843 h 447425"/>
                <a:gd name="GluePoint5X" fmla="*/ 57162 w 2176976"/>
                <a:gd name="GluePoint5Y" fmla="*/ 11843 h 447425"/>
                <a:gd name="GluePoint6X" fmla="*/ 49653 w 2176976"/>
                <a:gd name="GluePoint6Y" fmla="*/ 171730 h 447425"/>
                <a:gd name="GluePoint7X" fmla="*/ 507739 w 2176976"/>
                <a:gd name="GluePoint7Y" fmla="*/ 189495 h 447425"/>
                <a:gd name="GluePoint8X" fmla="*/ 1296248 w 2176976"/>
                <a:gd name="GluePoint8Y" fmla="*/ 162847 h 447425"/>
                <a:gd name="GluePoint9X" fmla="*/ 1611651 w 2176976"/>
                <a:gd name="GluePoint9Y" fmla="*/ 322734 h 447425"/>
                <a:gd name="GluePoint10X" fmla="*/ 1821920 w 2176976"/>
                <a:gd name="GluePoint10Y" fmla="*/ 447092 h 447425"/>
                <a:gd name="GluePoint11X" fmla="*/ 1791881 w 2176976"/>
                <a:gd name="GluePoint11Y" fmla="*/ 278321 h 4474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76976" h="447425">
                  <a:moveTo>
                    <a:pt x="2118318" y="278166"/>
                  </a:moveTo>
                  <a:cubicBezTo>
                    <a:pt x="2045817" y="213063"/>
                    <a:pt x="1868264" y="100612"/>
                    <a:pt x="1718823" y="56224"/>
                  </a:cubicBezTo>
                  <a:cubicBezTo>
                    <a:pt x="1569382" y="11836"/>
                    <a:pt x="1419941" y="19234"/>
                    <a:pt x="1221673" y="11836"/>
                  </a:cubicBezTo>
                  <a:cubicBezTo>
                    <a:pt x="1023405" y="4438"/>
                    <a:pt x="529215" y="11836"/>
                    <a:pt x="529215" y="11836"/>
                  </a:cubicBezTo>
                  <a:cubicBezTo>
                    <a:pt x="336866" y="11836"/>
                    <a:pt x="145995" y="-14797"/>
                    <a:pt x="67576" y="11836"/>
                  </a:cubicBezTo>
                  <a:cubicBezTo>
                    <a:pt x="-10843" y="38469"/>
                    <a:pt x="-30078" y="142042"/>
                    <a:pt x="58699" y="171634"/>
                  </a:cubicBezTo>
                  <a:cubicBezTo>
                    <a:pt x="147476" y="201226"/>
                    <a:pt x="354621" y="190869"/>
                    <a:pt x="600236" y="189389"/>
                  </a:cubicBezTo>
                  <a:cubicBezTo>
                    <a:pt x="845851" y="187909"/>
                    <a:pt x="1314889" y="140562"/>
                    <a:pt x="1532392" y="162756"/>
                  </a:cubicBezTo>
                  <a:cubicBezTo>
                    <a:pt x="1749895" y="184950"/>
                    <a:pt x="1797242" y="284084"/>
                    <a:pt x="1905254" y="322554"/>
                  </a:cubicBezTo>
                  <a:cubicBezTo>
                    <a:pt x="2013266" y="361024"/>
                    <a:pt x="2119798" y="455720"/>
                    <a:pt x="2153829" y="446842"/>
                  </a:cubicBezTo>
                  <a:cubicBezTo>
                    <a:pt x="2187860" y="437964"/>
                    <a:pt x="2190819" y="343269"/>
                    <a:pt x="2118318" y="278166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3951360" y="4302000"/>
              <a:ext cx="1834560" cy="441000"/>
            </a:xfrm>
            <a:custGeom>
              <a:avLst/>
              <a:gdLst>
                <a:gd name="textAreaLeft" fmla="*/ 0 w 1834560"/>
                <a:gd name="textAreaRight" fmla="*/ 1834920 w 1834560"/>
                <a:gd name="textAreaTop" fmla="*/ 0 h 441000"/>
                <a:gd name="textAreaBottom" fmla="*/ 441360 h 441000"/>
                <a:gd name="GluePoint1X" fmla="*/ 1793426 w 2176976"/>
                <a:gd name="GluePoint1Y" fmla="*/ 278321 h 447425"/>
                <a:gd name="GluePoint2X" fmla="*/ 1455202 w 2176976"/>
                <a:gd name="GluePoint2Y" fmla="*/ 56255 h 447425"/>
                <a:gd name="GluePoint3X" fmla="*/ 1034302 w 2176976"/>
                <a:gd name="GluePoint3Y" fmla="*/ 11843 h 447425"/>
                <a:gd name="GluePoint4X" fmla="*/ 448048 w 2176976"/>
                <a:gd name="GluePoint4Y" fmla="*/ 11843 h 447425"/>
                <a:gd name="GluePoint5X" fmla="*/ 57212 w 2176976"/>
                <a:gd name="GluePoint5Y" fmla="*/ 11843 h 447425"/>
                <a:gd name="GluePoint6X" fmla="*/ 49696 w 2176976"/>
                <a:gd name="GluePoint6Y" fmla="*/ 171730 h 447425"/>
                <a:gd name="GluePoint7X" fmla="*/ 508176 w 2176976"/>
                <a:gd name="GluePoint7Y" fmla="*/ 189495 h 447425"/>
                <a:gd name="GluePoint8X" fmla="*/ 1297365 w 2176976"/>
                <a:gd name="GluePoint8Y" fmla="*/ 162847 h 447425"/>
                <a:gd name="GluePoint9X" fmla="*/ 1613040 w 2176976"/>
                <a:gd name="GluePoint9Y" fmla="*/ 322734 h 447425"/>
                <a:gd name="GluePoint10X" fmla="*/ 1823490 w 2176976"/>
                <a:gd name="GluePoint10Y" fmla="*/ 447092 h 447425"/>
                <a:gd name="GluePoint11X" fmla="*/ 1793426 w 2176976"/>
                <a:gd name="GluePoint11Y" fmla="*/ 278321 h 4474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76976" h="447425">
                  <a:moveTo>
                    <a:pt x="2118318" y="278166"/>
                  </a:moveTo>
                  <a:cubicBezTo>
                    <a:pt x="2045817" y="213063"/>
                    <a:pt x="1868264" y="100612"/>
                    <a:pt x="1718823" y="56224"/>
                  </a:cubicBezTo>
                  <a:cubicBezTo>
                    <a:pt x="1569382" y="11836"/>
                    <a:pt x="1419941" y="19234"/>
                    <a:pt x="1221673" y="11836"/>
                  </a:cubicBezTo>
                  <a:cubicBezTo>
                    <a:pt x="1023405" y="4438"/>
                    <a:pt x="529215" y="11836"/>
                    <a:pt x="529215" y="11836"/>
                  </a:cubicBezTo>
                  <a:cubicBezTo>
                    <a:pt x="336866" y="11836"/>
                    <a:pt x="145995" y="-14797"/>
                    <a:pt x="67576" y="11836"/>
                  </a:cubicBezTo>
                  <a:cubicBezTo>
                    <a:pt x="-10843" y="38469"/>
                    <a:pt x="-30078" y="142042"/>
                    <a:pt x="58699" y="171634"/>
                  </a:cubicBezTo>
                  <a:cubicBezTo>
                    <a:pt x="147476" y="201226"/>
                    <a:pt x="354621" y="190869"/>
                    <a:pt x="600236" y="189389"/>
                  </a:cubicBezTo>
                  <a:cubicBezTo>
                    <a:pt x="845851" y="187909"/>
                    <a:pt x="1314889" y="140562"/>
                    <a:pt x="1532392" y="162756"/>
                  </a:cubicBezTo>
                  <a:cubicBezTo>
                    <a:pt x="1749895" y="184950"/>
                    <a:pt x="1797242" y="284084"/>
                    <a:pt x="1905254" y="322554"/>
                  </a:cubicBezTo>
                  <a:cubicBezTo>
                    <a:pt x="2013266" y="361024"/>
                    <a:pt x="2119798" y="455720"/>
                    <a:pt x="2153829" y="446842"/>
                  </a:cubicBezTo>
                  <a:cubicBezTo>
                    <a:pt x="2187860" y="437964"/>
                    <a:pt x="2190819" y="343269"/>
                    <a:pt x="2118318" y="278166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 flipH="1" flipV="1">
              <a:off x="3996720" y="4542840"/>
              <a:ext cx="1329840" cy="556560"/>
            </a:xfrm>
            <a:custGeom>
              <a:avLst/>
              <a:gdLst>
                <a:gd name="textAreaLeft" fmla="*/ 360 w 1329840"/>
                <a:gd name="textAreaRight" fmla="*/ 1330560 w 1329840"/>
                <a:gd name="textAreaTop" fmla="*/ 360 h 556560"/>
                <a:gd name="textAreaBottom" fmla="*/ 557280 h 556560"/>
                <a:gd name="GluePoint1X" fmla="*/ 1313683 w 1578787"/>
                <a:gd name="GluePoint1Y" fmla="*/ 227384 h 563823"/>
                <a:gd name="GluePoint2X" fmla="*/ 1170919 w 1578787"/>
                <a:gd name="GluePoint2Y" fmla="*/ 23292 h 563823"/>
                <a:gd name="GluePoint3X" fmla="*/ 741122 w 1578787"/>
                <a:gd name="GluePoint3Y" fmla="*/ 5545 h 563823"/>
                <a:gd name="GluePoint4X" fmla="*/ 448058 w 1578787"/>
                <a:gd name="GluePoint4Y" fmla="*/ 32166 h 563823"/>
                <a:gd name="GluePoint5X" fmla="*/ 57213 w 1578787"/>
                <a:gd name="GluePoint5Y" fmla="*/ 32166 h 563823"/>
                <a:gd name="GluePoint6X" fmla="*/ 49697 w 1578787"/>
                <a:gd name="GluePoint6Y" fmla="*/ 191890 h 563823"/>
                <a:gd name="GluePoint7X" fmla="*/ 508188 w 1578787"/>
                <a:gd name="GluePoint7Y" fmla="*/ 209637 h 563823"/>
                <a:gd name="GluePoint8X" fmla="*/ 1066388 w 1578787"/>
                <a:gd name="GluePoint8Y" fmla="*/ 183017 h 563823"/>
                <a:gd name="GluePoint9X" fmla="*/ 1124933 w 1578787"/>
                <a:gd name="GluePoint9Y" fmla="*/ 367885 h 563823"/>
                <a:gd name="GluePoint10X" fmla="*/ 1124407 w 1578787"/>
                <a:gd name="GluePoint10Y" fmla="*/ 555707 h 563823"/>
                <a:gd name="GluePoint11X" fmla="*/ 1317092 w 1578787"/>
                <a:gd name="GluePoint11Y" fmla="*/ 529086 h 563823"/>
                <a:gd name="GluePoint12X" fmla="*/ 1313683 w 1578787"/>
                <a:gd name="GluePoint12Y" fmla="*/ 227384 h 56382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1578787" h="563823">
                  <a:moveTo>
                    <a:pt x="1551630" y="227489"/>
                  </a:moveTo>
                  <a:cubicBezTo>
                    <a:pt x="1522855" y="143151"/>
                    <a:pt x="1495719" y="60293"/>
                    <a:pt x="1383008" y="23303"/>
                  </a:cubicBezTo>
                  <a:cubicBezTo>
                    <a:pt x="1270297" y="-13687"/>
                    <a:pt x="1017661" y="4068"/>
                    <a:pt x="875362" y="5548"/>
                  </a:cubicBezTo>
                  <a:cubicBezTo>
                    <a:pt x="733063" y="7028"/>
                    <a:pt x="663846" y="27742"/>
                    <a:pt x="529215" y="32181"/>
                  </a:cubicBezTo>
                  <a:cubicBezTo>
                    <a:pt x="394584" y="36620"/>
                    <a:pt x="145995" y="5548"/>
                    <a:pt x="67576" y="32181"/>
                  </a:cubicBezTo>
                  <a:cubicBezTo>
                    <a:pt x="-10843" y="58814"/>
                    <a:pt x="-30078" y="162387"/>
                    <a:pt x="58699" y="191979"/>
                  </a:cubicBezTo>
                  <a:cubicBezTo>
                    <a:pt x="147476" y="221571"/>
                    <a:pt x="400095" y="211214"/>
                    <a:pt x="600236" y="209734"/>
                  </a:cubicBezTo>
                  <a:cubicBezTo>
                    <a:pt x="800377" y="208254"/>
                    <a:pt x="1138134" y="156714"/>
                    <a:pt x="1259543" y="183101"/>
                  </a:cubicBezTo>
                  <a:cubicBezTo>
                    <a:pt x="1380952" y="209488"/>
                    <a:pt x="1313773" y="328106"/>
                    <a:pt x="1328692" y="368055"/>
                  </a:cubicBezTo>
                  <a:cubicBezTo>
                    <a:pt x="1343612" y="408005"/>
                    <a:pt x="1293742" y="554237"/>
                    <a:pt x="1328071" y="555963"/>
                  </a:cubicBezTo>
                  <a:cubicBezTo>
                    <a:pt x="1362400" y="557689"/>
                    <a:pt x="1518397" y="584076"/>
                    <a:pt x="1555657" y="529330"/>
                  </a:cubicBezTo>
                  <a:cubicBezTo>
                    <a:pt x="1592917" y="474584"/>
                    <a:pt x="1580405" y="311827"/>
                    <a:pt x="1551630" y="227489"/>
                  </a:cubicBezTo>
                  <a:close/>
                </a:path>
              </a:pathLst>
            </a:custGeom>
            <a:noFill/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2845800" y="826920"/>
              <a:ext cx="96804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O</a:t>
              </a: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ut</a:t>
              </a: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si</a:t>
              </a: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</a:t>
              </a: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5357160" y="826920"/>
              <a:ext cx="7902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Inside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4122000" y="907920"/>
              <a:ext cx="1149120" cy="33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6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Membrane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"/>
          <p:cNvSpPr/>
          <p:nvPr/>
        </p:nvSpPr>
        <p:spPr>
          <a:xfrm>
            <a:off x="1735200" y="115920"/>
            <a:ext cx="596592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Local anaesthetics: Mechanism of 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394400" y="2492280"/>
            <a:ext cx="118404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OPEN 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7397640" y="4365720"/>
            <a:ext cx="147600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CLOSED 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Channel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571840" y="241128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116160" y="2414520"/>
            <a:ext cx="772920" cy="366480"/>
          </a:xfrm>
          <a:custGeom>
            <a:avLst/>
            <a:gdLst>
              <a:gd name="textAreaLeft" fmla="*/ 0 w 772920"/>
              <a:gd name="textAreaRight" fmla="*/ 773280 w 772920"/>
              <a:gd name="textAreaTop" fmla="*/ 0 h 366480"/>
              <a:gd name="textAreaBottom" fmla="*/ 366840 h 366480"/>
              <a:gd name="GluePoint1X" fmla="*/ 0 w 772539"/>
              <a:gd name="GluePoint1Y" fmla="*/ 212707 h 367327"/>
              <a:gd name="GluePoint2X" fmla="*/ 257644 w 772539"/>
              <a:gd name="GluePoint2Y" fmla="*/ 239296 h 367327"/>
              <a:gd name="GluePoint3X" fmla="*/ 666319 w 772539"/>
              <a:gd name="GluePoint3Y" fmla="*/ 345649 h 367327"/>
              <a:gd name="GluePoint4X" fmla="*/ 719624 w 772539"/>
              <a:gd name="GluePoint4Y" fmla="*/ 363376 h 367327"/>
              <a:gd name="GluePoint5X" fmla="*/ 746277 w 772539"/>
              <a:gd name="GluePoint5Y" fmla="*/ 301336 h 367327"/>
              <a:gd name="GluePoint6X" fmla="*/ 310949 w 772539"/>
              <a:gd name="GluePoint6Y" fmla="*/ 0 h 36732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772539" h="367327">
                <a:moveTo>
                  <a:pt x="0" y="213064"/>
                </a:moveTo>
                <a:cubicBezTo>
                  <a:pt x="73241" y="215283"/>
                  <a:pt x="146482" y="217503"/>
                  <a:pt x="257453" y="239697"/>
                </a:cubicBezTo>
                <a:cubicBezTo>
                  <a:pt x="368424" y="261891"/>
                  <a:pt x="588885" y="325514"/>
                  <a:pt x="665825" y="346229"/>
                </a:cubicBezTo>
                <a:cubicBezTo>
                  <a:pt x="742765" y="366944"/>
                  <a:pt x="705775" y="371383"/>
                  <a:pt x="719091" y="363985"/>
                </a:cubicBezTo>
                <a:cubicBezTo>
                  <a:pt x="732407" y="356587"/>
                  <a:pt x="813786" y="362505"/>
                  <a:pt x="745724" y="301841"/>
                </a:cubicBezTo>
                <a:cubicBezTo>
                  <a:pt x="677662" y="241177"/>
                  <a:pt x="494190" y="120588"/>
                  <a:pt x="310719" y="0"/>
                </a:cubicBezTo>
              </a:path>
            </a:pathLst>
          </a:custGeom>
          <a:noFill/>
          <a:ln w="255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90480" y="2492280"/>
            <a:ext cx="131112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Hydrophilic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pathway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91920" y="4438800"/>
            <a:ext cx="1463760" cy="6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Hydrophobic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pathway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886200" y="1600200"/>
            <a:ext cx="1828800" cy="144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"/>
          <p:cNvGrpSpPr/>
          <p:nvPr/>
        </p:nvGrpSpPr>
        <p:grpSpPr>
          <a:xfrm>
            <a:off x="3308400" y="1397160"/>
            <a:ext cx="3376080" cy="364680"/>
            <a:chOff x="3308400" y="1397160"/>
            <a:chExt cx="3376080" cy="364680"/>
          </a:xfrm>
        </p:grpSpPr>
        <p:sp>
          <p:nvSpPr>
            <p:cNvPr id="154" name=""/>
            <p:cNvSpPr/>
            <p:nvPr/>
          </p:nvSpPr>
          <p:spPr>
            <a:xfrm>
              <a:off x="3308400" y="1397160"/>
              <a:ext cx="4600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721480" y="1397160"/>
              <a:ext cx="9630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pPr>
                <a:lnSpc>
                  <a:spcPct val="100000"/>
                </a:lnSpc>
                <a:spcBef>
                  <a:spcPts val="51"/>
                </a:spcBef>
                <a:spcAft>
                  <a:spcPts val="51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  <a:tab pos="9601200" algn="l"/>
                  <a:tab pos="10058400" algn="l"/>
                  <a:tab pos="10515600" algn="l"/>
                </a:tabLst>
              </a:pPr>
              <a:r>
                <a: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LA + H</a:t>
              </a:r>
              <a:r>
                <a:rPr lang="en-US" sz="1800" b="0" u="none" strike="noStrike" baseline="33000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+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" name=""/>
          <p:cNvSpPr/>
          <p:nvPr/>
        </p:nvSpPr>
        <p:spPr>
          <a:xfrm>
            <a:off x="6400800" y="1762200"/>
            <a:ext cx="1440" cy="120960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116760" y="2981160"/>
            <a:ext cx="7408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 flipH="1" flipV="1">
            <a:off x="4803480" y="2854440"/>
            <a:ext cx="1315800" cy="3492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381480" y="5429160"/>
            <a:ext cx="46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768840" y="5630760"/>
            <a:ext cx="803160" cy="180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4497480" y="5429160"/>
            <a:ext cx="460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 flipV="1">
            <a:off x="4800600" y="4803480"/>
            <a:ext cx="1440" cy="664920"/>
          </a:xfrm>
          <a:prstGeom prst="line">
            <a:avLst/>
          </a:prstGeom>
          <a:ln w="9360">
            <a:solidFill>
              <a:srgbClr val="000000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568760" y="4494240"/>
            <a:ext cx="759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280760" y="2693160"/>
            <a:ext cx="7408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US" sz="1800" b="0" u="none" strike="noStrike" baseline="33000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" dur="indefinite" restart="never" nodeType="tmRoot">
          <p:childTnLst>
            <p:seq>
              <p:cTn id="63" dur="indefinite" nodeType="mainSeq"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6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dur="indefinite" presetID="16" presetClass="entr" fill="hold" nodeType="withEffect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 additive="repl">
                                        <p:cTn id="7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1731960" y="303120"/>
            <a:ext cx="541296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Administration of Local anaesthetics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23760" y="1514520"/>
            <a:ext cx="9369000" cy="43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Comic Sans MS"/>
              <a:buAutoNum type="alphaLcParenR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–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,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,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y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(b)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F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–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j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(c)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–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j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j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y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(d)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K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–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j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Comic Sans MS"/>
              <a:buAutoNum type="romanLcParenR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(ii)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p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f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lum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g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i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f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h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v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t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r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 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o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u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m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n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/>
          <p:cNvPicPr/>
          <p:nvPr/>
        </p:nvPicPr>
        <p:blipFill>
          <a:blip r:embed="rId1"/>
          <a:srcRect l="9662" t="11206" r="5457" b="26434"/>
          <a:stretch/>
        </p:blipFill>
        <p:spPr>
          <a:xfrm rot="19320000">
            <a:off x="5150880" y="2787120"/>
            <a:ext cx="1113840" cy="48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/>
          <p:nvPr/>
        </p:nvSpPr>
        <p:spPr>
          <a:xfrm>
            <a:off x="3124080" y="3365640"/>
            <a:ext cx="3460680" cy="18720"/>
          </a:xfrm>
          <a:custGeom>
            <a:avLst/>
            <a:gdLst>
              <a:gd name="textAreaLeft" fmla="*/ 0 w 3460680"/>
              <a:gd name="textAreaRight" fmla="*/ 3461040 w 3460680"/>
              <a:gd name="textAreaTop" fmla="*/ 0 h 18720"/>
              <a:gd name="textAreaBottom" fmla="*/ 19080 h 18720"/>
              <a:gd name="GluePoint1X" fmla="*/ 3460750 w 4615543"/>
              <a:gd name="GluePoint1Y" fmla="*/ 12700 h 26126"/>
              <a:gd name="GluePoint2X" fmla="*/ 2696773 w 4615543"/>
              <a:gd name="GluePoint2Y" fmla="*/ 0 h 26126"/>
              <a:gd name="GluePoint3X" fmla="*/ 1919737 w 4615543"/>
              <a:gd name="GluePoint3Y" fmla="*/ 12700 h 26126"/>
              <a:gd name="GluePoint4X" fmla="*/ 861922 w 4615543"/>
              <a:gd name="GluePoint4Y" fmla="*/ 19050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7720" rIns="90000" bIns="-27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127320" y="3473280"/>
            <a:ext cx="3460320" cy="18720"/>
          </a:xfrm>
          <a:custGeom>
            <a:avLst/>
            <a:gdLst>
              <a:gd name="textAreaLeft" fmla="*/ 0 w 3460320"/>
              <a:gd name="textAreaRight" fmla="*/ 3460680 w 3460320"/>
              <a:gd name="textAreaTop" fmla="*/ 0 h 18720"/>
              <a:gd name="textAreaBottom" fmla="*/ 19080 h 18720"/>
              <a:gd name="GluePoint1X" fmla="*/ 3460750 w 4615543"/>
              <a:gd name="GluePoint1Y" fmla="*/ 12700 h 26126"/>
              <a:gd name="GluePoint2X" fmla="*/ 2696773 w 4615543"/>
              <a:gd name="GluePoint2Y" fmla="*/ 0 h 26126"/>
              <a:gd name="GluePoint3X" fmla="*/ 1919737 w 4615543"/>
              <a:gd name="GluePoint3Y" fmla="*/ 12700 h 26126"/>
              <a:gd name="GluePoint4X" fmla="*/ 861922 w 4615543"/>
              <a:gd name="GluePoint4Y" fmla="*/ 19050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7720" rIns="90000" bIns="-277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3139920" y="3851280"/>
            <a:ext cx="3462120" cy="20160"/>
          </a:xfrm>
          <a:custGeom>
            <a:avLst/>
            <a:gdLst>
              <a:gd name="textAreaLeft" fmla="*/ 0 w 3462120"/>
              <a:gd name="textAreaRight" fmla="*/ 3462480 w 3462120"/>
              <a:gd name="textAreaTop" fmla="*/ 0 h 20160"/>
              <a:gd name="textAreaBottom" fmla="*/ 20520 h 20160"/>
              <a:gd name="GluePoint1X" fmla="*/ 3462338 w 4615543"/>
              <a:gd name="GluePoint1Y" fmla="*/ 13758 h 26126"/>
              <a:gd name="GluePoint2X" fmla="*/ 2698010 w 4615543"/>
              <a:gd name="GluePoint2Y" fmla="*/ 0 h 26126"/>
              <a:gd name="GluePoint3X" fmla="*/ 1920618 w 4615543"/>
              <a:gd name="GluePoint3Y" fmla="*/ 13758 h 26126"/>
              <a:gd name="GluePoint4X" fmla="*/ 862318 w 4615543"/>
              <a:gd name="GluePoint4Y" fmla="*/ 20638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6280" rIns="90000" bIns="-262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152880" y="4608360"/>
            <a:ext cx="3461760" cy="20520"/>
          </a:xfrm>
          <a:custGeom>
            <a:avLst/>
            <a:gdLst>
              <a:gd name="textAreaLeft" fmla="*/ 0 w 3461760"/>
              <a:gd name="textAreaRight" fmla="*/ 3462120 w 3461760"/>
              <a:gd name="textAreaTop" fmla="*/ 0 h 20520"/>
              <a:gd name="textAreaBottom" fmla="*/ 20880 h 20520"/>
              <a:gd name="GluePoint1X" fmla="*/ 3462338 w 4615543"/>
              <a:gd name="GluePoint1Y" fmla="*/ 13758 h 26126"/>
              <a:gd name="GluePoint2X" fmla="*/ 2698010 w 4615543"/>
              <a:gd name="GluePoint2Y" fmla="*/ 0 h 26126"/>
              <a:gd name="GluePoint3X" fmla="*/ 1920618 w 4615543"/>
              <a:gd name="GluePoint3Y" fmla="*/ 13758 h 26126"/>
              <a:gd name="GluePoint4X" fmla="*/ 862318 w 4615543"/>
              <a:gd name="GluePoint4Y" fmla="*/ 20637 h 26126"/>
              <a:gd name="GluePoint5X" fmla="*/ 0 w 4615543"/>
              <a:gd name="GluePoint5Y" fmla="*/ 0 h 2612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4615543" h="26126">
                <a:moveTo>
                  <a:pt x="4615543" y="17417"/>
                </a:moveTo>
                <a:lnTo>
                  <a:pt x="3596640" y="0"/>
                </a:lnTo>
                <a:cubicBezTo>
                  <a:pt x="3254103" y="0"/>
                  <a:pt x="2560320" y="17417"/>
                  <a:pt x="2560320" y="17417"/>
                </a:cubicBezTo>
                <a:lnTo>
                  <a:pt x="1149531" y="26126"/>
                </a:lnTo>
                <a:cubicBezTo>
                  <a:pt x="722811" y="23223"/>
                  <a:pt x="361405" y="11611"/>
                  <a:pt x="0" y="0"/>
                </a:cubicBezTo>
              </a:path>
            </a:pathLst>
          </a:custGeom>
          <a:solidFill>
            <a:srgbClr val="000000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-25920" rIns="90000" bIns="-259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 flipH="1">
            <a:off x="5630760" y="4714920"/>
            <a:ext cx="96048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 flipH="1">
            <a:off x="5213160" y="4802040"/>
            <a:ext cx="1019160" cy="18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 flipH="1">
            <a:off x="4579920" y="4714920"/>
            <a:ext cx="71928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 flipH="1">
            <a:off x="4665240" y="4932360"/>
            <a:ext cx="84132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 flipH="1">
            <a:off x="3940200" y="4802040"/>
            <a:ext cx="985680" cy="18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 flipH="1">
            <a:off x="2953800" y="4932360"/>
            <a:ext cx="135756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 flipH="1">
            <a:off x="2973240" y="4714920"/>
            <a:ext cx="757440" cy="144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 flipH="1">
            <a:off x="2529000" y="4802040"/>
            <a:ext cx="947520" cy="18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682640" y="3224160"/>
            <a:ext cx="12315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Epidermis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1684440" y="3691080"/>
            <a:ext cx="9334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Dermis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689120" y="4110120"/>
            <a:ext cx="16495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Subcutaneous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684440" y="4626000"/>
            <a:ext cx="9176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500800" y="3529080"/>
            <a:ext cx="1312560" cy="763200"/>
          </a:xfrm>
          <a:custGeom>
            <a:avLst/>
            <a:gdLst>
              <a:gd name="textAreaLeft" fmla="*/ 0 w 1312560"/>
              <a:gd name="textAreaRight" fmla="*/ 1312920 w 1312560"/>
              <a:gd name="textAreaTop" fmla="*/ 0 h 763200"/>
              <a:gd name="textAreaBottom" fmla="*/ 763560 h 763200"/>
              <a:gd name="GluePoint1X" fmla="*/ 1312862 w 1750423"/>
              <a:gd name="GluePoint1Y" fmla="*/ 763587 h 1017108"/>
              <a:gd name="GluePoint2X" fmla="*/ 947090 w 1750423"/>
              <a:gd name="GluePoint2Y" fmla="*/ 704746 h 1017108"/>
              <a:gd name="GluePoint3X" fmla="*/ 594380 w 1750423"/>
              <a:gd name="GluePoint3Y" fmla="*/ 502071 h 1017108"/>
              <a:gd name="GluePoint4X" fmla="*/ 398431 w 1750423"/>
              <a:gd name="GluePoint4Y" fmla="*/ 135948 h 1017108"/>
              <a:gd name="GluePoint5X" fmla="*/ 320051 w 1750423"/>
              <a:gd name="GluePoint5Y" fmla="*/ 11728 h 1017108"/>
              <a:gd name="GluePoint6X" fmla="*/ 176354 w 1750423"/>
              <a:gd name="GluePoint6Y" fmla="*/ 5191 h 1017108"/>
              <a:gd name="GluePoint7X" fmla="*/ 0 w 1750423"/>
              <a:gd name="GluePoint7Y" fmla="*/ 11728 h 101710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750423" h="1017108">
                <a:moveTo>
                  <a:pt x="1750423" y="1017108"/>
                </a:moveTo>
                <a:cubicBezTo>
                  <a:pt x="1586411" y="1006948"/>
                  <a:pt x="1422400" y="996788"/>
                  <a:pt x="1262743" y="938731"/>
                </a:cubicBezTo>
                <a:cubicBezTo>
                  <a:pt x="1103086" y="880674"/>
                  <a:pt x="914400" y="795039"/>
                  <a:pt x="792480" y="668765"/>
                </a:cubicBezTo>
                <a:cubicBezTo>
                  <a:pt x="670560" y="542491"/>
                  <a:pt x="592183" y="289942"/>
                  <a:pt x="531223" y="181085"/>
                </a:cubicBezTo>
                <a:cubicBezTo>
                  <a:pt x="470263" y="72228"/>
                  <a:pt x="476069" y="44650"/>
                  <a:pt x="426720" y="15622"/>
                </a:cubicBezTo>
                <a:cubicBezTo>
                  <a:pt x="377371" y="-13406"/>
                  <a:pt x="306251" y="6914"/>
                  <a:pt x="235131" y="6914"/>
                </a:cubicBezTo>
                <a:cubicBezTo>
                  <a:pt x="164011" y="6914"/>
                  <a:pt x="82005" y="11268"/>
                  <a:pt x="0" y="15622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5915160" y="3529080"/>
            <a:ext cx="193320" cy="142560"/>
          </a:xfrm>
          <a:custGeom>
            <a:avLst/>
            <a:gdLst>
              <a:gd name="textAreaLeft" fmla="*/ 0 w 193320"/>
              <a:gd name="textAreaRight" fmla="*/ 193680 w 193320"/>
              <a:gd name="textAreaTop" fmla="*/ 0 h 142560"/>
              <a:gd name="textAreaBottom" fmla="*/ 142920 h 142560"/>
              <a:gd name="GluePoint1X" fmla="*/ 4768 w 258922"/>
              <a:gd name="GluePoint1Y" fmla="*/ 142875 h 191589"/>
              <a:gd name="GluePoint2X" fmla="*/ 24309 w 258922"/>
              <a:gd name="GluePoint2Y" fmla="*/ 45460 h 191589"/>
              <a:gd name="GluePoint3X" fmla="*/ 193675 w 258922"/>
              <a:gd name="GluePoint3Y" fmla="*/ 0 h 1915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58922" h="191589">
                <a:moveTo>
                  <a:pt x="6374" y="191589"/>
                </a:moveTo>
                <a:cubicBezTo>
                  <a:pt x="-1609" y="142240"/>
                  <a:pt x="-9592" y="92891"/>
                  <a:pt x="32499" y="60960"/>
                </a:cubicBezTo>
                <a:cubicBezTo>
                  <a:pt x="74590" y="29029"/>
                  <a:pt x="166756" y="14514"/>
                  <a:pt x="258922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5559480" y="3424320"/>
            <a:ext cx="183600" cy="117000"/>
          </a:xfrm>
          <a:custGeom>
            <a:avLst/>
            <a:gdLst>
              <a:gd name="textAreaLeft" fmla="*/ 0 w 183600"/>
              <a:gd name="textAreaRight" fmla="*/ 183960 w 183600"/>
              <a:gd name="textAreaTop" fmla="*/ 0 h 117000"/>
              <a:gd name="textAreaBottom" fmla="*/ 117360 h 117000"/>
              <a:gd name="GluePoint1X" fmla="*/ 184150 w 243840"/>
              <a:gd name="GluePoint1Y" fmla="*/ 117475 h 156754"/>
              <a:gd name="GluePoint2X" fmla="*/ 0 w 243840"/>
              <a:gd name="GluePoint2Y" fmla="*/ 0 h 156754"/>
              <a:gd name="GluePoint3X" fmla="*/ 0 w 243840"/>
              <a:gd name="GluePoint3Y" fmla="*/ 0 h 15675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43840" h="156754">
                <a:moveTo>
                  <a:pt x="243840" y="156754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5846760" y="3409920"/>
            <a:ext cx="131400" cy="150480"/>
          </a:xfrm>
          <a:custGeom>
            <a:avLst/>
            <a:gdLst>
              <a:gd name="textAreaLeft" fmla="*/ 0 w 131400"/>
              <a:gd name="textAreaRight" fmla="*/ 131760 w 131400"/>
              <a:gd name="textAreaTop" fmla="*/ 0 h 150480"/>
              <a:gd name="textAreaBottom" fmla="*/ 150840 h 150480"/>
              <a:gd name="GluePoint1X" fmla="*/ 0 w 174172"/>
              <a:gd name="GluePoint1Y" fmla="*/ 150813 h 200297"/>
              <a:gd name="GluePoint2X" fmla="*/ 32941 w 174172"/>
              <a:gd name="GluePoint2Y" fmla="*/ 45900 h 200297"/>
              <a:gd name="GluePoint3X" fmla="*/ 131762 w 174172"/>
              <a:gd name="GluePoint3Y" fmla="*/ 0 h 2002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4172" h="200297">
                <a:moveTo>
                  <a:pt x="0" y="200297"/>
                </a:moveTo>
                <a:cubicBezTo>
                  <a:pt x="7257" y="147320"/>
                  <a:pt x="14514" y="94343"/>
                  <a:pt x="43543" y="60960"/>
                </a:cubicBezTo>
                <a:cubicBezTo>
                  <a:pt x="72572" y="27577"/>
                  <a:pt x="123372" y="13788"/>
                  <a:pt x="174172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65880" tIns="46800" rIns="658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5200560" y="3508200"/>
            <a:ext cx="431640" cy="79200"/>
          </a:xfrm>
          <a:custGeom>
            <a:avLst/>
            <a:gdLst>
              <a:gd name="textAreaLeft" fmla="*/ 0 w 431640"/>
              <a:gd name="textAreaRight" fmla="*/ 432000 w 431640"/>
              <a:gd name="textAreaTop" fmla="*/ 0 h 79200"/>
              <a:gd name="textAreaBottom" fmla="*/ 79560 h 79200"/>
              <a:gd name="GluePoint1X" fmla="*/ 431800 w 574765"/>
              <a:gd name="GluePoint1Y" fmla="*/ 33009 h 104705"/>
              <a:gd name="GluePoint2X" fmla="*/ 300952 w 574765"/>
              <a:gd name="GluePoint2Y" fmla="*/ 79222 h 104705"/>
              <a:gd name="GluePoint3X" fmla="*/ 71967 w 574765"/>
              <a:gd name="GluePoint3Y" fmla="*/ 46213 h 104705"/>
              <a:gd name="GluePoint4X" fmla="*/ 0 w 574765"/>
              <a:gd name="GluePoint4Y" fmla="*/ 0 h 10470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74765" h="104705">
                <a:moveTo>
                  <a:pt x="574765" y="43543"/>
                </a:moveTo>
                <a:cubicBezTo>
                  <a:pt x="527593" y="72571"/>
                  <a:pt x="480422" y="101600"/>
                  <a:pt x="400594" y="104503"/>
                </a:cubicBezTo>
                <a:cubicBezTo>
                  <a:pt x="320766" y="107406"/>
                  <a:pt x="162560" y="78377"/>
                  <a:pt x="95794" y="60960"/>
                </a:cubicBezTo>
                <a:cubicBezTo>
                  <a:pt x="29028" y="43543"/>
                  <a:pt x="14514" y="21771"/>
                  <a:pt x="0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32760" rIns="90000" bIns="3276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2986200" y="3672000"/>
            <a:ext cx="1717200" cy="685440"/>
          </a:xfrm>
          <a:custGeom>
            <a:avLst/>
            <a:gdLst>
              <a:gd name="textAreaLeft" fmla="*/ 0 w 1717200"/>
              <a:gd name="textAreaRight" fmla="*/ 1717560 w 1717200"/>
              <a:gd name="textAreaTop" fmla="*/ 0 h 685440"/>
              <a:gd name="textAreaBottom" fmla="*/ 685800 h 685440"/>
              <a:gd name="GluePoint1X" fmla="*/ 0 w 2290354"/>
              <a:gd name="GluePoint1Y" fmla="*/ 685800 h 914400"/>
              <a:gd name="GluePoint2X" fmla="*/ 450645 w 2290354"/>
              <a:gd name="GluePoint2Y" fmla="*/ 450668 h 914400"/>
              <a:gd name="GluePoint3X" fmla="*/ 920883 w 2290354"/>
              <a:gd name="GluePoint3Y" fmla="*/ 300446 h 914400"/>
              <a:gd name="GluePoint4X" fmla="*/ 1149471 w 2290354"/>
              <a:gd name="GluePoint4Y" fmla="*/ 111034 h 914400"/>
              <a:gd name="GluePoint5X" fmla="*/ 1430307 w 2290354"/>
              <a:gd name="GluePoint5Y" fmla="*/ 26126 h 914400"/>
              <a:gd name="GluePoint6X" fmla="*/ 1717675 w 2290354"/>
              <a:gd name="GluePoint6Y" fmla="*/ 0 h 9144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2290354" h="914400">
                <a:moveTo>
                  <a:pt x="0" y="914400"/>
                </a:moveTo>
                <a:cubicBezTo>
                  <a:pt x="198120" y="800462"/>
                  <a:pt x="396240" y="686525"/>
                  <a:pt x="600891" y="600891"/>
                </a:cubicBezTo>
                <a:cubicBezTo>
                  <a:pt x="805542" y="515257"/>
                  <a:pt x="1072606" y="476068"/>
                  <a:pt x="1227909" y="400594"/>
                </a:cubicBezTo>
                <a:cubicBezTo>
                  <a:pt x="1383212" y="325120"/>
                  <a:pt x="1419498" y="209005"/>
                  <a:pt x="1532709" y="148045"/>
                </a:cubicBezTo>
                <a:cubicBezTo>
                  <a:pt x="1645920" y="87085"/>
                  <a:pt x="1780903" y="59508"/>
                  <a:pt x="1907177" y="34834"/>
                </a:cubicBezTo>
                <a:cubicBezTo>
                  <a:pt x="2033451" y="10160"/>
                  <a:pt x="2161902" y="5080"/>
                  <a:pt x="2290354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508200" y="3646440"/>
            <a:ext cx="576000" cy="155160"/>
          </a:xfrm>
          <a:custGeom>
            <a:avLst/>
            <a:gdLst>
              <a:gd name="textAreaLeft" fmla="*/ 0 w 576000"/>
              <a:gd name="textAreaRight" fmla="*/ 576360 w 576000"/>
              <a:gd name="textAreaTop" fmla="*/ 0 h 155160"/>
              <a:gd name="textAreaBottom" fmla="*/ 155520 h 155160"/>
              <a:gd name="GluePoint1X" fmla="*/ 576263 w 766354"/>
              <a:gd name="GluePoint1Y" fmla="*/ 155575 h 209006"/>
              <a:gd name="GluePoint2X" fmla="*/ 379810 w 766354"/>
              <a:gd name="GluePoint2Y" fmla="*/ 90752 h 209006"/>
              <a:gd name="GluePoint3X" fmla="*/ 111323 w 766354"/>
              <a:gd name="GluePoint3Y" fmla="*/ 45376 h 209006"/>
              <a:gd name="GluePoint4X" fmla="*/ 0 w 766354"/>
              <a:gd name="GluePoint4Y" fmla="*/ 0 h 20900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66354" h="209006">
                <a:moveTo>
                  <a:pt x="766354" y="209006"/>
                </a:moveTo>
                <a:cubicBezTo>
                  <a:pt x="687251" y="177800"/>
                  <a:pt x="608149" y="146594"/>
                  <a:pt x="505097" y="121920"/>
                </a:cubicBezTo>
                <a:cubicBezTo>
                  <a:pt x="402045" y="97246"/>
                  <a:pt x="232228" y="81280"/>
                  <a:pt x="148045" y="60960"/>
                </a:cubicBezTo>
                <a:cubicBezTo>
                  <a:pt x="63862" y="40640"/>
                  <a:pt x="31931" y="20320"/>
                  <a:pt x="0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4187880" y="3594240"/>
            <a:ext cx="242640" cy="169200"/>
          </a:xfrm>
          <a:custGeom>
            <a:avLst/>
            <a:gdLst>
              <a:gd name="textAreaLeft" fmla="*/ 0 w 242640"/>
              <a:gd name="textAreaRight" fmla="*/ 243000 w 242640"/>
              <a:gd name="textAreaTop" fmla="*/ 0 h 169200"/>
              <a:gd name="textAreaBottom" fmla="*/ 169560 h 169200"/>
              <a:gd name="GluePoint1X" fmla="*/ 0 w 322217"/>
              <a:gd name="GluePoint1Y" fmla="*/ 169863 h 226423"/>
              <a:gd name="GluePoint2X" fmla="*/ 78775 w 322217"/>
              <a:gd name="GluePoint2Y" fmla="*/ 58799 h 226423"/>
              <a:gd name="GluePoint3X" fmla="*/ 242888 w 322217"/>
              <a:gd name="GluePoint3Y" fmla="*/ 0 h 22642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322217" h="226423">
                <a:moveTo>
                  <a:pt x="0" y="226423"/>
                </a:moveTo>
                <a:cubicBezTo>
                  <a:pt x="25400" y="171268"/>
                  <a:pt x="50800" y="116114"/>
                  <a:pt x="104503" y="78377"/>
                </a:cubicBezTo>
                <a:cubicBezTo>
                  <a:pt x="158206" y="40640"/>
                  <a:pt x="240211" y="20320"/>
                  <a:pt x="322217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921120" y="3600360"/>
            <a:ext cx="226800" cy="188640"/>
          </a:xfrm>
          <a:custGeom>
            <a:avLst/>
            <a:gdLst>
              <a:gd name="textAreaLeft" fmla="*/ 0 w 226800"/>
              <a:gd name="textAreaRight" fmla="*/ 227160 w 226800"/>
              <a:gd name="textAreaTop" fmla="*/ 0 h 188640"/>
              <a:gd name="textAreaBottom" fmla="*/ 189000 h 188640"/>
              <a:gd name="GluePoint1X" fmla="*/ 195215 w 303813"/>
              <a:gd name="GluePoint1Y" fmla="*/ 188913 h 252549"/>
              <a:gd name="GluePoint2X" fmla="*/ 221243 w 303813"/>
              <a:gd name="GluePoint2Y" fmla="*/ 84685 h 252549"/>
              <a:gd name="GluePoint3X" fmla="*/ 97607 w 303813"/>
              <a:gd name="GluePoint3Y" fmla="*/ 39086 h 252549"/>
              <a:gd name="GluePoint4X" fmla="*/ 0 w 303813"/>
              <a:gd name="GluePoint4Y" fmla="*/ 0 h 25254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03813" h="252549">
                <a:moveTo>
                  <a:pt x="261257" y="252549"/>
                </a:moveTo>
                <a:cubicBezTo>
                  <a:pt x="289560" y="199572"/>
                  <a:pt x="317863" y="146595"/>
                  <a:pt x="296091" y="113212"/>
                </a:cubicBezTo>
                <a:cubicBezTo>
                  <a:pt x="274319" y="79829"/>
                  <a:pt x="179976" y="71121"/>
                  <a:pt x="130628" y="52252"/>
                </a:cubicBezTo>
                <a:cubicBezTo>
                  <a:pt x="81280" y="33383"/>
                  <a:pt x="40640" y="16691"/>
                  <a:pt x="0" y="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554280" y="3567240"/>
            <a:ext cx="234720" cy="144000"/>
          </a:xfrm>
          <a:custGeom>
            <a:avLst/>
            <a:gdLst>
              <a:gd name="textAreaLeft" fmla="*/ 0 w 234720"/>
              <a:gd name="textAreaRight" fmla="*/ 235080 w 234720"/>
              <a:gd name="textAreaTop" fmla="*/ 0 h 144000"/>
              <a:gd name="textAreaBottom" fmla="*/ 144360 h 144000"/>
              <a:gd name="GluePoint1X" fmla="*/ 234950 w 313508"/>
              <a:gd name="GluePoint1Y" fmla="*/ 144462 h 191588"/>
              <a:gd name="GluePoint2X" fmla="*/ 0 w 313508"/>
              <a:gd name="GluePoint2Y" fmla="*/ 0 h 1915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13508" h="191588">
                <a:moveTo>
                  <a:pt x="313508" y="191588"/>
                </a:moveTo>
                <a:lnTo>
                  <a:pt x="0" y="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"/>
          <p:cNvGrpSpPr/>
          <p:nvPr/>
        </p:nvGrpSpPr>
        <p:grpSpPr>
          <a:xfrm>
            <a:off x="6192720" y="1294200"/>
            <a:ext cx="1693440" cy="2701080"/>
            <a:chOff x="6192720" y="1294200"/>
            <a:chExt cx="1693440" cy="2701080"/>
          </a:xfrm>
        </p:grpSpPr>
        <p:pic>
          <p:nvPicPr>
            <p:cNvPr id="195" name=""/>
            <p:cNvPicPr/>
            <p:nvPr/>
          </p:nvPicPr>
          <p:blipFill>
            <a:blip r:embed="rId2"/>
            <a:srcRect l="9662" t="11206" r="5457" b="26434"/>
            <a:stretch/>
          </p:blipFill>
          <p:spPr>
            <a:xfrm rot="19440000">
              <a:off x="6355800" y="1614240"/>
              <a:ext cx="1390320" cy="927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6" name=""/>
            <p:cNvSpPr/>
            <p:nvPr/>
          </p:nvSpPr>
          <p:spPr>
            <a:xfrm flipH="1">
              <a:off x="6192720" y="2656800"/>
              <a:ext cx="607680" cy="13384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7" name=""/>
          <p:cNvSpPr/>
          <p:nvPr/>
        </p:nvSpPr>
        <p:spPr>
          <a:xfrm>
            <a:off x="963720" y="1077840"/>
            <a:ext cx="712728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1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Local anaesthetics routes of administration - Peripheral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586040" y="2755800"/>
            <a:ext cx="1486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Intradermal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7037280" y="2755800"/>
            <a:ext cx="16495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Subcutaneous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"/>
          <p:cNvPicPr/>
          <p:nvPr/>
        </p:nvPicPr>
        <p:blipFill>
          <a:blip r:embed="rId3"/>
          <a:srcRect l="38871" t="7660" r="41794" b="0"/>
          <a:stretch/>
        </p:blipFill>
        <p:spPr>
          <a:xfrm rot="7260000">
            <a:off x="2521800" y="1929240"/>
            <a:ext cx="311040" cy="148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"/>
          <p:cNvSpPr/>
          <p:nvPr/>
        </p:nvSpPr>
        <p:spPr>
          <a:xfrm>
            <a:off x="3135240" y="2359080"/>
            <a:ext cx="9392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Topical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205080" y="3281400"/>
            <a:ext cx="637920" cy="94680"/>
          </a:xfrm>
          <a:custGeom>
            <a:avLst/>
            <a:gdLst>
              <a:gd name="textAreaLeft" fmla="*/ 0 w 637920"/>
              <a:gd name="textAreaRight" fmla="*/ 638280 w 637920"/>
              <a:gd name="textAreaTop" fmla="*/ 0 h 94680"/>
              <a:gd name="textAreaBottom" fmla="*/ 95040 h 94680"/>
              <a:gd name="GluePoint1X" fmla="*/ 638175 w 850793"/>
              <a:gd name="GluePoint1Y" fmla="*/ 63774 h 128701"/>
              <a:gd name="GluePoint2X" fmla="*/ 343085 w 850793"/>
              <a:gd name="GluePoint2Y" fmla="*/ 821 h 128701"/>
              <a:gd name="GluePoint3X" fmla="*/ 55970 w 850793"/>
              <a:gd name="GluePoint3Y" fmla="*/ 32297 h 128701"/>
              <a:gd name="GluePoint4X" fmla="*/ 142 w 850793"/>
              <a:gd name="GluePoint4Y" fmla="*/ 95250 h 1287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850793" h="128701">
                <a:moveTo>
                  <a:pt x="850793" y="86171"/>
                </a:moveTo>
                <a:cubicBezTo>
                  <a:pt x="718772" y="47184"/>
                  <a:pt x="586752" y="8198"/>
                  <a:pt x="457389" y="1110"/>
                </a:cubicBezTo>
                <a:cubicBezTo>
                  <a:pt x="328026" y="-5978"/>
                  <a:pt x="150817" y="22375"/>
                  <a:pt x="74617" y="43640"/>
                </a:cubicBezTo>
                <a:cubicBezTo>
                  <a:pt x="-1583" y="64905"/>
                  <a:pt x="-697" y="96803"/>
                  <a:pt x="189" y="128701"/>
                </a:cubicBezTo>
              </a:path>
            </a:pathLst>
          </a:custGeom>
          <a:noFill/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"/>
          <p:cNvPicPr/>
          <p:nvPr/>
        </p:nvPicPr>
        <p:blipFill>
          <a:blip r:embed="rId1"/>
          <a:srcRect l="9662" t="11206" r="5457" b="26434"/>
          <a:stretch/>
        </p:blipFill>
        <p:spPr>
          <a:xfrm rot="1800000">
            <a:off x="5372280" y="3571200"/>
            <a:ext cx="1115640" cy="48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"/>
          <p:cNvSpPr/>
          <p:nvPr/>
        </p:nvSpPr>
        <p:spPr>
          <a:xfrm flipH="1" flipV="1">
            <a:off x="4314960" y="3519000"/>
            <a:ext cx="1177920" cy="22716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"/>
          <p:cNvPicPr/>
          <p:nvPr/>
        </p:nvPicPr>
        <p:blipFill>
          <a:blip r:embed="rId2"/>
          <a:srcRect l="9662" t="11206" r="5457" b="26434"/>
          <a:stretch/>
        </p:blipFill>
        <p:spPr>
          <a:xfrm rot="1800000">
            <a:off x="5238720" y="4098960"/>
            <a:ext cx="1115640" cy="48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"/>
          <p:cNvSpPr/>
          <p:nvPr/>
        </p:nvSpPr>
        <p:spPr>
          <a:xfrm>
            <a:off x="3759120" y="2533680"/>
            <a:ext cx="475920" cy="2808000"/>
          </a:xfrm>
          <a:custGeom>
            <a:avLst/>
            <a:gdLst>
              <a:gd name="textAreaLeft" fmla="*/ 0 w 475920"/>
              <a:gd name="textAreaRight" fmla="*/ 476280 w 475920"/>
              <a:gd name="textAreaTop" fmla="*/ 0 h 2808000"/>
              <a:gd name="textAreaBottom" fmla="*/ 2808360 h 2808000"/>
              <a:gd name="GluePoint1X" fmla="*/ 1142 w 634021"/>
              <a:gd name="GluePoint1Y" fmla="*/ 22757 h 3744092"/>
              <a:gd name="GluePoint2X" fmla="*/ 55013 w 634021"/>
              <a:gd name="GluePoint2Y" fmla="*/ 264823 h 3744092"/>
              <a:gd name="GluePoint3X" fmla="*/ 50524 w 634021"/>
              <a:gd name="GluePoint3Y" fmla="*/ 471027 h 3744092"/>
              <a:gd name="GluePoint4X" fmla="*/ 63991 w 634021"/>
              <a:gd name="GluePoint4Y" fmla="*/ 878953 h 3744092"/>
              <a:gd name="GluePoint5X" fmla="*/ 68481 w 634021"/>
              <a:gd name="GluePoint5Y" fmla="*/ 1259983 h 3744092"/>
              <a:gd name="GluePoint6X" fmla="*/ 72970 w 634021"/>
              <a:gd name="GluePoint6Y" fmla="*/ 1757563 h 3744092"/>
              <a:gd name="GluePoint7X" fmla="*/ 77459 w 634021"/>
              <a:gd name="GluePoint7Y" fmla="*/ 2313418 h 3744092"/>
              <a:gd name="GluePoint8X" fmla="*/ 59502 w 634021"/>
              <a:gd name="GluePoint8Y" fmla="*/ 2694448 h 3744092"/>
              <a:gd name="GluePoint9X" fmla="*/ 90927 w 634021"/>
              <a:gd name="GluePoint9Y" fmla="*/ 2788585 h 3744092"/>
              <a:gd name="GluePoint10X" fmla="*/ 445579 w 634021"/>
              <a:gd name="GluePoint10Y" fmla="*/ 2788585 h 3744092"/>
              <a:gd name="GluePoint11X" fmla="*/ 454558 w 634021"/>
              <a:gd name="GluePoint11Y" fmla="*/ 2577898 h 3744092"/>
              <a:gd name="GluePoint12X" fmla="*/ 418644 w 634021"/>
              <a:gd name="GluePoint12Y" fmla="*/ 2259625 h 3744092"/>
              <a:gd name="GluePoint13X" fmla="*/ 414155 w 634021"/>
              <a:gd name="GluePoint13Y" fmla="*/ 1977216 h 3744092"/>
              <a:gd name="GluePoint14X" fmla="*/ 423133 w 634021"/>
              <a:gd name="GluePoint14Y" fmla="*/ 1466187 h 3744092"/>
              <a:gd name="GluePoint15X" fmla="*/ 423133 w 634021"/>
              <a:gd name="GluePoint15Y" fmla="*/ 1080675 h 3744092"/>
              <a:gd name="GluePoint16X" fmla="*/ 463537 w 634021"/>
              <a:gd name="GluePoint16Y" fmla="*/ 869988 h 3744092"/>
              <a:gd name="GluePoint17X" fmla="*/ 441091 w 634021"/>
              <a:gd name="GluePoint17Y" fmla="*/ 690679 h 3744092"/>
              <a:gd name="GluePoint18X" fmla="*/ 445579 w 634021"/>
              <a:gd name="GluePoint18Y" fmla="*/ 533785 h 3744092"/>
              <a:gd name="GluePoint19X" fmla="*/ 427623 w 634021"/>
              <a:gd name="GluePoint19Y" fmla="*/ 408270 h 3744092"/>
              <a:gd name="GluePoint20X" fmla="*/ 414155 w 634021"/>
              <a:gd name="GluePoint20Y" fmla="*/ 148273 h 3744092"/>
              <a:gd name="GluePoint21X" fmla="*/ 418644 w 634021"/>
              <a:gd name="GluePoint21Y" fmla="*/ 54136 h 3744092"/>
              <a:gd name="GluePoint22X" fmla="*/ 113374 w 634021"/>
              <a:gd name="GluePoint22Y" fmla="*/ 13791 h 3744092"/>
              <a:gd name="GluePoint23X" fmla="*/ 1142 w 634021"/>
              <a:gd name="GluePoint23Y" fmla="*/ 22757 h 374409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634021" h="3744092">
                <a:moveTo>
                  <a:pt x="1520" y="30340"/>
                </a:moveTo>
                <a:cubicBezTo>
                  <a:pt x="-11429" y="86120"/>
                  <a:pt x="62280" y="253462"/>
                  <a:pt x="73237" y="353070"/>
                </a:cubicBezTo>
                <a:cubicBezTo>
                  <a:pt x="84194" y="452678"/>
                  <a:pt x="65269" y="491524"/>
                  <a:pt x="67261" y="627987"/>
                </a:cubicBezTo>
                <a:cubicBezTo>
                  <a:pt x="69253" y="764450"/>
                  <a:pt x="81206" y="996536"/>
                  <a:pt x="85190" y="1171846"/>
                </a:cubicBezTo>
                <a:cubicBezTo>
                  <a:pt x="89174" y="1347156"/>
                  <a:pt x="89175" y="1484615"/>
                  <a:pt x="91167" y="1679846"/>
                </a:cubicBezTo>
                <a:cubicBezTo>
                  <a:pt x="93159" y="1875077"/>
                  <a:pt x="95151" y="2109156"/>
                  <a:pt x="97143" y="2343234"/>
                </a:cubicBezTo>
                <a:cubicBezTo>
                  <a:pt x="99135" y="2577313"/>
                  <a:pt x="106108" y="2876137"/>
                  <a:pt x="103120" y="3084317"/>
                </a:cubicBezTo>
                <a:cubicBezTo>
                  <a:pt x="100132" y="3292497"/>
                  <a:pt x="76226" y="3486733"/>
                  <a:pt x="79214" y="3592317"/>
                </a:cubicBezTo>
                <a:cubicBezTo>
                  <a:pt x="82202" y="3697901"/>
                  <a:pt x="35386" y="3696905"/>
                  <a:pt x="121049" y="3717823"/>
                </a:cubicBezTo>
                <a:cubicBezTo>
                  <a:pt x="206712" y="3738741"/>
                  <a:pt x="512508" y="3764639"/>
                  <a:pt x="593190" y="3717823"/>
                </a:cubicBezTo>
                <a:cubicBezTo>
                  <a:pt x="673872" y="3671007"/>
                  <a:pt x="611119" y="3554466"/>
                  <a:pt x="605143" y="3436929"/>
                </a:cubicBezTo>
                <a:cubicBezTo>
                  <a:pt x="599167" y="3319392"/>
                  <a:pt x="566297" y="3146074"/>
                  <a:pt x="557332" y="3012599"/>
                </a:cubicBezTo>
                <a:cubicBezTo>
                  <a:pt x="548367" y="2879125"/>
                  <a:pt x="550359" y="2812388"/>
                  <a:pt x="551355" y="2636082"/>
                </a:cubicBezTo>
                <a:cubicBezTo>
                  <a:pt x="552351" y="2459776"/>
                  <a:pt x="561316" y="2153980"/>
                  <a:pt x="563308" y="1954764"/>
                </a:cubicBezTo>
                <a:cubicBezTo>
                  <a:pt x="565300" y="1755548"/>
                  <a:pt x="554343" y="1573265"/>
                  <a:pt x="563308" y="1440787"/>
                </a:cubicBezTo>
                <a:cubicBezTo>
                  <a:pt x="572273" y="1308309"/>
                  <a:pt x="613112" y="1246552"/>
                  <a:pt x="617096" y="1159893"/>
                </a:cubicBezTo>
                <a:cubicBezTo>
                  <a:pt x="621080" y="1073234"/>
                  <a:pt x="591198" y="995540"/>
                  <a:pt x="587214" y="920834"/>
                </a:cubicBezTo>
                <a:cubicBezTo>
                  <a:pt x="583230" y="846128"/>
                  <a:pt x="596178" y="774411"/>
                  <a:pt x="593190" y="711658"/>
                </a:cubicBezTo>
                <a:cubicBezTo>
                  <a:pt x="590202" y="648905"/>
                  <a:pt x="576258" y="629980"/>
                  <a:pt x="569285" y="544317"/>
                </a:cubicBezTo>
                <a:cubicBezTo>
                  <a:pt x="562312" y="458654"/>
                  <a:pt x="553347" y="276372"/>
                  <a:pt x="551355" y="197682"/>
                </a:cubicBezTo>
                <a:cubicBezTo>
                  <a:pt x="549363" y="118992"/>
                  <a:pt x="624069" y="102058"/>
                  <a:pt x="557332" y="72176"/>
                </a:cubicBezTo>
                <a:cubicBezTo>
                  <a:pt x="490595" y="42294"/>
                  <a:pt x="239583" y="25360"/>
                  <a:pt x="150932" y="18387"/>
                </a:cubicBezTo>
                <a:cubicBezTo>
                  <a:pt x="62281" y="11414"/>
                  <a:pt x="14469" y="-25440"/>
                  <a:pt x="1520" y="30340"/>
                </a:cubicBezTo>
                <a:close/>
              </a:path>
            </a:pathLst>
          </a:custGeom>
          <a:solidFill>
            <a:srgbClr val="FFFF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960480" y="349200"/>
            <a:ext cx="6769080" cy="4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1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Local anaesthetics routes of administration - Central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 rot="660000">
            <a:off x="3182400" y="2501280"/>
            <a:ext cx="545760" cy="507600"/>
          </a:xfrm>
          <a:custGeom>
            <a:avLst/>
            <a:gdLst>
              <a:gd name="textAreaLeft" fmla="*/ 0 w 545760"/>
              <a:gd name="textAreaRight" fmla="*/ 546120 w 545760"/>
              <a:gd name="textAreaTop" fmla="*/ 0 h 507600"/>
              <a:gd name="textAreaBottom" fmla="*/ 507960 h 507600"/>
              <a:gd name="GluePoint1X" fmla="*/ 436054 w 729429"/>
              <a:gd name="GluePoint1Y" fmla="*/ 36065 h 676966"/>
              <a:gd name="GluePoint2X" fmla="*/ 535889 w 729429"/>
              <a:gd name="GluePoint2Y" fmla="*/ 386298 h 676966"/>
              <a:gd name="GluePoint3X" fmla="*/ 193598 w 729429"/>
              <a:gd name="GluePoint3Y" fmla="*/ 507808 h 676966"/>
              <a:gd name="GluePoint4X" fmla="*/ 36715 w 729429"/>
              <a:gd name="GluePoint4Y" fmla="*/ 364855 h 676966"/>
              <a:gd name="GluePoint5X" fmla="*/ 15321 w 729429"/>
              <a:gd name="GluePoint5Y" fmla="*/ 121836 h 676966"/>
              <a:gd name="GluePoint6X" fmla="*/ 229253 w 729429"/>
              <a:gd name="GluePoint6Y" fmla="*/ 21769 h 676966"/>
              <a:gd name="GluePoint7X" fmla="*/ 436054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 rot="660000">
            <a:off x="3188880" y="3059280"/>
            <a:ext cx="547200" cy="507600"/>
          </a:xfrm>
          <a:custGeom>
            <a:avLst/>
            <a:gdLst>
              <a:gd name="textAreaLeft" fmla="*/ 0 w 547200"/>
              <a:gd name="textAreaRight" fmla="*/ 547560 w 547200"/>
              <a:gd name="textAreaTop" fmla="*/ 0 h 507600"/>
              <a:gd name="textAreaBottom" fmla="*/ 507960 h 507600"/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 rot="660000">
            <a:off x="3188880" y="3616200"/>
            <a:ext cx="547200" cy="507600"/>
          </a:xfrm>
          <a:custGeom>
            <a:avLst/>
            <a:gdLst>
              <a:gd name="textAreaLeft" fmla="*/ 0 w 547200"/>
              <a:gd name="textAreaRight" fmla="*/ 547560 w 547200"/>
              <a:gd name="textAreaTop" fmla="*/ 0 h 507600"/>
              <a:gd name="textAreaBottom" fmla="*/ 507960 h 507600"/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 rot="660000">
            <a:off x="3188880" y="4187880"/>
            <a:ext cx="547200" cy="507600"/>
          </a:xfrm>
          <a:custGeom>
            <a:avLst/>
            <a:gdLst>
              <a:gd name="textAreaLeft" fmla="*/ 0 w 547200"/>
              <a:gd name="textAreaRight" fmla="*/ 547560 w 547200"/>
              <a:gd name="textAreaTop" fmla="*/ 0 h 507600"/>
              <a:gd name="textAreaBottom" fmla="*/ 507960 h 507600"/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 rot="660000">
            <a:off x="3188880" y="4759200"/>
            <a:ext cx="547200" cy="507600"/>
          </a:xfrm>
          <a:custGeom>
            <a:avLst/>
            <a:gdLst>
              <a:gd name="textAreaLeft" fmla="*/ 0 w 547200"/>
              <a:gd name="textAreaRight" fmla="*/ 547560 w 547200"/>
              <a:gd name="textAreaTop" fmla="*/ 0 h 507600"/>
              <a:gd name="textAreaBottom" fmla="*/ 507960 h 507600"/>
              <a:gd name="GluePoint1X" fmla="*/ 437322 w 729429"/>
              <a:gd name="GluePoint1Y" fmla="*/ 36065 h 676966"/>
              <a:gd name="GluePoint2X" fmla="*/ 537447 w 729429"/>
              <a:gd name="GluePoint2Y" fmla="*/ 386298 h 676966"/>
              <a:gd name="GluePoint3X" fmla="*/ 194161 w 729429"/>
              <a:gd name="GluePoint3Y" fmla="*/ 507808 h 676966"/>
              <a:gd name="GluePoint4X" fmla="*/ 36821 w 729429"/>
              <a:gd name="GluePoint4Y" fmla="*/ 364855 h 676966"/>
              <a:gd name="GluePoint5X" fmla="*/ 15366 w 729429"/>
              <a:gd name="GluePoint5Y" fmla="*/ 121836 h 676966"/>
              <a:gd name="GluePoint6X" fmla="*/ 229920 w 729429"/>
              <a:gd name="GluePoint6Y" fmla="*/ 21769 h 676966"/>
              <a:gd name="GluePoint7X" fmla="*/ 437322 w 729429"/>
              <a:gd name="GluePoint7Y" fmla="*/ 36065 h 67696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29429" h="676966">
                <a:moveTo>
                  <a:pt x="582440" y="48060"/>
                </a:moveTo>
                <a:cubicBezTo>
                  <a:pt x="650703" y="129023"/>
                  <a:pt x="769765" y="410010"/>
                  <a:pt x="715790" y="514785"/>
                </a:cubicBezTo>
                <a:cubicBezTo>
                  <a:pt x="661815" y="619560"/>
                  <a:pt x="369715" y="681473"/>
                  <a:pt x="258590" y="676710"/>
                </a:cubicBezTo>
                <a:cubicBezTo>
                  <a:pt x="147465" y="671947"/>
                  <a:pt x="88727" y="571935"/>
                  <a:pt x="49040" y="486210"/>
                </a:cubicBezTo>
                <a:cubicBezTo>
                  <a:pt x="9353" y="400485"/>
                  <a:pt x="-22398" y="238560"/>
                  <a:pt x="20465" y="162360"/>
                </a:cubicBezTo>
                <a:cubicBezTo>
                  <a:pt x="63327" y="86160"/>
                  <a:pt x="210965" y="49648"/>
                  <a:pt x="306215" y="29010"/>
                </a:cubicBezTo>
                <a:cubicBezTo>
                  <a:pt x="401465" y="8372"/>
                  <a:pt x="514177" y="-32903"/>
                  <a:pt x="582440" y="48060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4255920" y="2563920"/>
            <a:ext cx="965160" cy="464760"/>
          </a:xfrm>
          <a:custGeom>
            <a:avLst/>
            <a:gdLst>
              <a:gd name="textAreaLeft" fmla="*/ 0 w 965160"/>
              <a:gd name="textAreaRight" fmla="*/ 965520 w 965160"/>
              <a:gd name="textAreaTop" fmla="*/ 0 h 464760"/>
              <a:gd name="textAreaBottom" fmla="*/ 465120 h 464760"/>
              <a:gd name="GluePoint1X" fmla="*/ 108390 w 1286485"/>
              <a:gd name="GluePoint1Y" fmla="*/ 1350 h 621036"/>
              <a:gd name="GluePoint2X" fmla="*/ 515726 w 1286485"/>
              <a:gd name="GluePoint2Y" fmla="*/ 44153 h 621036"/>
              <a:gd name="GluePoint3X" fmla="*/ 794429 w 1286485"/>
              <a:gd name="GluePoint3Y" fmla="*/ 115493 h 621036"/>
              <a:gd name="GluePoint4X" fmla="*/ 951647 w 1286485"/>
              <a:gd name="GluePoint4Y" fmla="*/ 265305 h 621036"/>
              <a:gd name="GluePoint5X" fmla="*/ 930208 w 1286485"/>
              <a:gd name="GluePoint5Y" fmla="*/ 386582 h 621036"/>
              <a:gd name="GluePoint6X" fmla="*/ 715821 w 1286485"/>
              <a:gd name="GluePoint6Y" fmla="*/ 465055 h 621036"/>
              <a:gd name="GluePoint7X" fmla="*/ 372801 w 1286485"/>
              <a:gd name="GluePoint7Y" fmla="*/ 400850 h 621036"/>
              <a:gd name="GluePoint8X" fmla="*/ 65513 w 1286485"/>
              <a:gd name="GluePoint8Y" fmla="*/ 365180 h 621036"/>
              <a:gd name="GluePoint9X" fmla="*/ 1197 w 1286485"/>
              <a:gd name="GluePoint9Y" fmla="*/ 94091 h 621036"/>
              <a:gd name="GluePoint10X" fmla="*/ 108390 w 1286485"/>
              <a:gd name="GluePoint10Y" fmla="*/ 1350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4278240" y="3092400"/>
            <a:ext cx="964800" cy="464760"/>
          </a:xfrm>
          <a:custGeom>
            <a:avLst/>
            <a:gdLst>
              <a:gd name="textAreaLeft" fmla="*/ 0 w 964800"/>
              <a:gd name="textAreaRight" fmla="*/ 965160 w 964800"/>
              <a:gd name="textAreaTop" fmla="*/ 0 h 464760"/>
              <a:gd name="textAreaBottom" fmla="*/ 465120 h 464760"/>
              <a:gd name="GluePoint1X" fmla="*/ 108390 w 1286485"/>
              <a:gd name="GluePoint1Y" fmla="*/ 1350 h 621036"/>
              <a:gd name="GluePoint2X" fmla="*/ 515726 w 1286485"/>
              <a:gd name="GluePoint2Y" fmla="*/ 44153 h 621036"/>
              <a:gd name="GluePoint3X" fmla="*/ 794429 w 1286485"/>
              <a:gd name="GluePoint3Y" fmla="*/ 115493 h 621036"/>
              <a:gd name="GluePoint4X" fmla="*/ 951647 w 1286485"/>
              <a:gd name="GluePoint4Y" fmla="*/ 265306 h 621036"/>
              <a:gd name="GluePoint5X" fmla="*/ 930208 w 1286485"/>
              <a:gd name="GluePoint5Y" fmla="*/ 386583 h 621036"/>
              <a:gd name="GluePoint6X" fmla="*/ 715821 w 1286485"/>
              <a:gd name="GluePoint6Y" fmla="*/ 465056 h 621036"/>
              <a:gd name="GluePoint7X" fmla="*/ 372801 w 1286485"/>
              <a:gd name="GluePoint7Y" fmla="*/ 400851 h 621036"/>
              <a:gd name="GluePoint8X" fmla="*/ 65513 w 1286485"/>
              <a:gd name="GluePoint8Y" fmla="*/ 365181 h 621036"/>
              <a:gd name="GluePoint9X" fmla="*/ 1197 w 1286485"/>
              <a:gd name="GluePoint9Y" fmla="*/ 94091 h 621036"/>
              <a:gd name="GluePoint10X" fmla="*/ 108390 w 1286485"/>
              <a:gd name="GluePoint10Y" fmla="*/ 1350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255920" y="3639960"/>
            <a:ext cx="965160" cy="466560"/>
          </a:xfrm>
          <a:custGeom>
            <a:avLst/>
            <a:gdLst>
              <a:gd name="textAreaLeft" fmla="*/ 0 w 965160"/>
              <a:gd name="textAreaRight" fmla="*/ 965520 w 965160"/>
              <a:gd name="textAreaTop" fmla="*/ 0 h 466560"/>
              <a:gd name="textAreaBottom" fmla="*/ 466920 h 466560"/>
              <a:gd name="GluePoint1X" fmla="*/ 108390 w 1286485"/>
              <a:gd name="GluePoint1Y" fmla="*/ 1354 h 621036"/>
              <a:gd name="GluePoint2X" fmla="*/ 515726 w 1286485"/>
              <a:gd name="GluePoint2Y" fmla="*/ 44304 h 621036"/>
              <a:gd name="GluePoint3X" fmla="*/ 794429 w 1286485"/>
              <a:gd name="GluePoint3Y" fmla="*/ 115887 h 621036"/>
              <a:gd name="GluePoint4X" fmla="*/ 951647 w 1286485"/>
              <a:gd name="GluePoint4Y" fmla="*/ 266211 h 621036"/>
              <a:gd name="GluePoint5X" fmla="*/ 930208 w 1286485"/>
              <a:gd name="GluePoint5Y" fmla="*/ 387902 h 621036"/>
              <a:gd name="GluePoint6X" fmla="*/ 715821 w 1286485"/>
              <a:gd name="GluePoint6Y" fmla="*/ 466643 h 621036"/>
              <a:gd name="GluePoint7X" fmla="*/ 372801 w 1286485"/>
              <a:gd name="GluePoint7Y" fmla="*/ 402218 h 621036"/>
              <a:gd name="GluePoint8X" fmla="*/ 65513 w 1286485"/>
              <a:gd name="GluePoint8Y" fmla="*/ 366427 h 621036"/>
              <a:gd name="GluePoint9X" fmla="*/ 1197 w 1286485"/>
              <a:gd name="GluePoint9Y" fmla="*/ 94412 h 621036"/>
              <a:gd name="GluePoint10X" fmla="*/ 108390 w 1286485"/>
              <a:gd name="GluePoint10Y" fmla="*/ 1354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255920" y="4205160"/>
            <a:ext cx="965160" cy="466560"/>
          </a:xfrm>
          <a:custGeom>
            <a:avLst/>
            <a:gdLst>
              <a:gd name="textAreaLeft" fmla="*/ 0 w 965160"/>
              <a:gd name="textAreaRight" fmla="*/ 965520 w 965160"/>
              <a:gd name="textAreaTop" fmla="*/ 0 h 466560"/>
              <a:gd name="textAreaBottom" fmla="*/ 466920 h 466560"/>
              <a:gd name="GluePoint1X" fmla="*/ 108390 w 1286485"/>
              <a:gd name="GluePoint1Y" fmla="*/ 1354 h 621036"/>
              <a:gd name="GluePoint2X" fmla="*/ 515726 w 1286485"/>
              <a:gd name="GluePoint2Y" fmla="*/ 44304 h 621036"/>
              <a:gd name="GluePoint3X" fmla="*/ 794429 w 1286485"/>
              <a:gd name="GluePoint3Y" fmla="*/ 115887 h 621036"/>
              <a:gd name="GluePoint4X" fmla="*/ 951647 w 1286485"/>
              <a:gd name="GluePoint4Y" fmla="*/ 266211 h 621036"/>
              <a:gd name="GluePoint5X" fmla="*/ 930208 w 1286485"/>
              <a:gd name="GluePoint5Y" fmla="*/ 387902 h 621036"/>
              <a:gd name="GluePoint6X" fmla="*/ 715821 w 1286485"/>
              <a:gd name="GluePoint6Y" fmla="*/ 466643 h 621036"/>
              <a:gd name="GluePoint7X" fmla="*/ 372801 w 1286485"/>
              <a:gd name="GluePoint7Y" fmla="*/ 402218 h 621036"/>
              <a:gd name="GluePoint8X" fmla="*/ 65513 w 1286485"/>
              <a:gd name="GluePoint8Y" fmla="*/ 366427 h 621036"/>
              <a:gd name="GluePoint9X" fmla="*/ 1197 w 1286485"/>
              <a:gd name="GluePoint9Y" fmla="*/ 94412 h 621036"/>
              <a:gd name="GluePoint10X" fmla="*/ 108390 w 1286485"/>
              <a:gd name="GluePoint10Y" fmla="*/ 1354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255920" y="4764240"/>
            <a:ext cx="965160" cy="464760"/>
          </a:xfrm>
          <a:custGeom>
            <a:avLst/>
            <a:gdLst>
              <a:gd name="textAreaLeft" fmla="*/ 0 w 965160"/>
              <a:gd name="textAreaRight" fmla="*/ 965520 w 965160"/>
              <a:gd name="textAreaTop" fmla="*/ 0 h 464760"/>
              <a:gd name="textAreaBottom" fmla="*/ 465120 h 464760"/>
              <a:gd name="GluePoint1X" fmla="*/ 108390 w 1286485"/>
              <a:gd name="GluePoint1Y" fmla="*/ 1350 h 621036"/>
              <a:gd name="GluePoint2X" fmla="*/ 515726 w 1286485"/>
              <a:gd name="GluePoint2Y" fmla="*/ 44153 h 621036"/>
              <a:gd name="GluePoint3X" fmla="*/ 794429 w 1286485"/>
              <a:gd name="GluePoint3Y" fmla="*/ 115493 h 621036"/>
              <a:gd name="GluePoint4X" fmla="*/ 951647 w 1286485"/>
              <a:gd name="GluePoint4Y" fmla="*/ 265305 h 621036"/>
              <a:gd name="GluePoint5X" fmla="*/ 930208 w 1286485"/>
              <a:gd name="GluePoint5Y" fmla="*/ 386582 h 621036"/>
              <a:gd name="GluePoint6X" fmla="*/ 715821 w 1286485"/>
              <a:gd name="GluePoint6Y" fmla="*/ 465055 h 621036"/>
              <a:gd name="GluePoint7X" fmla="*/ 372801 w 1286485"/>
              <a:gd name="GluePoint7Y" fmla="*/ 400850 h 621036"/>
              <a:gd name="GluePoint8X" fmla="*/ 65513 w 1286485"/>
              <a:gd name="GluePoint8Y" fmla="*/ 365180 h 621036"/>
              <a:gd name="GluePoint9X" fmla="*/ 1197 w 1286485"/>
              <a:gd name="GluePoint9Y" fmla="*/ 94091 h 621036"/>
              <a:gd name="GluePoint10X" fmla="*/ 108390 w 1286485"/>
              <a:gd name="GluePoint10Y" fmla="*/ 1350 h 62103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86485" h="621036">
                <a:moveTo>
                  <a:pt x="144470" y="1802"/>
                </a:moveTo>
                <a:cubicBezTo>
                  <a:pt x="258770" y="-9310"/>
                  <a:pt x="534995" y="33552"/>
                  <a:pt x="687395" y="58952"/>
                </a:cubicBezTo>
                <a:cubicBezTo>
                  <a:pt x="839795" y="84352"/>
                  <a:pt x="962033" y="104990"/>
                  <a:pt x="1058870" y="154202"/>
                </a:cubicBezTo>
                <a:cubicBezTo>
                  <a:pt x="1155707" y="203414"/>
                  <a:pt x="1238258" y="293902"/>
                  <a:pt x="1268420" y="354227"/>
                </a:cubicBezTo>
                <a:cubicBezTo>
                  <a:pt x="1298582" y="414552"/>
                  <a:pt x="1292232" y="471702"/>
                  <a:pt x="1239845" y="516152"/>
                </a:cubicBezTo>
                <a:cubicBezTo>
                  <a:pt x="1187458" y="560602"/>
                  <a:pt x="1077920" y="617752"/>
                  <a:pt x="954095" y="620927"/>
                </a:cubicBezTo>
                <a:cubicBezTo>
                  <a:pt x="830270" y="624102"/>
                  <a:pt x="641357" y="557427"/>
                  <a:pt x="496895" y="535202"/>
                </a:cubicBezTo>
                <a:cubicBezTo>
                  <a:pt x="352433" y="512977"/>
                  <a:pt x="169870" y="555840"/>
                  <a:pt x="87320" y="487577"/>
                </a:cubicBezTo>
                <a:cubicBezTo>
                  <a:pt x="4770" y="419314"/>
                  <a:pt x="-4755" y="206589"/>
                  <a:pt x="1595" y="125627"/>
                </a:cubicBezTo>
                <a:cubicBezTo>
                  <a:pt x="7945" y="44665"/>
                  <a:pt x="30170" y="12914"/>
                  <a:pt x="144470" y="1802"/>
                </a:cubicBezTo>
                <a:close/>
              </a:path>
            </a:pathLst>
          </a:custGeom>
          <a:solidFill>
            <a:srgbClr val="D9969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693960" y="2536920"/>
            <a:ext cx="71280" cy="2777760"/>
          </a:xfrm>
          <a:custGeom>
            <a:avLst/>
            <a:gdLst>
              <a:gd name="textAreaLeft" fmla="*/ 0 w 71280"/>
              <a:gd name="textAreaRight" fmla="*/ 71640 w 71280"/>
              <a:gd name="textAreaTop" fmla="*/ 0 h 2777760"/>
              <a:gd name="textAreaBottom" fmla="*/ 2778120 h 2777760"/>
              <a:gd name="GluePoint1X" fmla="*/ 0 w 97082"/>
              <a:gd name="GluePoint1Y" fmla="*/ 0 h 3705225"/>
              <a:gd name="GluePoint2X" fmla="*/ 49062 w 97082"/>
              <a:gd name="GluePoint2Y" fmla="*/ 271385 h 3705225"/>
              <a:gd name="GluePoint3X" fmla="*/ 35044 w 97082"/>
              <a:gd name="GluePoint3Y" fmla="*/ 492778 h 3705225"/>
              <a:gd name="GluePoint4X" fmla="*/ 42053 w 97082"/>
              <a:gd name="GluePoint4Y" fmla="*/ 728454 h 3705225"/>
              <a:gd name="GluePoint5X" fmla="*/ 63080 w 97082"/>
              <a:gd name="GluePoint5Y" fmla="*/ 1078398 h 3705225"/>
              <a:gd name="GluePoint6X" fmla="*/ 49062 w 97082"/>
              <a:gd name="GluePoint6Y" fmla="*/ 1306933 h 3705225"/>
              <a:gd name="GluePoint7X" fmla="*/ 63080 w 97082"/>
              <a:gd name="GluePoint7Y" fmla="*/ 1635451 h 3705225"/>
              <a:gd name="GluePoint8X" fmla="*/ 70089 w 97082"/>
              <a:gd name="GluePoint8Y" fmla="*/ 1985395 h 3705225"/>
              <a:gd name="GluePoint9X" fmla="*/ 70089 w 97082"/>
              <a:gd name="GluePoint9Y" fmla="*/ 2299630 h 3705225"/>
              <a:gd name="GluePoint10X" fmla="*/ 56071 w 97082"/>
              <a:gd name="GluePoint10Y" fmla="*/ 2542449 h 3705225"/>
              <a:gd name="GluePoint11X" fmla="*/ 70089 w 97082"/>
              <a:gd name="GluePoint11Y" fmla="*/ 2778125 h 3705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97082" h="3705225">
                <a:moveTo>
                  <a:pt x="0" y="0"/>
                </a:moveTo>
                <a:cubicBezTo>
                  <a:pt x="29369" y="126206"/>
                  <a:pt x="58738" y="252413"/>
                  <a:pt x="66675" y="361950"/>
                </a:cubicBezTo>
                <a:cubicBezTo>
                  <a:pt x="74613" y="471488"/>
                  <a:pt x="49213" y="555625"/>
                  <a:pt x="47625" y="657225"/>
                </a:cubicBezTo>
                <a:cubicBezTo>
                  <a:pt x="46038" y="758825"/>
                  <a:pt x="50800" y="841375"/>
                  <a:pt x="57150" y="971550"/>
                </a:cubicBezTo>
                <a:cubicBezTo>
                  <a:pt x="63500" y="1101725"/>
                  <a:pt x="84138" y="1309688"/>
                  <a:pt x="85725" y="1438275"/>
                </a:cubicBezTo>
                <a:cubicBezTo>
                  <a:pt x="87313" y="1566863"/>
                  <a:pt x="66675" y="1619250"/>
                  <a:pt x="66675" y="1743075"/>
                </a:cubicBezTo>
                <a:cubicBezTo>
                  <a:pt x="66675" y="1866900"/>
                  <a:pt x="80963" y="2030413"/>
                  <a:pt x="85725" y="2181225"/>
                </a:cubicBezTo>
                <a:cubicBezTo>
                  <a:pt x="90487" y="2332037"/>
                  <a:pt x="93663" y="2500313"/>
                  <a:pt x="95250" y="2647950"/>
                </a:cubicBezTo>
                <a:cubicBezTo>
                  <a:pt x="96837" y="2795587"/>
                  <a:pt x="98425" y="2943225"/>
                  <a:pt x="95250" y="3067050"/>
                </a:cubicBezTo>
                <a:cubicBezTo>
                  <a:pt x="92075" y="3190875"/>
                  <a:pt x="76200" y="3284538"/>
                  <a:pt x="76200" y="3390900"/>
                </a:cubicBezTo>
                <a:cubicBezTo>
                  <a:pt x="76200" y="3497262"/>
                  <a:pt x="85725" y="3601243"/>
                  <a:pt x="95250" y="3705225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35640" tIns="46800" rIns="35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743280" y="2543040"/>
            <a:ext cx="72720" cy="2779560"/>
          </a:xfrm>
          <a:custGeom>
            <a:avLst/>
            <a:gdLst>
              <a:gd name="textAreaLeft" fmla="*/ 0 w 72720"/>
              <a:gd name="textAreaRight" fmla="*/ 73080 w 72720"/>
              <a:gd name="textAreaTop" fmla="*/ 0 h 2779560"/>
              <a:gd name="textAreaBottom" fmla="*/ 2779920 h 2779560"/>
              <a:gd name="GluePoint1X" fmla="*/ 0 w 97082"/>
              <a:gd name="GluePoint1Y" fmla="*/ 0 h 3705225"/>
              <a:gd name="GluePoint2X" fmla="*/ 50153 w 97082"/>
              <a:gd name="GluePoint2Y" fmla="*/ 271540 h 3705225"/>
              <a:gd name="GluePoint3X" fmla="*/ 35823 w 97082"/>
              <a:gd name="GluePoint3Y" fmla="*/ 493060 h 3705225"/>
              <a:gd name="GluePoint4X" fmla="*/ 42988 w 97082"/>
              <a:gd name="GluePoint4Y" fmla="*/ 728871 h 3705225"/>
              <a:gd name="GluePoint5X" fmla="*/ 64482 w 97082"/>
              <a:gd name="GluePoint5Y" fmla="*/ 1079015 h 3705225"/>
              <a:gd name="GluePoint6X" fmla="*/ 50153 w 97082"/>
              <a:gd name="GluePoint6Y" fmla="*/ 1307680 h 3705225"/>
              <a:gd name="GluePoint7X" fmla="*/ 64482 w 97082"/>
              <a:gd name="GluePoint7Y" fmla="*/ 1636386 h 3705225"/>
              <a:gd name="GluePoint8X" fmla="*/ 71647 w 97082"/>
              <a:gd name="GluePoint8Y" fmla="*/ 1986530 h 3705225"/>
              <a:gd name="GluePoint9X" fmla="*/ 71647 w 97082"/>
              <a:gd name="GluePoint9Y" fmla="*/ 2300945 h 3705225"/>
              <a:gd name="GluePoint10X" fmla="*/ 57318 w 97082"/>
              <a:gd name="GluePoint10Y" fmla="*/ 2543902 h 3705225"/>
              <a:gd name="GluePoint11X" fmla="*/ 71647 w 97082"/>
              <a:gd name="GluePoint11Y" fmla="*/ 2779713 h 3705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97082" h="3705225">
                <a:moveTo>
                  <a:pt x="0" y="0"/>
                </a:moveTo>
                <a:cubicBezTo>
                  <a:pt x="29369" y="126206"/>
                  <a:pt x="58738" y="252413"/>
                  <a:pt x="66675" y="361950"/>
                </a:cubicBezTo>
                <a:cubicBezTo>
                  <a:pt x="74613" y="471488"/>
                  <a:pt x="49213" y="555625"/>
                  <a:pt x="47625" y="657225"/>
                </a:cubicBezTo>
                <a:cubicBezTo>
                  <a:pt x="46038" y="758825"/>
                  <a:pt x="50800" y="841375"/>
                  <a:pt x="57150" y="971550"/>
                </a:cubicBezTo>
                <a:cubicBezTo>
                  <a:pt x="63500" y="1101725"/>
                  <a:pt x="84138" y="1309688"/>
                  <a:pt x="85725" y="1438275"/>
                </a:cubicBezTo>
                <a:cubicBezTo>
                  <a:pt x="87313" y="1566863"/>
                  <a:pt x="66675" y="1619250"/>
                  <a:pt x="66675" y="1743075"/>
                </a:cubicBezTo>
                <a:cubicBezTo>
                  <a:pt x="66675" y="1866900"/>
                  <a:pt x="80963" y="2030413"/>
                  <a:pt x="85725" y="2181225"/>
                </a:cubicBezTo>
                <a:cubicBezTo>
                  <a:pt x="90487" y="2332037"/>
                  <a:pt x="93663" y="2500313"/>
                  <a:pt x="95250" y="2647950"/>
                </a:cubicBezTo>
                <a:cubicBezTo>
                  <a:pt x="96837" y="2795587"/>
                  <a:pt x="98425" y="2943225"/>
                  <a:pt x="95250" y="3067050"/>
                </a:cubicBezTo>
                <a:cubicBezTo>
                  <a:pt x="92075" y="3190875"/>
                  <a:pt x="76200" y="3284538"/>
                  <a:pt x="76200" y="3390900"/>
                </a:cubicBezTo>
                <a:cubicBezTo>
                  <a:pt x="76200" y="3497262"/>
                  <a:pt x="85725" y="3601243"/>
                  <a:pt x="95250" y="3705225"/>
                </a:cubicBezTo>
              </a:path>
            </a:pathLst>
          </a:custGeom>
          <a:noFill/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36360" tIns="46800" rIns="36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4226040" y="2571840"/>
            <a:ext cx="45720" cy="2714040"/>
          </a:xfrm>
          <a:custGeom>
            <a:avLst/>
            <a:gdLst>
              <a:gd name="textAreaLeft" fmla="*/ 0 w 45720"/>
              <a:gd name="textAreaRight" fmla="*/ 46080 w 45720"/>
              <a:gd name="textAreaTop" fmla="*/ 0 h 2714040"/>
              <a:gd name="textAreaBottom" fmla="*/ 2714400 h 2714040"/>
              <a:gd name="GluePoint1X" fmla="*/ 17691 w 62666"/>
              <a:gd name="GluePoint1Y" fmla="*/ 0 h 3619500"/>
              <a:gd name="GluePoint2X" fmla="*/ 10693 w 62666"/>
              <a:gd name="GluePoint2Y" fmla="*/ 257175 h 3619500"/>
              <a:gd name="GluePoint3X" fmla="*/ 38683 w 62666"/>
              <a:gd name="GluePoint3Y" fmla="*/ 457200 h 3619500"/>
              <a:gd name="GluePoint4X" fmla="*/ 24688 w 62666"/>
              <a:gd name="GluePoint4Y" fmla="*/ 614363 h 3619500"/>
              <a:gd name="GluePoint5X" fmla="*/ 45681 w 62666"/>
              <a:gd name="GluePoint5Y" fmla="*/ 900113 h 3619500"/>
              <a:gd name="GluePoint6X" fmla="*/ 3695 w 62666"/>
              <a:gd name="GluePoint6Y" fmla="*/ 1128713 h 3619500"/>
              <a:gd name="GluePoint7X" fmla="*/ 3695 w 62666"/>
              <a:gd name="GluePoint7Y" fmla="*/ 1385888 h 3619500"/>
              <a:gd name="GluePoint8X" fmla="*/ 17691 w 62666"/>
              <a:gd name="GluePoint8Y" fmla="*/ 1678781 h 3619500"/>
              <a:gd name="GluePoint9X" fmla="*/ 3695 w 62666"/>
              <a:gd name="GluePoint9Y" fmla="*/ 1964531 h 3619500"/>
              <a:gd name="GluePoint10X" fmla="*/ 3695 w 62666"/>
              <a:gd name="GluePoint10Y" fmla="*/ 2228850 h 3619500"/>
              <a:gd name="GluePoint11X" fmla="*/ 38683 w 62666"/>
              <a:gd name="GluePoint11Y" fmla="*/ 2714625 h 3619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62666" h="3619500">
                <a:moveTo>
                  <a:pt x="24080" y="0"/>
                </a:moveTo>
                <a:cubicBezTo>
                  <a:pt x="16936" y="120650"/>
                  <a:pt x="9792" y="241300"/>
                  <a:pt x="14555" y="342900"/>
                </a:cubicBezTo>
                <a:cubicBezTo>
                  <a:pt x="19317" y="444500"/>
                  <a:pt x="49480" y="530225"/>
                  <a:pt x="52655" y="609600"/>
                </a:cubicBezTo>
                <a:cubicBezTo>
                  <a:pt x="55830" y="688975"/>
                  <a:pt x="32018" y="720725"/>
                  <a:pt x="33605" y="819150"/>
                </a:cubicBezTo>
                <a:cubicBezTo>
                  <a:pt x="35193" y="917575"/>
                  <a:pt x="66943" y="1085850"/>
                  <a:pt x="62180" y="1200150"/>
                </a:cubicBezTo>
                <a:cubicBezTo>
                  <a:pt x="57417" y="1314450"/>
                  <a:pt x="14555" y="1397000"/>
                  <a:pt x="5030" y="1504950"/>
                </a:cubicBezTo>
                <a:cubicBezTo>
                  <a:pt x="-4495" y="1612900"/>
                  <a:pt x="1855" y="1725613"/>
                  <a:pt x="5030" y="1847850"/>
                </a:cubicBezTo>
                <a:cubicBezTo>
                  <a:pt x="8205" y="1970087"/>
                  <a:pt x="24080" y="2109788"/>
                  <a:pt x="24080" y="2238375"/>
                </a:cubicBezTo>
                <a:cubicBezTo>
                  <a:pt x="24080" y="2366962"/>
                  <a:pt x="8205" y="2497138"/>
                  <a:pt x="5030" y="2619375"/>
                </a:cubicBezTo>
                <a:cubicBezTo>
                  <a:pt x="1855" y="2741612"/>
                  <a:pt x="-2907" y="2805113"/>
                  <a:pt x="5030" y="2971800"/>
                </a:cubicBezTo>
                <a:cubicBezTo>
                  <a:pt x="12967" y="3138487"/>
                  <a:pt x="32811" y="3378993"/>
                  <a:pt x="52655" y="361950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23040" tIns="46800" rIns="230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189320" y="2585880"/>
            <a:ext cx="47520" cy="2714400"/>
          </a:xfrm>
          <a:custGeom>
            <a:avLst/>
            <a:gdLst>
              <a:gd name="textAreaLeft" fmla="*/ 0 w 47520"/>
              <a:gd name="textAreaRight" fmla="*/ 47880 w 47520"/>
              <a:gd name="textAreaTop" fmla="*/ 0 h 2714400"/>
              <a:gd name="textAreaBottom" fmla="*/ 2714760 h 2714400"/>
              <a:gd name="GluePoint1X" fmla="*/ 18300 w 62666"/>
              <a:gd name="GluePoint1Y" fmla="*/ 0 h 3619500"/>
              <a:gd name="GluePoint2X" fmla="*/ 11062 w 62666"/>
              <a:gd name="GluePoint2Y" fmla="*/ 257175 h 3619500"/>
              <a:gd name="GluePoint3X" fmla="*/ 40017 w 62666"/>
              <a:gd name="GluePoint3Y" fmla="*/ 457200 h 3619500"/>
              <a:gd name="GluePoint4X" fmla="*/ 25539 w 62666"/>
              <a:gd name="GluePoint4Y" fmla="*/ 614363 h 3619500"/>
              <a:gd name="GluePoint5X" fmla="*/ 47256 w 62666"/>
              <a:gd name="GluePoint5Y" fmla="*/ 900113 h 3619500"/>
              <a:gd name="GluePoint6X" fmla="*/ 3823 w 62666"/>
              <a:gd name="GluePoint6Y" fmla="*/ 1128713 h 3619500"/>
              <a:gd name="GluePoint7X" fmla="*/ 3823 w 62666"/>
              <a:gd name="GluePoint7Y" fmla="*/ 1385888 h 3619500"/>
              <a:gd name="GluePoint8X" fmla="*/ 18300 w 62666"/>
              <a:gd name="GluePoint8Y" fmla="*/ 1678781 h 3619500"/>
              <a:gd name="GluePoint9X" fmla="*/ 3823 w 62666"/>
              <a:gd name="GluePoint9Y" fmla="*/ 1964531 h 3619500"/>
              <a:gd name="GluePoint10X" fmla="*/ 3823 w 62666"/>
              <a:gd name="GluePoint10Y" fmla="*/ 2228850 h 3619500"/>
              <a:gd name="GluePoint11X" fmla="*/ 40017 w 62666"/>
              <a:gd name="GluePoint11Y" fmla="*/ 2714625 h 3619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62666" h="3619500">
                <a:moveTo>
                  <a:pt x="24080" y="0"/>
                </a:moveTo>
                <a:cubicBezTo>
                  <a:pt x="16936" y="120650"/>
                  <a:pt x="9792" y="241300"/>
                  <a:pt x="14555" y="342900"/>
                </a:cubicBezTo>
                <a:cubicBezTo>
                  <a:pt x="19317" y="444500"/>
                  <a:pt x="49480" y="530225"/>
                  <a:pt x="52655" y="609600"/>
                </a:cubicBezTo>
                <a:cubicBezTo>
                  <a:pt x="55830" y="688975"/>
                  <a:pt x="32018" y="720725"/>
                  <a:pt x="33605" y="819150"/>
                </a:cubicBezTo>
                <a:cubicBezTo>
                  <a:pt x="35193" y="917575"/>
                  <a:pt x="66943" y="1085850"/>
                  <a:pt x="62180" y="1200150"/>
                </a:cubicBezTo>
                <a:cubicBezTo>
                  <a:pt x="57417" y="1314450"/>
                  <a:pt x="14555" y="1397000"/>
                  <a:pt x="5030" y="1504950"/>
                </a:cubicBezTo>
                <a:cubicBezTo>
                  <a:pt x="-4495" y="1612900"/>
                  <a:pt x="1855" y="1725613"/>
                  <a:pt x="5030" y="1847850"/>
                </a:cubicBezTo>
                <a:cubicBezTo>
                  <a:pt x="8205" y="1970087"/>
                  <a:pt x="24080" y="2109788"/>
                  <a:pt x="24080" y="2238375"/>
                </a:cubicBezTo>
                <a:cubicBezTo>
                  <a:pt x="24080" y="2366962"/>
                  <a:pt x="8205" y="2497138"/>
                  <a:pt x="5030" y="2619375"/>
                </a:cubicBezTo>
                <a:cubicBezTo>
                  <a:pt x="1855" y="2741612"/>
                  <a:pt x="-2907" y="2805113"/>
                  <a:pt x="5030" y="2971800"/>
                </a:cubicBezTo>
                <a:cubicBezTo>
                  <a:pt x="12967" y="3138487"/>
                  <a:pt x="32811" y="3378993"/>
                  <a:pt x="52655" y="3619500"/>
                </a:cubicBezTo>
              </a:path>
            </a:pathLst>
          </a:custGeom>
          <a:noFill/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23760" tIns="46800" rIns="237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851280" y="2571840"/>
            <a:ext cx="134640" cy="2756880"/>
          </a:xfrm>
          <a:custGeom>
            <a:avLst/>
            <a:gdLst>
              <a:gd name="textAreaLeft" fmla="*/ 0 w 134640"/>
              <a:gd name="textAreaRight" fmla="*/ 135000 w 134640"/>
              <a:gd name="textAreaTop" fmla="*/ 0 h 2756880"/>
              <a:gd name="textAreaBottom" fmla="*/ 2757240 h 2756880"/>
              <a:gd name="GluePoint1X" fmla="*/ 0 w 181285"/>
              <a:gd name="GluePoint1Y" fmla="*/ 0 h 3676650"/>
              <a:gd name="GluePoint2X" fmla="*/ 21270 w 181285"/>
              <a:gd name="GluePoint2Y" fmla="*/ 250031 h 3676650"/>
              <a:gd name="GluePoint3X" fmla="*/ 35449 w 181285"/>
              <a:gd name="GluePoint3Y" fmla="*/ 550069 h 3676650"/>
              <a:gd name="GluePoint4X" fmla="*/ 106348 w 181285"/>
              <a:gd name="GluePoint4Y" fmla="*/ 935831 h 3676650"/>
              <a:gd name="GluePoint5X" fmla="*/ 134707 w 181285"/>
              <a:gd name="GluePoint5Y" fmla="*/ 1314450 h 3676650"/>
              <a:gd name="GluePoint6X" fmla="*/ 120528 w 181285"/>
              <a:gd name="GluePoint6Y" fmla="*/ 2207419 h 3676650"/>
              <a:gd name="GluePoint7X" fmla="*/ 134707 w 181285"/>
              <a:gd name="GluePoint7Y" fmla="*/ 2757488 h 3676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81285" h="3676650">
                <a:moveTo>
                  <a:pt x="0" y="0"/>
                </a:moveTo>
                <a:cubicBezTo>
                  <a:pt x="10319" y="105569"/>
                  <a:pt x="20638" y="211138"/>
                  <a:pt x="28575" y="333375"/>
                </a:cubicBezTo>
                <a:cubicBezTo>
                  <a:pt x="36512" y="455612"/>
                  <a:pt x="28575" y="581025"/>
                  <a:pt x="47625" y="733425"/>
                </a:cubicBezTo>
                <a:cubicBezTo>
                  <a:pt x="66675" y="885825"/>
                  <a:pt x="120650" y="1077912"/>
                  <a:pt x="142875" y="1247775"/>
                </a:cubicBezTo>
                <a:cubicBezTo>
                  <a:pt x="165100" y="1417638"/>
                  <a:pt x="177800" y="1470025"/>
                  <a:pt x="180975" y="1752600"/>
                </a:cubicBezTo>
                <a:cubicBezTo>
                  <a:pt x="184150" y="2035175"/>
                  <a:pt x="161925" y="2622550"/>
                  <a:pt x="161925" y="2943225"/>
                </a:cubicBezTo>
                <a:cubicBezTo>
                  <a:pt x="161925" y="3263900"/>
                  <a:pt x="171450" y="3470275"/>
                  <a:pt x="180975" y="3676650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67320" tIns="46800" rIns="6732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014720" y="2593800"/>
            <a:ext cx="99720" cy="2963520"/>
          </a:xfrm>
          <a:custGeom>
            <a:avLst/>
            <a:gdLst>
              <a:gd name="textAreaLeft" fmla="*/ 0 w 99720"/>
              <a:gd name="textAreaRight" fmla="*/ 100080 w 99720"/>
              <a:gd name="textAreaTop" fmla="*/ 0 h 2963520"/>
              <a:gd name="textAreaBottom" fmla="*/ 2963880 h 2963520"/>
              <a:gd name="GluePoint1X" fmla="*/ 78156 w 134535"/>
              <a:gd name="GluePoint1Y" fmla="*/ 0 h 3952875"/>
              <a:gd name="GluePoint2X" fmla="*/ 99399 w 134535"/>
              <a:gd name="GluePoint2Y" fmla="*/ 392801 h 3952875"/>
              <a:gd name="GluePoint3X" fmla="*/ 56914 w 134535"/>
              <a:gd name="GluePoint3Y" fmla="*/ 849879 h 3952875"/>
              <a:gd name="GluePoint4X" fmla="*/ 35672 w 134535"/>
              <a:gd name="GluePoint4Y" fmla="*/ 1214113 h 3952875"/>
              <a:gd name="GluePoint5X" fmla="*/ 21510 w 134535"/>
              <a:gd name="GluePoint5Y" fmla="*/ 1806885 h 3952875"/>
              <a:gd name="GluePoint6X" fmla="*/ 268 w 134535"/>
              <a:gd name="GluePoint6Y" fmla="*/ 2442509 h 3952875"/>
              <a:gd name="GluePoint7X" fmla="*/ 14429 w 134535"/>
              <a:gd name="GluePoint7Y" fmla="*/ 2721040 h 3952875"/>
              <a:gd name="GluePoint8X" fmla="*/ 78156 w 134535"/>
              <a:gd name="GluePoint8Y" fmla="*/ 2963863 h 39528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34535" h="3952875">
                <a:moveTo>
                  <a:pt x="105135" y="0"/>
                </a:moveTo>
                <a:cubicBezTo>
                  <a:pt x="121803" y="167481"/>
                  <a:pt x="138472" y="334963"/>
                  <a:pt x="133710" y="523875"/>
                </a:cubicBezTo>
                <a:cubicBezTo>
                  <a:pt x="128948" y="712787"/>
                  <a:pt x="90848" y="950912"/>
                  <a:pt x="76560" y="1133475"/>
                </a:cubicBezTo>
                <a:cubicBezTo>
                  <a:pt x="62272" y="1316038"/>
                  <a:pt x="55922" y="1406525"/>
                  <a:pt x="47985" y="1619250"/>
                </a:cubicBezTo>
                <a:cubicBezTo>
                  <a:pt x="40047" y="1831975"/>
                  <a:pt x="36872" y="2136775"/>
                  <a:pt x="28935" y="2409825"/>
                </a:cubicBezTo>
                <a:cubicBezTo>
                  <a:pt x="20997" y="2682875"/>
                  <a:pt x="1947" y="3054350"/>
                  <a:pt x="360" y="3257550"/>
                </a:cubicBezTo>
                <a:cubicBezTo>
                  <a:pt x="-1227" y="3460750"/>
                  <a:pt x="1948" y="3513138"/>
                  <a:pt x="19410" y="3629025"/>
                </a:cubicBezTo>
                <a:cubicBezTo>
                  <a:pt x="36872" y="3744912"/>
                  <a:pt x="71003" y="3848893"/>
                  <a:pt x="105135" y="395287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50040" tIns="46800" rIns="500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014720" y="5315040"/>
            <a:ext cx="28440" cy="342360"/>
          </a:xfrm>
          <a:custGeom>
            <a:avLst/>
            <a:gdLst>
              <a:gd name="textAreaLeft" fmla="*/ 0 w 28440"/>
              <a:gd name="textAreaRight" fmla="*/ 28800 w 28440"/>
              <a:gd name="textAreaTop" fmla="*/ 0 h 342360"/>
              <a:gd name="textAreaBottom" fmla="*/ 342720 h 342360"/>
              <a:gd name="GluePoint1X" fmla="*/ 0 w 38100"/>
              <a:gd name="GluePoint1Y" fmla="*/ 0 h 457200"/>
              <a:gd name="GluePoint2X" fmla="*/ 28575 w 38100"/>
              <a:gd name="GluePoint2Y" fmla="*/ 342900 h 457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8100" h="457200">
                <a:moveTo>
                  <a:pt x="0" y="0"/>
                </a:moveTo>
                <a:lnTo>
                  <a:pt x="38100" y="45720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4400" tIns="46800" rIns="144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3943440" y="5278320"/>
            <a:ext cx="36000" cy="428400"/>
          </a:xfrm>
          <a:custGeom>
            <a:avLst/>
            <a:gdLst>
              <a:gd name="textAreaLeft" fmla="*/ 0 w 36000"/>
              <a:gd name="textAreaRight" fmla="*/ 36360 w 36000"/>
              <a:gd name="textAreaTop" fmla="*/ 0 h 428400"/>
              <a:gd name="textAreaBottom" fmla="*/ 428760 h 428400"/>
              <a:gd name="GluePoint1X" fmla="*/ 36513 w 47625"/>
              <a:gd name="GluePoint1Y" fmla="*/ 0 h 571500"/>
              <a:gd name="GluePoint2X" fmla="*/ 0 w 47625"/>
              <a:gd name="GluePoint2Y" fmla="*/ 428625 h 5715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7625" h="571500">
                <a:moveTo>
                  <a:pt x="47625" y="0"/>
                </a:moveTo>
                <a:lnTo>
                  <a:pt x="0" y="57150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8000" tIns="46800" rIns="18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2506680" y="2914560"/>
            <a:ext cx="1369800" cy="250560"/>
          </a:xfrm>
          <a:custGeom>
            <a:avLst/>
            <a:gdLst>
              <a:gd name="textAreaLeft" fmla="*/ 0 w 1369800"/>
              <a:gd name="textAreaRight" fmla="*/ 1370160 w 1369800"/>
              <a:gd name="textAreaTop" fmla="*/ 0 h 250560"/>
              <a:gd name="textAreaBottom" fmla="*/ 250920 h 250560"/>
              <a:gd name="GluePoint1X" fmla="*/ 1357456 w 1826490"/>
              <a:gd name="GluePoint1Y" fmla="*/ 0 h 333375"/>
              <a:gd name="GluePoint2X" fmla="*/ 1300300 w 1826490"/>
              <a:gd name="GluePoint2Y" fmla="*/ 78831 h 333375"/>
              <a:gd name="GluePoint3X" fmla="*/ 821618 w 1826490"/>
              <a:gd name="GluePoint3Y" fmla="*/ 128996 h 333375"/>
              <a:gd name="GluePoint4X" fmla="*/ 0 w 1826490"/>
              <a:gd name="GluePoint4Y" fmla="*/ 250825 h 3333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826490" h="333375">
                <a:moveTo>
                  <a:pt x="1809750" y="0"/>
                </a:moveTo>
                <a:cubicBezTo>
                  <a:pt x="1831181" y="38100"/>
                  <a:pt x="1852613" y="76200"/>
                  <a:pt x="1733550" y="104775"/>
                </a:cubicBezTo>
                <a:cubicBezTo>
                  <a:pt x="1614487" y="133350"/>
                  <a:pt x="1384300" y="133350"/>
                  <a:pt x="1095375" y="171450"/>
                </a:cubicBezTo>
                <a:cubicBezTo>
                  <a:pt x="806450" y="209550"/>
                  <a:pt x="403225" y="271462"/>
                  <a:pt x="0" y="33337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2671920" y="3381480"/>
            <a:ext cx="1271160" cy="234360"/>
          </a:xfrm>
          <a:custGeom>
            <a:avLst/>
            <a:gdLst>
              <a:gd name="textAreaLeft" fmla="*/ 0 w 1271160"/>
              <a:gd name="textAreaRight" fmla="*/ 1271520 w 1271160"/>
              <a:gd name="textAreaTop" fmla="*/ 0 h 234360"/>
              <a:gd name="textAreaBottom" fmla="*/ 234720 h 234360"/>
              <a:gd name="GluePoint1X" fmla="*/ 1271587 w 1695450"/>
              <a:gd name="GluePoint1Y" fmla="*/ 0 h 314325"/>
              <a:gd name="GluePoint2X" fmla="*/ 1071562 w 1695450"/>
              <a:gd name="GluePoint2Y" fmla="*/ 213591 h 314325"/>
              <a:gd name="GluePoint3X" fmla="*/ 514350 w 1695450"/>
              <a:gd name="GluePoint3Y" fmla="*/ 192232 h 314325"/>
              <a:gd name="GluePoint4X" fmla="*/ 0 w 1695450"/>
              <a:gd name="GluePoint4Y" fmla="*/ 234950 h 3143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695450" h="314325">
                <a:moveTo>
                  <a:pt x="1695450" y="0"/>
                </a:moveTo>
                <a:cubicBezTo>
                  <a:pt x="1646237" y="121444"/>
                  <a:pt x="1597025" y="242888"/>
                  <a:pt x="1428750" y="285750"/>
                </a:cubicBezTo>
                <a:cubicBezTo>
                  <a:pt x="1260475" y="328613"/>
                  <a:pt x="923925" y="252413"/>
                  <a:pt x="685800" y="257175"/>
                </a:cubicBezTo>
                <a:cubicBezTo>
                  <a:pt x="447675" y="261938"/>
                  <a:pt x="223837" y="288131"/>
                  <a:pt x="0" y="31432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2743200" y="4586400"/>
            <a:ext cx="1236240" cy="207360"/>
          </a:xfrm>
          <a:custGeom>
            <a:avLst/>
            <a:gdLst>
              <a:gd name="textAreaLeft" fmla="*/ 0 w 1236240"/>
              <a:gd name="textAreaRight" fmla="*/ 1236600 w 1236240"/>
              <a:gd name="textAreaTop" fmla="*/ 0 h 207360"/>
              <a:gd name="textAreaBottom" fmla="*/ 207720 h 207360"/>
              <a:gd name="GluePoint1X" fmla="*/ 1236663 w 1647825"/>
              <a:gd name="GluePoint1Y" fmla="*/ 0 h 276225"/>
              <a:gd name="GluePoint2X" fmla="*/ 929284 w 1647825"/>
              <a:gd name="GluePoint2Y" fmla="*/ 121909 h 276225"/>
              <a:gd name="GluePoint3X" fmla="*/ 214450 w 1647825"/>
              <a:gd name="GluePoint3Y" fmla="*/ 179278 h 276225"/>
              <a:gd name="GluePoint4X" fmla="*/ 0 w 1647825"/>
              <a:gd name="GluePoint4Y" fmla="*/ 207962 h 2762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647825" h="276225">
                <a:moveTo>
                  <a:pt x="1647825" y="0"/>
                </a:moveTo>
                <a:cubicBezTo>
                  <a:pt x="1556543" y="61119"/>
                  <a:pt x="1465262" y="122238"/>
                  <a:pt x="1238250" y="161925"/>
                </a:cubicBezTo>
                <a:cubicBezTo>
                  <a:pt x="1011237" y="201613"/>
                  <a:pt x="492125" y="219075"/>
                  <a:pt x="285750" y="238125"/>
                </a:cubicBezTo>
                <a:cubicBezTo>
                  <a:pt x="79375" y="257175"/>
                  <a:pt x="39687" y="266700"/>
                  <a:pt x="0" y="276225"/>
                </a:cubicBez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2700360" y="3935520"/>
            <a:ext cx="1293480" cy="272520"/>
          </a:xfrm>
          <a:custGeom>
            <a:avLst/>
            <a:gdLst>
              <a:gd name="textAreaLeft" fmla="*/ 0 w 1293480"/>
              <a:gd name="textAreaRight" fmla="*/ 1293840 w 1293480"/>
              <a:gd name="textAreaTop" fmla="*/ 0 h 272520"/>
              <a:gd name="textAreaBottom" fmla="*/ 272880 h 272520"/>
              <a:gd name="GluePoint1X" fmla="*/ 1293812 w 1724025"/>
              <a:gd name="GluePoint1Y" fmla="*/ 0 h 361950"/>
              <a:gd name="GluePoint2X" fmla="*/ 1157997 w 1724025"/>
              <a:gd name="GluePoint2Y" fmla="*/ 165267 h 361950"/>
              <a:gd name="GluePoint3X" fmla="*/ 679073 w 1724025"/>
              <a:gd name="GluePoint3Y" fmla="*/ 215566 h 361950"/>
              <a:gd name="GluePoint4X" fmla="*/ 0 w 1724025"/>
              <a:gd name="GluePoint4Y" fmla="*/ 273050 h 3619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724025" h="361950">
                <a:moveTo>
                  <a:pt x="1724025" y="0"/>
                </a:moveTo>
                <a:cubicBezTo>
                  <a:pt x="1701800" y="85725"/>
                  <a:pt x="1679575" y="171450"/>
                  <a:pt x="1543050" y="219075"/>
                </a:cubicBezTo>
                <a:cubicBezTo>
                  <a:pt x="1406525" y="266700"/>
                  <a:pt x="904875" y="285750"/>
                  <a:pt x="904875" y="285750"/>
                </a:cubicBezTo>
                <a:lnTo>
                  <a:pt x="0" y="361950"/>
                </a:lnTo>
              </a:path>
            </a:pathLst>
          </a:custGeom>
          <a:noFill/>
          <a:ln w="1908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3166920" y="1427040"/>
            <a:ext cx="179964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953735"/>
                </a:solidFill>
                <a:effectLst/>
                <a:uFillTx/>
                <a:latin typeface="Comic Sans MS"/>
                <a:ea typeface="DejaVu Sans"/>
              </a:rPr>
              <a:t>Vertebral column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3413160" y="1785960"/>
            <a:ext cx="123912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Spinal 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1871640" y="2060640"/>
            <a:ext cx="13968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Dura mater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 flipH="1" flipV="1">
            <a:off x="3207960" y="2292480"/>
            <a:ext cx="492120" cy="2570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4420800" y="2133720"/>
            <a:ext cx="2418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C00000"/>
                </a:solidFill>
                <a:effectLst/>
                <a:uFillTx/>
                <a:latin typeface="Comic Sans MS"/>
                <a:ea typeface="DejaVu Sans"/>
              </a:rPr>
              <a:t>Arachnoid membrane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 flipV="1">
            <a:off x="4211640" y="2330280"/>
            <a:ext cx="247680" cy="255600"/>
          </a:xfrm>
          <a:prstGeom prst="line">
            <a:avLst/>
          </a:prstGeom>
          <a:ln w="93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3859200" y="2563920"/>
            <a:ext cx="258480" cy="2810880"/>
          </a:xfrm>
          <a:custGeom>
            <a:avLst/>
            <a:gdLst>
              <a:gd name="textAreaLeft" fmla="*/ 0 w 258480"/>
              <a:gd name="textAreaRight" fmla="*/ 258840 w 258480"/>
              <a:gd name="textAreaTop" fmla="*/ 0 h 2810880"/>
              <a:gd name="textAreaBottom" fmla="*/ 2811240 h 2810880"/>
              <a:gd name="GluePoint1X" fmla="*/ 229174 w 343773"/>
              <a:gd name="GluePoint1Y" fmla="*/ 33347 h 3750089"/>
              <a:gd name="GluePoint2X" fmla="*/ 112211 w 343773"/>
              <a:gd name="GluePoint2Y" fmla="*/ 24386 h 3750089"/>
              <a:gd name="GluePoint3X" fmla="*/ 4246 w 343773"/>
              <a:gd name="GluePoint3Y" fmla="*/ 15424 h 3750089"/>
              <a:gd name="GluePoint4X" fmla="*/ 22240 w 343773"/>
              <a:gd name="GluePoint4Y" fmla="*/ 252896 h 3750089"/>
              <a:gd name="GluePoint5X" fmla="*/ 26739 w 343773"/>
              <a:gd name="GluePoint5Y" fmla="*/ 499329 h 3750089"/>
              <a:gd name="GluePoint6X" fmla="*/ 58228 w 343773"/>
              <a:gd name="GluePoint6Y" fmla="*/ 763683 h 3750089"/>
              <a:gd name="GluePoint7X" fmla="*/ 121208 w 343773"/>
              <a:gd name="GluePoint7Y" fmla="*/ 1032519 h 3750089"/>
              <a:gd name="GluePoint8X" fmla="*/ 134704 w 343773"/>
              <a:gd name="GluePoint8Y" fmla="*/ 1364082 h 3750089"/>
              <a:gd name="GluePoint9X" fmla="*/ 116709 w 343773"/>
              <a:gd name="GluePoint9Y" fmla="*/ 2112341 h 3750089"/>
              <a:gd name="GluePoint10X" fmla="*/ 139203 w 343773"/>
              <a:gd name="GluePoint10Y" fmla="*/ 2753066 h 3750089"/>
              <a:gd name="GluePoint11X" fmla="*/ 166194 w 343773"/>
              <a:gd name="GluePoint11Y" fmla="*/ 2753066 h 3750089"/>
              <a:gd name="GluePoint12X" fmla="*/ 166194 w 343773"/>
              <a:gd name="GluePoint12Y" fmla="*/ 2497672 h 3750089"/>
              <a:gd name="GluePoint13X" fmla="*/ 179690 w 343773"/>
              <a:gd name="GluePoint13Y" fmla="*/ 1879350 h 3750089"/>
              <a:gd name="GluePoint14X" fmla="*/ 197684 w 343773"/>
              <a:gd name="GluePoint14Y" fmla="*/ 1328238 h 3750089"/>
              <a:gd name="GluePoint15X" fmla="*/ 215678 w 343773"/>
              <a:gd name="GluePoint15Y" fmla="*/ 893620 h 3750089"/>
              <a:gd name="GluePoint16X" fmla="*/ 242670 w 343773"/>
              <a:gd name="GluePoint16Y" fmla="*/ 651669 h 3750089"/>
              <a:gd name="GluePoint17X" fmla="*/ 256165 w 343773"/>
              <a:gd name="GluePoint17Y" fmla="*/ 427639 h 3750089"/>
              <a:gd name="GluePoint18X" fmla="*/ 256165 w 343773"/>
              <a:gd name="GluePoint18Y" fmla="*/ 203609 h 3750089"/>
              <a:gd name="GluePoint19X" fmla="*/ 229174 w 343773"/>
              <a:gd name="GluePoint19Y" fmla="*/ 33347 h 37500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343773" h="3750089">
                <a:moveTo>
                  <a:pt x="304464" y="44480"/>
                </a:moveTo>
                <a:cubicBezTo>
                  <a:pt x="272590" y="4637"/>
                  <a:pt x="149076" y="32527"/>
                  <a:pt x="149076" y="32527"/>
                </a:cubicBezTo>
                <a:cubicBezTo>
                  <a:pt x="99272" y="28543"/>
                  <a:pt x="25562" y="-30226"/>
                  <a:pt x="5641" y="20574"/>
                </a:cubicBezTo>
                <a:cubicBezTo>
                  <a:pt x="-14280" y="71374"/>
                  <a:pt x="24567" y="229751"/>
                  <a:pt x="29547" y="337327"/>
                </a:cubicBezTo>
                <a:cubicBezTo>
                  <a:pt x="34527" y="444904"/>
                  <a:pt x="27555" y="552480"/>
                  <a:pt x="35523" y="666033"/>
                </a:cubicBezTo>
                <a:cubicBezTo>
                  <a:pt x="43491" y="779586"/>
                  <a:pt x="56440" y="900111"/>
                  <a:pt x="77358" y="1018644"/>
                </a:cubicBezTo>
                <a:cubicBezTo>
                  <a:pt x="98276" y="1137177"/>
                  <a:pt x="144096" y="1243759"/>
                  <a:pt x="161029" y="1377233"/>
                </a:cubicBezTo>
                <a:cubicBezTo>
                  <a:pt x="177962" y="1510707"/>
                  <a:pt x="179954" y="1579436"/>
                  <a:pt x="178958" y="1819491"/>
                </a:cubicBezTo>
                <a:cubicBezTo>
                  <a:pt x="177962" y="2059546"/>
                  <a:pt x="154056" y="2508778"/>
                  <a:pt x="155052" y="2817562"/>
                </a:cubicBezTo>
                <a:cubicBezTo>
                  <a:pt x="156048" y="3126346"/>
                  <a:pt x="173978" y="3529758"/>
                  <a:pt x="184935" y="3672197"/>
                </a:cubicBezTo>
                <a:cubicBezTo>
                  <a:pt x="195892" y="3814636"/>
                  <a:pt x="214818" y="3728973"/>
                  <a:pt x="220794" y="3672197"/>
                </a:cubicBezTo>
                <a:cubicBezTo>
                  <a:pt x="226770" y="3615421"/>
                  <a:pt x="217806" y="3525773"/>
                  <a:pt x="220794" y="3331538"/>
                </a:cubicBezTo>
                <a:cubicBezTo>
                  <a:pt x="223782" y="3137303"/>
                  <a:pt x="231751" y="2766761"/>
                  <a:pt x="238723" y="2506785"/>
                </a:cubicBezTo>
                <a:cubicBezTo>
                  <a:pt x="245695" y="2246809"/>
                  <a:pt x="254660" y="1990817"/>
                  <a:pt x="262629" y="1771680"/>
                </a:cubicBezTo>
                <a:cubicBezTo>
                  <a:pt x="270598" y="1552543"/>
                  <a:pt x="276574" y="1342370"/>
                  <a:pt x="286535" y="1191962"/>
                </a:cubicBezTo>
                <a:cubicBezTo>
                  <a:pt x="296496" y="1041554"/>
                  <a:pt x="313429" y="972825"/>
                  <a:pt x="322394" y="869233"/>
                </a:cubicBezTo>
                <a:cubicBezTo>
                  <a:pt x="331359" y="765641"/>
                  <a:pt x="337335" y="670017"/>
                  <a:pt x="340323" y="570409"/>
                </a:cubicBezTo>
                <a:cubicBezTo>
                  <a:pt x="343311" y="470801"/>
                  <a:pt x="346299" y="354259"/>
                  <a:pt x="340323" y="271585"/>
                </a:cubicBezTo>
                <a:cubicBezTo>
                  <a:pt x="334347" y="188911"/>
                  <a:pt x="336338" y="84323"/>
                  <a:pt x="304464" y="44480"/>
                </a:cubicBezTo>
                <a:close/>
              </a:path>
            </a:pathLst>
          </a:custGeom>
          <a:solidFill>
            <a:srgbClr val="0000FF"/>
          </a:solidFill>
          <a:ln w="2556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3917880" y="2184480"/>
            <a:ext cx="39600" cy="369720"/>
          </a:xfrm>
          <a:prstGeom prst="line">
            <a:avLst/>
          </a:prstGeom>
          <a:ln w="93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9800" tIns="46800" rIns="198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4091040" y="5299200"/>
            <a:ext cx="6152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C000"/>
                </a:solidFill>
                <a:effectLst/>
                <a:uFillTx/>
                <a:latin typeface="Comic Sans MS"/>
                <a:ea typeface="DejaVu Sans"/>
              </a:rPr>
              <a:t>CSF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987560" y="2622600"/>
            <a:ext cx="16916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Lumbar 2 = L2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3263760" y="3166920"/>
            <a:ext cx="4456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3257640" y="3738600"/>
            <a:ext cx="4456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279600" y="4302000"/>
            <a:ext cx="4456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5276520" y="2871720"/>
            <a:ext cx="114336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C00000"/>
                </a:solidFill>
                <a:effectLst/>
                <a:uFillTx/>
                <a:latin typeface="Comic Sans MS"/>
                <a:ea typeface="DejaVu Sans"/>
              </a:rPr>
              <a:t>Subarachnoid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C00000"/>
                </a:solidFill>
                <a:effectLst/>
                <a:uFillTx/>
                <a:latin typeface="Comic Sans MS"/>
                <a:ea typeface="DejaVu Sans"/>
              </a:rPr>
              <a:t>space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160880" y="3008160"/>
            <a:ext cx="1144440" cy="101880"/>
          </a:xfrm>
          <a:prstGeom prst="line">
            <a:avLst/>
          </a:prstGeom>
          <a:ln w="9360">
            <a:solidFill>
              <a:srgbClr val="C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265400" y="3821040"/>
            <a:ext cx="15951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Spinal nerves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2666880" y="5442120"/>
            <a:ext cx="12729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Filum terminale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 flipH="1" flipV="1">
            <a:off x="4146480" y="4040280"/>
            <a:ext cx="1222560" cy="23472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4240080" y="2722680"/>
            <a:ext cx="137880" cy="2549160"/>
          </a:xfrm>
          <a:custGeom>
            <a:avLst/>
            <a:gdLst>
              <a:gd name="textAreaLeft" fmla="*/ 0 w 137880"/>
              <a:gd name="textAreaRight" fmla="*/ 138240 w 137880"/>
              <a:gd name="textAreaTop" fmla="*/ 0 h 2549160"/>
              <a:gd name="textAreaBottom" fmla="*/ 2549520 h 2549160"/>
              <a:gd name="GluePoint1X" fmla="*/ 0 w 183319"/>
              <a:gd name="GluePoint1Y" fmla="*/ 0 h 3400396"/>
              <a:gd name="GluePoint2X" fmla="*/ 40524 w 183319"/>
              <a:gd name="GluePoint2Y" fmla="*/ 156835 h 3400396"/>
              <a:gd name="GluePoint3X" fmla="*/ 76545 w 183319"/>
              <a:gd name="GluePoint3Y" fmla="*/ 277822 h 3400396"/>
              <a:gd name="GluePoint4X" fmla="*/ 85550 w 183319"/>
              <a:gd name="GluePoint4Y" fmla="*/ 371923 h 3400396"/>
              <a:gd name="GluePoint5X" fmla="*/ 36021 w 183319"/>
              <a:gd name="GluePoint5Y" fmla="*/ 430175 h 3400396"/>
              <a:gd name="GluePoint6X" fmla="*/ 49529 w 183319"/>
              <a:gd name="GluePoint6Y" fmla="*/ 573567 h 3400396"/>
              <a:gd name="GluePoint7X" fmla="*/ 54032 w 183319"/>
              <a:gd name="GluePoint7Y" fmla="*/ 645264 h 3400396"/>
              <a:gd name="GluePoint8X" fmla="*/ 81048 w 183319"/>
              <a:gd name="GluePoint8Y" fmla="*/ 703516 h 3400396"/>
              <a:gd name="GluePoint9X" fmla="*/ 99059 w 183319"/>
              <a:gd name="GluePoint9Y" fmla="*/ 806579 h 3400396"/>
              <a:gd name="GluePoint10X" fmla="*/ 81048 w 183319"/>
              <a:gd name="GluePoint10Y" fmla="*/ 905161 h 3400396"/>
              <a:gd name="GluePoint11X" fmla="*/ 27016 w 183319"/>
              <a:gd name="GluePoint11Y" fmla="*/ 985819 h 3400396"/>
              <a:gd name="GluePoint12X" fmla="*/ 13508 w 183319"/>
              <a:gd name="GluePoint12Y" fmla="*/ 1129211 h 3400396"/>
              <a:gd name="GluePoint13X" fmla="*/ 58534 w 183319"/>
              <a:gd name="GluePoint13Y" fmla="*/ 1263640 h 3400396"/>
              <a:gd name="GluePoint14X" fmla="*/ 90054 w 183319"/>
              <a:gd name="GluePoint14Y" fmla="*/ 1344299 h 3400396"/>
              <a:gd name="GluePoint15X" fmla="*/ 90054 w 183319"/>
              <a:gd name="GluePoint15Y" fmla="*/ 1398071 h 3400396"/>
              <a:gd name="GluePoint16X" fmla="*/ 54032 w 183319"/>
              <a:gd name="GluePoint16Y" fmla="*/ 1505615 h 3400396"/>
              <a:gd name="GluePoint17X" fmla="*/ 27016 w 183319"/>
              <a:gd name="GluePoint17Y" fmla="*/ 1599716 h 3400396"/>
              <a:gd name="GluePoint18X" fmla="*/ 40524 w 183319"/>
              <a:gd name="GluePoint18Y" fmla="*/ 1787918 h 3400396"/>
              <a:gd name="GluePoint19X" fmla="*/ 58534 w 183319"/>
              <a:gd name="GluePoint19Y" fmla="*/ 1846170 h 3400396"/>
              <a:gd name="GluePoint20X" fmla="*/ 67540 w 183319"/>
              <a:gd name="GluePoint20Y" fmla="*/ 1994043 h 3400396"/>
              <a:gd name="GluePoint21X" fmla="*/ 58534 w 183319"/>
              <a:gd name="GluePoint21Y" fmla="*/ 2052296 h 3400396"/>
              <a:gd name="GluePoint22X" fmla="*/ 27016 w 183319"/>
              <a:gd name="GluePoint22Y" fmla="*/ 2132954 h 3400396"/>
              <a:gd name="GluePoint23X" fmla="*/ 31518 w 183319"/>
              <a:gd name="GluePoint23Y" fmla="*/ 2370447 h 3400396"/>
              <a:gd name="GluePoint24X" fmla="*/ 103561 w 183319"/>
              <a:gd name="GluePoint24Y" fmla="*/ 2486953 h 3400396"/>
              <a:gd name="GluePoint25X" fmla="*/ 135080 w 183319"/>
              <a:gd name="GluePoint25Y" fmla="*/ 2545206 h 3400396"/>
              <a:gd name="GluePoint26X" fmla="*/ 135080 w 183319"/>
              <a:gd name="GluePoint26Y" fmla="*/ 2540725 h 34003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</a:cxnLst>
            <a:rect l="textAreaLeft" t="textAreaTop" r="textAreaRight" b="textAreaBottom"/>
            <a:pathLst>
              <a:path w="183319" h="3400396">
                <a:moveTo>
                  <a:pt x="0" y="0"/>
                </a:moveTo>
                <a:cubicBezTo>
                  <a:pt x="18427" y="73709"/>
                  <a:pt x="36855" y="147419"/>
                  <a:pt x="53788" y="209176"/>
                </a:cubicBezTo>
                <a:cubicBezTo>
                  <a:pt x="70721" y="270933"/>
                  <a:pt x="91639" y="322729"/>
                  <a:pt x="101600" y="370541"/>
                </a:cubicBezTo>
                <a:cubicBezTo>
                  <a:pt x="111561" y="418353"/>
                  <a:pt x="122518" y="462180"/>
                  <a:pt x="113553" y="496047"/>
                </a:cubicBezTo>
                <a:cubicBezTo>
                  <a:pt x="104588" y="529914"/>
                  <a:pt x="55781" y="528917"/>
                  <a:pt x="47812" y="573741"/>
                </a:cubicBezTo>
                <a:cubicBezTo>
                  <a:pt x="39843" y="618565"/>
                  <a:pt x="61757" y="717176"/>
                  <a:pt x="65741" y="764988"/>
                </a:cubicBezTo>
                <a:cubicBezTo>
                  <a:pt x="69725" y="812800"/>
                  <a:pt x="64745" y="831726"/>
                  <a:pt x="71718" y="860612"/>
                </a:cubicBezTo>
                <a:cubicBezTo>
                  <a:pt x="78691" y="889498"/>
                  <a:pt x="97616" y="902448"/>
                  <a:pt x="107577" y="938306"/>
                </a:cubicBezTo>
                <a:cubicBezTo>
                  <a:pt x="117538" y="974164"/>
                  <a:pt x="131483" y="1030941"/>
                  <a:pt x="131483" y="1075764"/>
                </a:cubicBezTo>
                <a:cubicBezTo>
                  <a:pt x="131483" y="1120587"/>
                  <a:pt x="123514" y="1167404"/>
                  <a:pt x="107577" y="1207247"/>
                </a:cubicBezTo>
                <a:cubicBezTo>
                  <a:pt x="91640" y="1247090"/>
                  <a:pt x="50800" y="1265019"/>
                  <a:pt x="35859" y="1314823"/>
                </a:cubicBezTo>
                <a:cubicBezTo>
                  <a:pt x="20918" y="1364627"/>
                  <a:pt x="10958" y="1444313"/>
                  <a:pt x="17930" y="1506070"/>
                </a:cubicBezTo>
                <a:cubicBezTo>
                  <a:pt x="24902" y="1567827"/>
                  <a:pt x="60761" y="1637552"/>
                  <a:pt x="77694" y="1685364"/>
                </a:cubicBezTo>
                <a:cubicBezTo>
                  <a:pt x="94627" y="1733176"/>
                  <a:pt x="112557" y="1763059"/>
                  <a:pt x="119530" y="1792941"/>
                </a:cubicBezTo>
                <a:cubicBezTo>
                  <a:pt x="126503" y="1822823"/>
                  <a:pt x="127499" y="1828800"/>
                  <a:pt x="119530" y="1864659"/>
                </a:cubicBezTo>
                <a:cubicBezTo>
                  <a:pt x="111561" y="1900518"/>
                  <a:pt x="85663" y="1963270"/>
                  <a:pt x="71718" y="2008094"/>
                </a:cubicBezTo>
                <a:cubicBezTo>
                  <a:pt x="57773" y="2052918"/>
                  <a:pt x="38847" y="2070847"/>
                  <a:pt x="35859" y="2133600"/>
                </a:cubicBezTo>
                <a:cubicBezTo>
                  <a:pt x="32871" y="2196353"/>
                  <a:pt x="46816" y="2329828"/>
                  <a:pt x="53788" y="2384612"/>
                </a:cubicBezTo>
                <a:cubicBezTo>
                  <a:pt x="60761" y="2439396"/>
                  <a:pt x="71717" y="2416486"/>
                  <a:pt x="77694" y="2462306"/>
                </a:cubicBezTo>
                <a:cubicBezTo>
                  <a:pt x="83671" y="2508126"/>
                  <a:pt x="89647" y="2613710"/>
                  <a:pt x="89647" y="2659529"/>
                </a:cubicBezTo>
                <a:cubicBezTo>
                  <a:pt x="89647" y="2705348"/>
                  <a:pt x="86659" y="2706345"/>
                  <a:pt x="77694" y="2737223"/>
                </a:cubicBezTo>
                <a:cubicBezTo>
                  <a:pt x="68729" y="2768102"/>
                  <a:pt x="41836" y="2774078"/>
                  <a:pt x="35859" y="2844800"/>
                </a:cubicBezTo>
                <a:cubicBezTo>
                  <a:pt x="29883" y="2915522"/>
                  <a:pt x="24902" y="3082863"/>
                  <a:pt x="41835" y="3161553"/>
                </a:cubicBezTo>
                <a:cubicBezTo>
                  <a:pt x="58768" y="3240243"/>
                  <a:pt x="114549" y="3278094"/>
                  <a:pt x="137459" y="3316941"/>
                </a:cubicBezTo>
                <a:cubicBezTo>
                  <a:pt x="160369" y="3355788"/>
                  <a:pt x="172322" y="3382682"/>
                  <a:pt x="179294" y="3394635"/>
                </a:cubicBezTo>
                <a:cubicBezTo>
                  <a:pt x="186266" y="3406588"/>
                  <a:pt x="182780" y="3397623"/>
                  <a:pt x="179294" y="3388659"/>
                </a:cubicBez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69120" tIns="46800" rIns="6912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666960" y="2592360"/>
            <a:ext cx="61560" cy="2781000"/>
          </a:xfrm>
          <a:custGeom>
            <a:avLst/>
            <a:gdLst>
              <a:gd name="textAreaLeft" fmla="*/ 0 w 61560"/>
              <a:gd name="textAreaRight" fmla="*/ 61920 w 61560"/>
              <a:gd name="textAreaTop" fmla="*/ 0 h 2781000"/>
              <a:gd name="textAreaBottom" fmla="*/ 2781360 h 2781000"/>
              <a:gd name="GluePoint1X" fmla="*/ 0 w 83862"/>
              <a:gd name="GluePoint1Y" fmla="*/ 0 h 3708162"/>
              <a:gd name="GluePoint2X" fmla="*/ 48535 w 83862"/>
              <a:gd name="GluePoint2Y" fmla="*/ 170340 h 3708162"/>
              <a:gd name="GluePoint3X" fmla="*/ 13236 w 83862"/>
              <a:gd name="GluePoint3Y" fmla="*/ 448264 h 3708162"/>
              <a:gd name="GluePoint4X" fmla="*/ 8825 w 83862"/>
              <a:gd name="GluePoint4Y" fmla="*/ 524469 h 3708162"/>
              <a:gd name="GluePoint5X" fmla="*/ 30886 w 83862"/>
              <a:gd name="GluePoint5Y" fmla="*/ 645500 h 3708162"/>
              <a:gd name="GluePoint6X" fmla="*/ 61772 w 83862"/>
              <a:gd name="GluePoint6Y" fmla="*/ 932389 h 3708162"/>
              <a:gd name="GluePoint7X" fmla="*/ 17649 w 83862"/>
              <a:gd name="GluePoint7Y" fmla="*/ 1089281 h 3708162"/>
              <a:gd name="GluePoint8X" fmla="*/ 35298 w 83862"/>
              <a:gd name="GluePoint8Y" fmla="*/ 1178935 h 3708162"/>
              <a:gd name="GluePoint9X" fmla="*/ 57359 w 83862"/>
              <a:gd name="GluePoint9Y" fmla="*/ 1358240 h 3708162"/>
              <a:gd name="GluePoint10X" fmla="*/ 26474 w 83862"/>
              <a:gd name="GluePoint10Y" fmla="*/ 1537546 h 3708162"/>
              <a:gd name="GluePoint11X" fmla="*/ 17649 w 83862"/>
              <a:gd name="GluePoint11Y" fmla="*/ 1600303 h 3708162"/>
              <a:gd name="GluePoint12X" fmla="*/ 35298 w 83862"/>
              <a:gd name="GluePoint12Y" fmla="*/ 1775125 h 3708162"/>
              <a:gd name="GluePoint13X" fmla="*/ 52947 w 83862"/>
              <a:gd name="GluePoint13Y" fmla="*/ 1967880 h 3708162"/>
              <a:gd name="GluePoint14X" fmla="*/ 35298 w 83862"/>
              <a:gd name="GluePoint14Y" fmla="*/ 2088910 h 3708162"/>
              <a:gd name="GluePoint15X" fmla="*/ 8825 w 83862"/>
              <a:gd name="GluePoint15Y" fmla="*/ 2160633 h 3708162"/>
              <a:gd name="GluePoint16X" fmla="*/ 22061 w 83862"/>
              <a:gd name="GluePoint16Y" fmla="*/ 2277181 h 3708162"/>
              <a:gd name="GluePoint17X" fmla="*/ 44123 w 83862"/>
              <a:gd name="GluePoint17Y" fmla="*/ 2389248 h 3708162"/>
              <a:gd name="GluePoint18X" fmla="*/ 35298 w 83862"/>
              <a:gd name="GluePoint18Y" fmla="*/ 2747859 h 3708162"/>
              <a:gd name="GluePoint19X" fmla="*/ 22061 w 83862"/>
              <a:gd name="GluePoint19Y" fmla="*/ 2765789 h 3708162"/>
              <a:gd name="GluePoint20X" fmla="*/ 22061 w 83862"/>
              <a:gd name="GluePoint20Y" fmla="*/ 2765789 h 370816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83862" h="3708162">
                <a:moveTo>
                  <a:pt x="0" y="0"/>
                </a:moveTo>
                <a:cubicBezTo>
                  <a:pt x="31376" y="63749"/>
                  <a:pt x="62753" y="127498"/>
                  <a:pt x="65741" y="227106"/>
                </a:cubicBezTo>
                <a:cubicBezTo>
                  <a:pt x="68729" y="326714"/>
                  <a:pt x="26894" y="518957"/>
                  <a:pt x="17929" y="597647"/>
                </a:cubicBezTo>
                <a:cubicBezTo>
                  <a:pt x="8964" y="676337"/>
                  <a:pt x="7969" y="655420"/>
                  <a:pt x="11953" y="699247"/>
                </a:cubicBezTo>
                <a:cubicBezTo>
                  <a:pt x="15937" y="743075"/>
                  <a:pt x="29882" y="769969"/>
                  <a:pt x="41835" y="860612"/>
                </a:cubicBezTo>
                <a:cubicBezTo>
                  <a:pt x="53788" y="951255"/>
                  <a:pt x="86659" y="1144494"/>
                  <a:pt x="83671" y="1243106"/>
                </a:cubicBezTo>
                <a:cubicBezTo>
                  <a:pt x="80683" y="1341718"/>
                  <a:pt x="29883" y="1397498"/>
                  <a:pt x="23906" y="1452282"/>
                </a:cubicBezTo>
                <a:cubicBezTo>
                  <a:pt x="17930" y="1507066"/>
                  <a:pt x="38847" y="1512047"/>
                  <a:pt x="47812" y="1571812"/>
                </a:cubicBezTo>
                <a:cubicBezTo>
                  <a:pt x="56777" y="1631577"/>
                  <a:pt x="79686" y="1731185"/>
                  <a:pt x="77694" y="1810871"/>
                </a:cubicBezTo>
                <a:cubicBezTo>
                  <a:pt x="75702" y="1890557"/>
                  <a:pt x="44824" y="1996142"/>
                  <a:pt x="35859" y="2049930"/>
                </a:cubicBezTo>
                <a:cubicBezTo>
                  <a:pt x="26894" y="2103718"/>
                  <a:pt x="21914" y="2080808"/>
                  <a:pt x="23906" y="2133600"/>
                </a:cubicBezTo>
                <a:cubicBezTo>
                  <a:pt x="25898" y="2186392"/>
                  <a:pt x="39843" y="2285004"/>
                  <a:pt x="47812" y="2366682"/>
                </a:cubicBezTo>
                <a:cubicBezTo>
                  <a:pt x="55781" y="2448360"/>
                  <a:pt x="71718" y="2553946"/>
                  <a:pt x="71718" y="2623671"/>
                </a:cubicBezTo>
                <a:cubicBezTo>
                  <a:pt x="71718" y="2693396"/>
                  <a:pt x="57773" y="2742204"/>
                  <a:pt x="47812" y="2785035"/>
                </a:cubicBezTo>
                <a:cubicBezTo>
                  <a:pt x="37851" y="2827866"/>
                  <a:pt x="14941" y="2838824"/>
                  <a:pt x="11953" y="2880659"/>
                </a:cubicBezTo>
                <a:cubicBezTo>
                  <a:pt x="8965" y="2922494"/>
                  <a:pt x="21913" y="2985247"/>
                  <a:pt x="29882" y="3036047"/>
                </a:cubicBezTo>
                <a:cubicBezTo>
                  <a:pt x="37851" y="3086847"/>
                  <a:pt x="56777" y="3080871"/>
                  <a:pt x="59765" y="3185459"/>
                </a:cubicBezTo>
                <a:cubicBezTo>
                  <a:pt x="62753" y="3290047"/>
                  <a:pt x="47812" y="3663577"/>
                  <a:pt x="47812" y="3663577"/>
                </a:cubicBezTo>
                <a:cubicBezTo>
                  <a:pt x="42832" y="3747248"/>
                  <a:pt x="29882" y="3687482"/>
                  <a:pt x="29882" y="3687482"/>
                </a:cubicBezTo>
                <a:lnTo>
                  <a:pt x="29882" y="3687482"/>
                </a:ln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30960" tIns="46800" rIns="309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629040" y="3736800"/>
            <a:ext cx="183852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Epidural injection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489720" y="4268880"/>
            <a:ext cx="2166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Intrathecal injection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6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Spinal anaesthesia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"/>
          <p:cNvGraphicFramePr/>
          <p:nvPr/>
        </p:nvGraphicFramePr>
        <p:xfrm>
          <a:off x="1170360" y="721800"/>
          <a:ext cx="6516360" cy="5153760"/>
        </p:xfrm>
        <a:graphic>
          <a:graphicData uri="http://schemas.openxmlformats.org/drawingml/2006/table">
            <a:tbl>
              <a:tblPr/>
              <a:tblGrid>
                <a:gridCol w="1791720"/>
                <a:gridCol w="1466640"/>
                <a:gridCol w="1629000"/>
                <a:gridCol w="1629360"/>
              </a:tblGrid>
              <a:tr h="91692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Local Anaesthetic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Ester (E) or Amide (A) linkage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Use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Duration of Action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43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64260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Not used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Short (&lt;30min)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432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3682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Procaine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 - 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Short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92340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Lignocaine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(Lidocaine)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- 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Intermediate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(2-3 hr)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64260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Prilocaine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 - 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Intermediate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92340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Amethocaine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(Tetracaine)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Long (&gt;3hrs)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3682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Bupivacaine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c, 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368280"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Benzocaine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tIns="46800" rIns="900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6"/>
                        </a:spcBef>
                        <a:spcAft>
                          <a:spcPts val="26"/>
                        </a:spcAft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  <a:tab pos="10515600" algn="l"/>
                        </a:tabLst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Long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6800" marB="46800">
                    <a:lnL w="1440">
                      <a:solidFill>
                        <a:srgbClr val="FFFFFF"/>
                      </a:solidFill>
                      <a:prstDash val="solid"/>
                    </a:lnL>
                    <a:lnR w="1440">
                      <a:solidFill>
                        <a:srgbClr val="FFFFFF"/>
                      </a:solidFill>
                      <a:prstDash val="solid"/>
                    </a:lnR>
                    <a:lnT w="1440">
                      <a:solidFill>
                        <a:srgbClr val="FFFFFF"/>
                      </a:solidFill>
                      <a:prstDash val="solid"/>
                    </a:lnT>
                    <a:lnB w="14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253" name=""/>
          <p:cNvSpPr/>
          <p:nvPr/>
        </p:nvSpPr>
        <p:spPr>
          <a:xfrm>
            <a:off x="3195720" y="87480"/>
            <a:ext cx="28702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DejaVu Sans"/>
              </a:rPr>
              <a:t>Local Anaesthetics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092600" y="6400800"/>
            <a:ext cx="6774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– Topical,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 Infiltration,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-  Peripheral block,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– Central block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"/>
          <p:cNvPicPr/>
          <p:nvPr/>
        </p:nvPicPr>
        <p:blipFill>
          <a:blip r:embed="rId1"/>
          <a:stretch/>
        </p:blipFill>
        <p:spPr>
          <a:xfrm>
            <a:off x="1517760" y="2120760"/>
            <a:ext cx="6168600" cy="14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"/>
          <p:cNvGrpSpPr/>
          <p:nvPr/>
        </p:nvGrpSpPr>
        <p:grpSpPr>
          <a:xfrm>
            <a:off x="5364360" y="2565360"/>
            <a:ext cx="1539720" cy="1376640"/>
            <a:chOff x="5364360" y="2565360"/>
            <a:chExt cx="1539720" cy="1376640"/>
          </a:xfrm>
        </p:grpSpPr>
        <p:sp>
          <p:nvSpPr>
            <p:cNvPr id="257" name=""/>
            <p:cNvSpPr/>
            <p:nvPr/>
          </p:nvSpPr>
          <p:spPr>
            <a:xfrm rot="2040000">
              <a:off x="5931720" y="2939040"/>
              <a:ext cx="212040" cy="1031400"/>
            </a:xfrm>
            <a:prstGeom prst="can">
              <a:avLst>
                <a:gd name="adj" fmla="val 4995"/>
              </a:avLst>
            </a:prstGeom>
            <a:solidFill>
              <a:srgbClr val="92D050"/>
            </a:solidFill>
            <a:ln w="25560">
              <a:solidFill>
                <a:srgbClr val="92D05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5364360" y="2565360"/>
              <a:ext cx="1539720" cy="36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Transmission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9" name=""/>
          <p:cNvSpPr/>
          <p:nvPr/>
        </p:nvSpPr>
        <p:spPr>
          <a:xfrm>
            <a:off x="6301800" y="3348000"/>
            <a:ext cx="1933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Voluntary 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743280" y="457200"/>
            <a:ext cx="11080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PLAN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1" name=""/>
          <p:cNvGrpSpPr/>
          <p:nvPr/>
        </p:nvGrpSpPr>
        <p:grpSpPr>
          <a:xfrm>
            <a:off x="699840" y="1630440"/>
            <a:ext cx="4995720" cy="3018960"/>
            <a:chOff x="699840" y="1630440"/>
            <a:chExt cx="4995720" cy="3018960"/>
          </a:xfrm>
        </p:grpSpPr>
        <p:grpSp>
          <p:nvGrpSpPr>
            <p:cNvPr id="262" name=""/>
            <p:cNvGrpSpPr/>
            <p:nvPr/>
          </p:nvGrpSpPr>
          <p:grpSpPr>
            <a:xfrm>
              <a:off x="1260360" y="2608200"/>
              <a:ext cx="4435200" cy="2041200"/>
              <a:chOff x="1260360" y="2608200"/>
              <a:chExt cx="4435200" cy="2041200"/>
            </a:xfrm>
          </p:grpSpPr>
          <p:sp>
            <p:nvSpPr>
              <p:cNvPr id="263" name=""/>
              <p:cNvSpPr/>
              <p:nvPr/>
            </p:nvSpPr>
            <p:spPr>
              <a:xfrm rot="5400000">
                <a:off x="2026440" y="3264480"/>
                <a:ext cx="428400" cy="356760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>
                <a:off x="1260360" y="2608200"/>
                <a:ext cx="807840" cy="657000"/>
              </a:xfrm>
              <a:custGeom>
                <a:avLst/>
                <a:gdLst>
                  <a:gd name="textAreaLeft" fmla="*/ 0 w 807840"/>
                  <a:gd name="textAreaRight" fmla="*/ 808200 w 807840"/>
                  <a:gd name="textAreaTop" fmla="*/ 0 h 657000"/>
                  <a:gd name="textAreaBottom" fmla="*/ 657360 h 657000"/>
                  <a:gd name="GluePoint1X" fmla="*/ 0 w 811033"/>
                  <a:gd name="GluePoint1Y" fmla="*/ 0 h 659958"/>
                  <a:gd name="GluePoint2X" fmla="*/ 636359 w 811033"/>
                  <a:gd name="GluePoint2Y" fmla="*/ 246707 h 659958"/>
                  <a:gd name="GluePoint3X" fmla="*/ 811358 w 811033"/>
                  <a:gd name="GluePoint3Y" fmla="*/ 660540 h 659958"/>
                  <a:gd name="GluePoint4X" fmla="*/ 811358 w 811033"/>
                  <a:gd name="GluePoint4Y" fmla="*/ 660540 h 65995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</a:cxnLst>
                <a:rect l="textAreaLeft" t="textAreaTop" r="textAreaRight" b="textAreaBottom"/>
                <a:pathLst>
                  <a:path w="811033" h="659958">
                    <a:moveTo>
                      <a:pt x="0" y="0"/>
                    </a:moveTo>
                    <a:cubicBezTo>
                      <a:pt x="250466" y="68248"/>
                      <a:pt x="500932" y="136497"/>
                      <a:pt x="636104" y="246490"/>
                    </a:cubicBezTo>
                    <a:cubicBezTo>
                      <a:pt x="771276" y="356483"/>
                      <a:pt x="811033" y="659958"/>
                      <a:pt x="811033" y="659958"/>
                    </a:cubicBezTo>
                    <a:lnTo>
                      <a:pt x="811033" y="659958"/>
                    </a:lnTo>
                  </a:path>
                </a:pathLst>
              </a:custGeom>
              <a:noFill/>
              <a:ln w="1908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"/>
              <p:cNvSpPr/>
              <p:nvPr/>
            </p:nvSpPr>
            <p:spPr>
              <a:xfrm>
                <a:off x="1260360" y="3673440"/>
                <a:ext cx="838080" cy="975960"/>
              </a:xfrm>
              <a:custGeom>
                <a:avLst/>
                <a:gdLst>
                  <a:gd name="textAreaLeft" fmla="*/ 0 w 838080"/>
                  <a:gd name="textAreaRight" fmla="*/ 838440 w 838080"/>
                  <a:gd name="textAreaTop" fmla="*/ 0 h 975960"/>
                  <a:gd name="textAreaBottom" fmla="*/ 976320 h 975960"/>
                  <a:gd name="GluePoint1X" fmla="*/ 802582 w 658633"/>
                  <a:gd name="GluePoint1Y" fmla="*/ 0 h 834887"/>
                  <a:gd name="GluePoint2X" fmla="*/ 802582 w 658633"/>
                  <a:gd name="GluePoint2Y" fmla="*/ 410540 h 834887"/>
                  <a:gd name="GluePoint3X" fmla="*/ 568919 w 658633"/>
                  <a:gd name="GluePoint3Y" fmla="*/ 681122 h 834887"/>
                  <a:gd name="GluePoint4X" fmla="*/ 0 w 658633"/>
                  <a:gd name="GluePoint4Y" fmla="*/ 979695 h 834887"/>
                  <a:gd name="GluePoint5X" fmla="*/ 0 w 658633"/>
                  <a:gd name="GluePoint5Y" fmla="*/ 979695 h 83488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658633" h="834887">
                    <a:moveTo>
                      <a:pt x="628153" y="0"/>
                    </a:moveTo>
                    <a:cubicBezTo>
                      <a:pt x="643393" y="126558"/>
                      <a:pt x="658633" y="253117"/>
                      <a:pt x="628153" y="349858"/>
                    </a:cubicBezTo>
                    <a:cubicBezTo>
                      <a:pt x="597673" y="446599"/>
                      <a:pt x="549965" y="499608"/>
                      <a:pt x="445273" y="580446"/>
                    </a:cubicBezTo>
                    <a:cubicBezTo>
                      <a:pt x="340581" y="661284"/>
                      <a:pt x="0" y="834887"/>
                      <a:pt x="0" y="834887"/>
                    </a:cubicBezTo>
                    <a:lnTo>
                      <a:pt x="0" y="834887"/>
                    </a:lnTo>
                  </a:path>
                </a:pathLst>
              </a:custGeom>
              <a:noFill/>
              <a:ln w="19080">
                <a:solidFill>
                  <a:srgbClr val="0000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6" name=""/>
              <p:cNvSpPr/>
              <p:nvPr/>
            </p:nvSpPr>
            <p:spPr>
              <a:xfrm>
                <a:off x="2422440" y="3448080"/>
                <a:ext cx="3127320" cy="360"/>
              </a:xfrm>
              <a:prstGeom prst="line">
                <a:avLst/>
              </a:prstGeom>
              <a:ln w="1908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46800" rIns="90000" bIns="-468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7" name=""/>
              <p:cNvSpPr/>
              <p:nvPr/>
            </p:nvSpPr>
            <p:spPr>
              <a:xfrm rot="16200000">
                <a:off x="5518800" y="3377160"/>
                <a:ext cx="212400" cy="140760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25560">
                <a:solidFill>
                  <a:srgbClr val="000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360" rIns="90000" bIns="36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68" name=""/>
            <p:cNvSpPr/>
            <p:nvPr/>
          </p:nvSpPr>
          <p:spPr>
            <a:xfrm>
              <a:off x="699840" y="1630440"/>
              <a:ext cx="320436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Anatomy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Physiology of nervous system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9" name=""/>
          <p:cNvSpPr/>
          <p:nvPr/>
        </p:nvSpPr>
        <p:spPr>
          <a:xfrm>
            <a:off x="3061800" y="2924280"/>
            <a:ext cx="13370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Conduction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0" name=""/>
          <p:cNvGrpSpPr/>
          <p:nvPr/>
        </p:nvGrpSpPr>
        <p:grpSpPr>
          <a:xfrm>
            <a:off x="3353760" y="3645000"/>
            <a:ext cx="1120680" cy="1303920"/>
            <a:chOff x="3353760" y="3645000"/>
            <a:chExt cx="1120680" cy="1303920"/>
          </a:xfrm>
        </p:grpSpPr>
        <p:sp>
          <p:nvSpPr>
            <p:cNvPr id="271" name=""/>
            <p:cNvSpPr/>
            <p:nvPr/>
          </p:nvSpPr>
          <p:spPr>
            <a:xfrm>
              <a:off x="3486960" y="4140360"/>
              <a:ext cx="7902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Drugs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"/>
            <p:cNvSpPr/>
            <p:nvPr/>
          </p:nvSpPr>
          <p:spPr>
            <a:xfrm flipH="1" rot="10800000">
              <a:off x="3776400" y="3645000"/>
              <a:ext cx="140760" cy="499680"/>
            </a:xfrm>
            <a:prstGeom prst="downArrow">
              <a:avLst>
                <a:gd name="adj1" fmla="val 50000"/>
                <a:gd name="adj2" fmla="val 50854"/>
              </a:avLst>
            </a:prstGeom>
            <a:solidFill>
              <a:srgbClr val="FFC000"/>
            </a:solidFill>
            <a:ln w="2556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0560" tIns="46800" rIns="7056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"/>
            <p:cNvSpPr/>
            <p:nvPr/>
          </p:nvSpPr>
          <p:spPr>
            <a:xfrm>
              <a:off x="3353760" y="4581360"/>
              <a:ext cx="11206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Diseases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4" name=""/>
          <p:cNvGrpSpPr/>
          <p:nvPr/>
        </p:nvGrpSpPr>
        <p:grpSpPr>
          <a:xfrm>
            <a:off x="5315760" y="3645000"/>
            <a:ext cx="1120680" cy="1303920"/>
            <a:chOff x="5315760" y="3645000"/>
            <a:chExt cx="1120680" cy="1303920"/>
          </a:xfrm>
        </p:grpSpPr>
        <p:sp>
          <p:nvSpPr>
            <p:cNvPr id="275" name=""/>
            <p:cNvSpPr/>
            <p:nvPr/>
          </p:nvSpPr>
          <p:spPr>
            <a:xfrm>
              <a:off x="5439600" y="4140360"/>
              <a:ext cx="7902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Drugs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 flipH="1" rot="10800000">
              <a:off x="5732280" y="3645000"/>
              <a:ext cx="139320" cy="499680"/>
            </a:xfrm>
            <a:prstGeom prst="downArrow">
              <a:avLst>
                <a:gd name="adj1" fmla="val 50000"/>
                <a:gd name="adj2" fmla="val 50798"/>
              </a:avLst>
            </a:prstGeom>
            <a:solidFill>
              <a:srgbClr val="FFC000"/>
            </a:solidFill>
            <a:ln w="25560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69840" tIns="46800" rIns="69840" bIns="46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5315760" y="4581360"/>
              <a:ext cx="112068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Diseases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8" name=""/>
          <p:cNvSpPr/>
          <p:nvPr/>
        </p:nvSpPr>
        <p:spPr>
          <a:xfrm>
            <a:off x="763560" y="3143160"/>
            <a:ext cx="119664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Neuron/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Nerve cell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787280" y="2081520"/>
            <a:ext cx="2376000" cy="3168000"/>
          </a:xfrm>
          <a:prstGeom prst="ellipse">
            <a:avLst/>
          </a:prstGeom>
          <a:noFill/>
          <a:ln w="9360">
            <a:solidFill>
              <a:srgbClr val="0000FF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" dur="indefinite" restart="never" nodeType="tmRoot">
          <p:childTnLst>
            <p:seq>
              <p:cTn id="105" dur="indefinite" nodeType="mainSeq">
                <p:childTnLst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dur="indefinite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1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>
            <a:off x="399960" y="4784760"/>
            <a:ext cx="7962480" cy="772560"/>
          </a:xfrm>
          <a:custGeom>
            <a:avLst/>
            <a:gdLst>
              <a:gd name="textAreaLeft" fmla="*/ 0 w 7962480"/>
              <a:gd name="textAreaRight" fmla="*/ 7962840 w 7962480"/>
              <a:gd name="textAreaTop" fmla="*/ 0 h 772560"/>
              <a:gd name="textAreaBottom" fmla="*/ 772920 h 77256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1581120" y="363600"/>
            <a:ext cx="4874760" cy="4381200"/>
          </a:xfrm>
          <a:custGeom>
            <a:avLst/>
            <a:gdLst>
              <a:gd name="textAreaLeft" fmla="*/ 0 w 4874760"/>
              <a:gd name="textAreaRight" fmla="*/ 4875120 w 4874760"/>
              <a:gd name="textAreaTop" fmla="*/ 0 h 4381200"/>
              <a:gd name="textAreaBottom" fmla="*/ 4381560 h 438120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 rot="5400000">
            <a:off x="3427200" y="544320"/>
            <a:ext cx="19476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 rot="5400000">
            <a:off x="3402000" y="1192320"/>
            <a:ext cx="19512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 flipH="1" rot="16200000">
            <a:off x="4365360" y="865080"/>
            <a:ext cx="194760" cy="35388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2166840" y="620640"/>
            <a:ext cx="931680" cy="738000"/>
          </a:xfrm>
          <a:custGeom>
            <a:avLst/>
            <a:gdLst>
              <a:gd name="textAreaLeft" fmla="*/ 0 w 931680"/>
              <a:gd name="textAreaRight" fmla="*/ 932040 w 931680"/>
              <a:gd name="textAreaTop" fmla="*/ 0 h 738000"/>
              <a:gd name="textAreaBottom" fmla="*/ 738360 h 738000"/>
              <a:gd name="GluePoint1X" fmla="*/ 0 w 5180397"/>
              <a:gd name="GluePoint1Y" fmla="*/ 650807 h 2474181"/>
              <a:gd name="GluePoint2X" fmla="*/ 290351 w 5180397"/>
              <a:gd name="GluePoint2Y" fmla="*/ 646062 h 2474181"/>
              <a:gd name="GluePoint3X" fmla="*/ 361866 w 5180397"/>
              <a:gd name="GluePoint3Y" fmla="*/ 624711 h 2474181"/>
              <a:gd name="GluePoint4X" fmla="*/ 377599 w 5180397"/>
              <a:gd name="GluePoint4Y" fmla="*/ 513212 h 2474181"/>
              <a:gd name="GluePoint5X" fmla="*/ 381890 w 5180397"/>
              <a:gd name="GluePoint5Y" fmla="*/ 22142 h 2474181"/>
              <a:gd name="GluePoint6X" fmla="*/ 381890 w 5180397"/>
              <a:gd name="GluePoint6Y" fmla="*/ 22142 h 2474181"/>
              <a:gd name="GluePoint7X" fmla="*/ 387611 w 5180397"/>
              <a:gd name="GluePoint7Y" fmla="*/ 3163 h 2474181"/>
              <a:gd name="GluePoint8X" fmla="*/ 389041 w 5180397"/>
              <a:gd name="GluePoint8Y" fmla="*/ 3163 h 2474181"/>
              <a:gd name="GluePoint9X" fmla="*/ 390472 w 5180397"/>
              <a:gd name="GluePoint9Y" fmla="*/ 5536 h 2474181"/>
              <a:gd name="GluePoint10X" fmla="*/ 394763 w 5180397"/>
              <a:gd name="GluePoint10Y" fmla="*/ 22142 h 2474181"/>
              <a:gd name="GluePoint11X" fmla="*/ 403344 w 5180397"/>
              <a:gd name="GluePoint11Y" fmla="*/ 136013 h 2474181"/>
              <a:gd name="GluePoint12X" fmla="*/ 417647 w 5180397"/>
              <a:gd name="GluePoint12Y" fmla="*/ 330543 h 2474181"/>
              <a:gd name="GluePoint13X" fmla="*/ 429090 w 5180397"/>
              <a:gd name="GluePoint13Y" fmla="*/ 487116 h 2474181"/>
              <a:gd name="GluePoint14X" fmla="*/ 439102 w 5180397"/>
              <a:gd name="GluePoint14Y" fmla="*/ 631828 h 2474181"/>
              <a:gd name="GluePoint15X" fmla="*/ 447684 w 5180397"/>
              <a:gd name="GluePoint15Y" fmla="*/ 707742 h 2474181"/>
              <a:gd name="GluePoint16X" fmla="*/ 467708 w 5180397"/>
              <a:gd name="GluePoint16Y" fmla="*/ 733838 h 2474181"/>
              <a:gd name="GluePoint17X" fmla="*/ 492023 w 5180397"/>
              <a:gd name="GluePoint17Y" fmla="*/ 733838 h 2474181"/>
              <a:gd name="GluePoint18X" fmla="*/ 527780 w 5180397"/>
              <a:gd name="GluePoint18Y" fmla="*/ 710115 h 2474181"/>
              <a:gd name="GluePoint19X" fmla="*/ 559247 w 5180397"/>
              <a:gd name="GluePoint19Y" fmla="*/ 679274 h 2474181"/>
              <a:gd name="GluePoint20X" fmla="*/ 602076 w 5180397"/>
              <a:gd name="GluePoint20Y" fmla="*/ 642854 h 2474181"/>
              <a:gd name="GluePoint21X" fmla="*/ 646897 w 5180397"/>
              <a:gd name="GluePoint21Y" fmla="*/ 630767 h 2474181"/>
              <a:gd name="GluePoint22X" fmla="*/ 931862 w 5180397"/>
              <a:gd name="GluePoint22Y" fmla="*/ 630767 h 24741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5180397" h="2474181">
                <a:moveTo>
                  <a:pt x="0" y="2181308"/>
                </a:moveTo>
                <a:lnTo>
                  <a:pt x="1614115" y="2165406"/>
                </a:lnTo>
                <a:cubicBezTo>
                  <a:pt x="1949395" y="2150829"/>
                  <a:pt x="1930842" y="2168056"/>
                  <a:pt x="2011680" y="2093844"/>
                </a:cubicBezTo>
                <a:cubicBezTo>
                  <a:pt x="2092518" y="2019632"/>
                  <a:pt x="2080591" y="2056738"/>
                  <a:pt x="2099144" y="1720133"/>
                </a:cubicBezTo>
                <a:cubicBezTo>
                  <a:pt x="2117697" y="1383528"/>
                  <a:pt x="2122998" y="74213"/>
                  <a:pt x="2122998" y="74213"/>
                </a:cubicBezTo>
                <a:lnTo>
                  <a:pt x="2122998" y="74213"/>
                </a:lnTo>
                <a:cubicBezTo>
                  <a:pt x="2128299" y="63611"/>
                  <a:pt x="2148178" y="21204"/>
                  <a:pt x="2154804" y="10602"/>
                </a:cubicBezTo>
                <a:cubicBezTo>
                  <a:pt x="2161430" y="0"/>
                  <a:pt x="2160105" y="9277"/>
                  <a:pt x="2162755" y="10602"/>
                </a:cubicBezTo>
                <a:cubicBezTo>
                  <a:pt x="2165405" y="11927"/>
                  <a:pt x="2165405" y="7952"/>
                  <a:pt x="2170706" y="18554"/>
                </a:cubicBezTo>
                <a:cubicBezTo>
                  <a:pt x="2176007" y="29156"/>
                  <a:pt x="2182633" y="1326"/>
                  <a:pt x="2194560" y="74213"/>
                </a:cubicBezTo>
                <a:cubicBezTo>
                  <a:pt x="2206487" y="147100"/>
                  <a:pt x="2221065" y="283597"/>
                  <a:pt x="2242268" y="455875"/>
                </a:cubicBezTo>
                <a:cubicBezTo>
                  <a:pt x="2263471" y="628153"/>
                  <a:pt x="2297927" y="911750"/>
                  <a:pt x="2321781" y="1107882"/>
                </a:cubicBezTo>
                <a:cubicBezTo>
                  <a:pt x="2345635" y="1304014"/>
                  <a:pt x="2365513" y="1464365"/>
                  <a:pt x="2385391" y="1632668"/>
                </a:cubicBezTo>
                <a:cubicBezTo>
                  <a:pt x="2405269" y="1800971"/>
                  <a:pt x="2423823" y="1994453"/>
                  <a:pt x="2441051" y="2117698"/>
                </a:cubicBezTo>
                <a:cubicBezTo>
                  <a:pt x="2458279" y="2240943"/>
                  <a:pt x="2462254" y="2315156"/>
                  <a:pt x="2488758" y="2372140"/>
                </a:cubicBezTo>
                <a:cubicBezTo>
                  <a:pt x="2515262" y="2429124"/>
                  <a:pt x="2558995" y="2445027"/>
                  <a:pt x="2600077" y="2459604"/>
                </a:cubicBezTo>
                <a:cubicBezTo>
                  <a:pt x="2641159" y="2474181"/>
                  <a:pt x="2679590" y="2472856"/>
                  <a:pt x="2735249" y="2459604"/>
                </a:cubicBezTo>
                <a:cubicBezTo>
                  <a:pt x="2790908" y="2446352"/>
                  <a:pt x="2871746" y="2410571"/>
                  <a:pt x="2934031" y="2380091"/>
                </a:cubicBezTo>
                <a:cubicBezTo>
                  <a:pt x="2996316" y="2349611"/>
                  <a:pt x="3040123" y="2314297"/>
                  <a:pt x="3108960" y="2276724"/>
                </a:cubicBezTo>
                <a:cubicBezTo>
                  <a:pt x="3177797" y="2239151"/>
                  <a:pt x="3266215" y="2185135"/>
                  <a:pt x="3347053" y="2154655"/>
                </a:cubicBezTo>
                <a:cubicBezTo>
                  <a:pt x="3475599" y="2100321"/>
                  <a:pt x="3516708" y="2134019"/>
                  <a:pt x="3596221" y="2114141"/>
                </a:cubicBezTo>
                <a:cubicBezTo>
                  <a:pt x="3883793" y="2096913"/>
                  <a:pt x="4533028" y="2133356"/>
                  <a:pt x="5180397" y="2114141"/>
                </a:cubicBezTo>
              </a:path>
            </a:pathLst>
          </a:custGeom>
          <a:noFill/>
          <a:ln w="93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797360" y="85572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7" name=""/>
          <p:cNvCxnSpPr/>
          <p:nvPr/>
        </p:nvCxnSpPr>
        <p:spPr>
          <a:xfrm flipH="1">
            <a:off x="4139640" y="1039320"/>
            <a:ext cx="720000" cy="43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288" name=""/>
          <p:cNvCxnSpPr/>
          <p:nvPr/>
        </p:nvCxnSpPr>
        <p:spPr>
          <a:xfrm>
            <a:off x="3098520" y="717120"/>
            <a:ext cx="826560" cy="43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cxnSp>
        <p:nvCxnSpPr>
          <p:cNvPr id="289" name=""/>
          <p:cNvCxnSpPr/>
          <p:nvPr/>
        </p:nvCxnSpPr>
        <p:spPr>
          <a:xfrm>
            <a:off x="3098520" y="1359000"/>
            <a:ext cx="826560" cy="25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sp>
        <p:nvSpPr>
          <p:cNvPr id="290" name=""/>
          <p:cNvSpPr/>
          <p:nvPr/>
        </p:nvSpPr>
        <p:spPr>
          <a:xfrm>
            <a:off x="5364000" y="442800"/>
            <a:ext cx="109548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channels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1846440" y="5362560"/>
            <a:ext cx="4403160" cy="1072800"/>
          </a:xfrm>
          <a:custGeom>
            <a:avLst/>
            <a:gdLst>
              <a:gd name="textAreaLeft" fmla="*/ 0 w 4403160"/>
              <a:gd name="textAreaRight" fmla="*/ 4403520 w 4403160"/>
              <a:gd name="textAreaTop" fmla="*/ 0 h 1072800"/>
              <a:gd name="textAreaBottom" fmla="*/ 1073160 h 107280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04640" y="6120000"/>
            <a:ext cx="904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1596960" y="4502160"/>
            <a:ext cx="310680" cy="871200"/>
          </a:xfrm>
          <a:custGeom>
            <a:avLst/>
            <a:gdLst>
              <a:gd name="textAreaLeft" fmla="*/ 198720 w 310680"/>
              <a:gd name="textAreaRight" fmla="*/ 311400 w 310680"/>
              <a:gd name="textAreaTop" fmla="*/ 7920 h 871200"/>
              <a:gd name="textAreaBottom" fmla="*/ 863640 h 871200"/>
              <a:gd name="GluePoint1X" fmla="*/ 21600 w 21600"/>
              <a:gd name="GluePoint1Y" fmla="*/ 0 h 21600"/>
              <a:gd name="GluePoint2X" fmla="*/ 0 w 21600"/>
              <a:gd name="GluePoint2Y" fmla="*/ 10800 h 21600"/>
              <a:gd name="GluePoint3X" fmla="*/ 21600 w 21600"/>
              <a:gd name="GluePoint3Y" fmla="*/ 216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cubicBezTo>
                  <a:pt x="16200" y="0"/>
                  <a:pt x="10800" y="322"/>
                  <a:pt x="10800" y="643"/>
                </a:cubicBezTo>
                <a:lnTo>
                  <a:pt x="10800" y="10157"/>
                </a:lnTo>
                <a:cubicBezTo>
                  <a:pt x="10800" y="10479"/>
                  <a:pt x="5400" y="10800"/>
                  <a:pt x="0" y="10800"/>
                </a:cubicBezTo>
                <a:cubicBezTo>
                  <a:pt x="5400" y="10800"/>
                  <a:pt x="10800" y="11122"/>
                  <a:pt x="10800" y="11443"/>
                </a:cubicBezTo>
                <a:lnTo>
                  <a:pt x="10800" y="20957"/>
                </a:lnTo>
                <a:cubicBezTo>
                  <a:pt x="10800" y="21279"/>
                  <a:pt x="16200" y="21600"/>
                  <a:pt x="2160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966960" y="4562640"/>
            <a:ext cx="864360" cy="52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Cleft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639960" y="179280"/>
            <a:ext cx="8283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6" name=""/>
          <p:cNvGrpSpPr/>
          <p:nvPr/>
        </p:nvGrpSpPr>
        <p:grpSpPr>
          <a:xfrm>
            <a:off x="2184480" y="5157360"/>
            <a:ext cx="3610800" cy="1645920"/>
            <a:chOff x="2184480" y="5157360"/>
            <a:chExt cx="3610800" cy="1645920"/>
          </a:xfrm>
        </p:grpSpPr>
        <p:grpSp>
          <p:nvGrpSpPr>
            <p:cNvPr id="297" name=""/>
            <p:cNvGrpSpPr/>
            <p:nvPr/>
          </p:nvGrpSpPr>
          <p:grpSpPr>
            <a:xfrm>
              <a:off x="2612880" y="5157360"/>
              <a:ext cx="566640" cy="817560"/>
              <a:chOff x="2612880" y="5157360"/>
              <a:chExt cx="566640" cy="817560"/>
            </a:xfrm>
          </p:grpSpPr>
          <p:sp>
            <p:nvSpPr>
              <p:cNvPr id="298" name=""/>
              <p:cNvSpPr/>
              <p:nvPr/>
            </p:nvSpPr>
            <p:spPr>
              <a:xfrm>
                <a:off x="2649600" y="5373720"/>
                <a:ext cx="502920" cy="35352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"/>
              <p:cNvSpPr/>
              <p:nvPr/>
            </p:nvSpPr>
            <p:spPr>
              <a:xfrm>
                <a:off x="2797200" y="5373720"/>
                <a:ext cx="194760" cy="353520"/>
              </a:xfrm>
              <a:prstGeom prst="can">
                <a:avLst>
                  <a:gd name="adj" fmla="val 21490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"/>
              <p:cNvSpPr/>
              <p:nvPr/>
            </p:nvSpPr>
            <p:spPr>
              <a:xfrm>
                <a:off x="2765520" y="5184720"/>
                <a:ext cx="115560" cy="790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790200"/>
                  <a:gd name="textAreaBottom" fmla="*/ 790560 h 79020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960" tIns="46800" rIns="579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"/>
              <p:cNvSpPr/>
              <p:nvPr/>
            </p:nvSpPr>
            <p:spPr>
              <a:xfrm flipH="1" flipV="1">
                <a:off x="2926800" y="5157000"/>
                <a:ext cx="113760" cy="788760"/>
              </a:xfrm>
              <a:custGeom>
                <a:avLst/>
                <a:gdLst>
                  <a:gd name="textAreaLeft" fmla="*/ 360 w 113760"/>
                  <a:gd name="textAreaRight" fmla="*/ 114480 w 113760"/>
                  <a:gd name="textAreaTop" fmla="*/ -360 h 788760"/>
                  <a:gd name="textAreaBottom" fmla="*/ 788760 h 78876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6880" tIns="46800" rIns="5688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"/>
              <p:cNvSpPr/>
              <p:nvPr/>
            </p:nvSpPr>
            <p:spPr>
              <a:xfrm>
                <a:off x="2612880" y="5334120"/>
                <a:ext cx="125280" cy="15660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"/>
              <p:cNvSpPr/>
              <p:nvPr/>
            </p:nvSpPr>
            <p:spPr>
              <a:xfrm>
                <a:off x="3054240" y="5315040"/>
                <a:ext cx="125280" cy="1551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2640" tIns="46800" rIns="626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04" name=""/>
            <p:cNvGrpSpPr/>
            <p:nvPr/>
          </p:nvGrpSpPr>
          <p:grpSpPr>
            <a:xfrm>
              <a:off x="3572280" y="5157360"/>
              <a:ext cx="556920" cy="817560"/>
              <a:chOff x="3572280" y="5157360"/>
              <a:chExt cx="556920" cy="817560"/>
            </a:xfrm>
          </p:grpSpPr>
          <p:sp>
            <p:nvSpPr>
              <p:cNvPr id="305" name=""/>
              <p:cNvSpPr/>
              <p:nvPr/>
            </p:nvSpPr>
            <p:spPr>
              <a:xfrm>
                <a:off x="3601080" y="5373720"/>
                <a:ext cx="502920" cy="35352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"/>
              <p:cNvSpPr/>
              <p:nvPr/>
            </p:nvSpPr>
            <p:spPr>
              <a:xfrm>
                <a:off x="3750120" y="5373720"/>
                <a:ext cx="193320" cy="35352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"/>
              <p:cNvSpPr/>
              <p:nvPr/>
            </p:nvSpPr>
            <p:spPr>
              <a:xfrm>
                <a:off x="3572280" y="5361120"/>
                <a:ext cx="126720" cy="1551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"/>
              <p:cNvSpPr/>
              <p:nvPr/>
            </p:nvSpPr>
            <p:spPr>
              <a:xfrm>
                <a:off x="4002480" y="5361120"/>
                <a:ext cx="126720" cy="1551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"/>
              <p:cNvSpPr/>
              <p:nvPr/>
            </p:nvSpPr>
            <p:spPr>
              <a:xfrm>
                <a:off x="3700800" y="5184720"/>
                <a:ext cx="114120" cy="79020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790200"/>
                  <a:gd name="textAreaBottom" fmla="*/ 790560 h 790200"/>
                  <a:gd name="GluePoint1X" fmla="*/ 0 w 115435"/>
                  <a:gd name="GluePoint1Y" fmla="*/ 0 h 790113"/>
                  <a:gd name="GluePoint2X" fmla="*/ 96694 w 115435"/>
                  <a:gd name="GluePoint2Y" fmla="*/ 142126 h 790113"/>
                  <a:gd name="GluePoint3X" fmla="*/ 114274 w 115435"/>
                  <a:gd name="GluePoint3Y" fmla="*/ 790575 h 790113"/>
                  <a:gd name="GluePoint4X" fmla="*/ 114274 w 115435"/>
                  <a:gd name="GluePoint4Y" fmla="*/ 790575 h 790113"/>
                  <a:gd name="GluePoint5X" fmla="*/ 114274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240" tIns="46800" rIns="572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"/>
              <p:cNvSpPr/>
              <p:nvPr/>
            </p:nvSpPr>
            <p:spPr>
              <a:xfrm flipH="1" flipV="1">
                <a:off x="3870000" y="5157000"/>
                <a:ext cx="114120" cy="788760"/>
              </a:xfrm>
              <a:custGeom>
                <a:avLst/>
                <a:gdLst>
                  <a:gd name="textAreaLeft" fmla="*/ -360 w 114120"/>
                  <a:gd name="textAreaRight" fmla="*/ 114120 w 114120"/>
                  <a:gd name="textAreaTop" fmla="*/ -360 h 788760"/>
                  <a:gd name="textAreaBottom" fmla="*/ 788760 h 788760"/>
                  <a:gd name="GluePoint1X" fmla="*/ 0 w 115435"/>
                  <a:gd name="GluePoint1Y" fmla="*/ 0 h 790113"/>
                  <a:gd name="GluePoint2X" fmla="*/ 96694 w 115435"/>
                  <a:gd name="GluePoint2Y" fmla="*/ 141841 h 790113"/>
                  <a:gd name="GluePoint3X" fmla="*/ 114274 w 115435"/>
                  <a:gd name="GluePoint3Y" fmla="*/ 788987 h 790113"/>
                  <a:gd name="GluePoint4X" fmla="*/ 114274 w 115435"/>
                  <a:gd name="GluePoint4Y" fmla="*/ 788987 h 790113"/>
                  <a:gd name="GluePoint5X" fmla="*/ 114274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240" tIns="46800" rIns="572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11" name=""/>
            <p:cNvGrpSpPr/>
            <p:nvPr/>
          </p:nvGrpSpPr>
          <p:grpSpPr>
            <a:xfrm>
              <a:off x="4534560" y="5157360"/>
              <a:ext cx="577440" cy="817560"/>
              <a:chOff x="4534560" y="5157360"/>
              <a:chExt cx="577440" cy="817560"/>
            </a:xfrm>
          </p:grpSpPr>
          <p:sp>
            <p:nvSpPr>
              <p:cNvPr id="312" name=""/>
              <p:cNvSpPr/>
              <p:nvPr/>
            </p:nvSpPr>
            <p:spPr>
              <a:xfrm>
                <a:off x="4536360" y="5378400"/>
                <a:ext cx="502920" cy="35388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"/>
              <p:cNvSpPr/>
              <p:nvPr/>
            </p:nvSpPr>
            <p:spPr>
              <a:xfrm>
                <a:off x="4721760" y="5378400"/>
                <a:ext cx="193320" cy="353880"/>
              </a:xfrm>
              <a:prstGeom prst="can">
                <a:avLst>
                  <a:gd name="adj" fmla="val 21314"/>
                </a:avLst>
              </a:prstGeom>
              <a:solidFill>
                <a:srgbClr val="FFFFFF"/>
              </a:solidFill>
              <a:ln w="255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"/>
              <p:cNvSpPr/>
              <p:nvPr/>
            </p:nvSpPr>
            <p:spPr>
              <a:xfrm>
                <a:off x="4534560" y="5351400"/>
                <a:ext cx="126360" cy="1551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"/>
              <p:cNvSpPr/>
              <p:nvPr/>
            </p:nvSpPr>
            <p:spPr>
              <a:xfrm>
                <a:off x="4985280" y="5343480"/>
                <a:ext cx="126720" cy="1551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3360" tIns="46800" rIns="633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"/>
              <p:cNvSpPr/>
              <p:nvPr/>
            </p:nvSpPr>
            <p:spPr>
              <a:xfrm>
                <a:off x="4688280" y="5184720"/>
                <a:ext cx="115560" cy="790200"/>
              </a:xfrm>
              <a:custGeom>
                <a:avLst/>
                <a:gdLst>
                  <a:gd name="textAreaLeft" fmla="*/ 0 w 115560"/>
                  <a:gd name="textAreaRight" fmla="*/ 115920 w 115560"/>
                  <a:gd name="textAreaTop" fmla="*/ 0 h 790200"/>
                  <a:gd name="textAreaBottom" fmla="*/ 790560 h 790200"/>
                  <a:gd name="GluePoint1X" fmla="*/ 0 w 115435"/>
                  <a:gd name="GluePoint1Y" fmla="*/ 0 h 790113"/>
                  <a:gd name="GluePoint2X" fmla="*/ 98037 w 115435"/>
                  <a:gd name="GluePoint2Y" fmla="*/ 142126 h 790113"/>
                  <a:gd name="GluePoint3X" fmla="*/ 115862 w 115435"/>
                  <a:gd name="GluePoint3Y" fmla="*/ 790575 h 790113"/>
                  <a:gd name="GluePoint4X" fmla="*/ 115862 w 115435"/>
                  <a:gd name="GluePoint4Y" fmla="*/ 790575 h 790113"/>
                  <a:gd name="GluePoint5X" fmla="*/ 115862 w 115435"/>
                  <a:gd name="GluePoint5Y" fmla="*/ 790575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FF0000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960" tIns="46800" rIns="5796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"/>
              <p:cNvSpPr/>
              <p:nvPr/>
            </p:nvSpPr>
            <p:spPr>
              <a:xfrm flipH="1" flipV="1">
                <a:off x="4851360" y="5157000"/>
                <a:ext cx="115200" cy="788760"/>
              </a:xfrm>
              <a:custGeom>
                <a:avLst/>
                <a:gdLst>
                  <a:gd name="textAreaLeft" fmla="*/ 360 w 115200"/>
                  <a:gd name="textAreaRight" fmla="*/ 115920 w 115200"/>
                  <a:gd name="textAreaTop" fmla="*/ -360 h 788760"/>
                  <a:gd name="textAreaBottom" fmla="*/ 788760 h 788760"/>
                  <a:gd name="GluePoint1X" fmla="*/ 0 w 115435"/>
                  <a:gd name="GluePoint1Y" fmla="*/ 0 h 790113"/>
                  <a:gd name="GluePoint2X" fmla="*/ 98036 w 115435"/>
                  <a:gd name="GluePoint2Y" fmla="*/ 141841 h 790113"/>
                  <a:gd name="GluePoint3X" fmla="*/ 115861 w 115435"/>
                  <a:gd name="GluePoint3Y" fmla="*/ 788987 h 790113"/>
                  <a:gd name="GluePoint4X" fmla="*/ 115861 w 115435"/>
                  <a:gd name="GluePoint4Y" fmla="*/ 788987 h 790113"/>
                  <a:gd name="GluePoint5X" fmla="*/ 115861 w 115435"/>
                  <a:gd name="GluePoint5Y" fmla="*/ 788987 h 79011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15435" h="790113">
                    <a:moveTo>
                      <a:pt x="0" y="0"/>
                    </a:moveTo>
                    <a:cubicBezTo>
                      <a:pt x="39209" y="5179"/>
                      <a:pt x="78419" y="10358"/>
                      <a:pt x="97654" y="142043"/>
                    </a:cubicBezTo>
                    <a:cubicBezTo>
                      <a:pt x="116889" y="273728"/>
                      <a:pt x="115409" y="790113"/>
                      <a:pt x="115409" y="790113"/>
                    </a:cubicBezTo>
                    <a:lnTo>
                      <a:pt x="115409" y="790113"/>
                    </a:lnTo>
                    <a:lnTo>
                      <a:pt x="115409" y="790113"/>
                    </a:lnTo>
                  </a:path>
                </a:pathLst>
              </a:custGeom>
              <a:noFill/>
              <a:ln w="25560">
                <a:solidFill>
                  <a:srgbClr val="0000FF"/>
                </a:solidFill>
                <a:round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57600" tIns="46800" rIns="576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8" name=""/>
            <p:cNvSpPr/>
            <p:nvPr/>
          </p:nvSpPr>
          <p:spPr>
            <a:xfrm>
              <a:off x="2184480" y="6435720"/>
              <a:ext cx="3610800" cy="36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00B050"/>
                  </a:solidFill>
                  <a:effectLst/>
                  <a:uFillTx/>
                  <a:latin typeface="Arial"/>
                  <a:ea typeface="DejaVu Sans"/>
                </a:rPr>
                <a:t>Acetylcholine receptors - Nicotinic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9" name=""/>
          <p:cNvSpPr/>
          <p:nvPr/>
        </p:nvSpPr>
        <p:spPr>
          <a:xfrm>
            <a:off x="258840" y="189000"/>
            <a:ext cx="138276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0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SYNAPSE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 rot="1860000">
            <a:off x="1274760" y="5106960"/>
            <a:ext cx="19476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 rot="19380000">
            <a:off x="6527160" y="4995360"/>
            <a:ext cx="194760" cy="35388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2" name=""/>
          <p:cNvGrpSpPr/>
          <p:nvPr/>
        </p:nvGrpSpPr>
        <p:grpSpPr>
          <a:xfrm>
            <a:off x="1676880" y="1851120"/>
            <a:ext cx="5379480" cy="1279080"/>
            <a:chOff x="1676880" y="1851120"/>
            <a:chExt cx="5379480" cy="1279080"/>
          </a:xfrm>
        </p:grpSpPr>
        <p:sp>
          <p:nvSpPr>
            <p:cNvPr id="323" name=""/>
            <p:cNvSpPr/>
            <p:nvPr/>
          </p:nvSpPr>
          <p:spPr>
            <a:xfrm>
              <a:off x="5960880" y="1851120"/>
              <a:ext cx="1095480" cy="64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t">
              <a:spAutoFit/>
            </a:bodyPr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26"/>
                </a:spcBef>
                <a:spcAft>
                  <a:spcPts val="26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  <a:tab pos="10515600" algn="l"/>
                </a:tabLst>
              </a:pPr>
              <a:r>
                <a:rPr lang="en-GB" sz="1800" b="0" u="none" strike="noStrike">
                  <a:solidFill>
                    <a:srgbClr val="C00000"/>
                  </a:solidFill>
                  <a:effectLst/>
                  <a:uFillTx/>
                  <a:latin typeface="Arial"/>
                  <a:ea typeface="DejaVu Sans"/>
                </a:rPr>
                <a:t>channels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"/>
            <p:cNvGrpSpPr/>
            <p:nvPr/>
          </p:nvGrpSpPr>
          <p:grpSpPr>
            <a:xfrm>
              <a:off x="1676880" y="2673000"/>
              <a:ext cx="457200" cy="457200"/>
              <a:chOff x="1676880" y="2673000"/>
              <a:chExt cx="457200" cy="457200"/>
            </a:xfrm>
          </p:grpSpPr>
          <p:sp>
            <p:nvSpPr>
              <p:cNvPr id="325" name=""/>
              <p:cNvSpPr/>
              <p:nvPr/>
            </p:nvSpPr>
            <p:spPr>
              <a:xfrm rot="7860000">
                <a:off x="1812960" y="2741040"/>
                <a:ext cx="194760" cy="35388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"/>
              <p:cNvSpPr/>
              <p:nvPr/>
            </p:nvSpPr>
            <p:spPr>
              <a:xfrm>
                <a:off x="1676880" y="2673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27" name=""/>
            <p:cNvGrpSpPr/>
            <p:nvPr/>
          </p:nvGrpSpPr>
          <p:grpSpPr>
            <a:xfrm>
              <a:off x="2468880" y="2097000"/>
              <a:ext cx="457200" cy="457200"/>
              <a:chOff x="2468880" y="2097000"/>
              <a:chExt cx="457200" cy="457200"/>
            </a:xfrm>
          </p:grpSpPr>
          <p:sp>
            <p:nvSpPr>
              <p:cNvPr id="328" name=""/>
              <p:cNvSpPr/>
              <p:nvPr/>
            </p:nvSpPr>
            <p:spPr>
              <a:xfrm rot="7860000">
                <a:off x="2606760" y="2187000"/>
                <a:ext cx="194760" cy="35388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"/>
              <p:cNvSpPr/>
              <p:nvPr/>
            </p:nvSpPr>
            <p:spPr>
              <a:xfrm>
                <a:off x="2468880" y="2097000"/>
                <a:ext cx="457200" cy="4572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0" name=""/>
            <p:cNvGrpSpPr/>
            <p:nvPr/>
          </p:nvGrpSpPr>
          <p:grpSpPr>
            <a:xfrm>
              <a:off x="4894920" y="2111400"/>
              <a:ext cx="356040" cy="572400"/>
              <a:chOff x="4894920" y="2111400"/>
              <a:chExt cx="356040" cy="572400"/>
            </a:xfrm>
          </p:grpSpPr>
          <p:sp>
            <p:nvSpPr>
              <p:cNvPr id="331" name=""/>
              <p:cNvSpPr/>
              <p:nvPr/>
            </p:nvSpPr>
            <p:spPr>
              <a:xfrm rot="12780000">
                <a:off x="4975560" y="2207520"/>
                <a:ext cx="194760" cy="35352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"/>
              <p:cNvSpPr/>
              <p:nvPr/>
            </p:nvSpPr>
            <p:spPr>
              <a:xfrm flipH="1">
                <a:off x="4923360" y="2111400"/>
                <a:ext cx="300240" cy="5724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3" name=""/>
            <p:cNvGrpSpPr/>
            <p:nvPr/>
          </p:nvGrpSpPr>
          <p:grpSpPr>
            <a:xfrm>
              <a:off x="5554800" y="2514600"/>
              <a:ext cx="356040" cy="561600"/>
              <a:chOff x="5554800" y="2514600"/>
              <a:chExt cx="356040" cy="561600"/>
            </a:xfrm>
          </p:grpSpPr>
          <p:sp>
            <p:nvSpPr>
              <p:cNvPr id="334" name=""/>
              <p:cNvSpPr/>
              <p:nvPr/>
            </p:nvSpPr>
            <p:spPr>
              <a:xfrm rot="12780000">
                <a:off x="5635440" y="2604600"/>
                <a:ext cx="194760" cy="353880"/>
              </a:xfrm>
              <a:prstGeom prst="can">
                <a:avLst>
                  <a:gd name="adj" fmla="val 21490"/>
                </a:avLst>
              </a:prstGeom>
              <a:solidFill>
                <a:srgbClr val="953735"/>
              </a:solidFill>
              <a:ln w="25560">
                <a:solidFill>
                  <a:srgbClr val="953735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"/>
              <p:cNvSpPr/>
              <p:nvPr/>
            </p:nvSpPr>
            <p:spPr>
              <a:xfrm flipH="1">
                <a:off x="5558400" y="2514600"/>
                <a:ext cx="319680" cy="561600"/>
              </a:xfrm>
              <a:prstGeom prst="line">
                <a:avLst/>
              </a:prstGeom>
              <a:ln w="0">
                <a:solidFill>
                  <a:srgbClr val="3465A4"/>
                </a:solidFill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336" name=""/>
          <p:cNvGrpSpPr/>
          <p:nvPr/>
        </p:nvGrpSpPr>
        <p:grpSpPr>
          <a:xfrm>
            <a:off x="2843640" y="2852640"/>
            <a:ext cx="2057400" cy="2238120"/>
            <a:chOff x="2843640" y="2852640"/>
            <a:chExt cx="2057400" cy="2238120"/>
          </a:xfrm>
        </p:grpSpPr>
        <p:grpSp>
          <p:nvGrpSpPr>
            <p:cNvPr id="337" name=""/>
            <p:cNvGrpSpPr/>
            <p:nvPr/>
          </p:nvGrpSpPr>
          <p:grpSpPr>
            <a:xfrm>
              <a:off x="2843640" y="2852640"/>
              <a:ext cx="2030040" cy="2238120"/>
              <a:chOff x="2843640" y="2852640"/>
              <a:chExt cx="2030040" cy="2238120"/>
            </a:xfrm>
          </p:grpSpPr>
          <p:sp>
            <p:nvSpPr>
              <p:cNvPr id="338" name=""/>
              <p:cNvSpPr/>
              <p:nvPr/>
            </p:nvSpPr>
            <p:spPr>
              <a:xfrm>
                <a:off x="2961360" y="2852640"/>
                <a:ext cx="420120" cy="44280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"/>
              <p:cNvSpPr/>
              <p:nvPr/>
            </p:nvSpPr>
            <p:spPr>
              <a:xfrm>
                <a:off x="3663000" y="3271680"/>
                <a:ext cx="420120" cy="44100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"/>
              <p:cNvSpPr/>
              <p:nvPr/>
            </p:nvSpPr>
            <p:spPr>
              <a:xfrm>
                <a:off x="4424760" y="3068640"/>
                <a:ext cx="420480" cy="44244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"/>
              <p:cNvSpPr/>
              <p:nvPr/>
            </p:nvSpPr>
            <p:spPr>
              <a:xfrm>
                <a:off x="3501000" y="4280040"/>
                <a:ext cx="418680" cy="44100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"/>
              <p:cNvSpPr/>
              <p:nvPr/>
            </p:nvSpPr>
            <p:spPr>
              <a:xfrm>
                <a:off x="4280400" y="4280040"/>
                <a:ext cx="420480" cy="44100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3" name=""/>
              <p:cNvSpPr/>
              <p:nvPr/>
            </p:nvSpPr>
            <p:spPr>
              <a:xfrm>
                <a:off x="2870640" y="4280040"/>
                <a:ext cx="420480" cy="44100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344" name=""/>
              <p:cNvCxnSpPr/>
              <p:nvPr/>
            </p:nvCxnSpPr>
            <p:spPr>
              <a:xfrm flipH="1">
                <a:off x="3090600" y="3460320"/>
                <a:ext cx="36000" cy="68688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triangle" w="med"/>
              </a:ln>
            </p:spPr>
          </p:cxnSp>
          <p:cxnSp>
            <p:nvCxnSpPr>
              <p:cNvPr id="345" name=""/>
              <p:cNvCxnSpPr/>
              <p:nvPr/>
            </p:nvCxnSpPr>
            <p:spPr>
              <a:xfrm flipH="1">
                <a:off x="3780000" y="3860280"/>
                <a:ext cx="32760" cy="27432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cxnSp>
            <p:nvCxnSpPr>
              <p:cNvPr id="346" name=""/>
              <p:cNvCxnSpPr/>
              <p:nvPr/>
            </p:nvCxnSpPr>
            <p:spPr>
              <a:xfrm flipH="1">
                <a:off x="4572000" y="3614760"/>
                <a:ext cx="61200" cy="534600"/>
              </a:xfrm>
              <a:prstGeom prst="straightConnector1">
                <a:avLst/>
              </a:prstGeom>
              <a:ln w="9360">
                <a:solidFill>
                  <a:srgbClr val="4A7EBB"/>
                </a:solidFill>
                <a:miter/>
                <a:tailEnd len="med" type="arrow" w="med"/>
              </a:ln>
            </p:spPr>
          </p:cxnSp>
          <p:sp>
            <p:nvSpPr>
              <p:cNvPr id="347" name=""/>
              <p:cNvSpPr/>
              <p:nvPr/>
            </p:nvSpPr>
            <p:spPr>
              <a:xfrm>
                <a:off x="2843640" y="4784760"/>
                <a:ext cx="123480" cy="1537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"/>
              <p:cNvSpPr/>
              <p:nvPr/>
            </p:nvSpPr>
            <p:spPr>
              <a:xfrm>
                <a:off x="3077280" y="4937040"/>
                <a:ext cx="123480" cy="1537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"/>
              <p:cNvSpPr/>
              <p:nvPr/>
            </p:nvSpPr>
            <p:spPr>
              <a:xfrm>
                <a:off x="3508920" y="4857840"/>
                <a:ext cx="123480" cy="1519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"/>
              <p:cNvSpPr/>
              <p:nvPr/>
            </p:nvSpPr>
            <p:spPr>
              <a:xfrm>
                <a:off x="3852000" y="4869000"/>
                <a:ext cx="12348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"/>
              <p:cNvSpPr/>
              <p:nvPr/>
            </p:nvSpPr>
            <p:spPr>
              <a:xfrm>
                <a:off x="4462920" y="4869000"/>
                <a:ext cx="12348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"/>
              <p:cNvSpPr/>
              <p:nvPr/>
            </p:nvSpPr>
            <p:spPr>
              <a:xfrm>
                <a:off x="4752000" y="4869000"/>
                <a:ext cx="121680" cy="15336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0840" tIns="46800" rIns="6084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"/>
              <p:cNvSpPr/>
              <p:nvPr/>
            </p:nvSpPr>
            <p:spPr>
              <a:xfrm>
                <a:off x="3013560" y="4616280"/>
                <a:ext cx="123480" cy="15228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"/>
              <p:cNvSpPr/>
              <p:nvPr/>
            </p:nvSpPr>
            <p:spPr>
              <a:xfrm>
                <a:off x="3653280" y="4653000"/>
                <a:ext cx="123480" cy="1519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5" name=""/>
              <p:cNvSpPr/>
              <p:nvPr/>
            </p:nvSpPr>
            <p:spPr>
              <a:xfrm>
                <a:off x="4445640" y="4645080"/>
                <a:ext cx="123480" cy="151920"/>
              </a:xfrm>
              <a:prstGeom prst="ellipse">
                <a:avLst/>
              </a:prstGeom>
              <a:solidFill>
                <a:srgbClr val="00B050"/>
              </a:solidFill>
              <a:ln w="25560">
                <a:solidFill>
                  <a:srgbClr val="00B05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61920" tIns="46800" rIns="61920" bIns="468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6" name=""/>
            <p:cNvSpPr/>
            <p:nvPr/>
          </p:nvSpPr>
          <p:spPr>
            <a:xfrm>
              <a:off x="2935800" y="2935800"/>
              <a:ext cx="45324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"/>
            <p:cNvSpPr/>
            <p:nvPr/>
          </p:nvSpPr>
          <p:spPr>
            <a:xfrm>
              <a:off x="3655800" y="3368160"/>
              <a:ext cx="45324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"/>
            <p:cNvSpPr/>
            <p:nvPr/>
          </p:nvSpPr>
          <p:spPr>
            <a:xfrm>
              <a:off x="4267800" y="4376520"/>
              <a:ext cx="45324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"/>
            <p:cNvSpPr/>
            <p:nvPr/>
          </p:nvSpPr>
          <p:spPr>
            <a:xfrm>
              <a:off x="3475800" y="4376520"/>
              <a:ext cx="45324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"/>
            <p:cNvSpPr/>
            <p:nvPr/>
          </p:nvSpPr>
          <p:spPr>
            <a:xfrm>
              <a:off x="2863800" y="4340520"/>
              <a:ext cx="45324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"/>
            <p:cNvSpPr/>
            <p:nvPr/>
          </p:nvSpPr>
          <p:spPr>
            <a:xfrm>
              <a:off x="4447800" y="3152520"/>
              <a:ext cx="453240" cy="25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0A933"/>
                  </a:solidFill>
                  <a:effectLst/>
                  <a:uFillTx/>
                  <a:latin typeface="Arial"/>
                </a:rPr>
                <a:t>ACh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2" name=""/>
          <p:cNvSpPr/>
          <p:nvPr/>
        </p:nvSpPr>
        <p:spPr>
          <a:xfrm>
            <a:off x="6633720" y="539208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874080" y="546444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 flipV="1">
            <a:off x="1197720" y="5029200"/>
            <a:ext cx="402480" cy="45684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 flipH="1" flipV="1">
            <a:off x="6472800" y="4944600"/>
            <a:ext cx="385200" cy="541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6" dur="indefinite" restart="never" nodeType="tmRoot">
          <p:childTnLst>
            <p:seq>
              <p:cTn id="117" dur="indefinite" nodeType="mainSeq">
                <p:childTnLst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>
            <a:off x="1763640" y="585720"/>
            <a:ext cx="1800" cy="52275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773360" y="5813280"/>
            <a:ext cx="6240240" cy="1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757520" y="3949560"/>
            <a:ext cx="6249600" cy="711000"/>
          </a:xfrm>
          <a:custGeom>
            <a:avLst/>
            <a:gdLst>
              <a:gd name="textAreaLeft" fmla="*/ 0 w 6249600"/>
              <a:gd name="textAreaRight" fmla="*/ 6249960 w 6249600"/>
              <a:gd name="textAreaTop" fmla="*/ 0 h 711000"/>
              <a:gd name="textAreaBottom" fmla="*/ 711360 h 711000"/>
              <a:gd name="GluePoint1X" fmla="*/ 0 w 6249879"/>
              <a:gd name="GluePoint1Y" fmla="*/ 711200 h 711286"/>
              <a:gd name="GluePoint2X" fmla="*/ 1704541 w 6249879"/>
              <a:gd name="GluePoint2Y" fmla="*/ 684570 h 711286"/>
              <a:gd name="GluePoint3X" fmla="*/ 2130677 w 6249879"/>
              <a:gd name="GluePoint3Y" fmla="*/ 649064 h 711286"/>
              <a:gd name="GluePoint4X" fmla="*/ 2219455 w 6249879"/>
              <a:gd name="GluePoint4Y" fmla="*/ 418271 h 711286"/>
              <a:gd name="GluePoint5X" fmla="*/ 2246089 w 6249879"/>
              <a:gd name="GluePoint5Y" fmla="*/ 151974 h 711286"/>
              <a:gd name="GluePoint6X" fmla="*/ 2281600 w 6249879"/>
              <a:gd name="GluePoint6Y" fmla="*/ 27702 h 711286"/>
              <a:gd name="GluePoint7X" fmla="*/ 2379257 w 6249879"/>
              <a:gd name="GluePoint7Y" fmla="*/ 27701 h 711286"/>
              <a:gd name="GluePoint8X" fmla="*/ 2672224 w 6249879"/>
              <a:gd name="GluePoint8Y" fmla="*/ 329507 h 711286"/>
              <a:gd name="GluePoint9X" fmla="*/ 3000704 w 6249879"/>
              <a:gd name="GluePoint9Y" fmla="*/ 533668 h 711286"/>
              <a:gd name="GluePoint10X" fmla="*/ 3426840 w 6249879"/>
              <a:gd name="GluePoint10Y" fmla="*/ 657939 h 711286"/>
              <a:gd name="GluePoint11X" fmla="*/ 3870731 w 6249879"/>
              <a:gd name="GluePoint11Y" fmla="*/ 666817 h 711286"/>
              <a:gd name="GluePoint12X" fmla="*/ 4820657 w 6249879"/>
              <a:gd name="GluePoint12Y" fmla="*/ 666816 h 711286"/>
              <a:gd name="GluePoint13X" fmla="*/ 6249987 w 6249879"/>
              <a:gd name="GluePoint13Y" fmla="*/ 684569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1773360" y="4653000"/>
            <a:ext cx="6242040" cy="144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1763640" y="4305240"/>
            <a:ext cx="6249600" cy="347400"/>
          </a:xfrm>
          <a:custGeom>
            <a:avLst/>
            <a:gdLst>
              <a:gd name="textAreaLeft" fmla="*/ 0 w 6249600"/>
              <a:gd name="textAreaRight" fmla="*/ 6249960 w 6249600"/>
              <a:gd name="textAreaTop" fmla="*/ 0 h 347400"/>
              <a:gd name="textAreaBottom" fmla="*/ 347760 h 347400"/>
              <a:gd name="GluePoint1X" fmla="*/ 0 w 6249879"/>
              <a:gd name="GluePoint1Y" fmla="*/ 347663 h 711286"/>
              <a:gd name="GluePoint2X" fmla="*/ 1704541 w 6249879"/>
              <a:gd name="GluePoint2Y" fmla="*/ 334645 h 711286"/>
              <a:gd name="GluePoint3X" fmla="*/ 2130677 w 6249879"/>
              <a:gd name="GluePoint3Y" fmla="*/ 317288 h 711286"/>
              <a:gd name="GluePoint4X" fmla="*/ 2219455 w 6249879"/>
              <a:gd name="GluePoint4Y" fmla="*/ 204468 h 711286"/>
              <a:gd name="GluePoint5X" fmla="*/ 2246089 w 6249879"/>
              <a:gd name="GluePoint5Y" fmla="*/ 74291 h 711286"/>
              <a:gd name="GluePoint6X" fmla="*/ 2281600 w 6249879"/>
              <a:gd name="GluePoint6Y" fmla="*/ 13542 h 711286"/>
              <a:gd name="GluePoint7X" fmla="*/ 2379257 w 6249879"/>
              <a:gd name="GluePoint7Y" fmla="*/ 13541 h 711286"/>
              <a:gd name="GluePoint8X" fmla="*/ 2672224 w 6249879"/>
              <a:gd name="GluePoint8Y" fmla="*/ 161076 h 711286"/>
              <a:gd name="GluePoint9X" fmla="*/ 3000704 w 6249879"/>
              <a:gd name="GluePoint9Y" fmla="*/ 260878 h 711286"/>
              <a:gd name="GluePoint10X" fmla="*/ 3426840 w 6249879"/>
              <a:gd name="GluePoint10Y" fmla="*/ 321627 h 711286"/>
              <a:gd name="GluePoint11X" fmla="*/ 3870731 w 6249879"/>
              <a:gd name="GluePoint11Y" fmla="*/ 325967 h 711286"/>
              <a:gd name="GluePoint12X" fmla="*/ 4820657 w 6249879"/>
              <a:gd name="GluePoint12Y" fmla="*/ 325967 h 711286"/>
              <a:gd name="GluePoint13X" fmla="*/ 6249987 w 6249879"/>
              <a:gd name="GluePoint13Y" fmla="*/ 334645 h 71128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6249879" h="711286">
                <a:moveTo>
                  <a:pt x="0" y="711286"/>
                </a:moveTo>
                <a:lnTo>
                  <a:pt x="1704512" y="684653"/>
                </a:lnTo>
                <a:cubicBezTo>
                  <a:pt x="2059619" y="674296"/>
                  <a:pt x="2044823" y="693530"/>
                  <a:pt x="2130640" y="649142"/>
                </a:cubicBezTo>
                <a:cubicBezTo>
                  <a:pt x="2216457" y="604754"/>
                  <a:pt x="2200182" y="501180"/>
                  <a:pt x="2219417" y="418322"/>
                </a:cubicBezTo>
                <a:cubicBezTo>
                  <a:pt x="2238652" y="335464"/>
                  <a:pt x="2235693" y="217095"/>
                  <a:pt x="2246050" y="151992"/>
                </a:cubicBezTo>
                <a:cubicBezTo>
                  <a:pt x="2256407" y="86889"/>
                  <a:pt x="2259367" y="48420"/>
                  <a:pt x="2281561" y="27705"/>
                </a:cubicBezTo>
                <a:cubicBezTo>
                  <a:pt x="2303755" y="6990"/>
                  <a:pt x="2314113" y="-22603"/>
                  <a:pt x="2379216" y="27704"/>
                </a:cubicBezTo>
                <a:cubicBezTo>
                  <a:pt x="2444319" y="78011"/>
                  <a:pt x="2568605" y="245209"/>
                  <a:pt x="2672178" y="329547"/>
                </a:cubicBezTo>
                <a:cubicBezTo>
                  <a:pt x="2775751" y="413885"/>
                  <a:pt x="2874885" y="478988"/>
                  <a:pt x="3000652" y="533733"/>
                </a:cubicBezTo>
                <a:cubicBezTo>
                  <a:pt x="3126419" y="588478"/>
                  <a:pt x="3281779" y="635825"/>
                  <a:pt x="3426781" y="658019"/>
                </a:cubicBezTo>
                <a:cubicBezTo>
                  <a:pt x="3571783" y="680213"/>
                  <a:pt x="3638365" y="665418"/>
                  <a:pt x="3870664" y="666898"/>
                </a:cubicBezTo>
                <a:lnTo>
                  <a:pt x="4820574" y="666897"/>
                </a:lnTo>
                <a:cubicBezTo>
                  <a:pt x="5217110" y="669856"/>
                  <a:pt x="5752729" y="693530"/>
                  <a:pt x="6249879" y="684652"/>
                </a:cubicBezTo>
              </a:path>
            </a:pathLst>
          </a:custGeom>
          <a:noFill/>
          <a:ln w="25560">
            <a:solidFill>
              <a:srgbClr val="0000F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763640" y="1197000"/>
            <a:ext cx="6267240" cy="3447720"/>
          </a:xfrm>
          <a:custGeom>
            <a:avLst/>
            <a:gdLst>
              <a:gd name="textAreaLeft" fmla="*/ 0 w 6267240"/>
              <a:gd name="textAreaRight" fmla="*/ 6267600 w 6267240"/>
              <a:gd name="textAreaTop" fmla="*/ 0 h 3447720"/>
              <a:gd name="textAreaBottom" fmla="*/ 3448080 h 3447720"/>
              <a:gd name="GluePoint1X" fmla="*/ 0 w 6267635"/>
              <a:gd name="GluePoint1Y" fmla="*/ 3448050 h 711156"/>
              <a:gd name="GluePoint2X" fmla="*/ 1766603 w 6267635"/>
              <a:gd name="GluePoint2Y" fmla="*/ 3443245 h 711156"/>
              <a:gd name="GluePoint3X" fmla="*/ 2157209 w 6267635"/>
              <a:gd name="GluePoint3Y" fmla="*/ 3368753 h 711156"/>
              <a:gd name="GluePoint4X" fmla="*/ 2222320 w 6267635"/>
              <a:gd name="GluePoint4Y" fmla="*/ 2949419 h 711156"/>
              <a:gd name="GluePoint5X" fmla="*/ 2237106 w 6267635"/>
              <a:gd name="GluePoint5Y" fmla="*/ 2018727 h 711156"/>
              <a:gd name="GluePoint6X" fmla="*/ 2245984 w 6267635"/>
              <a:gd name="GluePoint6Y" fmla="*/ 736305 h 711156"/>
              <a:gd name="GluePoint7X" fmla="*/ 2281494 w 6267635"/>
              <a:gd name="GluePoint7Y" fmla="*/ 133698 h 711156"/>
              <a:gd name="GluePoint8X" fmla="*/ 2379146 w 6267635"/>
              <a:gd name="GluePoint8Y" fmla="*/ 133693 h 711156"/>
              <a:gd name="GluePoint9X" fmla="*/ 2583326 w 6267635"/>
              <a:gd name="GluePoint9Y" fmla="*/ 1588301 h 711156"/>
              <a:gd name="GluePoint10X" fmla="*/ 2849648 w 6267635"/>
              <a:gd name="GluePoint10Y" fmla="*/ 2622702 h 711156"/>
              <a:gd name="GluePoint11X" fmla="*/ 3426680 w 6267635"/>
              <a:gd name="GluePoint11Y" fmla="*/ 3189784 h 711156"/>
              <a:gd name="GluePoint12X" fmla="*/ 3914936 w 6267635"/>
              <a:gd name="GluePoint12Y" fmla="*/ 3366042 h 711156"/>
              <a:gd name="GluePoint13X" fmla="*/ 4926961 w 6267635"/>
              <a:gd name="GluePoint13Y" fmla="*/ 3410440 h 711156"/>
              <a:gd name="GluePoint14X" fmla="*/ 6267450 w 6267635"/>
              <a:gd name="GluePoint14Y" fmla="*/ 3443240 h 7111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6267635" h="711156">
                <a:moveTo>
                  <a:pt x="0" y="711156"/>
                </a:moveTo>
                <a:lnTo>
                  <a:pt x="1766655" y="710165"/>
                </a:lnTo>
                <a:cubicBezTo>
                  <a:pt x="2126200" y="707439"/>
                  <a:pt x="2081318" y="711776"/>
                  <a:pt x="2157273" y="694801"/>
                </a:cubicBezTo>
                <a:cubicBezTo>
                  <a:pt x="2233228" y="677826"/>
                  <a:pt x="2209070" y="654721"/>
                  <a:pt x="2222386" y="608314"/>
                </a:cubicBezTo>
                <a:cubicBezTo>
                  <a:pt x="2235702" y="561907"/>
                  <a:pt x="2233228" y="492435"/>
                  <a:pt x="2237172" y="416360"/>
                </a:cubicBezTo>
                <a:cubicBezTo>
                  <a:pt x="2241116" y="340285"/>
                  <a:pt x="2238652" y="216659"/>
                  <a:pt x="2246050" y="151862"/>
                </a:cubicBezTo>
                <a:cubicBezTo>
                  <a:pt x="2253448" y="87065"/>
                  <a:pt x="2259367" y="48290"/>
                  <a:pt x="2281561" y="27575"/>
                </a:cubicBezTo>
                <a:cubicBezTo>
                  <a:pt x="2303755" y="6860"/>
                  <a:pt x="2328909" y="-22428"/>
                  <a:pt x="2379216" y="27574"/>
                </a:cubicBezTo>
                <a:cubicBezTo>
                  <a:pt x="2429523" y="77576"/>
                  <a:pt x="2504983" y="242026"/>
                  <a:pt x="2583402" y="327585"/>
                </a:cubicBezTo>
                <a:cubicBezTo>
                  <a:pt x="2661821" y="413144"/>
                  <a:pt x="2709169" y="485878"/>
                  <a:pt x="2849732" y="540929"/>
                </a:cubicBezTo>
                <a:cubicBezTo>
                  <a:pt x="2990295" y="595980"/>
                  <a:pt x="3249228" y="632337"/>
                  <a:pt x="3426781" y="657889"/>
                </a:cubicBezTo>
                <a:cubicBezTo>
                  <a:pt x="3604334" y="683441"/>
                  <a:pt x="3664998" y="686657"/>
                  <a:pt x="3915052" y="694242"/>
                </a:cubicBezTo>
                <a:cubicBezTo>
                  <a:pt x="4165106" y="701827"/>
                  <a:pt x="4535009" y="700745"/>
                  <a:pt x="4927106" y="703399"/>
                </a:cubicBezTo>
                <a:lnTo>
                  <a:pt x="6267635" y="710164"/>
                </a:lnTo>
              </a:path>
            </a:pathLst>
          </a:cu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763640" y="4149720"/>
            <a:ext cx="6242040" cy="1440"/>
          </a:xfrm>
          <a:prstGeom prst="line">
            <a:avLst/>
          </a:prstGeom>
          <a:ln w="9360">
            <a:solidFill>
              <a:srgbClr val="00B05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4664160" y="1916280"/>
            <a:ext cx="4055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Muscle action potential (all-or-nothing)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4806720" y="4788000"/>
            <a:ext cx="40564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End plate potential (graded amplitude)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 flipV="1">
            <a:off x="2411280" y="4368960"/>
            <a:ext cx="1800" cy="27936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 rot="16200000">
            <a:off x="-295200" y="2997720"/>
            <a:ext cx="2759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Membrane potential (mV)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4287960" y="6227640"/>
            <a:ext cx="12088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Time (ms)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8" name=""/>
          <p:cNvCxnSpPr/>
          <p:nvPr/>
        </p:nvCxnSpPr>
        <p:spPr>
          <a:xfrm>
            <a:off x="2414160" y="4463640"/>
            <a:ext cx="1507680" cy="4320"/>
          </a:xfrm>
          <a:prstGeom prst="straightConnector1">
            <a:avLst/>
          </a:prstGeom>
          <a:ln w="9360">
            <a:solidFill>
              <a:srgbClr val="4A7EBB"/>
            </a:solidFill>
            <a:miter/>
            <a:headEnd len="med" type="arrow" w="med"/>
            <a:tailEnd len="med" type="arrow" w="med"/>
          </a:ln>
        </p:spPr>
      </p:cxnSp>
      <p:sp>
        <p:nvSpPr>
          <p:cNvPr id="379" name=""/>
          <p:cNvSpPr/>
          <p:nvPr/>
        </p:nvSpPr>
        <p:spPr>
          <a:xfrm>
            <a:off x="2487600" y="4921200"/>
            <a:ext cx="13539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Synaptic delay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908000" y="4653000"/>
            <a:ext cx="115092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Nerve stim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1709640" y="3878280"/>
            <a:ext cx="172836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Threshold for action potential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120680" y="5607000"/>
            <a:ext cx="6379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-10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1263600" y="3819600"/>
            <a:ext cx="5108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-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</a:t>
            </a: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1417680" y="2111400"/>
            <a:ext cx="307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1263600" y="404640"/>
            <a:ext cx="568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+50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596960" y="5805360"/>
            <a:ext cx="307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4665600" y="5805360"/>
            <a:ext cx="307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7734240" y="5805360"/>
            <a:ext cx="4345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2173320" y="115920"/>
            <a:ext cx="68158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800" b="0" u="none" strike="noStrike">
                <a:solidFill>
                  <a:srgbClr val="0000FF"/>
                </a:solidFill>
                <a:effectLst/>
                <a:uFillTx/>
                <a:latin typeface="Comic Sans MS"/>
                <a:ea typeface="DejaVu Sans"/>
              </a:rPr>
              <a:t>End plate potential &amp; ACh concentration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4940280" y="3213000"/>
            <a:ext cx="24289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Transmission success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5001840" y="3608280"/>
            <a:ext cx="22258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Transmission failure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 flipH="1">
            <a:off x="4268520" y="3397320"/>
            <a:ext cx="647640" cy="6253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 flipH="1">
            <a:off x="4394160" y="3801960"/>
            <a:ext cx="649440" cy="6159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 flipV="1">
            <a:off x="3165480" y="4508640"/>
            <a:ext cx="1440" cy="44280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20" tIns="46800" rIns="72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>
            <a:off x="399960" y="4784760"/>
            <a:ext cx="7962480" cy="772560"/>
          </a:xfrm>
          <a:custGeom>
            <a:avLst/>
            <a:gdLst>
              <a:gd name="textAreaLeft" fmla="*/ 0 w 7962480"/>
              <a:gd name="textAreaRight" fmla="*/ 7962840 w 7962480"/>
              <a:gd name="textAreaTop" fmla="*/ 0 h 772560"/>
              <a:gd name="textAreaBottom" fmla="*/ 772920 h 77256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1581120" y="363600"/>
            <a:ext cx="4874760" cy="4381200"/>
          </a:xfrm>
          <a:custGeom>
            <a:avLst/>
            <a:gdLst>
              <a:gd name="textAreaLeft" fmla="*/ 0 w 4874760"/>
              <a:gd name="textAreaRight" fmla="*/ 4875120 w 4874760"/>
              <a:gd name="textAreaTop" fmla="*/ 0 h 4381200"/>
              <a:gd name="textAreaBottom" fmla="*/ 4381560 h 438120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2889360" y="2852640"/>
            <a:ext cx="423360" cy="4456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2846160" y="288756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3591000" y="3271680"/>
            <a:ext cx="423360" cy="44424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3566880" y="330660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4352760" y="3068640"/>
            <a:ext cx="423720" cy="4456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4328640" y="310500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3429000" y="4280040"/>
            <a:ext cx="421920" cy="4438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3404880" y="431496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4208400" y="4280040"/>
            <a:ext cx="423720" cy="4438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4184280" y="431496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2798640" y="4280040"/>
            <a:ext cx="423720" cy="44388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2774520" y="431496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9" name=""/>
          <p:cNvCxnSpPr/>
          <p:nvPr/>
        </p:nvCxnSpPr>
        <p:spPr>
          <a:xfrm flipH="1">
            <a:off x="3020760" y="3460680"/>
            <a:ext cx="39240" cy="6901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410" name=""/>
          <p:cNvCxnSpPr/>
          <p:nvPr/>
        </p:nvCxnSpPr>
        <p:spPr>
          <a:xfrm flipH="1">
            <a:off x="3707640" y="3860640"/>
            <a:ext cx="36000" cy="27864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411" name=""/>
          <p:cNvCxnSpPr/>
          <p:nvPr/>
        </p:nvCxnSpPr>
        <p:spPr>
          <a:xfrm flipH="1">
            <a:off x="4500360" y="3614760"/>
            <a:ext cx="64440" cy="53604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sp>
        <p:nvSpPr>
          <p:cNvPr id="412" name=""/>
          <p:cNvSpPr/>
          <p:nvPr/>
        </p:nvSpPr>
        <p:spPr>
          <a:xfrm>
            <a:off x="3160800" y="5373720"/>
            <a:ext cx="502920" cy="35352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3308400" y="5373720"/>
            <a:ext cx="194760" cy="35352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2941560" y="4616280"/>
            <a:ext cx="126720" cy="15552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3581280" y="4653000"/>
            <a:ext cx="12672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4373640" y="4645080"/>
            <a:ext cx="12672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3132000" y="5361120"/>
            <a:ext cx="12528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3562200" y="5361120"/>
            <a:ext cx="12672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3260880" y="5184720"/>
            <a:ext cx="113760" cy="790200"/>
          </a:xfrm>
          <a:custGeom>
            <a:avLst/>
            <a:gdLst>
              <a:gd name="textAreaLeft" fmla="*/ 0 w 113760"/>
              <a:gd name="textAreaRight" fmla="*/ 114120 w 113760"/>
              <a:gd name="textAreaTop" fmla="*/ 0 h 790200"/>
              <a:gd name="textAreaBottom" fmla="*/ 790560 h 790200"/>
              <a:gd name="GluePoint1X" fmla="*/ 0 w 115435"/>
              <a:gd name="GluePoint1Y" fmla="*/ 0 h 790113"/>
              <a:gd name="GluePoint2X" fmla="*/ 96694 w 115435"/>
              <a:gd name="GluePoint2Y" fmla="*/ 142126 h 790113"/>
              <a:gd name="GluePoint3X" fmla="*/ 114274 w 115435"/>
              <a:gd name="GluePoint3Y" fmla="*/ 790575 h 790113"/>
              <a:gd name="GluePoint4X" fmla="*/ 114274 w 115435"/>
              <a:gd name="GluePoint4Y" fmla="*/ 790575 h 790113"/>
              <a:gd name="GluePoint5X" fmla="*/ 114274 w 115435"/>
              <a:gd name="GluePoint5Y" fmla="*/ 790575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6880" tIns="46800" rIns="568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2852640" y="498780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 flipH="1" flipV="1">
            <a:off x="3428280" y="5157000"/>
            <a:ext cx="115560" cy="788760"/>
          </a:xfrm>
          <a:custGeom>
            <a:avLst/>
            <a:gdLst>
              <a:gd name="textAreaLeft" fmla="*/ -360 w 115560"/>
              <a:gd name="textAreaRight" fmla="*/ 115560 w 115560"/>
              <a:gd name="textAreaTop" fmla="*/ -360 h 788760"/>
              <a:gd name="textAreaBottom" fmla="*/ 788760 h 788760"/>
              <a:gd name="GluePoint1X" fmla="*/ 0 w 115435"/>
              <a:gd name="GluePoint1Y" fmla="*/ 0 h 790113"/>
              <a:gd name="GluePoint2X" fmla="*/ 98037 w 115435"/>
              <a:gd name="GluePoint2Y" fmla="*/ 141841 h 790113"/>
              <a:gd name="GluePoint3X" fmla="*/ 115862 w 115435"/>
              <a:gd name="GluePoint3Y" fmla="*/ 788987 h 790113"/>
              <a:gd name="GluePoint4X" fmla="*/ 115862 w 115435"/>
              <a:gd name="GluePoint4Y" fmla="*/ 788987 h 790113"/>
              <a:gd name="GluePoint5X" fmla="*/ 115862 w 115435"/>
              <a:gd name="GluePoint5Y" fmla="*/ 788987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0000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7960" tIns="46800" rIns="579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3487680" y="5769000"/>
            <a:ext cx="410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 baseline="30000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1846440" y="5362560"/>
            <a:ext cx="4403160" cy="1072800"/>
          </a:xfrm>
          <a:custGeom>
            <a:avLst/>
            <a:gdLst>
              <a:gd name="textAreaLeft" fmla="*/ 0 w 4403160"/>
              <a:gd name="textAreaRight" fmla="*/ 4403520 w 4403160"/>
              <a:gd name="textAreaTop" fmla="*/ 0 h 1072800"/>
              <a:gd name="textAreaBottom" fmla="*/ 1073160 h 107280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404640" y="5580000"/>
            <a:ext cx="904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3639960" y="179280"/>
            <a:ext cx="8283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2241720" y="6435720"/>
            <a:ext cx="3496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Acetylcholine receptor - Nicotinic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174240" y="212760"/>
            <a:ext cx="2213280" cy="12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Termination of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transmitter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 rot="1860000">
            <a:off x="1274760" y="5106960"/>
            <a:ext cx="19476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151680" y="3191040"/>
            <a:ext cx="462960" cy="453600"/>
          </a:xfrm>
          <a:prstGeom prst="flowChartSummingJunction">
            <a:avLst/>
          </a:prstGeom>
          <a:solidFill>
            <a:srgbClr val="DDD9C3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6803640" y="3430440"/>
            <a:ext cx="91944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36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5521320" y="357336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6329520" y="3471840"/>
            <a:ext cx="126360" cy="15516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6326280" y="3211560"/>
            <a:ext cx="126720" cy="1551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6737400" y="2852640"/>
            <a:ext cx="95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Choline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6000840" y="3657600"/>
            <a:ext cx="817200" cy="123480"/>
          </a:xfrm>
          <a:custGeom>
            <a:avLst/>
            <a:gdLst>
              <a:gd name="textAreaLeft" fmla="*/ 0 w 817200"/>
              <a:gd name="textAreaRight" fmla="*/ 817560 w 817200"/>
              <a:gd name="textAreaTop" fmla="*/ 0 h 123480"/>
              <a:gd name="textAreaBottom" fmla="*/ 123840 h 123480"/>
              <a:gd name="GluePoint1X" fmla="*/ 817563 w 816745"/>
              <a:gd name="GluePoint1Y" fmla="*/ 106152 h 124401"/>
              <a:gd name="GluePoint2X" fmla="*/ 444328 w 816745"/>
              <a:gd name="GluePoint2Y" fmla="*/ 113 h 124401"/>
              <a:gd name="GluePoint3X" fmla="*/ 0 w 816745"/>
              <a:gd name="GluePoint3Y" fmla="*/ 123825 h 124401"/>
              <a:gd name="GluePoint4X" fmla="*/ 0 w 816745"/>
              <a:gd name="GluePoint4Y" fmla="*/ 123825 h 124401"/>
              <a:gd name="GluePoint5X" fmla="*/ 0 w 816745"/>
              <a:gd name="GluePoint5Y" fmla="*/ 123825 h 1244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16745" h="124401">
                <a:moveTo>
                  <a:pt x="816745" y="106646"/>
                </a:moveTo>
                <a:cubicBezTo>
                  <a:pt x="698376" y="51900"/>
                  <a:pt x="580007" y="-2845"/>
                  <a:pt x="443883" y="114"/>
                </a:cubicBezTo>
                <a:cubicBezTo>
                  <a:pt x="307759" y="3073"/>
                  <a:pt x="0" y="124401"/>
                  <a:pt x="0" y="124401"/>
                </a:cubicBezTo>
                <a:lnTo>
                  <a:pt x="0" y="124401"/>
                </a:lnTo>
                <a:lnTo>
                  <a:pt x="0" y="124401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5942160" y="3081240"/>
            <a:ext cx="790200" cy="99720"/>
          </a:xfrm>
          <a:custGeom>
            <a:avLst/>
            <a:gdLst>
              <a:gd name="textAreaLeft" fmla="*/ 0 w 790200"/>
              <a:gd name="textAreaRight" fmla="*/ 790560 w 790200"/>
              <a:gd name="textAreaTop" fmla="*/ 0 h 99720"/>
              <a:gd name="textAreaBottom" fmla="*/ 100080 h 99720"/>
              <a:gd name="GluePoint1X" fmla="*/ 790575 w 790112"/>
              <a:gd name="GluePoint1Y" fmla="*/ 0 h 101289"/>
              <a:gd name="GluePoint2X" fmla="*/ 399729 w 790112"/>
              <a:gd name="GluePoint2Y" fmla="*/ 96424 h 101289"/>
              <a:gd name="GluePoint3X" fmla="*/ 0 w 790112"/>
              <a:gd name="GluePoint3Y" fmla="*/ 70127 h 1012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90112" h="101289">
                <a:moveTo>
                  <a:pt x="790112" y="0"/>
                </a:moveTo>
                <a:cubicBezTo>
                  <a:pt x="660646" y="42909"/>
                  <a:pt x="531180" y="85818"/>
                  <a:pt x="399495" y="97655"/>
                </a:cubicBezTo>
                <a:cubicBezTo>
                  <a:pt x="267810" y="109492"/>
                  <a:pt x="133905" y="90257"/>
                  <a:pt x="0" y="7102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5959800" y="2340000"/>
            <a:ext cx="24166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Choline uptake carrier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8" name=""/>
          <p:cNvPicPr/>
          <p:nvPr/>
        </p:nvPicPr>
        <p:blipFill>
          <a:blip r:embed="rId1"/>
          <a:srcRect l="26661" t="4037" r="26185" b="50004"/>
          <a:stretch/>
        </p:blipFill>
        <p:spPr>
          <a:xfrm rot="4980000">
            <a:off x="4882680" y="5002200"/>
            <a:ext cx="999720" cy="9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"/>
          <p:cNvSpPr/>
          <p:nvPr/>
        </p:nvSpPr>
        <p:spPr>
          <a:xfrm>
            <a:off x="5010120" y="5126040"/>
            <a:ext cx="124920" cy="1569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3736800" y="5113440"/>
            <a:ext cx="1153800" cy="256680"/>
          </a:xfrm>
          <a:custGeom>
            <a:avLst/>
            <a:gdLst>
              <a:gd name="textAreaLeft" fmla="*/ 0 w 1153800"/>
              <a:gd name="textAreaRight" fmla="*/ 1154160 w 1153800"/>
              <a:gd name="textAreaTop" fmla="*/ 0 h 256680"/>
              <a:gd name="textAreaBottom" fmla="*/ 257040 h 256680"/>
              <a:gd name="GluePoint1X" fmla="*/ 0 w 1154097"/>
              <a:gd name="GluePoint1Y" fmla="*/ 257175 h 257643"/>
              <a:gd name="GluePoint2X" fmla="*/ 612567 w 1154097"/>
              <a:gd name="GluePoint2Y" fmla="*/ 17913 h 257643"/>
              <a:gd name="GluePoint3X" fmla="*/ 1154113 w 1154097"/>
              <a:gd name="GluePoint3Y" fmla="*/ 35637 h 2576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154097" h="257643">
                <a:moveTo>
                  <a:pt x="0" y="257643"/>
                </a:moveTo>
                <a:cubicBezTo>
                  <a:pt x="210105" y="156289"/>
                  <a:pt x="420210" y="54936"/>
                  <a:pt x="612559" y="17946"/>
                </a:cubicBezTo>
                <a:cubicBezTo>
                  <a:pt x="804908" y="-19044"/>
                  <a:pt x="979502" y="8329"/>
                  <a:pt x="1154097" y="3570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6000840" y="4730760"/>
            <a:ext cx="126720" cy="1569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6068880" y="4998960"/>
            <a:ext cx="125280" cy="15516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6240600" y="3276720"/>
            <a:ext cx="1509120" cy="1480680"/>
          </a:xfrm>
          <a:custGeom>
            <a:avLst/>
            <a:gdLst>
              <a:gd name="textAreaLeft" fmla="*/ 0 w 1509120"/>
              <a:gd name="textAreaRight" fmla="*/ 1509480 w 1509120"/>
              <a:gd name="textAreaTop" fmla="*/ 0 h 1480680"/>
              <a:gd name="textAreaBottom" fmla="*/ 1481040 h 1480680"/>
              <a:gd name="GluePoint1X" fmla="*/ 0 w 1508990"/>
              <a:gd name="GluePoint1Y" fmla="*/ 1481138 h 1482570"/>
              <a:gd name="GluePoint2X" fmla="*/ 1234586 w 1508990"/>
              <a:gd name="GluePoint2Y" fmla="*/ 1135243 h 1482570"/>
              <a:gd name="GluePoint3X" fmla="*/ 1501044 w 1508990"/>
              <a:gd name="GluePoint3Y" fmla="*/ 576491 h 1482570"/>
              <a:gd name="GluePoint4X" fmla="*/ 1412224 w 1508990"/>
              <a:gd name="GluePoint4Y" fmla="*/ 150774 h 1482570"/>
              <a:gd name="GluePoint5X" fmla="*/ 1092475 w 1508990"/>
              <a:gd name="GluePoint5Y" fmla="*/ 17738 h 1482570"/>
              <a:gd name="GluePoint6X" fmla="*/ 692789 w 1508990"/>
              <a:gd name="GluePoint6Y" fmla="*/ 0 h 14825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08990" h="1482570">
                <a:moveTo>
                  <a:pt x="0" y="1482570"/>
                </a:moveTo>
                <a:cubicBezTo>
                  <a:pt x="491971" y="1384915"/>
                  <a:pt x="983942" y="1287261"/>
                  <a:pt x="1233996" y="1136341"/>
                </a:cubicBezTo>
                <a:cubicBezTo>
                  <a:pt x="1484050" y="985421"/>
                  <a:pt x="1470734" y="741285"/>
                  <a:pt x="1500326" y="577048"/>
                </a:cubicBezTo>
                <a:cubicBezTo>
                  <a:pt x="1529918" y="412811"/>
                  <a:pt x="1479611" y="244135"/>
                  <a:pt x="1411549" y="150920"/>
                </a:cubicBezTo>
                <a:cubicBezTo>
                  <a:pt x="1343487" y="57705"/>
                  <a:pt x="1211801" y="42908"/>
                  <a:pt x="1091953" y="17755"/>
                </a:cubicBezTo>
                <a:cubicBezTo>
                  <a:pt x="972105" y="-7398"/>
                  <a:pt x="924757" y="3699"/>
                  <a:pt x="692458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5548320" y="4979880"/>
            <a:ext cx="355320" cy="88560"/>
          </a:xfrm>
          <a:custGeom>
            <a:avLst/>
            <a:gdLst>
              <a:gd name="textAreaLeft" fmla="*/ 0 w 355320"/>
              <a:gd name="textAreaRight" fmla="*/ 355680 w 355320"/>
              <a:gd name="textAreaTop" fmla="*/ 0 h 88560"/>
              <a:gd name="textAreaBottom" fmla="*/ 88920 h 88560"/>
              <a:gd name="GluePoint1X" fmla="*/ 0 w 355106"/>
              <a:gd name="GluePoint1Y" fmla="*/ 88900 h 88777"/>
              <a:gd name="GluePoint2X" fmla="*/ 355600 w 355106"/>
              <a:gd name="GluePoint2Y" fmla="*/ 0 h 88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55106" h="88777">
                <a:moveTo>
                  <a:pt x="0" y="88777"/>
                </a:moveTo>
                <a:lnTo>
                  <a:pt x="355106" y="0"/>
                </a:ln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2120" rIns="90000" bIns="4212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6302520" y="4562640"/>
            <a:ext cx="1704600" cy="453600"/>
          </a:xfrm>
          <a:custGeom>
            <a:avLst/>
            <a:gdLst>
              <a:gd name="textAreaLeft" fmla="*/ 0 w 1704600"/>
              <a:gd name="textAreaRight" fmla="*/ 1704960 w 1704600"/>
              <a:gd name="textAreaTop" fmla="*/ 0 h 453600"/>
              <a:gd name="textAreaBottom" fmla="*/ 453960 h 453600"/>
              <a:gd name="GluePoint1X" fmla="*/ 0 w 1704512"/>
              <a:gd name="GluePoint1Y" fmla="*/ 454025 h 452761"/>
              <a:gd name="GluePoint2X" fmla="*/ 825847 w 1704512"/>
              <a:gd name="GluePoint2Y" fmla="*/ 213659 h 452761"/>
              <a:gd name="GluePoint3X" fmla="*/ 1704975 w 1704512"/>
              <a:gd name="GluePoint3Y" fmla="*/ 0 h 4527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04512" h="452761">
                <a:moveTo>
                  <a:pt x="0" y="452761"/>
                </a:moveTo>
                <a:cubicBezTo>
                  <a:pt x="270769" y="370642"/>
                  <a:pt x="541538" y="288524"/>
                  <a:pt x="825623" y="213064"/>
                </a:cubicBezTo>
                <a:cubicBezTo>
                  <a:pt x="1109708" y="137604"/>
                  <a:pt x="1407110" y="68802"/>
                  <a:pt x="1704512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6721560" y="3195720"/>
            <a:ext cx="126720" cy="156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8101080" y="4467240"/>
            <a:ext cx="124920" cy="15516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7858080" y="4076640"/>
            <a:ext cx="95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5726160" y="3063960"/>
            <a:ext cx="126720" cy="156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099840" y="5590080"/>
            <a:ext cx="2277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Acetylcholinesterase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0" dur="indefinite" restart="never" nodeType="tmRoot">
          <p:childTnLst>
            <p:seq>
              <p:cTn id="131" dur="indefinite" nodeType="mainSeq">
                <p:childTnLst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>
            <a:off x="399960" y="4784760"/>
            <a:ext cx="7962480" cy="772560"/>
          </a:xfrm>
          <a:custGeom>
            <a:avLst/>
            <a:gdLst>
              <a:gd name="textAreaLeft" fmla="*/ 0 w 7962480"/>
              <a:gd name="textAreaRight" fmla="*/ 7962840 w 7962480"/>
              <a:gd name="textAreaTop" fmla="*/ 0 h 772560"/>
              <a:gd name="textAreaBottom" fmla="*/ 772920 h 772560"/>
              <a:gd name="GluePoint1X" fmla="*/ 7962900 w 7963270"/>
              <a:gd name="GluePoint1Y" fmla="*/ 44423 h 772503"/>
              <a:gd name="GluePoint2X" fmla="*/ 7048542 w 7963270"/>
              <a:gd name="GluePoint2Y" fmla="*/ 115501 h 772503"/>
              <a:gd name="GluePoint3X" fmla="*/ 6515907 w 7963270"/>
              <a:gd name="GluePoint3Y" fmla="*/ 239886 h 772503"/>
              <a:gd name="GluePoint4X" fmla="*/ 5637059 w 7963270"/>
              <a:gd name="GluePoint4Y" fmla="*/ 648582 h 772503"/>
              <a:gd name="GluePoint5X" fmla="*/ 4669438 w 7963270"/>
              <a:gd name="GluePoint5Y" fmla="*/ 755198 h 772503"/>
              <a:gd name="GluePoint6X" fmla="*/ 3426622 w 7963270"/>
              <a:gd name="GluePoint6Y" fmla="*/ 772967 h 772503"/>
              <a:gd name="GluePoint7X" fmla="*/ 2414614 w 7963270"/>
              <a:gd name="GluePoint7Y" fmla="*/ 755198 h 772503"/>
              <a:gd name="GluePoint8X" fmla="*/ 1633415 w 7963270"/>
              <a:gd name="GluePoint8Y" fmla="*/ 675236 h 772503"/>
              <a:gd name="GluePoint9X" fmla="*/ 949867 w 7963270"/>
              <a:gd name="GluePoint9Y" fmla="*/ 479773 h 772503"/>
              <a:gd name="GluePoint10X" fmla="*/ 417232 w 7963270"/>
              <a:gd name="GluePoint10Y" fmla="*/ 88847 h 772503"/>
              <a:gd name="GluePoint11X" fmla="*/ 0 w 7963270"/>
              <a:gd name="GluePoint11Y" fmla="*/ 0 h 77250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7963270" h="772503">
                <a:moveTo>
                  <a:pt x="7963270" y="44388"/>
                </a:moveTo>
                <a:cubicBezTo>
                  <a:pt x="7626658" y="63623"/>
                  <a:pt x="7290047" y="82859"/>
                  <a:pt x="7048870" y="115410"/>
                </a:cubicBezTo>
                <a:cubicBezTo>
                  <a:pt x="6807693" y="147961"/>
                  <a:pt x="6751468" y="150920"/>
                  <a:pt x="6516210" y="239697"/>
                </a:cubicBezTo>
                <a:cubicBezTo>
                  <a:pt x="6280952" y="328474"/>
                  <a:pt x="5945080" y="562253"/>
                  <a:pt x="5637321" y="648070"/>
                </a:cubicBezTo>
                <a:cubicBezTo>
                  <a:pt x="5329562" y="733887"/>
                  <a:pt x="5038078" y="733888"/>
                  <a:pt x="4669655" y="754602"/>
                </a:cubicBezTo>
                <a:cubicBezTo>
                  <a:pt x="4301232" y="775317"/>
                  <a:pt x="3802602" y="772357"/>
                  <a:pt x="3426781" y="772357"/>
                </a:cubicBezTo>
                <a:cubicBezTo>
                  <a:pt x="3050960" y="772357"/>
                  <a:pt x="2713608" y="770878"/>
                  <a:pt x="2414726" y="754602"/>
                </a:cubicBezTo>
                <a:cubicBezTo>
                  <a:pt x="2115844" y="738326"/>
                  <a:pt x="1877627" y="720571"/>
                  <a:pt x="1633491" y="674703"/>
                </a:cubicBezTo>
                <a:cubicBezTo>
                  <a:pt x="1389355" y="628835"/>
                  <a:pt x="1152618" y="577048"/>
                  <a:pt x="949911" y="479394"/>
                </a:cubicBezTo>
                <a:cubicBezTo>
                  <a:pt x="747204" y="381740"/>
                  <a:pt x="575570" y="168676"/>
                  <a:pt x="417251" y="88777"/>
                </a:cubicBezTo>
                <a:cubicBezTo>
                  <a:pt x="258932" y="8878"/>
                  <a:pt x="129466" y="4439"/>
                  <a:pt x="0" y="0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1581120" y="363600"/>
            <a:ext cx="4874760" cy="4381200"/>
          </a:xfrm>
          <a:custGeom>
            <a:avLst/>
            <a:gdLst>
              <a:gd name="textAreaLeft" fmla="*/ 0 w 4874760"/>
              <a:gd name="textAreaRight" fmla="*/ 4875120 w 4874760"/>
              <a:gd name="textAreaTop" fmla="*/ 0 h 4381200"/>
              <a:gd name="textAreaBottom" fmla="*/ 4381560 h 4381200"/>
              <a:gd name="GluePoint1X" fmla="*/ 2894851 w 4875911"/>
              <a:gd name="GluePoint1Y" fmla="*/ 26507 h 4381571"/>
              <a:gd name="GluePoint2X" fmla="*/ 2850469 w 4875911"/>
              <a:gd name="GluePoint2Y" fmla="*/ 763341 h 4381571"/>
              <a:gd name="GluePoint3X" fmla="*/ 2956986 w 4875911"/>
              <a:gd name="GluePoint3Y" fmla="*/ 1651094 h 4381571"/>
              <a:gd name="GluePoint4X" fmla="*/ 3658221 w 4875911"/>
              <a:gd name="GluePoint4Y" fmla="*/ 2077215 h 4381571"/>
              <a:gd name="GluePoint5X" fmla="*/ 4412715 w 4875911"/>
              <a:gd name="GluePoint5Y" fmla="*/ 2592112 h 4381571"/>
              <a:gd name="GluePoint6X" fmla="*/ 4821029 w 4875911"/>
              <a:gd name="GluePoint6Y" fmla="*/ 3115886 h 4381571"/>
              <a:gd name="GluePoint7X" fmla="*/ 4856535 w 4875911"/>
              <a:gd name="GluePoint7Y" fmla="*/ 3533130 h 4381571"/>
              <a:gd name="GluePoint8X" fmla="*/ 4687884 w 4875911"/>
              <a:gd name="GluePoint8Y" fmla="*/ 3959251 h 4381571"/>
              <a:gd name="GluePoint9X" fmla="*/ 4110916 w 4875911"/>
              <a:gd name="GluePoint9Y" fmla="*/ 4261086 h 4381571"/>
              <a:gd name="GluePoint10X" fmla="*/ 2442153 w 4875911"/>
              <a:gd name="GluePoint10Y" fmla="*/ 4376495 h 4381571"/>
              <a:gd name="GluePoint11X" fmla="*/ 1110694 w 4875911"/>
              <a:gd name="GluePoint11Y" fmla="*/ 4358739 h 4381571"/>
              <a:gd name="GluePoint12X" fmla="*/ 391706 w 4875911"/>
              <a:gd name="GluePoint12Y" fmla="*/ 4154557 h 4381571"/>
              <a:gd name="GluePoint13X" fmla="*/ 27774 w 4875911"/>
              <a:gd name="GluePoint13Y" fmla="*/ 3613027 h 4381571"/>
              <a:gd name="GluePoint14X" fmla="*/ 152043 w 4875911"/>
              <a:gd name="GluePoint14Y" fmla="*/ 2769662 h 4381571"/>
              <a:gd name="GluePoint15X" fmla="*/ 1155076 w 4875911"/>
              <a:gd name="GluePoint15Y" fmla="*/ 1979563 h 4381571"/>
              <a:gd name="GluePoint16X" fmla="*/ 1856314 w 4875911"/>
              <a:gd name="GluePoint16Y" fmla="*/ 1553441 h 4381571"/>
              <a:gd name="GluePoint17X" fmla="*/ 2007210 w 4875911"/>
              <a:gd name="GluePoint17Y" fmla="*/ 541403 h 4381571"/>
              <a:gd name="GluePoint18X" fmla="*/ 2007212 w 4875911"/>
              <a:gd name="GluePoint18Y" fmla="*/ 8751 h 438157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4875911" h="4381571">
                <a:moveTo>
                  <a:pt x="2895265" y="26507"/>
                </a:moveTo>
                <a:cubicBezTo>
                  <a:pt x="2832382" y="381614"/>
                  <a:pt x="2840520" y="492584"/>
                  <a:pt x="2850877" y="763353"/>
                </a:cubicBezTo>
                <a:cubicBezTo>
                  <a:pt x="2861234" y="1034122"/>
                  <a:pt x="2822764" y="1432138"/>
                  <a:pt x="2957409" y="1651121"/>
                </a:cubicBezTo>
                <a:cubicBezTo>
                  <a:pt x="3092054" y="1870104"/>
                  <a:pt x="3416089" y="1920410"/>
                  <a:pt x="3658745" y="2077249"/>
                </a:cubicBezTo>
                <a:cubicBezTo>
                  <a:pt x="3901401" y="2234088"/>
                  <a:pt x="4219518" y="2419040"/>
                  <a:pt x="4413347" y="2592154"/>
                </a:cubicBezTo>
                <a:cubicBezTo>
                  <a:pt x="4607176" y="2765269"/>
                  <a:pt x="4747739" y="2959097"/>
                  <a:pt x="4821719" y="3115936"/>
                </a:cubicBezTo>
                <a:cubicBezTo>
                  <a:pt x="4895699" y="3272775"/>
                  <a:pt x="4879424" y="3392624"/>
                  <a:pt x="4857230" y="3533187"/>
                </a:cubicBezTo>
                <a:cubicBezTo>
                  <a:pt x="4835036" y="3673750"/>
                  <a:pt x="4812842" y="3837987"/>
                  <a:pt x="4688555" y="3959315"/>
                </a:cubicBezTo>
                <a:cubicBezTo>
                  <a:pt x="4564268" y="4080643"/>
                  <a:pt x="4485847" y="4191613"/>
                  <a:pt x="4111505" y="4261155"/>
                </a:cubicBezTo>
                <a:cubicBezTo>
                  <a:pt x="3737163" y="4330697"/>
                  <a:pt x="2942612" y="4360290"/>
                  <a:pt x="2442503" y="4376566"/>
                </a:cubicBezTo>
                <a:cubicBezTo>
                  <a:pt x="1942394" y="4392842"/>
                  <a:pt x="1554736" y="4364729"/>
                  <a:pt x="1110853" y="4358810"/>
                </a:cubicBezTo>
                <a:cubicBezTo>
                  <a:pt x="769063" y="4321820"/>
                  <a:pt x="572275" y="4278911"/>
                  <a:pt x="391762" y="4154624"/>
                </a:cubicBezTo>
                <a:cubicBezTo>
                  <a:pt x="211249" y="4030337"/>
                  <a:pt x="67727" y="3843905"/>
                  <a:pt x="27778" y="3613086"/>
                </a:cubicBezTo>
                <a:cubicBezTo>
                  <a:pt x="-12171" y="3382267"/>
                  <a:pt x="-35845" y="3041955"/>
                  <a:pt x="152065" y="2769707"/>
                </a:cubicBezTo>
                <a:cubicBezTo>
                  <a:pt x="339975" y="2497459"/>
                  <a:pt x="871155" y="2182302"/>
                  <a:pt x="1155241" y="1979595"/>
                </a:cubicBezTo>
                <a:cubicBezTo>
                  <a:pt x="1439327" y="1776888"/>
                  <a:pt x="1714537" y="1793163"/>
                  <a:pt x="1856580" y="1553466"/>
                </a:cubicBezTo>
                <a:cubicBezTo>
                  <a:pt x="1998623" y="1313769"/>
                  <a:pt x="1982344" y="798864"/>
                  <a:pt x="2007497" y="541412"/>
                </a:cubicBezTo>
                <a:cubicBezTo>
                  <a:pt x="2032650" y="283960"/>
                  <a:pt x="2019336" y="-59311"/>
                  <a:pt x="2007499" y="8751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2798640" y="3933720"/>
            <a:ext cx="423720" cy="444240"/>
          </a:xfrm>
          <a:prstGeom prst="ellipse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2757240" y="3995640"/>
            <a:ext cx="527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4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3160800" y="5373720"/>
            <a:ext cx="502920" cy="35352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3308400" y="5373720"/>
            <a:ext cx="194760" cy="353520"/>
          </a:xfrm>
          <a:prstGeom prst="can">
            <a:avLst>
              <a:gd name="adj" fmla="val 21490"/>
            </a:avLst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3132000" y="5361120"/>
            <a:ext cx="12528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3562200" y="5361120"/>
            <a:ext cx="126720" cy="1551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3260880" y="5184720"/>
            <a:ext cx="113760" cy="790200"/>
          </a:xfrm>
          <a:custGeom>
            <a:avLst/>
            <a:gdLst>
              <a:gd name="textAreaLeft" fmla="*/ 0 w 113760"/>
              <a:gd name="textAreaRight" fmla="*/ 114120 w 113760"/>
              <a:gd name="textAreaTop" fmla="*/ 0 h 790200"/>
              <a:gd name="textAreaBottom" fmla="*/ 790560 h 790200"/>
              <a:gd name="GluePoint1X" fmla="*/ 0 w 115435"/>
              <a:gd name="GluePoint1Y" fmla="*/ 0 h 790113"/>
              <a:gd name="GluePoint2X" fmla="*/ 96694 w 115435"/>
              <a:gd name="GluePoint2Y" fmla="*/ 142126 h 790113"/>
              <a:gd name="GluePoint3X" fmla="*/ 114274 w 115435"/>
              <a:gd name="GluePoint3Y" fmla="*/ 790575 h 790113"/>
              <a:gd name="GluePoint4X" fmla="*/ 114274 w 115435"/>
              <a:gd name="GluePoint4Y" fmla="*/ 790575 h 790113"/>
              <a:gd name="GluePoint5X" fmla="*/ 114274 w 115435"/>
              <a:gd name="GluePoint5Y" fmla="*/ 790575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6880" tIns="46800" rIns="5688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2852640" y="498780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 flipH="1" flipV="1">
            <a:off x="3428280" y="5157000"/>
            <a:ext cx="115560" cy="788760"/>
          </a:xfrm>
          <a:custGeom>
            <a:avLst/>
            <a:gdLst>
              <a:gd name="textAreaLeft" fmla="*/ -360 w 115560"/>
              <a:gd name="textAreaRight" fmla="*/ 115560 w 115560"/>
              <a:gd name="textAreaTop" fmla="*/ -360 h 788760"/>
              <a:gd name="textAreaBottom" fmla="*/ 788760 h 788760"/>
              <a:gd name="GluePoint1X" fmla="*/ 0 w 115435"/>
              <a:gd name="GluePoint1Y" fmla="*/ 0 h 790113"/>
              <a:gd name="GluePoint2X" fmla="*/ 98037 w 115435"/>
              <a:gd name="GluePoint2Y" fmla="*/ 141841 h 790113"/>
              <a:gd name="GluePoint3X" fmla="*/ 115862 w 115435"/>
              <a:gd name="GluePoint3Y" fmla="*/ 788987 h 790113"/>
              <a:gd name="GluePoint4X" fmla="*/ 115862 w 115435"/>
              <a:gd name="GluePoint4Y" fmla="*/ 788987 h 790113"/>
              <a:gd name="GluePoint5X" fmla="*/ 115862 w 115435"/>
              <a:gd name="GluePoint5Y" fmla="*/ 788987 h 79011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15435" h="790113">
                <a:moveTo>
                  <a:pt x="0" y="0"/>
                </a:moveTo>
                <a:cubicBezTo>
                  <a:pt x="39209" y="5179"/>
                  <a:pt x="78419" y="10358"/>
                  <a:pt x="97654" y="142043"/>
                </a:cubicBezTo>
                <a:cubicBezTo>
                  <a:pt x="116889" y="273728"/>
                  <a:pt x="115409" y="790113"/>
                  <a:pt x="115409" y="790113"/>
                </a:cubicBezTo>
                <a:lnTo>
                  <a:pt x="115409" y="790113"/>
                </a:lnTo>
                <a:lnTo>
                  <a:pt x="115409" y="790113"/>
                </a:lnTo>
              </a:path>
            </a:pathLst>
          </a:custGeom>
          <a:noFill/>
          <a:ln w="25560">
            <a:solidFill>
              <a:srgbClr val="0000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57960" tIns="46800" rIns="579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3487680" y="5769000"/>
            <a:ext cx="410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K</a:t>
            </a:r>
            <a:r>
              <a:rPr lang="en-GB" sz="1800" b="0" u="none" strike="noStrike" baseline="30000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1846440" y="5362560"/>
            <a:ext cx="4403160" cy="1072800"/>
          </a:xfrm>
          <a:custGeom>
            <a:avLst/>
            <a:gdLst>
              <a:gd name="textAreaLeft" fmla="*/ 0 w 4403160"/>
              <a:gd name="textAreaRight" fmla="*/ 4403520 w 4403160"/>
              <a:gd name="textAreaTop" fmla="*/ 0 h 1072800"/>
              <a:gd name="textAreaBottom" fmla="*/ 1073160 h 1072800"/>
              <a:gd name="GluePoint1X" fmla="*/ 4403725 w 4403325"/>
              <a:gd name="GluePoint1Y" fmla="*/ 0 h 1074198"/>
              <a:gd name="GluePoint2X" fmla="*/ 4066342 w 4403325"/>
              <a:gd name="GluePoint2Y" fmla="*/ 620831 h 1074198"/>
              <a:gd name="GluePoint3X" fmla="*/ 3214009 w 4403325"/>
              <a:gd name="GluePoint3Y" fmla="*/ 957853 h 1074198"/>
              <a:gd name="GluePoint4X" fmla="*/ 1899995 w 4403325"/>
              <a:gd name="GluePoint4Y" fmla="*/ 1073150 h 1074198"/>
              <a:gd name="GluePoint5X" fmla="*/ 932241 w 4403325"/>
              <a:gd name="GluePoint5Y" fmla="*/ 957853 h 1074198"/>
              <a:gd name="GluePoint6X" fmla="*/ 195327 w 4403325"/>
              <a:gd name="GluePoint6Y" fmla="*/ 461188 h 1074198"/>
              <a:gd name="GluePoint7X" fmla="*/ 0 w 4403325"/>
              <a:gd name="GluePoint7Y" fmla="*/ 62082 h 10741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4403325" h="1074198">
                <a:moveTo>
                  <a:pt x="4403325" y="0"/>
                </a:moveTo>
                <a:cubicBezTo>
                  <a:pt x="4333783" y="230819"/>
                  <a:pt x="4264241" y="461639"/>
                  <a:pt x="4065973" y="621437"/>
                </a:cubicBezTo>
                <a:cubicBezTo>
                  <a:pt x="3867705" y="781235"/>
                  <a:pt x="3574742" y="883328"/>
                  <a:pt x="3213717" y="958788"/>
                </a:cubicBezTo>
                <a:cubicBezTo>
                  <a:pt x="2852692" y="1034248"/>
                  <a:pt x="2280082" y="1074198"/>
                  <a:pt x="1899822" y="1074198"/>
                </a:cubicBezTo>
                <a:cubicBezTo>
                  <a:pt x="1519562" y="1074198"/>
                  <a:pt x="1216241" y="1060881"/>
                  <a:pt x="932156" y="958788"/>
                </a:cubicBezTo>
                <a:cubicBezTo>
                  <a:pt x="648071" y="856695"/>
                  <a:pt x="350668" y="611079"/>
                  <a:pt x="195309" y="461638"/>
                </a:cubicBezTo>
                <a:cubicBezTo>
                  <a:pt x="39950" y="312197"/>
                  <a:pt x="19975" y="187170"/>
                  <a:pt x="0" y="62143"/>
                </a:cubicBezTo>
              </a:path>
            </a:pathLst>
          </a:custGeom>
          <a:noFill/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404640" y="5580000"/>
            <a:ext cx="904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Muscle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3613320" y="324000"/>
            <a:ext cx="8283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AXON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2241720" y="6435720"/>
            <a:ext cx="34963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Acetylcholine receptor - Nicotinic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179280" y="189000"/>
            <a:ext cx="3446280" cy="45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24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Synthesis of transmitter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 rot="1860000">
            <a:off x="1274760" y="5106960"/>
            <a:ext cx="194760" cy="353520"/>
          </a:xfrm>
          <a:prstGeom prst="can">
            <a:avLst>
              <a:gd name="adj" fmla="val 21490"/>
            </a:avLst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6151680" y="3191040"/>
            <a:ext cx="462960" cy="453600"/>
          </a:xfrm>
          <a:prstGeom prst="flowChartSummingJunction">
            <a:avLst/>
          </a:prstGeom>
          <a:solidFill>
            <a:srgbClr val="DDD9C3"/>
          </a:solidFill>
          <a:ln w="25560">
            <a:solidFill>
              <a:srgbClr val="00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6803640" y="3430440"/>
            <a:ext cx="91944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36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36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5740560" y="3781440"/>
            <a:ext cx="5500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Na</a:t>
            </a:r>
            <a:r>
              <a:rPr lang="en-GB" sz="1800" b="0" u="none" strike="noStrike" baseline="30000">
                <a:solidFill>
                  <a:srgbClr val="FF0000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6329520" y="3471840"/>
            <a:ext cx="126360" cy="15516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326280" y="3211560"/>
            <a:ext cx="126720" cy="1551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6737400" y="2852640"/>
            <a:ext cx="95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Choline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000840" y="3657600"/>
            <a:ext cx="817200" cy="123480"/>
          </a:xfrm>
          <a:custGeom>
            <a:avLst/>
            <a:gdLst>
              <a:gd name="textAreaLeft" fmla="*/ 0 w 817200"/>
              <a:gd name="textAreaRight" fmla="*/ 817560 w 817200"/>
              <a:gd name="textAreaTop" fmla="*/ 0 h 123480"/>
              <a:gd name="textAreaBottom" fmla="*/ 123840 h 123480"/>
              <a:gd name="GluePoint1X" fmla="*/ 817563 w 816745"/>
              <a:gd name="GluePoint1Y" fmla="*/ 106152 h 124401"/>
              <a:gd name="GluePoint2X" fmla="*/ 444328 w 816745"/>
              <a:gd name="GluePoint2Y" fmla="*/ 113 h 124401"/>
              <a:gd name="GluePoint3X" fmla="*/ 0 w 816745"/>
              <a:gd name="GluePoint3Y" fmla="*/ 123825 h 124401"/>
              <a:gd name="GluePoint4X" fmla="*/ 0 w 816745"/>
              <a:gd name="GluePoint4Y" fmla="*/ 123825 h 124401"/>
              <a:gd name="GluePoint5X" fmla="*/ 0 w 816745"/>
              <a:gd name="GluePoint5Y" fmla="*/ 123825 h 12440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16745" h="124401">
                <a:moveTo>
                  <a:pt x="816745" y="106646"/>
                </a:moveTo>
                <a:cubicBezTo>
                  <a:pt x="698376" y="51900"/>
                  <a:pt x="580007" y="-2845"/>
                  <a:pt x="443883" y="114"/>
                </a:cubicBezTo>
                <a:cubicBezTo>
                  <a:pt x="307759" y="3073"/>
                  <a:pt x="0" y="124401"/>
                  <a:pt x="0" y="124401"/>
                </a:cubicBezTo>
                <a:lnTo>
                  <a:pt x="0" y="124401"/>
                </a:lnTo>
                <a:lnTo>
                  <a:pt x="0" y="124401"/>
                </a:lnTo>
              </a:path>
            </a:pathLst>
          </a:custGeom>
          <a:noFill/>
          <a:ln w="255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5942160" y="3081240"/>
            <a:ext cx="790200" cy="99720"/>
          </a:xfrm>
          <a:custGeom>
            <a:avLst/>
            <a:gdLst>
              <a:gd name="textAreaLeft" fmla="*/ 0 w 790200"/>
              <a:gd name="textAreaRight" fmla="*/ 790560 w 790200"/>
              <a:gd name="textAreaTop" fmla="*/ 0 h 99720"/>
              <a:gd name="textAreaBottom" fmla="*/ 100080 h 99720"/>
              <a:gd name="GluePoint1X" fmla="*/ 790575 w 790112"/>
              <a:gd name="GluePoint1Y" fmla="*/ 0 h 101289"/>
              <a:gd name="GluePoint2X" fmla="*/ 399729 w 790112"/>
              <a:gd name="GluePoint2Y" fmla="*/ 96424 h 101289"/>
              <a:gd name="GluePoint3X" fmla="*/ 0 w 790112"/>
              <a:gd name="GluePoint3Y" fmla="*/ 70127 h 1012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790112" h="101289">
                <a:moveTo>
                  <a:pt x="790112" y="0"/>
                </a:moveTo>
                <a:cubicBezTo>
                  <a:pt x="660646" y="42909"/>
                  <a:pt x="531180" y="85818"/>
                  <a:pt x="399495" y="97655"/>
                </a:cubicBezTo>
                <a:cubicBezTo>
                  <a:pt x="267810" y="109492"/>
                  <a:pt x="133905" y="90257"/>
                  <a:pt x="0" y="7102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5959800" y="2340000"/>
            <a:ext cx="24166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Choline uptake carrier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8" name=""/>
          <p:cNvPicPr/>
          <p:nvPr/>
        </p:nvPicPr>
        <p:blipFill>
          <a:blip r:embed="rId1"/>
          <a:srcRect l="26661" t="4037" r="26185" b="50004"/>
          <a:stretch/>
        </p:blipFill>
        <p:spPr>
          <a:xfrm rot="4980000">
            <a:off x="4882680" y="5002200"/>
            <a:ext cx="999720" cy="9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"/>
          <p:cNvSpPr/>
          <p:nvPr/>
        </p:nvSpPr>
        <p:spPr>
          <a:xfrm>
            <a:off x="6099480" y="5589720"/>
            <a:ext cx="2277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Acetylcholinesterase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5010120" y="5126040"/>
            <a:ext cx="124920" cy="15696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3736800" y="5113440"/>
            <a:ext cx="1153800" cy="256680"/>
          </a:xfrm>
          <a:custGeom>
            <a:avLst/>
            <a:gdLst>
              <a:gd name="textAreaLeft" fmla="*/ 0 w 1153800"/>
              <a:gd name="textAreaRight" fmla="*/ 1154160 w 1153800"/>
              <a:gd name="textAreaTop" fmla="*/ 0 h 256680"/>
              <a:gd name="textAreaBottom" fmla="*/ 257040 h 256680"/>
              <a:gd name="GluePoint1X" fmla="*/ 0 w 1154097"/>
              <a:gd name="GluePoint1Y" fmla="*/ 257175 h 257643"/>
              <a:gd name="GluePoint2X" fmla="*/ 612567 w 1154097"/>
              <a:gd name="GluePoint2Y" fmla="*/ 17913 h 257643"/>
              <a:gd name="GluePoint3X" fmla="*/ 1154113 w 1154097"/>
              <a:gd name="GluePoint3Y" fmla="*/ 35637 h 2576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154097" h="257643">
                <a:moveTo>
                  <a:pt x="0" y="257643"/>
                </a:moveTo>
                <a:cubicBezTo>
                  <a:pt x="210105" y="156289"/>
                  <a:pt x="420210" y="54936"/>
                  <a:pt x="612559" y="17946"/>
                </a:cubicBezTo>
                <a:cubicBezTo>
                  <a:pt x="804908" y="-19044"/>
                  <a:pt x="979502" y="8329"/>
                  <a:pt x="1154097" y="3570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6000840" y="4730760"/>
            <a:ext cx="126720" cy="15696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6068880" y="4998960"/>
            <a:ext cx="125280" cy="15516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6240600" y="3276720"/>
            <a:ext cx="1509120" cy="1480680"/>
          </a:xfrm>
          <a:custGeom>
            <a:avLst/>
            <a:gdLst>
              <a:gd name="textAreaLeft" fmla="*/ 0 w 1509120"/>
              <a:gd name="textAreaRight" fmla="*/ 1509480 w 1509120"/>
              <a:gd name="textAreaTop" fmla="*/ 0 h 1480680"/>
              <a:gd name="textAreaBottom" fmla="*/ 1481040 h 1480680"/>
              <a:gd name="GluePoint1X" fmla="*/ 0 w 1508990"/>
              <a:gd name="GluePoint1Y" fmla="*/ 1481138 h 1482570"/>
              <a:gd name="GluePoint2X" fmla="*/ 1234586 w 1508990"/>
              <a:gd name="GluePoint2Y" fmla="*/ 1135243 h 1482570"/>
              <a:gd name="GluePoint3X" fmla="*/ 1501044 w 1508990"/>
              <a:gd name="GluePoint3Y" fmla="*/ 576491 h 1482570"/>
              <a:gd name="GluePoint4X" fmla="*/ 1412224 w 1508990"/>
              <a:gd name="GluePoint4Y" fmla="*/ 150774 h 1482570"/>
              <a:gd name="GluePoint5X" fmla="*/ 1092475 w 1508990"/>
              <a:gd name="GluePoint5Y" fmla="*/ 17738 h 1482570"/>
              <a:gd name="GluePoint6X" fmla="*/ 692789 w 1508990"/>
              <a:gd name="GluePoint6Y" fmla="*/ 0 h 148257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08990" h="1482570">
                <a:moveTo>
                  <a:pt x="0" y="1482570"/>
                </a:moveTo>
                <a:cubicBezTo>
                  <a:pt x="491971" y="1384915"/>
                  <a:pt x="983942" y="1287261"/>
                  <a:pt x="1233996" y="1136341"/>
                </a:cubicBezTo>
                <a:cubicBezTo>
                  <a:pt x="1484050" y="985421"/>
                  <a:pt x="1470734" y="741285"/>
                  <a:pt x="1500326" y="577048"/>
                </a:cubicBezTo>
                <a:cubicBezTo>
                  <a:pt x="1529918" y="412811"/>
                  <a:pt x="1479611" y="244135"/>
                  <a:pt x="1411549" y="150920"/>
                </a:cubicBezTo>
                <a:cubicBezTo>
                  <a:pt x="1343487" y="57705"/>
                  <a:pt x="1211801" y="42908"/>
                  <a:pt x="1091953" y="17755"/>
                </a:cubicBezTo>
                <a:cubicBezTo>
                  <a:pt x="972105" y="-7398"/>
                  <a:pt x="924757" y="3699"/>
                  <a:pt x="692458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5548320" y="4979880"/>
            <a:ext cx="355320" cy="88560"/>
          </a:xfrm>
          <a:custGeom>
            <a:avLst/>
            <a:gdLst>
              <a:gd name="textAreaLeft" fmla="*/ 0 w 355320"/>
              <a:gd name="textAreaRight" fmla="*/ 355680 w 355320"/>
              <a:gd name="textAreaTop" fmla="*/ 0 h 88560"/>
              <a:gd name="textAreaBottom" fmla="*/ 88920 h 88560"/>
              <a:gd name="GluePoint1X" fmla="*/ 0 w 355106"/>
              <a:gd name="GluePoint1Y" fmla="*/ 88900 h 88777"/>
              <a:gd name="GluePoint2X" fmla="*/ 355600 w 355106"/>
              <a:gd name="GluePoint2Y" fmla="*/ 0 h 8877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55106" h="88777">
                <a:moveTo>
                  <a:pt x="0" y="88777"/>
                </a:moveTo>
                <a:lnTo>
                  <a:pt x="355106" y="0"/>
                </a:ln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2120" rIns="90000" bIns="4212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6302520" y="4562640"/>
            <a:ext cx="1704600" cy="453600"/>
          </a:xfrm>
          <a:custGeom>
            <a:avLst/>
            <a:gdLst>
              <a:gd name="textAreaLeft" fmla="*/ 0 w 1704600"/>
              <a:gd name="textAreaRight" fmla="*/ 1704960 w 1704600"/>
              <a:gd name="textAreaTop" fmla="*/ 0 h 453600"/>
              <a:gd name="textAreaBottom" fmla="*/ 453960 h 453600"/>
              <a:gd name="GluePoint1X" fmla="*/ 0 w 1704512"/>
              <a:gd name="GluePoint1Y" fmla="*/ 454025 h 452761"/>
              <a:gd name="GluePoint2X" fmla="*/ 825847 w 1704512"/>
              <a:gd name="GluePoint2Y" fmla="*/ 213659 h 452761"/>
              <a:gd name="GluePoint3X" fmla="*/ 1704975 w 1704512"/>
              <a:gd name="GluePoint3Y" fmla="*/ 0 h 4527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04512" h="452761">
                <a:moveTo>
                  <a:pt x="0" y="452761"/>
                </a:moveTo>
                <a:cubicBezTo>
                  <a:pt x="270769" y="370642"/>
                  <a:pt x="541538" y="288524"/>
                  <a:pt x="825623" y="213064"/>
                </a:cubicBezTo>
                <a:cubicBezTo>
                  <a:pt x="1109708" y="137604"/>
                  <a:pt x="1407110" y="68802"/>
                  <a:pt x="1704512" y="0"/>
                </a:cubicBezTo>
              </a:path>
            </a:pathLst>
          </a:custGeom>
          <a:noFill/>
          <a:ln w="25560">
            <a:solidFill>
              <a:srgbClr val="00B050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6721560" y="3195720"/>
            <a:ext cx="126720" cy="156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8101080" y="4467240"/>
            <a:ext cx="124920" cy="15516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2640" tIns="46800" rIns="6264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7858080" y="4076640"/>
            <a:ext cx="95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5726160" y="3063960"/>
            <a:ext cx="126720" cy="156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3335400" y="2320920"/>
            <a:ext cx="1215720" cy="43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3411360" y="2368440"/>
            <a:ext cx="1036440" cy="371160"/>
          </a:xfrm>
          <a:custGeom>
            <a:avLst/>
            <a:gdLst>
              <a:gd name="textAreaLeft" fmla="*/ 0 w 1036440"/>
              <a:gd name="textAreaRight" fmla="*/ 1037160 w 1036440"/>
              <a:gd name="textAreaTop" fmla="*/ 0 h 371160"/>
              <a:gd name="textAreaBottom" fmla="*/ 371880 h 371160"/>
              <a:gd name="GluePoint1X" fmla="*/ 15171 w 1036863"/>
              <a:gd name="GluePoint1Y" fmla="*/ 242809 h 371775"/>
              <a:gd name="GluePoint2X" fmla="*/ 6295 w 1036863"/>
              <a:gd name="GluePoint2Y" fmla="*/ 74269 h 371775"/>
              <a:gd name="GluePoint3X" fmla="*/ 86176 w 1036863"/>
              <a:gd name="GluePoint3Y" fmla="*/ 21046 h 371775"/>
              <a:gd name="GluePoint4X" fmla="*/ 228188 w 1036863"/>
              <a:gd name="GluePoint4Y" fmla="*/ 21046 h 371775"/>
              <a:gd name="GluePoint5X" fmla="*/ 316946 w 1036863"/>
              <a:gd name="GluePoint5Y" fmla="*/ 118622 h 371775"/>
              <a:gd name="GluePoint6X" fmla="*/ 334697 w 1036863"/>
              <a:gd name="GluePoint6Y" fmla="*/ 171845 h 371775"/>
              <a:gd name="GluePoint7X" fmla="*/ 343573 w 1036863"/>
              <a:gd name="GluePoint7Y" fmla="*/ 198457 h 371775"/>
              <a:gd name="GluePoint8X" fmla="*/ 441206 w 1036863"/>
              <a:gd name="GluePoint8Y" fmla="*/ 189586 h 371775"/>
              <a:gd name="GluePoint9X" fmla="*/ 467833 w 1036863"/>
              <a:gd name="GluePoint9Y" fmla="*/ 74269 h 371775"/>
              <a:gd name="GluePoint10X" fmla="*/ 476709 w 1036863"/>
              <a:gd name="GluePoint10Y" fmla="*/ 47658 h 371775"/>
              <a:gd name="GluePoint11X" fmla="*/ 565467 w 1036863"/>
              <a:gd name="GluePoint11Y" fmla="*/ 3305 h 371775"/>
              <a:gd name="GluePoint12X" fmla="*/ 654223 w 1036863"/>
              <a:gd name="GluePoint12Y" fmla="*/ 12176 h 371775"/>
              <a:gd name="GluePoint13X" fmla="*/ 663099 w 1036863"/>
              <a:gd name="GluePoint13Y" fmla="*/ 83140 h 371775"/>
              <a:gd name="GluePoint14X" fmla="*/ 689727 w 1036863"/>
              <a:gd name="GluePoint14Y" fmla="*/ 162974 h 371775"/>
              <a:gd name="GluePoint15X" fmla="*/ 689727 w 1036863"/>
              <a:gd name="GluePoint15Y" fmla="*/ 162974 h 371775"/>
              <a:gd name="GluePoint16X" fmla="*/ 760732 w 1036863"/>
              <a:gd name="GluePoint16Y" fmla="*/ 189586 h 371775"/>
              <a:gd name="GluePoint17X" fmla="*/ 822863 w 1036863"/>
              <a:gd name="GluePoint17Y" fmla="*/ 162974 h 371775"/>
              <a:gd name="GluePoint18X" fmla="*/ 849490 w 1036863"/>
              <a:gd name="GluePoint18Y" fmla="*/ 38788 h 371775"/>
              <a:gd name="GluePoint19X" fmla="*/ 884993 w 1036863"/>
              <a:gd name="GluePoint19Y" fmla="*/ 12176 h 371775"/>
              <a:gd name="GluePoint20X" fmla="*/ 1000377 w 1036863"/>
              <a:gd name="GluePoint20Y" fmla="*/ 38788 h 371775"/>
              <a:gd name="GluePoint21X" fmla="*/ 1018129 w 1036863"/>
              <a:gd name="GluePoint21Y" fmla="*/ 127492 h 371775"/>
              <a:gd name="GluePoint22X" fmla="*/ 1035880 w 1036863"/>
              <a:gd name="GluePoint22Y" fmla="*/ 331514 h 371775"/>
              <a:gd name="GluePoint23X" fmla="*/ 991502 w 1036863"/>
              <a:gd name="GluePoint23Y" fmla="*/ 366996 h 371775"/>
              <a:gd name="GluePoint24X" fmla="*/ 920495 w 1036863"/>
              <a:gd name="GluePoint24Y" fmla="*/ 269420 h 371775"/>
              <a:gd name="GluePoint25X" fmla="*/ 920495 w 1036863"/>
              <a:gd name="GluePoint25Y" fmla="*/ 162974 h 371775"/>
              <a:gd name="GluePoint26X" fmla="*/ 831739 w 1036863"/>
              <a:gd name="GluePoint26Y" fmla="*/ 296032 h 371775"/>
              <a:gd name="GluePoint27X" fmla="*/ 742981 w 1036863"/>
              <a:gd name="GluePoint27Y" fmla="*/ 322643 h 371775"/>
              <a:gd name="GluePoint28X" fmla="*/ 654223 w 1036863"/>
              <a:gd name="GluePoint28Y" fmla="*/ 251680 h 371775"/>
              <a:gd name="GluePoint29X" fmla="*/ 609845 w 1036863"/>
              <a:gd name="GluePoint29Y" fmla="*/ 162974 h 371775"/>
              <a:gd name="GluePoint30X" fmla="*/ 547715 w 1036863"/>
              <a:gd name="GluePoint30Y" fmla="*/ 251680 h 371775"/>
              <a:gd name="GluePoint31X" fmla="*/ 476709 w 1036863"/>
              <a:gd name="GluePoint31Y" fmla="*/ 278291 h 371775"/>
              <a:gd name="GluePoint32X" fmla="*/ 370200 w 1036863"/>
              <a:gd name="GluePoint32Y" fmla="*/ 296032 h 371775"/>
              <a:gd name="GluePoint33X" fmla="*/ 281443 w 1036863"/>
              <a:gd name="GluePoint33Y" fmla="*/ 242809 h 371775"/>
              <a:gd name="GluePoint34X" fmla="*/ 219313 w 1036863"/>
              <a:gd name="GluePoint34Y" fmla="*/ 136363 h 371775"/>
              <a:gd name="GluePoint35X" fmla="*/ 174934 w 1036863"/>
              <a:gd name="GluePoint35Y" fmla="*/ 136363 h 371775"/>
              <a:gd name="GluePoint36X" fmla="*/ 130556 w 1036863"/>
              <a:gd name="GluePoint36Y" fmla="*/ 136363 h 371775"/>
              <a:gd name="GluePoint37X" fmla="*/ 183810 w 1036863"/>
              <a:gd name="GluePoint37Y" fmla="*/ 269420 h 371775"/>
              <a:gd name="GluePoint38X" fmla="*/ 157183 w 1036863"/>
              <a:gd name="GluePoint38Y" fmla="*/ 278291 h 371775"/>
              <a:gd name="GluePoint39X" fmla="*/ 95052 w 1036863"/>
              <a:gd name="GluePoint39Y" fmla="*/ 260550 h 371775"/>
              <a:gd name="GluePoint40X" fmla="*/ 15171 w 1036863"/>
              <a:gd name="GluePoint40Y" fmla="*/ 242809 h 37177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</a:cxnLst>
            <a:rect l="textAreaLeft" t="textAreaTop" r="textAreaRight" b="textAreaBottom"/>
            <a:pathLst>
              <a:path w="1036863" h="371775">
                <a:moveTo>
                  <a:pt x="15174" y="243005"/>
                </a:moveTo>
                <a:cubicBezTo>
                  <a:pt x="378" y="211933"/>
                  <a:pt x="-5541" y="111319"/>
                  <a:pt x="6296" y="74329"/>
                </a:cubicBezTo>
                <a:cubicBezTo>
                  <a:pt x="18133" y="37339"/>
                  <a:pt x="49205" y="29941"/>
                  <a:pt x="86195" y="21063"/>
                </a:cubicBezTo>
                <a:cubicBezTo>
                  <a:pt x="123185" y="12185"/>
                  <a:pt x="189768" y="4787"/>
                  <a:pt x="228238" y="21063"/>
                </a:cubicBezTo>
                <a:cubicBezTo>
                  <a:pt x="266708" y="37339"/>
                  <a:pt x="299260" y="93565"/>
                  <a:pt x="317015" y="118718"/>
                </a:cubicBezTo>
                <a:cubicBezTo>
                  <a:pt x="334770" y="143871"/>
                  <a:pt x="334770" y="171984"/>
                  <a:pt x="334770" y="171984"/>
                </a:cubicBezTo>
                <a:cubicBezTo>
                  <a:pt x="339209" y="185300"/>
                  <a:pt x="325893" y="195658"/>
                  <a:pt x="343648" y="198617"/>
                </a:cubicBezTo>
                <a:cubicBezTo>
                  <a:pt x="361403" y="201576"/>
                  <a:pt x="420588" y="210454"/>
                  <a:pt x="441302" y="189739"/>
                </a:cubicBezTo>
                <a:cubicBezTo>
                  <a:pt x="462016" y="169024"/>
                  <a:pt x="462017" y="98003"/>
                  <a:pt x="467935" y="74329"/>
                </a:cubicBezTo>
                <a:cubicBezTo>
                  <a:pt x="473853" y="50655"/>
                  <a:pt x="460537" y="59533"/>
                  <a:pt x="476813" y="47696"/>
                </a:cubicBezTo>
                <a:cubicBezTo>
                  <a:pt x="493089" y="35859"/>
                  <a:pt x="535998" y="9226"/>
                  <a:pt x="565590" y="3308"/>
                </a:cubicBezTo>
                <a:cubicBezTo>
                  <a:pt x="595182" y="-2610"/>
                  <a:pt x="638090" y="-1130"/>
                  <a:pt x="654366" y="12186"/>
                </a:cubicBezTo>
                <a:cubicBezTo>
                  <a:pt x="670642" y="25502"/>
                  <a:pt x="657326" y="58054"/>
                  <a:pt x="663244" y="83207"/>
                </a:cubicBezTo>
                <a:cubicBezTo>
                  <a:pt x="669163" y="108360"/>
                  <a:pt x="689877" y="163106"/>
                  <a:pt x="689877" y="163106"/>
                </a:cubicBezTo>
                <a:lnTo>
                  <a:pt x="689877" y="163106"/>
                </a:lnTo>
                <a:cubicBezTo>
                  <a:pt x="701714" y="167545"/>
                  <a:pt x="738704" y="189739"/>
                  <a:pt x="760898" y="189739"/>
                </a:cubicBezTo>
                <a:cubicBezTo>
                  <a:pt x="783092" y="189739"/>
                  <a:pt x="808246" y="188259"/>
                  <a:pt x="823042" y="163106"/>
                </a:cubicBezTo>
                <a:cubicBezTo>
                  <a:pt x="837838" y="137953"/>
                  <a:pt x="839318" y="63972"/>
                  <a:pt x="849675" y="38819"/>
                </a:cubicBezTo>
                <a:cubicBezTo>
                  <a:pt x="860032" y="13666"/>
                  <a:pt x="860033" y="12186"/>
                  <a:pt x="885186" y="12186"/>
                </a:cubicBezTo>
                <a:cubicBezTo>
                  <a:pt x="910339" y="12186"/>
                  <a:pt x="978401" y="19584"/>
                  <a:pt x="1000595" y="38819"/>
                </a:cubicBezTo>
                <a:cubicBezTo>
                  <a:pt x="1022789" y="58054"/>
                  <a:pt x="1012433" y="78768"/>
                  <a:pt x="1018351" y="127595"/>
                </a:cubicBezTo>
                <a:cubicBezTo>
                  <a:pt x="1024270" y="176422"/>
                  <a:pt x="1040545" y="291833"/>
                  <a:pt x="1036106" y="331782"/>
                </a:cubicBezTo>
                <a:cubicBezTo>
                  <a:pt x="1031667" y="371731"/>
                  <a:pt x="1010953" y="377649"/>
                  <a:pt x="991718" y="367292"/>
                </a:cubicBezTo>
                <a:cubicBezTo>
                  <a:pt x="972483" y="356935"/>
                  <a:pt x="932533" y="303669"/>
                  <a:pt x="920696" y="269638"/>
                </a:cubicBezTo>
                <a:cubicBezTo>
                  <a:pt x="908859" y="235607"/>
                  <a:pt x="935492" y="158667"/>
                  <a:pt x="920696" y="163106"/>
                </a:cubicBezTo>
                <a:cubicBezTo>
                  <a:pt x="905900" y="167545"/>
                  <a:pt x="861512" y="269638"/>
                  <a:pt x="831920" y="296271"/>
                </a:cubicBezTo>
                <a:cubicBezTo>
                  <a:pt x="802328" y="322904"/>
                  <a:pt x="772735" y="330302"/>
                  <a:pt x="743143" y="322904"/>
                </a:cubicBezTo>
                <a:cubicBezTo>
                  <a:pt x="713551" y="315506"/>
                  <a:pt x="676560" y="278516"/>
                  <a:pt x="654366" y="251883"/>
                </a:cubicBezTo>
                <a:cubicBezTo>
                  <a:pt x="632172" y="225250"/>
                  <a:pt x="627733" y="163106"/>
                  <a:pt x="609978" y="163106"/>
                </a:cubicBezTo>
                <a:cubicBezTo>
                  <a:pt x="592223" y="163106"/>
                  <a:pt x="570028" y="232648"/>
                  <a:pt x="547834" y="251883"/>
                </a:cubicBezTo>
                <a:cubicBezTo>
                  <a:pt x="525640" y="271118"/>
                  <a:pt x="506405" y="271118"/>
                  <a:pt x="476813" y="278516"/>
                </a:cubicBezTo>
                <a:cubicBezTo>
                  <a:pt x="447221" y="285914"/>
                  <a:pt x="402833" y="302190"/>
                  <a:pt x="370281" y="296271"/>
                </a:cubicBezTo>
                <a:cubicBezTo>
                  <a:pt x="337729" y="290352"/>
                  <a:pt x="306657" y="269638"/>
                  <a:pt x="281504" y="243005"/>
                </a:cubicBezTo>
                <a:cubicBezTo>
                  <a:pt x="256351" y="216372"/>
                  <a:pt x="237116" y="154228"/>
                  <a:pt x="219361" y="136473"/>
                </a:cubicBezTo>
                <a:cubicBezTo>
                  <a:pt x="201606" y="118718"/>
                  <a:pt x="174972" y="136473"/>
                  <a:pt x="174972" y="136473"/>
                </a:cubicBezTo>
                <a:cubicBezTo>
                  <a:pt x="160176" y="136473"/>
                  <a:pt x="129104" y="114279"/>
                  <a:pt x="130584" y="136473"/>
                </a:cubicBezTo>
                <a:cubicBezTo>
                  <a:pt x="132064" y="158667"/>
                  <a:pt x="179411" y="245964"/>
                  <a:pt x="183850" y="269638"/>
                </a:cubicBezTo>
                <a:cubicBezTo>
                  <a:pt x="188289" y="293312"/>
                  <a:pt x="172013" y="279996"/>
                  <a:pt x="157217" y="278516"/>
                </a:cubicBezTo>
                <a:cubicBezTo>
                  <a:pt x="142421" y="277036"/>
                  <a:pt x="115788" y="269638"/>
                  <a:pt x="95073" y="260760"/>
                </a:cubicBezTo>
                <a:cubicBezTo>
                  <a:pt x="74358" y="251882"/>
                  <a:pt x="29970" y="274077"/>
                  <a:pt x="15174" y="243005"/>
                </a:cubicBez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rPr>
              <a:t>              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3065400" y="2887560"/>
            <a:ext cx="126720" cy="155160"/>
          </a:xfrm>
          <a:prstGeom prst="ellipse">
            <a:avLst/>
          </a:prstGeom>
          <a:solidFill>
            <a:srgbClr val="00B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2128680" y="2781360"/>
            <a:ext cx="95544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2664000" y="2538360"/>
            <a:ext cx="612360" cy="231480"/>
          </a:xfrm>
          <a:custGeom>
            <a:avLst/>
            <a:gdLst>
              <a:gd name="textAreaLeft" fmla="*/ 0 w 612360"/>
              <a:gd name="textAreaRight" fmla="*/ 612720 w 612360"/>
              <a:gd name="textAreaTop" fmla="*/ 0 h 231480"/>
              <a:gd name="textAreaBottom" fmla="*/ 231840 h 231480"/>
              <a:gd name="GluePoint1X" fmla="*/ 0 w 612559"/>
              <a:gd name="GluePoint1Y" fmla="*/ 231775 h 230819"/>
              <a:gd name="GluePoint2X" fmla="*/ 328590 w 612559"/>
              <a:gd name="GluePoint2Y" fmla="*/ 53487 h 230819"/>
              <a:gd name="GluePoint3X" fmla="*/ 612775 w 612559"/>
              <a:gd name="GluePoint3Y" fmla="*/ 0 h 230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612559" h="230819">
                <a:moveTo>
                  <a:pt x="0" y="230819"/>
                </a:moveTo>
                <a:cubicBezTo>
                  <a:pt x="113190" y="161277"/>
                  <a:pt x="226381" y="91736"/>
                  <a:pt x="328474" y="53266"/>
                </a:cubicBezTo>
                <a:cubicBezTo>
                  <a:pt x="430567" y="14796"/>
                  <a:pt x="521563" y="7398"/>
                  <a:pt x="612559" y="0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570560" y="2965320"/>
            <a:ext cx="1152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AcCoA  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4651200" y="2476440"/>
            <a:ext cx="452160" cy="372600"/>
          </a:xfrm>
          <a:custGeom>
            <a:avLst/>
            <a:gdLst>
              <a:gd name="textAreaLeft" fmla="*/ 0 w 452160"/>
              <a:gd name="textAreaRight" fmla="*/ 452520 w 452160"/>
              <a:gd name="textAreaTop" fmla="*/ 0 h 372600"/>
              <a:gd name="textAreaBottom" fmla="*/ 372960 h 372600"/>
              <a:gd name="GluePoint1X" fmla="*/ 0 w 451143"/>
              <a:gd name="GluePoint1Y" fmla="*/ 0 h 372862"/>
              <a:gd name="GluePoint2X" fmla="*/ 391739 w 451143"/>
              <a:gd name="GluePoint2Y" fmla="*/ 248709 h 372862"/>
              <a:gd name="GluePoint3X" fmla="*/ 445158 w 451143"/>
              <a:gd name="GluePoint3Y" fmla="*/ 373063 h 37286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451143" h="372862">
                <a:moveTo>
                  <a:pt x="0" y="0"/>
                </a:moveTo>
                <a:cubicBezTo>
                  <a:pt x="158318" y="93215"/>
                  <a:pt x="316637" y="186431"/>
                  <a:pt x="390618" y="248575"/>
                </a:cubicBezTo>
                <a:cubicBezTo>
                  <a:pt x="464599" y="310719"/>
                  <a:pt x="454241" y="341790"/>
                  <a:pt x="443884" y="37286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4676760" y="3995640"/>
            <a:ext cx="624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9" name=""/>
          <p:cNvCxnSpPr/>
          <p:nvPr/>
        </p:nvCxnSpPr>
        <p:spPr>
          <a:xfrm flipH="1">
            <a:off x="5076360" y="3414600"/>
            <a:ext cx="307080" cy="520200"/>
          </a:xfrm>
          <a:prstGeom prst="straightConnector1">
            <a:avLst/>
          </a:prstGeom>
          <a:ln w="9360">
            <a:solidFill>
              <a:srgbClr val="0000FF"/>
            </a:solidFill>
            <a:miter/>
            <a:tailEnd len="med" type="arrow" w="med"/>
          </a:ln>
        </p:spPr>
      </p:cxnSp>
      <p:sp>
        <p:nvSpPr>
          <p:cNvPr id="500" name=""/>
          <p:cNvSpPr/>
          <p:nvPr/>
        </p:nvSpPr>
        <p:spPr>
          <a:xfrm>
            <a:off x="2608560" y="3375000"/>
            <a:ext cx="27597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00FF"/>
                </a:solidFill>
                <a:effectLst/>
                <a:uFillTx/>
                <a:latin typeface="Arial"/>
                <a:ea typeface="DejaVu Sans"/>
              </a:rPr>
              <a:t>Choline acetyltransferase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4913640" y="1125360"/>
            <a:ext cx="32104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AcCoA  = Acetyl Coenzyme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2" name=""/>
          <p:cNvCxnSpPr/>
          <p:nvPr/>
        </p:nvCxnSpPr>
        <p:spPr>
          <a:xfrm flipH="1">
            <a:off x="3796560" y="4179960"/>
            <a:ext cx="918720" cy="2520"/>
          </a:xfrm>
          <a:prstGeom prst="straightConnector1">
            <a:avLst/>
          </a:prstGeom>
          <a:ln w="9360">
            <a:solidFill>
              <a:srgbClr val="00B050"/>
            </a:solidFill>
            <a:miter/>
            <a:tailEnd len="med" type="arrow" w="med"/>
          </a:ln>
        </p:spPr>
      </p:cxnSp>
      <p:sp>
        <p:nvSpPr>
          <p:cNvPr id="503" name=""/>
          <p:cNvSpPr/>
          <p:nvPr/>
        </p:nvSpPr>
        <p:spPr>
          <a:xfrm rot="21300000">
            <a:off x="2847240" y="3815640"/>
            <a:ext cx="302760" cy="134640"/>
          </a:xfrm>
          <a:custGeom>
            <a:avLst/>
            <a:gdLst>
              <a:gd name="textAreaLeft" fmla="*/ 0 w 302760"/>
              <a:gd name="textAreaRight" fmla="*/ 303120 w 302760"/>
              <a:gd name="textAreaTop" fmla="*/ 0 h 134640"/>
              <a:gd name="textAreaBottom" fmla="*/ 135000 h 134640"/>
              <a:gd name="GluePoint1X" fmla="*/ 22490 w 303213"/>
              <a:gd name="GluePoint1Y" fmla="*/ 0 h 134938"/>
              <a:gd name="GluePoint2X" fmla="*/ 280723 w 303213"/>
              <a:gd name="GluePoint2Y" fmla="*/ 0 h 134938"/>
              <a:gd name="GluePoint3X" fmla="*/ 303213 w 303213"/>
              <a:gd name="GluePoint3Y" fmla="*/ 22490 h 134938"/>
              <a:gd name="GluePoint4X" fmla="*/ 303213 w 303213"/>
              <a:gd name="GluePoint4Y" fmla="*/ 134938 h 134938"/>
              <a:gd name="GluePoint5X" fmla="*/ 303213 w 303213"/>
              <a:gd name="GluePoint5Y" fmla="*/ 134938 h 134938"/>
              <a:gd name="GluePoint6X" fmla="*/ 0 w 303213"/>
              <a:gd name="GluePoint6Y" fmla="*/ 134938 h 134938"/>
              <a:gd name="GluePoint7X" fmla="*/ 0 w 303213"/>
              <a:gd name="GluePoint7Y" fmla="*/ 134938 h 134938"/>
              <a:gd name="GluePoint8X" fmla="*/ 0 w 303213"/>
              <a:gd name="GluePoint8Y" fmla="*/ 22490 h 134938"/>
              <a:gd name="GluePoint9X" fmla="*/ 22490 w 303213"/>
              <a:gd name="GluePoint9Y" fmla="*/ 0 h 13493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303213" h="134938">
                <a:moveTo>
                  <a:pt x="22490" y="0"/>
                </a:moveTo>
                <a:lnTo>
                  <a:pt x="280723" y="0"/>
                </a:lnTo>
                <a:lnTo>
                  <a:pt x="303213" y="22490"/>
                </a:lnTo>
                <a:lnTo>
                  <a:pt x="303213" y="134938"/>
                </a:lnTo>
                <a:lnTo>
                  <a:pt x="303213" y="134938"/>
                </a:lnTo>
                <a:lnTo>
                  <a:pt x="0" y="134938"/>
                </a:lnTo>
                <a:lnTo>
                  <a:pt x="0" y="134938"/>
                </a:lnTo>
                <a:lnTo>
                  <a:pt x="0" y="22490"/>
                </a:lnTo>
                <a:lnTo>
                  <a:pt x="22490" y="0"/>
                </a:lnTo>
                <a:close/>
              </a:path>
            </a:pathLst>
          </a:custGeom>
          <a:solidFill>
            <a:srgbClr val="00B050"/>
          </a:solidFill>
          <a:ln w="2556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181080" y="2595600"/>
            <a:ext cx="1527120" cy="12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Vesicular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Acetylcholine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Transporter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(VAChT)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 flipH="1" flipV="1">
            <a:off x="1603440" y="3242880"/>
            <a:ext cx="1272960" cy="568440"/>
          </a:xfrm>
          <a:prstGeom prst="line">
            <a:avLst/>
          </a:prstGeom>
          <a:ln w="93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3262320" y="3860640"/>
            <a:ext cx="624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00B050"/>
                </a:solidFill>
                <a:effectLst/>
                <a:uFillTx/>
                <a:latin typeface="Arial"/>
                <a:ea typeface="DejaVu Sans"/>
              </a:rPr>
              <a:t>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3186000" y="3835440"/>
            <a:ext cx="285480" cy="132840"/>
          </a:xfrm>
          <a:custGeom>
            <a:avLst/>
            <a:gdLst>
              <a:gd name="textAreaLeft" fmla="*/ 0 w 285480"/>
              <a:gd name="textAreaRight" fmla="*/ 285840 w 285480"/>
              <a:gd name="textAreaTop" fmla="*/ 0 h 132840"/>
              <a:gd name="textAreaBottom" fmla="*/ 133200 h 132840"/>
              <a:gd name="GluePoint1X" fmla="*/ 285750 w 284850"/>
              <a:gd name="GluePoint1Y" fmla="*/ 62330 h 133352"/>
              <a:gd name="GluePoint2X" fmla="*/ 125447 w 284850"/>
              <a:gd name="GluePoint2Y" fmla="*/ 187 h 133352"/>
              <a:gd name="GluePoint3X" fmla="*/ 18579 w 284850"/>
              <a:gd name="GluePoint3Y" fmla="*/ 80085 h 133352"/>
              <a:gd name="GluePoint4X" fmla="*/ 766 w 284850"/>
              <a:gd name="GluePoint4Y" fmla="*/ 133350 h 1333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84850" h="133352">
                <a:moveTo>
                  <a:pt x="284850" y="62331"/>
                </a:moveTo>
                <a:cubicBezTo>
                  <a:pt x="227145" y="29779"/>
                  <a:pt x="169440" y="-2772"/>
                  <a:pt x="125052" y="187"/>
                </a:cubicBezTo>
                <a:cubicBezTo>
                  <a:pt x="80664" y="3146"/>
                  <a:pt x="39235" y="57892"/>
                  <a:pt x="18520" y="80086"/>
                </a:cubicBezTo>
                <a:cubicBezTo>
                  <a:pt x="-2195" y="102280"/>
                  <a:pt x="-716" y="117816"/>
                  <a:pt x="764" y="133352"/>
                </a:cubicBezTo>
              </a:path>
            </a:pathLst>
          </a:custGeom>
          <a:noFill/>
          <a:ln w="25560">
            <a:solidFill>
              <a:srgbClr val="00B05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2610000" y="3835440"/>
            <a:ext cx="212040" cy="132840"/>
          </a:xfrm>
          <a:custGeom>
            <a:avLst/>
            <a:gdLst>
              <a:gd name="textAreaLeft" fmla="*/ 0 w 212040"/>
              <a:gd name="textAreaRight" fmla="*/ 212400 w 212040"/>
              <a:gd name="textAreaTop" fmla="*/ 0 h 132840"/>
              <a:gd name="textAreaBottom" fmla="*/ 133200 h 132840"/>
              <a:gd name="GluePoint1X" fmla="*/ 212725 w 213064"/>
              <a:gd name="GluePoint1Y" fmla="*/ 133350 h 133165"/>
              <a:gd name="GluePoint2X" fmla="*/ 159544 w 213064"/>
              <a:gd name="GluePoint2Y" fmla="*/ 44451 h 133165"/>
              <a:gd name="GluePoint3X" fmla="*/ 0 w 213064"/>
              <a:gd name="GluePoint3Y" fmla="*/ 0 h 13316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3064" h="133165">
                <a:moveTo>
                  <a:pt x="213064" y="133165"/>
                </a:moveTo>
                <a:cubicBezTo>
                  <a:pt x="204186" y="99874"/>
                  <a:pt x="195309" y="66583"/>
                  <a:pt x="159798" y="44389"/>
                </a:cubicBezTo>
                <a:cubicBezTo>
                  <a:pt x="124287" y="22195"/>
                  <a:pt x="62143" y="11097"/>
                  <a:pt x="0" y="0"/>
                </a:cubicBezTo>
              </a:path>
            </a:pathLst>
          </a:custGeom>
          <a:noFill/>
          <a:ln w="25560">
            <a:solidFill>
              <a:srgbClr val="E46C0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2340000" y="3789360"/>
            <a:ext cx="4230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E46C0A"/>
                </a:solidFill>
                <a:effectLst/>
                <a:uFillTx/>
                <a:latin typeface="Arial"/>
                <a:ea typeface="DejaVu Sans"/>
              </a:rPr>
              <a:t>H</a:t>
            </a:r>
            <a:r>
              <a:rPr lang="en-GB" sz="1800" b="0" u="none" strike="noStrike" baseline="30000">
                <a:solidFill>
                  <a:srgbClr val="E46C0A"/>
                </a:solidFill>
                <a:effectLst/>
                <a:uFillTx/>
                <a:latin typeface="Arial"/>
                <a:ea typeface="DejaVu Sans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5294160" y="4102200"/>
            <a:ext cx="126720" cy="156600"/>
          </a:xfrm>
          <a:prstGeom prst="ellipse">
            <a:avLst/>
          </a:prstGeom>
          <a:solidFill>
            <a:srgbClr val="00B050"/>
          </a:solidFill>
          <a:ln w="25560">
            <a:solidFill>
              <a:srgbClr val="00B05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63360" tIns="46800" rIns="63360" bIns="468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1604880" y="1677960"/>
            <a:ext cx="1488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t">
            <a:sp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GB" sz="1800" b="0" u="none" strike="noStrike">
                <a:solidFill>
                  <a:srgbClr val="558ED5"/>
                </a:solidFill>
                <a:effectLst/>
                <a:uFillTx/>
                <a:latin typeface="Arial"/>
                <a:ea typeface="DejaVu Sans"/>
              </a:rPr>
              <a:t>mitochondria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2754360" y="2048040"/>
            <a:ext cx="620640" cy="291960"/>
          </a:xfrm>
          <a:prstGeom prst="line">
            <a:avLst/>
          </a:prstGeom>
          <a:ln w="9360">
            <a:solidFill>
              <a:srgbClr val="0070C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0" dur="indefinite" restart="never" nodeType="tmRoot">
          <p:childTnLst>
            <p:seq>
              <p:cTn id="181" dur="indefinite" nodeType="mainSeq">
                <p:childTnLst>
                  <p:par>
                    <p:cTn id="182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83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4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15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6" dur="indefinite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dur="indefinite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2010-10-01T09:59:17Z</dcterms:created>
  <dc:creator>TGS</dc:creator>
  <dc:description/>
  <dc:language>en-US</dc:language>
  <cp:lastModifiedBy/>
  <cp:lastPrinted>2022-10-03T09:49:10Z</cp:lastPrinted>
  <dcterms:modified xsi:type="dcterms:W3CDTF">2026-10-12T09:26:07Z</dcterms:modified>
  <cp:revision>127</cp:revision>
  <dc:subject/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